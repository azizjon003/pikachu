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slideLayout" Target="../slideLayouts/slideLayout1.xml"/><Relationship Id="rId1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image" Target="../media/image-2-16.png"/><Relationship Id="rId17" Type="http://schemas.openxmlformats.org/officeDocument/2006/relationships/image" Target="../media/image-2-17.png"/><Relationship Id="rId18" Type="http://schemas.openxmlformats.org/officeDocument/2006/relationships/image" Target="../media/image-2-18.png"/><Relationship Id="rId19" Type="http://schemas.openxmlformats.org/officeDocument/2006/relationships/image" Target="../media/image-2-19.png"/><Relationship Id="rId20" Type="http://schemas.openxmlformats.org/officeDocument/2006/relationships/slideLayout" Target="../slideLayouts/slideLayout1.xml"/><Relationship Id="rId2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image" Target="../media/image-4-12.png"/><Relationship Id="rId13" Type="http://schemas.openxmlformats.org/officeDocument/2006/relationships/image" Target="../media/image-4-13.png"/><Relationship Id="rId14" Type="http://schemas.openxmlformats.org/officeDocument/2006/relationships/slideLayout" Target="../slideLayouts/slideLayout1.xml"/><Relationship Id="rId1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1.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jpeg"/><Relationship Id="rId7" Type="http://schemas.openxmlformats.org/officeDocument/2006/relationships/image" Target="../media/image-8-7.png"/><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image" Target="../media/image-9-12.png"/><Relationship Id="rId13" Type="http://schemas.openxmlformats.org/officeDocument/2006/relationships/image" Target="../media/image-9-13.png"/><Relationship Id="rId14" Type="http://schemas.openxmlformats.org/officeDocument/2006/relationships/image" Target="../media/image-9-14.png"/><Relationship Id="rId15" Type="http://schemas.openxmlformats.org/officeDocument/2006/relationships/slideLayout" Target="../slideLayouts/slideLayout1.xml"/><Relationship Id="rId1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jpe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jpeg"/><Relationship Id="rId7" Type="http://schemas.openxmlformats.org/officeDocument/2006/relationships/image" Target="../media/image-13-7.pn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image" Target="../media/image-14-9.png"/><Relationship Id="rId10" Type="http://schemas.openxmlformats.org/officeDocument/2006/relationships/image" Target="../media/image-14-10.png"/><Relationship Id="rId11" Type="http://schemas.openxmlformats.org/officeDocument/2006/relationships/slideLayout" Target="../slideLayouts/slideLayout1.xml"/><Relationship Id="rId1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image" Target="../media/image-15-10.png"/><Relationship Id="rId11" Type="http://schemas.openxmlformats.org/officeDocument/2006/relationships/image" Target="../media/image-15-11.png"/><Relationship Id="rId12" Type="http://schemas.openxmlformats.org/officeDocument/2006/relationships/image" Target="../media/image-15-12.png"/><Relationship Id="rId13" Type="http://schemas.openxmlformats.org/officeDocument/2006/relationships/image" Target="../media/image-15-13.png"/><Relationship Id="rId14" Type="http://schemas.openxmlformats.org/officeDocument/2006/relationships/image" Target="../media/image-15-14.png"/><Relationship Id="rId15" Type="http://schemas.openxmlformats.org/officeDocument/2006/relationships/image" Target="../media/image-15-15.png"/><Relationship Id="rId16" Type="http://schemas.openxmlformats.org/officeDocument/2006/relationships/image" Target="../media/image-15-16.png"/><Relationship Id="rId17" Type="http://schemas.openxmlformats.org/officeDocument/2006/relationships/image" Target="../media/image-15-17.png"/><Relationship Id="rId18" Type="http://schemas.openxmlformats.org/officeDocument/2006/relationships/image" Target="../media/image-15-18.png"/><Relationship Id="rId19" Type="http://schemas.openxmlformats.org/officeDocument/2006/relationships/image" Target="../media/image-15-19.png"/><Relationship Id="rId20" Type="http://schemas.openxmlformats.org/officeDocument/2006/relationships/slideLayout" Target="../slideLayouts/slideLayout1.xml"/><Relationship Id="rId2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image" Target="../media/image-17-9.png"/><Relationship Id="rId10" Type="http://schemas.openxmlformats.org/officeDocument/2006/relationships/image" Target="../media/image-17-10.png"/><Relationship Id="rId11" Type="http://schemas.openxmlformats.org/officeDocument/2006/relationships/image" Target="../media/image-17-11.png"/><Relationship Id="rId12" Type="http://schemas.openxmlformats.org/officeDocument/2006/relationships/image" Target="../media/image-17-12.png"/><Relationship Id="rId13" Type="http://schemas.openxmlformats.org/officeDocument/2006/relationships/image" Target="../media/image-17-13.png"/><Relationship Id="rId14" Type="http://schemas.openxmlformats.org/officeDocument/2006/relationships/slideLayout" Target="../slideLayouts/slideLayout1.xml"/><Relationship Id="rId1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C1C5D4"/>
        </a:solidFill>
      </p:bgPr>
    </p:bg>
    <p:spTree>
      <p:nvGrpSpPr>
        <p:cNvPr id="1" name=""/>
        <p:cNvGrpSpPr/>
        <p:nvPr/>
      </p:nvGrpSpPr>
      <p:grpSpPr>
        <a:xfrm>
          <a:off x="0" y="0"/>
          <a:ext cx="0" cy="0"/>
          <a:chOff x="0" y="0"/>
          <a:chExt cx="0" cy="0"/>
        </a:xfrm>
      </p:grpSpPr>
      <p:pic>
        <p:nvPicPr>
          <p:cNvPr id="2" name="Image 0" descr="./images\slide2_img22.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images\slide2_img23.png">    </p:cNvPr>
          <p:cNvPicPr>
            <a:picLocks noChangeAspect="1"/>
          </p:cNvPicPr>
          <p:nvPr/>
        </p:nvPicPr>
        <p:blipFill>
          <a:blip r:embed="rId2"/>
          <a:srcRect l="0" r="45747" t="0" b="79916"/>
          <a:stretch/>
        </p:blipFill>
        <p:spPr>
          <a:xfrm>
            <a:off x="786525" y="514498"/>
            <a:ext cx="7268112" cy="4443839"/>
          </a:xfrm>
          <a:prstGeom prst="rect">
            <a:avLst/>
          </a:prstGeom>
        </p:spPr>
      </p:pic>
      <p:pic>
        <p:nvPicPr>
          <p:cNvPr id="4" name="Image 2" descr="./images\slide2_img24.png">    </p:cNvPr>
          <p:cNvPicPr>
            <a:picLocks noChangeAspect="1"/>
          </p:cNvPicPr>
          <p:nvPr/>
        </p:nvPicPr>
        <p:blipFill>
          <a:blip r:embed="rId3"/>
          <a:stretch>
            <a:fillRect/>
          </a:stretch>
        </p:blipFill>
        <p:spPr>
          <a:xfrm>
            <a:off x="2788600" y="175622"/>
            <a:ext cx="3566800" cy="3675269"/>
          </a:xfrm>
          <a:prstGeom prst="rect">
            <a:avLst/>
          </a:prstGeom>
        </p:spPr>
      </p:pic>
      <p:pic>
        <p:nvPicPr>
          <p:cNvPr id="5" name="Image 3" descr="./images\slide2_img25.png">    </p:cNvPr>
          <p:cNvPicPr>
            <a:picLocks noChangeAspect="1"/>
          </p:cNvPicPr>
          <p:nvPr/>
        </p:nvPicPr>
        <p:blipFill>
          <a:blip r:embed="rId4"/>
          <a:stretch>
            <a:fillRect/>
          </a:stretch>
        </p:blipFill>
        <p:spPr>
          <a:xfrm>
            <a:off x="1355325" y="3144250"/>
            <a:ext cx="6433349" cy="1369601"/>
          </a:xfrm>
          <a:prstGeom prst="rect">
            <a:avLst/>
          </a:prstGeom>
        </p:spPr>
      </p:pic>
      <p:pic>
        <p:nvPicPr>
          <p:cNvPr id="6" name="Image 4" descr="./images\slide2_img26.png">    </p:cNvPr>
          <p:cNvPicPr>
            <a:picLocks noChangeAspect="1"/>
          </p:cNvPicPr>
          <p:nvPr/>
        </p:nvPicPr>
        <p:blipFill>
          <a:blip r:embed="rId5"/>
          <a:stretch>
            <a:fillRect/>
          </a:stretch>
        </p:blipFill>
        <p:spPr>
          <a:xfrm>
            <a:off x="1243391" y="1303252"/>
            <a:ext cx="1796592" cy="1621143"/>
          </a:xfrm>
          <a:prstGeom prst="rect">
            <a:avLst/>
          </a:prstGeom>
        </p:spPr>
      </p:pic>
      <p:sp>
        <p:nvSpPr>
          <p:cNvPr id="7" name="Shape 0"/>
          <p:cNvSpPr/>
          <p:nvPr/>
        </p:nvSpPr>
        <p:spPr>
          <a:xfrm>
            <a:off x="1243391" y="1303252"/>
            <a:ext cx="1796592" cy="1621143"/>
          </a:xfrm>
          <a:custGeom>
            <a:avLst/>
            <a:gdLst/>
            <a:ahLst/>
            <a:cxnLst/>
            <a:rect l="l" t="t" r="r" b="b"/>
            <a:pathLst>
              <a:path w="1796592" h="1621143">
                <a:moveTo>
                  <a:pt x="0" y="0"/>
                </a:moveTo>
                <a:lnTo>
                  <a:pt x="1796592" y="0"/>
                </a:lnTo>
                <a:lnTo>
                  <a:pt x="1796592" y="1621143"/>
                </a:lnTo>
                <a:lnTo>
                  <a:pt x="0" y="1621143"/>
                </a:lnTo>
                <a:close/>
              </a:path>
            </a:pathLst>
          </a:custGeom>
          <a:solidFill>
            <a:srgbClr val="FFFFFF">
              <a:alpha val="0"/>
            </a:srgbClr>
          </a:solidFill>
          <a:ln/>
        </p:spPr>
      </p:sp>
      <p:sp>
        <p:nvSpPr>
          <p:cNvPr id="8" name="Text 1"/>
          <p:cNvSpPr/>
          <p:nvPr/>
        </p:nvSpPr>
        <p:spPr>
          <a:xfrm>
            <a:off x="1243391" y="1303252"/>
            <a:ext cx="1796592" cy="1621143"/>
          </a:xfrm>
          <a:prstGeom prst="rect">
            <a:avLst/>
          </a:prstGeom>
          <a:noFill/>
          <a:ln/>
        </p:spPr>
        <p:txBody>
          <a:bodyPr wrap="square" rtlCol="0" anchor="t"/>
          <a:lstStyle/>
          <a:p>
            <a:pPr indent="0" marL="0">
              <a:spcBef>
                <a:spcPts val="375"/>
              </a:spcBef>
              <a:buNone/>
            </a:pPr>
            <a:endParaRPr lang="en-US" sz="1050" dirty="0"/>
          </a:p>
        </p:txBody>
      </p:sp>
      <p:sp>
        <p:nvSpPr>
          <p:cNvPr id="9" name="Shape 2"/>
          <p:cNvSpPr/>
          <p:nvPr/>
        </p:nvSpPr>
        <p:spPr>
          <a:xfrm>
            <a:off x="1243391" y="1303252"/>
            <a:ext cx="1796592" cy="1621143"/>
          </a:xfrm>
          <a:custGeom>
            <a:avLst/>
            <a:gdLst/>
            <a:ahLst/>
            <a:cxnLst/>
            <a:rect l="l" t="t" r="r" b="b"/>
            <a:pathLst>
              <a:path w="1796592" h="1621143">
                <a:moveTo>
                  <a:pt x="0" y="0"/>
                </a:moveTo>
                <a:lnTo>
                  <a:pt x="1796592" y="0"/>
                </a:lnTo>
                <a:lnTo>
                  <a:pt x="1796592" y="1621143"/>
                </a:lnTo>
                <a:lnTo>
                  <a:pt x="0" y="1621143"/>
                </a:lnTo>
                <a:close/>
              </a:path>
            </a:pathLst>
          </a:custGeom>
          <a:solidFill>
            <a:srgbClr val="000000">
              <a:alpha val="0"/>
            </a:srgbClr>
          </a:solidFill>
          <a:ln/>
        </p:spPr>
      </p:sp>
      <p:sp>
        <p:nvSpPr>
          <p:cNvPr id="10" name="Text 3"/>
          <p:cNvSpPr/>
          <p:nvPr/>
        </p:nvSpPr>
        <p:spPr>
          <a:xfrm>
            <a:off x="1243391" y="1303252"/>
            <a:ext cx="1796592" cy="1621143"/>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11" name="Image 5" descr="./images\slide2_img27.png">    </p:cNvPr>
          <p:cNvPicPr>
            <a:picLocks noChangeAspect="1"/>
          </p:cNvPicPr>
          <p:nvPr/>
        </p:nvPicPr>
        <p:blipFill>
          <a:blip r:embed="rId6"/>
          <a:stretch>
            <a:fillRect/>
          </a:stretch>
        </p:blipFill>
        <p:spPr>
          <a:xfrm>
            <a:off x="1243391" y="1303252"/>
            <a:ext cx="1796592" cy="1621143"/>
          </a:xfrm>
          <a:prstGeom prst="rect">
            <a:avLst/>
          </a:prstGeom>
        </p:spPr>
      </p:pic>
      <p:pic>
        <p:nvPicPr>
          <p:cNvPr id="12" name="Image 6" descr="./images\slide2_img28.png">    </p:cNvPr>
          <p:cNvPicPr>
            <a:picLocks noChangeAspect="1"/>
          </p:cNvPicPr>
          <p:nvPr/>
        </p:nvPicPr>
        <p:blipFill>
          <a:blip r:embed="rId7"/>
          <a:stretch>
            <a:fillRect/>
          </a:stretch>
        </p:blipFill>
        <p:spPr>
          <a:xfrm>
            <a:off x="5904421" y="1126301"/>
            <a:ext cx="2107602" cy="1732066"/>
          </a:xfrm>
          <a:prstGeom prst="rect">
            <a:avLst/>
          </a:prstGeom>
        </p:spPr>
      </p:pic>
      <p:sp>
        <p:nvSpPr>
          <p:cNvPr id="13" name="Shape 4"/>
          <p:cNvSpPr/>
          <p:nvPr/>
        </p:nvSpPr>
        <p:spPr>
          <a:xfrm>
            <a:off x="5904421" y="1126301"/>
            <a:ext cx="2107602" cy="1732066"/>
          </a:xfrm>
          <a:custGeom>
            <a:avLst/>
            <a:gdLst/>
            <a:ahLst/>
            <a:cxnLst/>
            <a:rect l="l" t="t" r="r" b="b"/>
            <a:pathLst>
              <a:path w="2107602" h="1732066">
                <a:moveTo>
                  <a:pt x="0" y="0"/>
                </a:moveTo>
                <a:lnTo>
                  <a:pt x="2107602" y="0"/>
                </a:lnTo>
                <a:lnTo>
                  <a:pt x="2107602" y="1732066"/>
                </a:lnTo>
                <a:lnTo>
                  <a:pt x="0" y="1732066"/>
                </a:lnTo>
                <a:close/>
              </a:path>
            </a:pathLst>
          </a:custGeom>
          <a:solidFill>
            <a:srgbClr val="FFFFFF">
              <a:alpha val="0"/>
            </a:srgbClr>
          </a:solidFill>
          <a:ln/>
        </p:spPr>
      </p:sp>
      <p:sp>
        <p:nvSpPr>
          <p:cNvPr id="14" name="Text 5"/>
          <p:cNvSpPr/>
          <p:nvPr/>
        </p:nvSpPr>
        <p:spPr>
          <a:xfrm>
            <a:off x="5904421" y="1126301"/>
            <a:ext cx="2107602" cy="1732066"/>
          </a:xfrm>
          <a:prstGeom prst="rect">
            <a:avLst/>
          </a:prstGeom>
          <a:noFill/>
          <a:ln/>
        </p:spPr>
        <p:txBody>
          <a:bodyPr wrap="square" rtlCol="0" anchor="t"/>
          <a:lstStyle/>
          <a:p>
            <a:pPr indent="0" marL="0">
              <a:spcBef>
                <a:spcPts val="375"/>
              </a:spcBef>
              <a:buNone/>
            </a:pPr>
            <a:endParaRPr lang="en-US" sz="1050" dirty="0"/>
          </a:p>
        </p:txBody>
      </p:sp>
      <p:sp>
        <p:nvSpPr>
          <p:cNvPr id="15" name="Shape 6"/>
          <p:cNvSpPr/>
          <p:nvPr/>
        </p:nvSpPr>
        <p:spPr>
          <a:xfrm>
            <a:off x="5904421" y="1126301"/>
            <a:ext cx="2107602" cy="1732066"/>
          </a:xfrm>
          <a:custGeom>
            <a:avLst/>
            <a:gdLst/>
            <a:ahLst/>
            <a:cxnLst/>
            <a:rect l="l" t="t" r="r" b="b"/>
            <a:pathLst>
              <a:path w="2107602" h="1732066">
                <a:moveTo>
                  <a:pt x="0" y="0"/>
                </a:moveTo>
                <a:lnTo>
                  <a:pt x="2107602" y="0"/>
                </a:lnTo>
                <a:lnTo>
                  <a:pt x="2107602" y="1732066"/>
                </a:lnTo>
                <a:lnTo>
                  <a:pt x="0" y="1732066"/>
                </a:lnTo>
                <a:close/>
              </a:path>
            </a:pathLst>
          </a:custGeom>
          <a:solidFill>
            <a:srgbClr val="000000">
              <a:alpha val="0"/>
            </a:srgbClr>
          </a:solidFill>
          <a:ln/>
        </p:spPr>
      </p:sp>
      <p:sp>
        <p:nvSpPr>
          <p:cNvPr id="16" name="Text 7"/>
          <p:cNvSpPr/>
          <p:nvPr/>
        </p:nvSpPr>
        <p:spPr>
          <a:xfrm>
            <a:off x="5904421" y="1126301"/>
            <a:ext cx="2107602" cy="1732066"/>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17" name="Image 7" descr="./images\slide2_img29.png">    </p:cNvPr>
          <p:cNvPicPr>
            <a:picLocks noChangeAspect="1"/>
          </p:cNvPicPr>
          <p:nvPr/>
        </p:nvPicPr>
        <p:blipFill>
          <a:blip r:embed="rId8"/>
          <a:stretch>
            <a:fillRect/>
          </a:stretch>
        </p:blipFill>
        <p:spPr>
          <a:xfrm>
            <a:off x="5904421" y="1126301"/>
            <a:ext cx="2107602" cy="1732066"/>
          </a:xfrm>
          <a:prstGeom prst="rect">
            <a:avLst/>
          </a:prstGeom>
        </p:spPr>
      </p:pic>
      <p:sp>
        <p:nvSpPr>
          <p:cNvPr id="18" name="Shape 8"/>
          <p:cNvSpPr/>
          <p:nvPr/>
        </p:nvSpPr>
        <p:spPr>
          <a:xfrm>
            <a:off x="1669937" y="3440555"/>
            <a:ext cx="5804126" cy="1304925"/>
          </a:xfrm>
          <a:custGeom>
            <a:avLst/>
            <a:gdLst/>
            <a:ahLst/>
            <a:cxnLst/>
            <a:rect l="l" t="t" r="r" b="b"/>
            <a:pathLst>
              <a:path w="5804126" h="1304925">
                <a:moveTo>
                  <a:pt x="0" y="0"/>
                </a:moveTo>
                <a:lnTo>
                  <a:pt x="5804126" y="0"/>
                </a:lnTo>
                <a:lnTo>
                  <a:pt x="5804126" y="1304925"/>
                </a:lnTo>
                <a:lnTo>
                  <a:pt x="0" y="1304925"/>
                </a:lnTo>
                <a:close/>
              </a:path>
            </a:pathLst>
          </a:custGeom>
          <a:solidFill>
            <a:srgbClr val="FFFFFF">
              <a:alpha val="0"/>
            </a:srgbClr>
          </a:solidFill>
          <a:ln/>
        </p:spPr>
      </p:sp>
      <p:sp>
        <p:nvSpPr>
          <p:cNvPr id="19" name="Text 9"/>
          <p:cNvSpPr/>
          <p:nvPr/>
        </p:nvSpPr>
        <p:spPr>
          <a:xfrm>
            <a:off x="1669937" y="3440555"/>
            <a:ext cx="5804126" cy="1304925"/>
          </a:xfrm>
          <a:prstGeom prst="rect">
            <a:avLst/>
          </a:prstGeom>
          <a:noFill/>
          <a:ln/>
        </p:spPr>
        <p:txBody>
          <a:bodyPr wrap="square" rtlCol="0" anchor="t"/>
          <a:lstStyle/>
          <a:p>
            <a:pPr indent="0" marL="0">
              <a:spcBef>
                <a:spcPts val="375"/>
              </a:spcBef>
              <a:buNone/>
            </a:pPr>
            <a:endParaRPr lang="en-US" sz="1050" dirty="0"/>
          </a:p>
        </p:txBody>
      </p:sp>
      <p:sp>
        <p:nvSpPr>
          <p:cNvPr id="20" name="Shape 10"/>
          <p:cNvSpPr/>
          <p:nvPr/>
        </p:nvSpPr>
        <p:spPr>
          <a:xfrm>
            <a:off x="1669937" y="3440555"/>
            <a:ext cx="5804126" cy="1304925"/>
          </a:xfrm>
          <a:custGeom>
            <a:avLst/>
            <a:gdLst/>
            <a:ahLst/>
            <a:cxnLst/>
            <a:rect l="l" t="t" r="r" b="b"/>
            <a:pathLst>
              <a:path w="5804126" h="1304925">
                <a:moveTo>
                  <a:pt x="0" y="0"/>
                </a:moveTo>
                <a:lnTo>
                  <a:pt x="5804126" y="0"/>
                </a:lnTo>
                <a:lnTo>
                  <a:pt x="5804126" y="1304925"/>
                </a:lnTo>
                <a:lnTo>
                  <a:pt x="0" y="1304925"/>
                </a:lnTo>
                <a:close/>
              </a:path>
            </a:pathLst>
          </a:custGeom>
          <a:solidFill>
            <a:srgbClr val="000000">
              <a:alpha val="0"/>
            </a:srgbClr>
          </a:solidFill>
          <a:ln/>
        </p:spPr>
      </p:sp>
      <p:sp>
        <p:nvSpPr>
          <p:cNvPr id="21" name="Text 11"/>
          <p:cNvSpPr/>
          <p:nvPr/>
        </p:nvSpPr>
        <p:spPr>
          <a:xfrm>
            <a:off x="1669937" y="3440555"/>
            <a:ext cx="5804126" cy="1304925"/>
          </a:xfrm>
          <a:prstGeom prst="rect">
            <a:avLst/>
          </a:prstGeom>
          <a:noFill/>
          <a:ln/>
        </p:spPr>
        <p:txBody>
          <a:bodyPr wrap="square" rtlCol="0" anchor="t"/>
          <a:lstStyle/>
          <a:p>
            <a:pPr algn="l" indent="0" marL="0">
              <a:spcBef>
                <a:spcPts val="375"/>
              </a:spcBef>
              <a:buNone/>
            </a:pPr>
            <a:r>
              <a:rPr lang="en-US" sz="1200" dirty="0">
                <a:solidFill>
                  <a:srgbClr val="45464D"/>
                </a:solidFill>
                <a:latin typeface="Caveat Brush" pitchFamily="34" charset="0"/>
                <a:ea typeface="Caveat Brush" pitchFamily="34" charset="-122"/>
                <a:cs typeface="Caveat Brush" pitchFamily="34" charset="-120"/>
              </a:rPr>
              <a:t>Nerv Tizimi O'smalari</a:t>
            </a:r>
            <a:endParaRPr lang="en-US" sz="1050" dirty="0"/>
          </a:p>
        </p:txBody>
      </p:sp>
      <p:sp>
        <p:nvSpPr>
          <p:cNvPr id="22" name="Shape 12"/>
          <p:cNvSpPr/>
          <p:nvPr/>
        </p:nvSpPr>
        <p:spPr>
          <a:xfrm>
            <a:off x="3783190" y="1312039"/>
            <a:ext cx="1577620" cy="1358726"/>
          </a:xfrm>
          <a:custGeom>
            <a:avLst/>
            <a:gdLst/>
            <a:ahLst/>
            <a:cxnLst/>
            <a:rect l="l" t="t" r="r" b="b"/>
            <a:pathLst>
              <a:path w="1577620" h="1358726">
                <a:moveTo>
                  <a:pt x="0" y="0"/>
                </a:moveTo>
                <a:lnTo>
                  <a:pt x="1577620" y="0"/>
                </a:lnTo>
                <a:lnTo>
                  <a:pt x="1577620" y="1358726"/>
                </a:lnTo>
                <a:lnTo>
                  <a:pt x="0" y="1358726"/>
                </a:lnTo>
                <a:close/>
              </a:path>
            </a:pathLst>
          </a:custGeom>
          <a:solidFill>
            <a:srgbClr val="FFFFFF">
              <a:alpha val="0"/>
            </a:srgbClr>
          </a:solidFill>
          <a:ln/>
        </p:spPr>
      </p:sp>
      <p:sp>
        <p:nvSpPr>
          <p:cNvPr id="23" name="Text 13"/>
          <p:cNvSpPr/>
          <p:nvPr/>
        </p:nvSpPr>
        <p:spPr>
          <a:xfrm>
            <a:off x="3783190" y="1312039"/>
            <a:ext cx="1577620" cy="1358726"/>
          </a:xfrm>
          <a:prstGeom prst="rect">
            <a:avLst/>
          </a:prstGeom>
          <a:noFill/>
          <a:ln/>
        </p:spPr>
        <p:txBody>
          <a:bodyPr wrap="square" rtlCol="0" anchor="t"/>
          <a:lstStyle/>
          <a:p>
            <a:pPr indent="0" marL="0">
              <a:spcBef>
                <a:spcPts val="375"/>
              </a:spcBef>
              <a:buNone/>
            </a:pPr>
            <a:endParaRPr lang="en-US" sz="1050" dirty="0"/>
          </a:p>
        </p:txBody>
      </p:sp>
      <p:sp>
        <p:nvSpPr>
          <p:cNvPr id="24" name="Shape 14"/>
          <p:cNvSpPr/>
          <p:nvPr/>
        </p:nvSpPr>
        <p:spPr>
          <a:xfrm>
            <a:off x="3783190" y="1312039"/>
            <a:ext cx="1577620" cy="1358726"/>
          </a:xfrm>
          <a:custGeom>
            <a:avLst/>
            <a:gdLst/>
            <a:ahLst/>
            <a:cxnLst/>
            <a:rect l="l" t="t" r="r" b="b"/>
            <a:pathLst>
              <a:path w="1577620" h="1358726">
                <a:moveTo>
                  <a:pt x="0" y="0"/>
                </a:moveTo>
                <a:lnTo>
                  <a:pt x="1577620" y="0"/>
                </a:lnTo>
                <a:lnTo>
                  <a:pt x="1577620" y="1358726"/>
                </a:lnTo>
                <a:lnTo>
                  <a:pt x="0" y="1358726"/>
                </a:lnTo>
                <a:close/>
              </a:path>
            </a:pathLst>
          </a:custGeom>
          <a:solidFill>
            <a:srgbClr val="000000">
              <a:alpha val="0"/>
            </a:srgbClr>
          </a:solidFill>
          <a:ln/>
        </p:spPr>
      </p:sp>
      <p:sp>
        <p:nvSpPr>
          <p:cNvPr id="25" name="Text 15"/>
          <p:cNvSpPr/>
          <p:nvPr/>
        </p:nvSpPr>
        <p:spPr>
          <a:xfrm>
            <a:off x="3783190" y="1312039"/>
            <a:ext cx="1577620" cy="1358726"/>
          </a:xfrm>
          <a:prstGeom prst="rect">
            <a:avLst/>
          </a:prstGeom>
          <a:noFill/>
          <a:ln/>
        </p:spPr>
        <p:txBody>
          <a:bodyPr wrap="square" rtlCol="0" anchor="t"/>
          <a:lstStyle/>
          <a:p>
            <a:pPr algn="ctr" indent="0" marL="0">
              <a:spcBef>
                <a:spcPts val="375"/>
              </a:spcBef>
              <a:buNone/>
            </a:pPr>
            <a:r>
              <a:rPr lang="en-US" sz="1650" dirty="0">
                <a:solidFill>
                  <a:srgbClr val="45464D"/>
                </a:solidFill>
                <a:latin typeface="Caveat Brush" pitchFamily="34" charset="0"/>
                <a:ea typeface="Caveat Brush" pitchFamily="34" charset="-122"/>
                <a:cs typeface="Caveat Brush" pitchFamily="34" charset="-120"/>
              </a:rPr>
              <a:t>Asosiy Ma'lumotlar</a:t>
            </a:r>
            <a:endParaRPr lang="en-US" sz="1050" dirty="0"/>
          </a:p>
        </p:txBody>
      </p:sp>
      <p:pic>
        <p:nvPicPr>
          <p:cNvPr id="26" name="Image 8" descr="./images\slide2_img30.png">    </p:cNvPr>
          <p:cNvPicPr>
            <a:picLocks noChangeAspect="1"/>
          </p:cNvPicPr>
          <p:nvPr/>
        </p:nvPicPr>
        <p:blipFill>
          <a:blip r:embed="rId9"/>
          <a:stretch>
            <a:fillRect/>
          </a:stretch>
        </p:blipFill>
        <p:spPr>
          <a:xfrm flipH="1" rot="1440000">
            <a:off x="-688509" y="2516611"/>
            <a:ext cx="2405718" cy="2230757"/>
          </a:xfrm>
          <a:prstGeom prst="rect">
            <a:avLst/>
          </a:prstGeom>
        </p:spPr>
      </p:pic>
      <p:sp>
        <p:nvSpPr>
          <p:cNvPr id="27" name="Shape 16"/>
          <p:cNvSpPr/>
          <p:nvPr/>
        </p:nvSpPr>
        <p:spPr>
          <a:xfrm rot="1440000">
            <a:off x="-688509" y="2516611"/>
            <a:ext cx="2405718" cy="2230757"/>
          </a:xfrm>
          <a:custGeom>
            <a:avLst/>
            <a:gdLst/>
            <a:ahLst/>
            <a:cxnLst/>
            <a:rect l="l" t="t" r="r" b="b"/>
            <a:pathLst>
              <a:path w="2405718" h="2230757">
                <a:moveTo>
                  <a:pt x="0" y="0"/>
                </a:moveTo>
                <a:lnTo>
                  <a:pt x="2405718" y="0"/>
                </a:lnTo>
                <a:lnTo>
                  <a:pt x="2405718" y="2230757"/>
                </a:lnTo>
                <a:lnTo>
                  <a:pt x="0" y="2230757"/>
                </a:lnTo>
                <a:close/>
              </a:path>
            </a:pathLst>
          </a:custGeom>
          <a:solidFill>
            <a:srgbClr val="FFFFFF">
              <a:alpha val="0"/>
            </a:srgbClr>
          </a:solidFill>
          <a:ln/>
        </p:spPr>
      </p:sp>
      <p:sp>
        <p:nvSpPr>
          <p:cNvPr id="28" name="Text 17"/>
          <p:cNvSpPr/>
          <p:nvPr/>
        </p:nvSpPr>
        <p:spPr>
          <a:xfrm rot="1440000">
            <a:off x="-688509" y="2516611"/>
            <a:ext cx="2405718" cy="2230757"/>
          </a:xfrm>
          <a:prstGeom prst="rect">
            <a:avLst/>
          </a:prstGeom>
          <a:noFill/>
          <a:ln/>
        </p:spPr>
        <p:txBody>
          <a:bodyPr wrap="square" rtlCol="0" anchor="t"/>
          <a:lstStyle/>
          <a:p>
            <a:pPr indent="0" marL="0">
              <a:spcBef>
                <a:spcPts val="375"/>
              </a:spcBef>
              <a:buNone/>
            </a:pPr>
            <a:endParaRPr lang="en-US" sz="1050" dirty="0"/>
          </a:p>
        </p:txBody>
      </p:sp>
      <p:sp>
        <p:nvSpPr>
          <p:cNvPr id="29" name="Shape 18"/>
          <p:cNvSpPr/>
          <p:nvPr/>
        </p:nvSpPr>
        <p:spPr>
          <a:xfrm rot="1440000">
            <a:off x="-688509" y="2516611"/>
            <a:ext cx="2405718" cy="2230757"/>
          </a:xfrm>
          <a:custGeom>
            <a:avLst/>
            <a:gdLst/>
            <a:ahLst/>
            <a:cxnLst/>
            <a:rect l="l" t="t" r="r" b="b"/>
            <a:pathLst>
              <a:path w="2405718" h="2230757">
                <a:moveTo>
                  <a:pt x="0" y="0"/>
                </a:moveTo>
                <a:lnTo>
                  <a:pt x="2405718" y="0"/>
                </a:lnTo>
                <a:lnTo>
                  <a:pt x="2405718" y="2230757"/>
                </a:lnTo>
                <a:lnTo>
                  <a:pt x="0" y="2230757"/>
                </a:lnTo>
                <a:close/>
              </a:path>
            </a:pathLst>
          </a:custGeom>
          <a:solidFill>
            <a:srgbClr val="000000">
              <a:alpha val="0"/>
            </a:srgbClr>
          </a:solidFill>
          <a:ln/>
        </p:spPr>
      </p:sp>
      <p:sp>
        <p:nvSpPr>
          <p:cNvPr id="30" name="Text 19"/>
          <p:cNvSpPr/>
          <p:nvPr/>
        </p:nvSpPr>
        <p:spPr>
          <a:xfrm rot="1440000">
            <a:off x="-688509" y="2516611"/>
            <a:ext cx="2405718" cy="2230757"/>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31" name="Image 9" descr="./images\slide2_img31.png">    </p:cNvPr>
          <p:cNvPicPr>
            <a:picLocks noChangeAspect="1"/>
          </p:cNvPicPr>
          <p:nvPr/>
        </p:nvPicPr>
        <p:blipFill>
          <a:blip r:embed="rId10"/>
          <a:stretch>
            <a:fillRect/>
          </a:stretch>
        </p:blipFill>
        <p:spPr>
          <a:xfrm flipH="1" rot="1440000">
            <a:off x="-688509" y="2516611"/>
            <a:ext cx="2405718" cy="223075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1F1F1"/>
        </a:solidFill>
      </p:bgPr>
    </p:bg>
    <p:spTree>
      <p:nvGrpSpPr>
        <p:cNvPr id="1" name=""/>
        <p:cNvGrpSpPr/>
        <p:nvPr/>
      </p:nvGrpSpPr>
      <p:grpSpPr>
        <a:xfrm>
          <a:off x="0" y="0"/>
          <a:ext cx="0" cy="0"/>
          <a:chOff x="0" y="0"/>
          <a:chExt cx="0" cy="0"/>
        </a:xfrm>
      </p:grpSpPr>
      <p:pic>
        <p:nvPicPr>
          <p:cNvPr id="2" name="Image 0" descr="./images\slide3_img32.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images\slide3_img33.png">    </p:cNvPr>
          <p:cNvPicPr>
            <a:picLocks noChangeAspect="1"/>
          </p:cNvPicPr>
          <p:nvPr/>
        </p:nvPicPr>
        <p:blipFill>
          <a:blip r:embed="rId2"/>
          <a:stretch>
            <a:fillRect/>
          </a:stretch>
        </p:blipFill>
        <p:spPr>
          <a:xfrm rot="5400000">
            <a:off x="6795487" y="1157904"/>
            <a:ext cx="1543890" cy="2409404"/>
          </a:xfrm>
          <a:prstGeom prst="rect">
            <a:avLst/>
          </a:prstGeom>
        </p:spPr>
      </p:pic>
      <p:sp>
        <p:nvSpPr>
          <p:cNvPr id="4" name="Shape 0"/>
          <p:cNvSpPr/>
          <p:nvPr/>
        </p:nvSpPr>
        <p:spPr>
          <a:xfrm rot="5400000">
            <a:off x="6795487" y="1157904"/>
            <a:ext cx="1543890" cy="2409404"/>
          </a:xfrm>
          <a:custGeom>
            <a:avLst/>
            <a:gdLst/>
            <a:ahLst/>
            <a:cxnLst/>
            <a:rect l="l" t="t" r="r" b="b"/>
            <a:pathLst>
              <a:path w="1543890" h="2409404">
                <a:moveTo>
                  <a:pt x="0" y="0"/>
                </a:moveTo>
                <a:lnTo>
                  <a:pt x="1543890" y="0"/>
                </a:lnTo>
                <a:lnTo>
                  <a:pt x="1543890" y="2409404"/>
                </a:lnTo>
                <a:lnTo>
                  <a:pt x="0" y="2409404"/>
                </a:lnTo>
                <a:close/>
              </a:path>
            </a:pathLst>
          </a:custGeom>
          <a:solidFill>
            <a:srgbClr val="FFFFFF">
              <a:alpha val="0"/>
            </a:srgbClr>
          </a:solidFill>
          <a:ln/>
        </p:spPr>
      </p:sp>
      <p:sp>
        <p:nvSpPr>
          <p:cNvPr id="5" name="Text 1"/>
          <p:cNvSpPr/>
          <p:nvPr/>
        </p:nvSpPr>
        <p:spPr>
          <a:xfrm rot="5400000">
            <a:off x="6795487" y="1157904"/>
            <a:ext cx="1543890" cy="2409404"/>
          </a:xfrm>
          <a:prstGeom prst="rect">
            <a:avLst/>
          </a:prstGeom>
          <a:noFill/>
          <a:ln/>
        </p:spPr>
        <p:txBody>
          <a:bodyPr wrap="square" rtlCol="0" anchor="t"/>
          <a:lstStyle/>
          <a:p>
            <a:pPr indent="0" marL="0">
              <a:spcBef>
                <a:spcPts val="375"/>
              </a:spcBef>
              <a:buNone/>
            </a:pPr>
            <a:endParaRPr lang="en-US" sz="1050" dirty="0"/>
          </a:p>
        </p:txBody>
      </p:sp>
      <p:sp>
        <p:nvSpPr>
          <p:cNvPr id="6" name="Shape 2"/>
          <p:cNvSpPr/>
          <p:nvPr/>
        </p:nvSpPr>
        <p:spPr>
          <a:xfrm rot="5400000">
            <a:off x="6795487" y="1157904"/>
            <a:ext cx="1543890" cy="2409404"/>
          </a:xfrm>
          <a:custGeom>
            <a:avLst/>
            <a:gdLst/>
            <a:ahLst/>
            <a:cxnLst/>
            <a:rect l="l" t="t" r="r" b="b"/>
            <a:pathLst>
              <a:path w="1543890" h="2409404">
                <a:moveTo>
                  <a:pt x="0" y="0"/>
                </a:moveTo>
                <a:lnTo>
                  <a:pt x="1543890" y="0"/>
                </a:lnTo>
                <a:lnTo>
                  <a:pt x="1543890" y="2409404"/>
                </a:lnTo>
                <a:lnTo>
                  <a:pt x="0" y="2409404"/>
                </a:lnTo>
                <a:close/>
              </a:path>
            </a:pathLst>
          </a:custGeom>
          <a:solidFill>
            <a:srgbClr val="000000">
              <a:alpha val="0"/>
            </a:srgbClr>
          </a:solidFill>
          <a:ln/>
        </p:spPr>
      </p:sp>
      <p:sp>
        <p:nvSpPr>
          <p:cNvPr id="7" name="Text 3"/>
          <p:cNvSpPr/>
          <p:nvPr/>
        </p:nvSpPr>
        <p:spPr>
          <a:xfrm rot="5400000">
            <a:off x="6795487" y="1157904"/>
            <a:ext cx="1543890" cy="2409404"/>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8" name="Image 2" descr="./images\slide3_img34.png">    </p:cNvPr>
          <p:cNvPicPr>
            <a:picLocks noChangeAspect="1"/>
          </p:cNvPicPr>
          <p:nvPr/>
        </p:nvPicPr>
        <p:blipFill>
          <a:blip r:embed="rId3"/>
          <a:stretch>
            <a:fillRect/>
          </a:stretch>
        </p:blipFill>
        <p:spPr>
          <a:xfrm rot="5400000">
            <a:off x="6795487" y="1157904"/>
            <a:ext cx="1543890" cy="2409404"/>
          </a:xfrm>
          <a:prstGeom prst="rect">
            <a:avLst/>
          </a:prstGeom>
        </p:spPr>
      </p:pic>
      <p:pic>
        <p:nvPicPr>
          <p:cNvPr id="9" name="Image 3" descr="./images\slide3_img35.png">    </p:cNvPr>
          <p:cNvPicPr>
            <a:picLocks noChangeAspect="1"/>
          </p:cNvPicPr>
          <p:nvPr/>
        </p:nvPicPr>
        <p:blipFill>
          <a:blip r:embed="rId4"/>
          <a:stretch>
            <a:fillRect/>
          </a:stretch>
        </p:blipFill>
        <p:spPr>
          <a:xfrm rot="5400000">
            <a:off x="6640237" y="2848254"/>
            <a:ext cx="1873816" cy="2409404"/>
          </a:xfrm>
          <a:prstGeom prst="rect">
            <a:avLst/>
          </a:prstGeom>
        </p:spPr>
      </p:pic>
      <p:sp>
        <p:nvSpPr>
          <p:cNvPr id="10" name="Shape 4"/>
          <p:cNvSpPr/>
          <p:nvPr/>
        </p:nvSpPr>
        <p:spPr>
          <a:xfrm rot="5400000">
            <a:off x="6640237" y="2848254"/>
            <a:ext cx="1873816" cy="2409404"/>
          </a:xfrm>
          <a:custGeom>
            <a:avLst/>
            <a:gdLst/>
            <a:ahLst/>
            <a:cxnLst/>
            <a:rect l="l" t="t" r="r" b="b"/>
            <a:pathLst>
              <a:path w="1873816" h="2409404">
                <a:moveTo>
                  <a:pt x="0" y="0"/>
                </a:moveTo>
                <a:lnTo>
                  <a:pt x="1873816" y="0"/>
                </a:lnTo>
                <a:lnTo>
                  <a:pt x="1873816" y="2409404"/>
                </a:lnTo>
                <a:lnTo>
                  <a:pt x="0" y="2409404"/>
                </a:lnTo>
                <a:close/>
              </a:path>
            </a:pathLst>
          </a:custGeom>
          <a:solidFill>
            <a:srgbClr val="FFFFFF">
              <a:alpha val="0"/>
            </a:srgbClr>
          </a:solidFill>
          <a:ln/>
        </p:spPr>
      </p:sp>
      <p:sp>
        <p:nvSpPr>
          <p:cNvPr id="11" name="Text 5"/>
          <p:cNvSpPr/>
          <p:nvPr/>
        </p:nvSpPr>
        <p:spPr>
          <a:xfrm rot="5400000">
            <a:off x="6640237" y="2848254"/>
            <a:ext cx="1873816" cy="2409404"/>
          </a:xfrm>
          <a:prstGeom prst="rect">
            <a:avLst/>
          </a:prstGeom>
          <a:noFill/>
          <a:ln/>
        </p:spPr>
        <p:txBody>
          <a:bodyPr wrap="square" rtlCol="0" anchor="t"/>
          <a:lstStyle/>
          <a:p>
            <a:pPr indent="0" marL="0">
              <a:spcBef>
                <a:spcPts val="375"/>
              </a:spcBef>
              <a:buNone/>
            </a:pPr>
            <a:endParaRPr lang="en-US" sz="1050" dirty="0"/>
          </a:p>
        </p:txBody>
      </p:sp>
      <p:sp>
        <p:nvSpPr>
          <p:cNvPr id="12" name="Shape 6"/>
          <p:cNvSpPr/>
          <p:nvPr/>
        </p:nvSpPr>
        <p:spPr>
          <a:xfrm rot="5400000">
            <a:off x="6640237" y="2848254"/>
            <a:ext cx="1873816" cy="2409404"/>
          </a:xfrm>
          <a:custGeom>
            <a:avLst/>
            <a:gdLst/>
            <a:ahLst/>
            <a:cxnLst/>
            <a:rect l="l" t="t" r="r" b="b"/>
            <a:pathLst>
              <a:path w="1873816" h="2409404">
                <a:moveTo>
                  <a:pt x="0" y="0"/>
                </a:moveTo>
                <a:lnTo>
                  <a:pt x="1873816" y="0"/>
                </a:lnTo>
                <a:lnTo>
                  <a:pt x="1873816" y="2409404"/>
                </a:lnTo>
                <a:lnTo>
                  <a:pt x="0" y="2409404"/>
                </a:lnTo>
                <a:close/>
              </a:path>
            </a:pathLst>
          </a:custGeom>
          <a:solidFill>
            <a:srgbClr val="000000">
              <a:alpha val="0"/>
            </a:srgbClr>
          </a:solidFill>
          <a:ln/>
        </p:spPr>
      </p:sp>
      <p:sp>
        <p:nvSpPr>
          <p:cNvPr id="13" name="Text 7"/>
          <p:cNvSpPr/>
          <p:nvPr/>
        </p:nvSpPr>
        <p:spPr>
          <a:xfrm rot="5400000">
            <a:off x="6640237" y="2848254"/>
            <a:ext cx="1873816" cy="2409404"/>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14" name="Image 4" descr="./images\slide3_img36.png">    </p:cNvPr>
          <p:cNvPicPr>
            <a:picLocks noChangeAspect="1"/>
          </p:cNvPicPr>
          <p:nvPr/>
        </p:nvPicPr>
        <p:blipFill>
          <a:blip r:embed="rId5"/>
          <a:stretch>
            <a:fillRect/>
          </a:stretch>
        </p:blipFill>
        <p:spPr>
          <a:xfrm rot="5400000">
            <a:off x="6640237" y="2848254"/>
            <a:ext cx="1873816" cy="2409404"/>
          </a:xfrm>
          <a:prstGeom prst="rect">
            <a:avLst/>
          </a:prstGeom>
        </p:spPr>
      </p:pic>
      <p:pic>
        <p:nvPicPr>
          <p:cNvPr id="15" name="Image 5" descr="./images\slide3_img37.png">    </p:cNvPr>
          <p:cNvPicPr>
            <a:picLocks noChangeAspect="1"/>
          </p:cNvPicPr>
          <p:nvPr/>
        </p:nvPicPr>
        <p:blipFill>
          <a:blip r:embed="rId6"/>
          <a:stretch>
            <a:fillRect/>
          </a:stretch>
        </p:blipFill>
        <p:spPr>
          <a:xfrm rot="5400000">
            <a:off x="724026" y="1153732"/>
            <a:ext cx="1685658" cy="2409404"/>
          </a:xfrm>
          <a:prstGeom prst="rect">
            <a:avLst/>
          </a:prstGeom>
        </p:spPr>
      </p:pic>
      <p:sp>
        <p:nvSpPr>
          <p:cNvPr id="16" name="Shape 8"/>
          <p:cNvSpPr/>
          <p:nvPr/>
        </p:nvSpPr>
        <p:spPr>
          <a:xfrm rot="5400000">
            <a:off x="724026" y="1153732"/>
            <a:ext cx="1685658" cy="2409404"/>
          </a:xfrm>
          <a:custGeom>
            <a:avLst/>
            <a:gdLst/>
            <a:ahLst/>
            <a:cxnLst/>
            <a:rect l="l" t="t" r="r" b="b"/>
            <a:pathLst>
              <a:path w="1685658" h="2409404">
                <a:moveTo>
                  <a:pt x="0" y="0"/>
                </a:moveTo>
                <a:lnTo>
                  <a:pt x="1685658" y="0"/>
                </a:lnTo>
                <a:lnTo>
                  <a:pt x="1685658" y="2409404"/>
                </a:lnTo>
                <a:lnTo>
                  <a:pt x="0" y="2409404"/>
                </a:lnTo>
                <a:close/>
              </a:path>
            </a:pathLst>
          </a:custGeom>
          <a:solidFill>
            <a:srgbClr val="FFFFFF">
              <a:alpha val="0"/>
            </a:srgbClr>
          </a:solidFill>
          <a:ln/>
        </p:spPr>
      </p:sp>
      <p:sp>
        <p:nvSpPr>
          <p:cNvPr id="17" name="Text 9"/>
          <p:cNvSpPr/>
          <p:nvPr/>
        </p:nvSpPr>
        <p:spPr>
          <a:xfrm rot="5400000">
            <a:off x="724026" y="1153732"/>
            <a:ext cx="1685658" cy="2409404"/>
          </a:xfrm>
          <a:prstGeom prst="rect">
            <a:avLst/>
          </a:prstGeom>
          <a:noFill/>
          <a:ln/>
        </p:spPr>
        <p:txBody>
          <a:bodyPr wrap="square" rtlCol="0" anchor="t"/>
          <a:lstStyle/>
          <a:p>
            <a:pPr indent="0" marL="0">
              <a:spcBef>
                <a:spcPts val="375"/>
              </a:spcBef>
              <a:buNone/>
            </a:pPr>
            <a:endParaRPr lang="en-US" sz="1050" dirty="0"/>
          </a:p>
        </p:txBody>
      </p:sp>
      <p:sp>
        <p:nvSpPr>
          <p:cNvPr id="18" name="Shape 10"/>
          <p:cNvSpPr/>
          <p:nvPr/>
        </p:nvSpPr>
        <p:spPr>
          <a:xfrm rot="5400000">
            <a:off x="724026" y="1153732"/>
            <a:ext cx="1685658" cy="2409404"/>
          </a:xfrm>
          <a:custGeom>
            <a:avLst/>
            <a:gdLst/>
            <a:ahLst/>
            <a:cxnLst/>
            <a:rect l="l" t="t" r="r" b="b"/>
            <a:pathLst>
              <a:path w="1685658" h="2409404">
                <a:moveTo>
                  <a:pt x="0" y="0"/>
                </a:moveTo>
                <a:lnTo>
                  <a:pt x="1685658" y="0"/>
                </a:lnTo>
                <a:lnTo>
                  <a:pt x="1685658" y="2409404"/>
                </a:lnTo>
                <a:lnTo>
                  <a:pt x="0" y="2409404"/>
                </a:lnTo>
                <a:close/>
              </a:path>
            </a:pathLst>
          </a:custGeom>
          <a:solidFill>
            <a:srgbClr val="000000">
              <a:alpha val="0"/>
            </a:srgbClr>
          </a:solidFill>
          <a:ln/>
        </p:spPr>
      </p:sp>
      <p:sp>
        <p:nvSpPr>
          <p:cNvPr id="19" name="Text 11"/>
          <p:cNvSpPr/>
          <p:nvPr/>
        </p:nvSpPr>
        <p:spPr>
          <a:xfrm rot="5400000">
            <a:off x="724026" y="1153732"/>
            <a:ext cx="1685658" cy="2409404"/>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20" name="Image 6" descr="./images\slide3_img38.png">    </p:cNvPr>
          <p:cNvPicPr>
            <a:picLocks noChangeAspect="1"/>
          </p:cNvPicPr>
          <p:nvPr/>
        </p:nvPicPr>
        <p:blipFill>
          <a:blip r:embed="rId7"/>
          <a:stretch>
            <a:fillRect/>
          </a:stretch>
        </p:blipFill>
        <p:spPr>
          <a:xfrm rot="5400000">
            <a:off x="724026" y="1153732"/>
            <a:ext cx="1685658" cy="2409404"/>
          </a:xfrm>
          <a:prstGeom prst="rect">
            <a:avLst/>
          </a:prstGeom>
        </p:spPr>
      </p:pic>
      <p:pic>
        <p:nvPicPr>
          <p:cNvPr id="21" name="Image 7" descr="./images\slide3_img39.png">    </p:cNvPr>
          <p:cNvPicPr>
            <a:picLocks noChangeAspect="1"/>
          </p:cNvPicPr>
          <p:nvPr/>
        </p:nvPicPr>
        <p:blipFill>
          <a:blip r:embed="rId8"/>
          <a:stretch>
            <a:fillRect/>
          </a:stretch>
        </p:blipFill>
        <p:spPr>
          <a:xfrm rot="5400000">
            <a:off x="624040" y="2907996"/>
            <a:ext cx="1885630" cy="2409404"/>
          </a:xfrm>
          <a:prstGeom prst="rect">
            <a:avLst/>
          </a:prstGeom>
        </p:spPr>
      </p:pic>
      <p:sp>
        <p:nvSpPr>
          <p:cNvPr id="22" name="Shape 12"/>
          <p:cNvSpPr/>
          <p:nvPr/>
        </p:nvSpPr>
        <p:spPr>
          <a:xfrm rot="5400000">
            <a:off x="624040" y="2907996"/>
            <a:ext cx="1885630" cy="2409404"/>
          </a:xfrm>
          <a:custGeom>
            <a:avLst/>
            <a:gdLst/>
            <a:ahLst/>
            <a:cxnLst/>
            <a:rect l="l" t="t" r="r" b="b"/>
            <a:pathLst>
              <a:path w="1885630" h="2409404">
                <a:moveTo>
                  <a:pt x="0" y="0"/>
                </a:moveTo>
                <a:lnTo>
                  <a:pt x="1885630" y="0"/>
                </a:lnTo>
                <a:lnTo>
                  <a:pt x="1885630" y="2409404"/>
                </a:lnTo>
                <a:lnTo>
                  <a:pt x="0" y="2409404"/>
                </a:lnTo>
                <a:close/>
              </a:path>
            </a:pathLst>
          </a:custGeom>
          <a:solidFill>
            <a:srgbClr val="FFFFFF">
              <a:alpha val="0"/>
            </a:srgbClr>
          </a:solidFill>
          <a:ln/>
        </p:spPr>
      </p:sp>
      <p:sp>
        <p:nvSpPr>
          <p:cNvPr id="23" name="Text 13"/>
          <p:cNvSpPr/>
          <p:nvPr/>
        </p:nvSpPr>
        <p:spPr>
          <a:xfrm rot="5400000">
            <a:off x="624040" y="2907996"/>
            <a:ext cx="1885630" cy="2409404"/>
          </a:xfrm>
          <a:prstGeom prst="rect">
            <a:avLst/>
          </a:prstGeom>
          <a:noFill/>
          <a:ln/>
        </p:spPr>
        <p:txBody>
          <a:bodyPr wrap="square" rtlCol="0" anchor="t"/>
          <a:lstStyle/>
          <a:p>
            <a:pPr indent="0" marL="0">
              <a:spcBef>
                <a:spcPts val="375"/>
              </a:spcBef>
              <a:buNone/>
            </a:pPr>
            <a:endParaRPr lang="en-US" sz="1050" dirty="0"/>
          </a:p>
        </p:txBody>
      </p:sp>
      <p:sp>
        <p:nvSpPr>
          <p:cNvPr id="24" name="Shape 14"/>
          <p:cNvSpPr/>
          <p:nvPr/>
        </p:nvSpPr>
        <p:spPr>
          <a:xfrm rot="5400000">
            <a:off x="624040" y="2907996"/>
            <a:ext cx="1885630" cy="2409404"/>
          </a:xfrm>
          <a:custGeom>
            <a:avLst/>
            <a:gdLst/>
            <a:ahLst/>
            <a:cxnLst/>
            <a:rect l="l" t="t" r="r" b="b"/>
            <a:pathLst>
              <a:path w="1885630" h="2409404">
                <a:moveTo>
                  <a:pt x="0" y="0"/>
                </a:moveTo>
                <a:lnTo>
                  <a:pt x="1885630" y="0"/>
                </a:lnTo>
                <a:lnTo>
                  <a:pt x="1885630" y="2409404"/>
                </a:lnTo>
                <a:lnTo>
                  <a:pt x="0" y="2409404"/>
                </a:lnTo>
                <a:close/>
              </a:path>
            </a:pathLst>
          </a:custGeom>
          <a:solidFill>
            <a:srgbClr val="000000">
              <a:alpha val="0"/>
            </a:srgbClr>
          </a:solidFill>
          <a:ln/>
        </p:spPr>
      </p:sp>
      <p:sp>
        <p:nvSpPr>
          <p:cNvPr id="25" name="Text 15"/>
          <p:cNvSpPr/>
          <p:nvPr/>
        </p:nvSpPr>
        <p:spPr>
          <a:xfrm rot="5400000">
            <a:off x="624040" y="2907996"/>
            <a:ext cx="1885630" cy="2409404"/>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26" name="Image 8" descr="./images\slide3_img40.png">    </p:cNvPr>
          <p:cNvPicPr>
            <a:picLocks noChangeAspect="1"/>
          </p:cNvPicPr>
          <p:nvPr/>
        </p:nvPicPr>
        <p:blipFill>
          <a:blip r:embed="rId9"/>
          <a:stretch>
            <a:fillRect/>
          </a:stretch>
        </p:blipFill>
        <p:spPr>
          <a:xfrm rot="5400000">
            <a:off x="624040" y="2907996"/>
            <a:ext cx="1885630" cy="2409404"/>
          </a:xfrm>
          <a:prstGeom prst="rect">
            <a:avLst/>
          </a:prstGeom>
        </p:spPr>
      </p:pic>
      <p:pic>
        <p:nvPicPr>
          <p:cNvPr id="27" name="Image 9" descr="./images\slide3_img41.png">    </p:cNvPr>
          <p:cNvPicPr>
            <a:picLocks noChangeAspect="1"/>
          </p:cNvPicPr>
          <p:nvPr/>
        </p:nvPicPr>
        <p:blipFill>
          <a:blip r:embed="rId10"/>
          <a:stretch>
            <a:fillRect/>
          </a:stretch>
        </p:blipFill>
        <p:spPr>
          <a:xfrm rot="-1560000">
            <a:off x="593199" y="321536"/>
            <a:ext cx="555158" cy="1014408"/>
          </a:xfrm>
          <a:prstGeom prst="rect">
            <a:avLst/>
          </a:prstGeom>
        </p:spPr>
      </p:pic>
      <p:sp>
        <p:nvSpPr>
          <p:cNvPr id="28" name="Shape 16"/>
          <p:cNvSpPr/>
          <p:nvPr/>
        </p:nvSpPr>
        <p:spPr>
          <a:xfrm rot="-1560000">
            <a:off x="593199" y="321536"/>
            <a:ext cx="555158" cy="1014408"/>
          </a:xfrm>
          <a:custGeom>
            <a:avLst/>
            <a:gdLst/>
            <a:ahLst/>
            <a:cxnLst/>
            <a:rect l="l" t="t" r="r" b="b"/>
            <a:pathLst>
              <a:path w="555158" h="1014408">
                <a:moveTo>
                  <a:pt x="0" y="0"/>
                </a:moveTo>
                <a:lnTo>
                  <a:pt x="555158" y="0"/>
                </a:lnTo>
                <a:lnTo>
                  <a:pt x="555158" y="1014408"/>
                </a:lnTo>
                <a:lnTo>
                  <a:pt x="0" y="1014408"/>
                </a:lnTo>
                <a:close/>
              </a:path>
            </a:pathLst>
          </a:custGeom>
          <a:solidFill>
            <a:srgbClr val="FFFFFF">
              <a:alpha val="0"/>
            </a:srgbClr>
          </a:solidFill>
          <a:ln/>
        </p:spPr>
      </p:sp>
      <p:sp>
        <p:nvSpPr>
          <p:cNvPr id="29" name="Text 17"/>
          <p:cNvSpPr/>
          <p:nvPr/>
        </p:nvSpPr>
        <p:spPr>
          <a:xfrm rot="-1560000">
            <a:off x="593199" y="321536"/>
            <a:ext cx="555158" cy="1014408"/>
          </a:xfrm>
          <a:prstGeom prst="rect">
            <a:avLst/>
          </a:prstGeom>
          <a:noFill/>
          <a:ln/>
        </p:spPr>
        <p:txBody>
          <a:bodyPr wrap="square" rtlCol="0" anchor="t"/>
          <a:lstStyle/>
          <a:p>
            <a:pPr indent="0" marL="0">
              <a:spcBef>
                <a:spcPts val="375"/>
              </a:spcBef>
              <a:buNone/>
            </a:pPr>
            <a:endParaRPr lang="en-US" sz="1050" dirty="0"/>
          </a:p>
        </p:txBody>
      </p:sp>
      <p:sp>
        <p:nvSpPr>
          <p:cNvPr id="30" name="Shape 18"/>
          <p:cNvSpPr/>
          <p:nvPr/>
        </p:nvSpPr>
        <p:spPr>
          <a:xfrm rot="-1560000">
            <a:off x="593199" y="321536"/>
            <a:ext cx="555158" cy="1014408"/>
          </a:xfrm>
          <a:custGeom>
            <a:avLst/>
            <a:gdLst/>
            <a:ahLst/>
            <a:cxnLst/>
            <a:rect l="l" t="t" r="r" b="b"/>
            <a:pathLst>
              <a:path w="555158" h="1014408">
                <a:moveTo>
                  <a:pt x="0" y="0"/>
                </a:moveTo>
                <a:lnTo>
                  <a:pt x="555158" y="0"/>
                </a:lnTo>
                <a:lnTo>
                  <a:pt x="555158" y="1014408"/>
                </a:lnTo>
                <a:lnTo>
                  <a:pt x="0" y="1014408"/>
                </a:lnTo>
                <a:close/>
              </a:path>
            </a:pathLst>
          </a:custGeom>
          <a:solidFill>
            <a:srgbClr val="000000">
              <a:alpha val="0"/>
            </a:srgbClr>
          </a:solidFill>
          <a:ln/>
        </p:spPr>
      </p:sp>
      <p:sp>
        <p:nvSpPr>
          <p:cNvPr id="31" name="Text 19"/>
          <p:cNvSpPr/>
          <p:nvPr/>
        </p:nvSpPr>
        <p:spPr>
          <a:xfrm rot="-1560000">
            <a:off x="593199" y="321536"/>
            <a:ext cx="555158" cy="1014408"/>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32" name="Image 10" descr="./images\slide3_img42.png">    </p:cNvPr>
          <p:cNvPicPr>
            <a:picLocks noChangeAspect="1"/>
          </p:cNvPicPr>
          <p:nvPr/>
        </p:nvPicPr>
        <p:blipFill>
          <a:blip r:embed="rId11"/>
          <a:stretch>
            <a:fillRect/>
          </a:stretch>
        </p:blipFill>
        <p:spPr>
          <a:xfrm rot="-1560000">
            <a:off x="593199" y="321536"/>
            <a:ext cx="555158" cy="1014408"/>
          </a:xfrm>
          <a:prstGeom prst="rect">
            <a:avLst/>
          </a:prstGeom>
        </p:spPr>
      </p:pic>
      <p:pic>
        <p:nvPicPr>
          <p:cNvPr id="33" name="Image 11" descr="./images\slide3_img43.png">    </p:cNvPr>
          <p:cNvPicPr>
            <a:picLocks noChangeAspect="1"/>
          </p:cNvPicPr>
          <p:nvPr/>
        </p:nvPicPr>
        <p:blipFill>
          <a:blip r:embed="rId12"/>
          <a:stretch>
            <a:fillRect/>
          </a:stretch>
        </p:blipFill>
        <p:spPr>
          <a:xfrm rot="1080000">
            <a:off x="7992378" y="296089"/>
            <a:ext cx="555158" cy="1014408"/>
          </a:xfrm>
          <a:prstGeom prst="rect">
            <a:avLst/>
          </a:prstGeom>
        </p:spPr>
      </p:pic>
      <p:sp>
        <p:nvSpPr>
          <p:cNvPr id="34" name="Shape 20"/>
          <p:cNvSpPr/>
          <p:nvPr/>
        </p:nvSpPr>
        <p:spPr>
          <a:xfrm rot="1080000">
            <a:off x="7992378" y="296089"/>
            <a:ext cx="555158" cy="1014408"/>
          </a:xfrm>
          <a:custGeom>
            <a:avLst/>
            <a:gdLst/>
            <a:ahLst/>
            <a:cxnLst/>
            <a:rect l="l" t="t" r="r" b="b"/>
            <a:pathLst>
              <a:path w="555158" h="1014408">
                <a:moveTo>
                  <a:pt x="0" y="0"/>
                </a:moveTo>
                <a:lnTo>
                  <a:pt x="555158" y="0"/>
                </a:lnTo>
                <a:lnTo>
                  <a:pt x="555158" y="1014408"/>
                </a:lnTo>
                <a:lnTo>
                  <a:pt x="0" y="1014408"/>
                </a:lnTo>
                <a:close/>
              </a:path>
            </a:pathLst>
          </a:custGeom>
          <a:solidFill>
            <a:srgbClr val="FFFFFF">
              <a:alpha val="0"/>
            </a:srgbClr>
          </a:solidFill>
          <a:ln/>
        </p:spPr>
      </p:sp>
      <p:sp>
        <p:nvSpPr>
          <p:cNvPr id="35" name="Text 21"/>
          <p:cNvSpPr/>
          <p:nvPr/>
        </p:nvSpPr>
        <p:spPr>
          <a:xfrm rot="1080000">
            <a:off x="7992378" y="296089"/>
            <a:ext cx="555158" cy="1014408"/>
          </a:xfrm>
          <a:prstGeom prst="rect">
            <a:avLst/>
          </a:prstGeom>
          <a:noFill/>
          <a:ln/>
        </p:spPr>
        <p:txBody>
          <a:bodyPr wrap="square" rtlCol="0" anchor="t"/>
          <a:lstStyle/>
          <a:p>
            <a:pPr indent="0" marL="0">
              <a:spcBef>
                <a:spcPts val="375"/>
              </a:spcBef>
              <a:buNone/>
            </a:pPr>
            <a:endParaRPr lang="en-US" sz="1050" dirty="0"/>
          </a:p>
        </p:txBody>
      </p:sp>
      <p:sp>
        <p:nvSpPr>
          <p:cNvPr id="36" name="Shape 22"/>
          <p:cNvSpPr/>
          <p:nvPr/>
        </p:nvSpPr>
        <p:spPr>
          <a:xfrm rot="1080000">
            <a:off x="7992378" y="296089"/>
            <a:ext cx="555158" cy="1014408"/>
          </a:xfrm>
          <a:custGeom>
            <a:avLst/>
            <a:gdLst/>
            <a:ahLst/>
            <a:cxnLst/>
            <a:rect l="l" t="t" r="r" b="b"/>
            <a:pathLst>
              <a:path w="555158" h="1014408">
                <a:moveTo>
                  <a:pt x="0" y="0"/>
                </a:moveTo>
                <a:lnTo>
                  <a:pt x="555158" y="0"/>
                </a:lnTo>
                <a:lnTo>
                  <a:pt x="555158" y="1014408"/>
                </a:lnTo>
                <a:lnTo>
                  <a:pt x="0" y="1014408"/>
                </a:lnTo>
                <a:close/>
              </a:path>
            </a:pathLst>
          </a:custGeom>
          <a:solidFill>
            <a:srgbClr val="000000">
              <a:alpha val="0"/>
            </a:srgbClr>
          </a:solidFill>
          <a:ln/>
        </p:spPr>
      </p:sp>
      <p:sp>
        <p:nvSpPr>
          <p:cNvPr id="37" name="Text 23"/>
          <p:cNvSpPr/>
          <p:nvPr/>
        </p:nvSpPr>
        <p:spPr>
          <a:xfrm rot="1080000">
            <a:off x="7992378" y="296089"/>
            <a:ext cx="555158" cy="1014408"/>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38" name="Image 12" descr="./images\slide3_img44.png">    </p:cNvPr>
          <p:cNvPicPr>
            <a:picLocks noChangeAspect="1"/>
          </p:cNvPicPr>
          <p:nvPr/>
        </p:nvPicPr>
        <p:blipFill>
          <a:blip r:embed="rId13"/>
          <a:stretch>
            <a:fillRect/>
          </a:stretch>
        </p:blipFill>
        <p:spPr>
          <a:xfrm rot="1080000">
            <a:off x="7992378" y="296089"/>
            <a:ext cx="555158" cy="1014408"/>
          </a:xfrm>
          <a:prstGeom prst="rect">
            <a:avLst/>
          </a:prstGeom>
        </p:spPr>
      </p:pic>
      <p:pic>
        <p:nvPicPr>
          <p:cNvPr id="39" name="Image 13" descr="./images\slide3_img45.png">    </p:cNvPr>
          <p:cNvPicPr>
            <a:picLocks noChangeAspect="1"/>
          </p:cNvPicPr>
          <p:nvPr/>
        </p:nvPicPr>
        <p:blipFill>
          <a:blip r:embed="rId14"/>
          <a:stretch>
            <a:fillRect/>
          </a:stretch>
        </p:blipFill>
        <p:spPr>
          <a:xfrm>
            <a:off x="3193078" y="1751396"/>
            <a:ext cx="2757845" cy="3021544"/>
          </a:xfrm>
          <a:prstGeom prst="rect">
            <a:avLst/>
          </a:prstGeom>
        </p:spPr>
      </p:pic>
      <p:sp>
        <p:nvSpPr>
          <p:cNvPr id="40" name="Shape 24"/>
          <p:cNvSpPr/>
          <p:nvPr/>
        </p:nvSpPr>
        <p:spPr>
          <a:xfrm>
            <a:off x="3193078" y="1751396"/>
            <a:ext cx="2757845" cy="3021544"/>
          </a:xfrm>
          <a:custGeom>
            <a:avLst/>
            <a:gdLst/>
            <a:ahLst/>
            <a:cxnLst/>
            <a:rect l="l" t="t" r="r" b="b"/>
            <a:pathLst>
              <a:path w="2757845" h="3021544">
                <a:moveTo>
                  <a:pt x="0" y="0"/>
                </a:moveTo>
                <a:lnTo>
                  <a:pt x="2757845" y="0"/>
                </a:lnTo>
                <a:lnTo>
                  <a:pt x="2757845" y="3021544"/>
                </a:lnTo>
                <a:lnTo>
                  <a:pt x="0" y="3021544"/>
                </a:lnTo>
                <a:close/>
              </a:path>
            </a:pathLst>
          </a:custGeom>
          <a:solidFill>
            <a:srgbClr val="FFFFFF">
              <a:alpha val="0"/>
            </a:srgbClr>
          </a:solidFill>
          <a:ln/>
        </p:spPr>
      </p:sp>
      <p:sp>
        <p:nvSpPr>
          <p:cNvPr id="41" name="Text 25"/>
          <p:cNvSpPr/>
          <p:nvPr/>
        </p:nvSpPr>
        <p:spPr>
          <a:xfrm>
            <a:off x="3193078" y="1751396"/>
            <a:ext cx="2757845" cy="3021544"/>
          </a:xfrm>
          <a:prstGeom prst="rect">
            <a:avLst/>
          </a:prstGeom>
          <a:noFill/>
          <a:ln/>
        </p:spPr>
        <p:txBody>
          <a:bodyPr wrap="square" rtlCol="0" anchor="t"/>
          <a:lstStyle/>
          <a:p>
            <a:pPr indent="0" marL="0">
              <a:spcBef>
                <a:spcPts val="375"/>
              </a:spcBef>
              <a:buNone/>
            </a:pPr>
            <a:endParaRPr lang="en-US" sz="1050" dirty="0"/>
          </a:p>
        </p:txBody>
      </p:sp>
      <p:sp>
        <p:nvSpPr>
          <p:cNvPr id="42" name="Shape 26"/>
          <p:cNvSpPr/>
          <p:nvPr/>
        </p:nvSpPr>
        <p:spPr>
          <a:xfrm>
            <a:off x="3193078" y="1751396"/>
            <a:ext cx="2757845" cy="3021544"/>
          </a:xfrm>
          <a:custGeom>
            <a:avLst/>
            <a:gdLst/>
            <a:ahLst/>
            <a:cxnLst/>
            <a:rect l="l" t="t" r="r" b="b"/>
            <a:pathLst>
              <a:path w="2757845" h="3021544">
                <a:moveTo>
                  <a:pt x="0" y="0"/>
                </a:moveTo>
                <a:lnTo>
                  <a:pt x="2757845" y="0"/>
                </a:lnTo>
                <a:lnTo>
                  <a:pt x="2757845" y="3021544"/>
                </a:lnTo>
                <a:lnTo>
                  <a:pt x="0" y="3021544"/>
                </a:lnTo>
                <a:close/>
              </a:path>
            </a:pathLst>
          </a:custGeom>
          <a:solidFill>
            <a:srgbClr val="000000">
              <a:alpha val="0"/>
            </a:srgbClr>
          </a:solidFill>
          <a:ln/>
        </p:spPr>
      </p:sp>
      <p:sp>
        <p:nvSpPr>
          <p:cNvPr id="43" name="Text 27"/>
          <p:cNvSpPr/>
          <p:nvPr/>
        </p:nvSpPr>
        <p:spPr>
          <a:xfrm>
            <a:off x="3193078" y="1751396"/>
            <a:ext cx="2757845" cy="3021544"/>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44" name="Image 14" descr="./images\slide3_img46.png">    </p:cNvPr>
          <p:cNvPicPr>
            <a:picLocks noChangeAspect="1"/>
          </p:cNvPicPr>
          <p:nvPr/>
        </p:nvPicPr>
        <p:blipFill>
          <a:blip r:embed="rId15"/>
          <a:stretch>
            <a:fillRect/>
          </a:stretch>
        </p:blipFill>
        <p:spPr>
          <a:xfrm>
            <a:off x="3193078" y="1751396"/>
            <a:ext cx="2757845" cy="3021544"/>
          </a:xfrm>
          <a:prstGeom prst="rect">
            <a:avLst/>
          </a:prstGeom>
        </p:spPr>
      </p:pic>
      <p:pic>
        <p:nvPicPr>
          <p:cNvPr id="45" name="Image 15" descr="./images\slide3_img47.png">    </p:cNvPr>
          <p:cNvPicPr>
            <a:picLocks noChangeAspect="1"/>
          </p:cNvPicPr>
          <p:nvPr/>
        </p:nvPicPr>
        <p:blipFill>
          <a:blip r:embed="rId16"/>
          <a:stretch>
            <a:fillRect/>
          </a:stretch>
        </p:blipFill>
        <p:spPr>
          <a:xfrm>
            <a:off x="6974470" y="1834514"/>
            <a:ext cx="1186113" cy="1133409"/>
          </a:xfrm>
          <a:prstGeom prst="rect">
            <a:avLst/>
          </a:prstGeom>
        </p:spPr>
      </p:pic>
      <p:sp>
        <p:nvSpPr>
          <p:cNvPr id="46" name="Shape 28"/>
          <p:cNvSpPr/>
          <p:nvPr/>
        </p:nvSpPr>
        <p:spPr>
          <a:xfrm>
            <a:off x="6974470" y="1834514"/>
            <a:ext cx="1186113" cy="1133409"/>
          </a:xfrm>
          <a:custGeom>
            <a:avLst/>
            <a:gdLst/>
            <a:ahLst/>
            <a:cxnLst/>
            <a:rect l="l" t="t" r="r" b="b"/>
            <a:pathLst>
              <a:path w="1186113" h="1133409">
                <a:moveTo>
                  <a:pt x="0" y="0"/>
                </a:moveTo>
                <a:lnTo>
                  <a:pt x="1186113" y="0"/>
                </a:lnTo>
                <a:lnTo>
                  <a:pt x="1186113" y="1133409"/>
                </a:lnTo>
                <a:lnTo>
                  <a:pt x="0" y="1133409"/>
                </a:lnTo>
                <a:close/>
              </a:path>
            </a:pathLst>
          </a:custGeom>
          <a:solidFill>
            <a:srgbClr val="FFFFFF">
              <a:alpha val="0"/>
            </a:srgbClr>
          </a:solidFill>
          <a:ln/>
        </p:spPr>
      </p:sp>
      <p:sp>
        <p:nvSpPr>
          <p:cNvPr id="47" name="Text 29"/>
          <p:cNvSpPr/>
          <p:nvPr/>
        </p:nvSpPr>
        <p:spPr>
          <a:xfrm>
            <a:off x="6974470" y="1834514"/>
            <a:ext cx="1186113" cy="1133409"/>
          </a:xfrm>
          <a:prstGeom prst="rect">
            <a:avLst/>
          </a:prstGeom>
          <a:noFill/>
          <a:ln/>
        </p:spPr>
        <p:txBody>
          <a:bodyPr wrap="square" rtlCol="0" anchor="t"/>
          <a:lstStyle/>
          <a:p>
            <a:pPr indent="0" marL="0">
              <a:spcBef>
                <a:spcPts val="375"/>
              </a:spcBef>
              <a:buNone/>
            </a:pPr>
            <a:endParaRPr lang="en-US" sz="1050" dirty="0"/>
          </a:p>
        </p:txBody>
      </p:sp>
      <p:sp>
        <p:nvSpPr>
          <p:cNvPr id="48" name="Shape 30"/>
          <p:cNvSpPr/>
          <p:nvPr/>
        </p:nvSpPr>
        <p:spPr>
          <a:xfrm>
            <a:off x="6974470" y="1834514"/>
            <a:ext cx="1186113" cy="1133409"/>
          </a:xfrm>
          <a:custGeom>
            <a:avLst/>
            <a:gdLst/>
            <a:ahLst/>
            <a:cxnLst/>
            <a:rect l="l" t="t" r="r" b="b"/>
            <a:pathLst>
              <a:path w="1186113" h="1133409">
                <a:moveTo>
                  <a:pt x="0" y="0"/>
                </a:moveTo>
                <a:lnTo>
                  <a:pt x="1186113" y="0"/>
                </a:lnTo>
                <a:lnTo>
                  <a:pt x="1186113" y="1133409"/>
                </a:lnTo>
                <a:lnTo>
                  <a:pt x="0" y="1133409"/>
                </a:lnTo>
                <a:close/>
              </a:path>
            </a:pathLst>
          </a:custGeom>
          <a:solidFill>
            <a:srgbClr val="000000">
              <a:alpha val="0"/>
            </a:srgbClr>
          </a:solidFill>
          <a:ln/>
        </p:spPr>
      </p:sp>
      <p:sp>
        <p:nvSpPr>
          <p:cNvPr id="49" name="Text 31"/>
          <p:cNvSpPr/>
          <p:nvPr/>
        </p:nvSpPr>
        <p:spPr>
          <a:xfrm>
            <a:off x="6974470" y="1834514"/>
            <a:ext cx="1186113" cy="1133409"/>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50" name="Image 16" descr="./images\slide3_img48.png">    </p:cNvPr>
          <p:cNvPicPr>
            <a:picLocks noChangeAspect="1"/>
          </p:cNvPicPr>
          <p:nvPr/>
        </p:nvPicPr>
        <p:blipFill>
          <a:blip r:embed="rId17"/>
          <a:stretch>
            <a:fillRect/>
          </a:stretch>
        </p:blipFill>
        <p:spPr>
          <a:xfrm>
            <a:off x="6974470" y="1834514"/>
            <a:ext cx="1186113" cy="1133409"/>
          </a:xfrm>
          <a:prstGeom prst="rect">
            <a:avLst/>
          </a:prstGeom>
        </p:spPr>
      </p:pic>
      <p:pic>
        <p:nvPicPr>
          <p:cNvPr id="51" name="Image 17" descr="./images\slide3_img49.png">    </p:cNvPr>
          <p:cNvPicPr>
            <a:picLocks noChangeAspect="1"/>
          </p:cNvPicPr>
          <p:nvPr/>
        </p:nvPicPr>
        <p:blipFill>
          <a:blip r:embed="rId18"/>
          <a:stretch>
            <a:fillRect/>
          </a:stretch>
        </p:blipFill>
        <p:spPr>
          <a:xfrm>
            <a:off x="1407818" y="1743861"/>
            <a:ext cx="327483" cy="1314714"/>
          </a:xfrm>
          <a:prstGeom prst="rect">
            <a:avLst/>
          </a:prstGeom>
        </p:spPr>
      </p:pic>
      <p:sp>
        <p:nvSpPr>
          <p:cNvPr id="52" name="Shape 32"/>
          <p:cNvSpPr/>
          <p:nvPr/>
        </p:nvSpPr>
        <p:spPr>
          <a:xfrm>
            <a:off x="1407818" y="1743861"/>
            <a:ext cx="327483" cy="1314714"/>
          </a:xfrm>
          <a:custGeom>
            <a:avLst/>
            <a:gdLst/>
            <a:ahLst/>
            <a:cxnLst/>
            <a:rect l="l" t="t" r="r" b="b"/>
            <a:pathLst>
              <a:path w="327483" h="1314714">
                <a:moveTo>
                  <a:pt x="0" y="0"/>
                </a:moveTo>
                <a:lnTo>
                  <a:pt x="327483" y="0"/>
                </a:lnTo>
                <a:lnTo>
                  <a:pt x="327483" y="1314714"/>
                </a:lnTo>
                <a:lnTo>
                  <a:pt x="0" y="1314714"/>
                </a:lnTo>
                <a:close/>
              </a:path>
            </a:pathLst>
          </a:custGeom>
          <a:solidFill>
            <a:srgbClr val="FFFFFF">
              <a:alpha val="0"/>
            </a:srgbClr>
          </a:solidFill>
          <a:ln/>
        </p:spPr>
      </p:sp>
      <p:sp>
        <p:nvSpPr>
          <p:cNvPr id="53" name="Text 33"/>
          <p:cNvSpPr/>
          <p:nvPr/>
        </p:nvSpPr>
        <p:spPr>
          <a:xfrm>
            <a:off x="1407818" y="1743861"/>
            <a:ext cx="327483" cy="1314714"/>
          </a:xfrm>
          <a:prstGeom prst="rect">
            <a:avLst/>
          </a:prstGeom>
          <a:noFill/>
          <a:ln/>
        </p:spPr>
        <p:txBody>
          <a:bodyPr wrap="square" rtlCol="0" anchor="t"/>
          <a:lstStyle/>
          <a:p>
            <a:pPr indent="0" marL="0">
              <a:spcBef>
                <a:spcPts val="375"/>
              </a:spcBef>
              <a:buNone/>
            </a:pPr>
            <a:endParaRPr lang="en-US" sz="1050" dirty="0"/>
          </a:p>
        </p:txBody>
      </p:sp>
      <p:sp>
        <p:nvSpPr>
          <p:cNvPr id="54" name="Shape 34"/>
          <p:cNvSpPr/>
          <p:nvPr/>
        </p:nvSpPr>
        <p:spPr>
          <a:xfrm>
            <a:off x="1407818" y="1743861"/>
            <a:ext cx="327483" cy="1314714"/>
          </a:xfrm>
          <a:custGeom>
            <a:avLst/>
            <a:gdLst/>
            <a:ahLst/>
            <a:cxnLst/>
            <a:rect l="l" t="t" r="r" b="b"/>
            <a:pathLst>
              <a:path w="327483" h="1314714">
                <a:moveTo>
                  <a:pt x="0" y="0"/>
                </a:moveTo>
                <a:lnTo>
                  <a:pt x="327483" y="0"/>
                </a:lnTo>
                <a:lnTo>
                  <a:pt x="327483" y="1314714"/>
                </a:lnTo>
                <a:lnTo>
                  <a:pt x="0" y="1314714"/>
                </a:lnTo>
                <a:close/>
              </a:path>
            </a:pathLst>
          </a:custGeom>
          <a:solidFill>
            <a:srgbClr val="000000">
              <a:alpha val="0"/>
            </a:srgbClr>
          </a:solidFill>
          <a:ln/>
        </p:spPr>
      </p:sp>
      <p:sp>
        <p:nvSpPr>
          <p:cNvPr id="55" name="Text 35"/>
          <p:cNvSpPr/>
          <p:nvPr/>
        </p:nvSpPr>
        <p:spPr>
          <a:xfrm>
            <a:off x="1407818" y="1743861"/>
            <a:ext cx="327483" cy="1314714"/>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56" name="Image 18" descr="./images\slide3_img50.png">    </p:cNvPr>
          <p:cNvPicPr>
            <a:picLocks noChangeAspect="1"/>
          </p:cNvPicPr>
          <p:nvPr/>
        </p:nvPicPr>
        <p:blipFill>
          <a:blip r:embed="rId19"/>
          <a:stretch>
            <a:fillRect/>
          </a:stretch>
        </p:blipFill>
        <p:spPr>
          <a:xfrm>
            <a:off x="1407818" y="1743861"/>
            <a:ext cx="327483" cy="1314714"/>
          </a:xfrm>
          <a:prstGeom prst="rect">
            <a:avLst/>
          </a:prstGeom>
        </p:spPr>
      </p:pic>
      <p:sp>
        <p:nvSpPr>
          <p:cNvPr id="57" name="Shape 36"/>
          <p:cNvSpPr/>
          <p:nvPr/>
        </p:nvSpPr>
        <p:spPr>
          <a:xfrm>
            <a:off x="1537080" y="366167"/>
            <a:ext cx="6814179" cy="666750"/>
          </a:xfrm>
          <a:custGeom>
            <a:avLst/>
            <a:gdLst/>
            <a:ahLst/>
            <a:cxnLst/>
            <a:rect l="l" t="t" r="r" b="b"/>
            <a:pathLst>
              <a:path w="6814179" h="666750">
                <a:moveTo>
                  <a:pt x="0" y="0"/>
                </a:moveTo>
                <a:lnTo>
                  <a:pt x="6814179" y="0"/>
                </a:lnTo>
                <a:lnTo>
                  <a:pt x="6814179" y="666750"/>
                </a:lnTo>
                <a:lnTo>
                  <a:pt x="0" y="666750"/>
                </a:lnTo>
                <a:close/>
              </a:path>
            </a:pathLst>
          </a:custGeom>
          <a:solidFill>
            <a:srgbClr val="FFFFFF">
              <a:alpha val="0"/>
            </a:srgbClr>
          </a:solidFill>
          <a:ln/>
        </p:spPr>
      </p:sp>
      <p:sp>
        <p:nvSpPr>
          <p:cNvPr id="58" name="Text 37"/>
          <p:cNvSpPr/>
          <p:nvPr/>
        </p:nvSpPr>
        <p:spPr>
          <a:xfrm>
            <a:off x="1537080" y="366167"/>
            <a:ext cx="6814179" cy="666750"/>
          </a:xfrm>
          <a:prstGeom prst="rect">
            <a:avLst/>
          </a:prstGeom>
          <a:noFill/>
          <a:ln/>
        </p:spPr>
        <p:txBody>
          <a:bodyPr wrap="square" rtlCol="0" anchor="t"/>
          <a:lstStyle/>
          <a:p>
            <a:pPr indent="0" marL="0">
              <a:spcBef>
                <a:spcPts val="375"/>
              </a:spcBef>
              <a:buNone/>
            </a:pPr>
            <a:endParaRPr lang="en-US" sz="1050" dirty="0"/>
          </a:p>
        </p:txBody>
      </p:sp>
      <p:sp>
        <p:nvSpPr>
          <p:cNvPr id="59" name="Shape 38"/>
          <p:cNvSpPr/>
          <p:nvPr/>
        </p:nvSpPr>
        <p:spPr>
          <a:xfrm>
            <a:off x="1537080" y="366167"/>
            <a:ext cx="6814179" cy="666750"/>
          </a:xfrm>
          <a:custGeom>
            <a:avLst/>
            <a:gdLst/>
            <a:ahLst/>
            <a:cxnLst/>
            <a:rect l="l" t="t" r="r" b="b"/>
            <a:pathLst>
              <a:path w="6814179" h="666750">
                <a:moveTo>
                  <a:pt x="0" y="0"/>
                </a:moveTo>
                <a:lnTo>
                  <a:pt x="6814179" y="0"/>
                </a:lnTo>
                <a:lnTo>
                  <a:pt x="6814179" y="666750"/>
                </a:lnTo>
                <a:lnTo>
                  <a:pt x="0" y="666750"/>
                </a:lnTo>
                <a:close/>
              </a:path>
            </a:pathLst>
          </a:custGeom>
          <a:solidFill>
            <a:srgbClr val="000000">
              <a:alpha val="0"/>
            </a:srgbClr>
          </a:solidFill>
          <a:ln/>
        </p:spPr>
      </p:sp>
      <p:sp>
        <p:nvSpPr>
          <p:cNvPr id="60" name="Text 39"/>
          <p:cNvSpPr/>
          <p:nvPr/>
        </p:nvSpPr>
        <p:spPr>
          <a:xfrm>
            <a:off x="1537080" y="366167"/>
            <a:ext cx="6814179" cy="666750"/>
          </a:xfrm>
          <a:prstGeom prst="rect">
            <a:avLst/>
          </a:prstGeom>
          <a:noFill/>
          <a:ln/>
        </p:spPr>
        <p:txBody>
          <a:bodyPr wrap="square" rtlCol="0" anchor="t"/>
          <a:lstStyle/>
          <a:p>
            <a:pPr algn="ctr" indent="0" marL="0">
              <a:spcBef>
                <a:spcPts val="375"/>
              </a:spcBef>
              <a:buNone/>
            </a:pPr>
            <a:r>
              <a:rPr lang="en-US" sz="3000" dirty="0">
                <a:solidFill>
                  <a:srgbClr val="45464D"/>
                </a:solidFill>
                <a:latin typeface="Caveat Brush" pitchFamily="34" charset="0"/>
                <a:ea typeface="Caveat Brush" pitchFamily="34" charset="-122"/>
                <a:cs typeface="Caveat Brush" pitchFamily="34" charset="-120"/>
              </a:rPr>
              <a:t>O'sma turlari haqida</a:t>
            </a:r>
            <a:endParaRPr lang="en-US" sz="1050" dirty="0"/>
          </a:p>
        </p:txBody>
      </p:sp>
      <p:sp>
        <p:nvSpPr>
          <p:cNvPr id="61" name="Shape 40"/>
          <p:cNvSpPr/>
          <p:nvPr/>
        </p:nvSpPr>
        <p:spPr>
          <a:xfrm>
            <a:off x="425811" y="3169883"/>
            <a:ext cx="2291530" cy="985242"/>
          </a:xfrm>
          <a:custGeom>
            <a:avLst/>
            <a:gdLst/>
            <a:ahLst/>
            <a:cxnLst/>
            <a:rect l="l" t="t" r="r" b="b"/>
            <a:pathLst>
              <a:path w="2291530" h="985242">
                <a:moveTo>
                  <a:pt x="0" y="0"/>
                </a:moveTo>
                <a:lnTo>
                  <a:pt x="2291530" y="0"/>
                </a:lnTo>
                <a:lnTo>
                  <a:pt x="2291530" y="985242"/>
                </a:lnTo>
                <a:lnTo>
                  <a:pt x="0" y="985242"/>
                </a:lnTo>
                <a:close/>
              </a:path>
            </a:pathLst>
          </a:custGeom>
          <a:solidFill>
            <a:srgbClr val="FFFFFF">
              <a:alpha val="0"/>
            </a:srgbClr>
          </a:solidFill>
          <a:ln/>
        </p:spPr>
      </p:sp>
      <p:sp>
        <p:nvSpPr>
          <p:cNvPr id="62" name="Text 41"/>
          <p:cNvSpPr/>
          <p:nvPr/>
        </p:nvSpPr>
        <p:spPr>
          <a:xfrm>
            <a:off x="425811" y="3169883"/>
            <a:ext cx="2291530" cy="985242"/>
          </a:xfrm>
          <a:prstGeom prst="rect">
            <a:avLst/>
          </a:prstGeom>
          <a:noFill/>
          <a:ln/>
        </p:spPr>
        <p:txBody>
          <a:bodyPr wrap="square" rtlCol="0" anchor="t"/>
          <a:lstStyle/>
          <a:p>
            <a:pPr indent="0" marL="0">
              <a:spcBef>
                <a:spcPts val="375"/>
              </a:spcBef>
              <a:buNone/>
            </a:pPr>
            <a:endParaRPr lang="en-US" sz="1050" dirty="0"/>
          </a:p>
        </p:txBody>
      </p:sp>
      <p:sp>
        <p:nvSpPr>
          <p:cNvPr id="63" name="Shape 42"/>
          <p:cNvSpPr/>
          <p:nvPr/>
        </p:nvSpPr>
        <p:spPr>
          <a:xfrm>
            <a:off x="425811" y="3169883"/>
            <a:ext cx="2291530" cy="985242"/>
          </a:xfrm>
          <a:custGeom>
            <a:avLst/>
            <a:gdLst/>
            <a:ahLst/>
            <a:cxnLst/>
            <a:rect l="l" t="t" r="r" b="b"/>
            <a:pathLst>
              <a:path w="2291530" h="985242">
                <a:moveTo>
                  <a:pt x="0" y="0"/>
                </a:moveTo>
                <a:lnTo>
                  <a:pt x="2291530" y="0"/>
                </a:lnTo>
                <a:lnTo>
                  <a:pt x="2291530" y="985242"/>
                </a:lnTo>
                <a:lnTo>
                  <a:pt x="0" y="985242"/>
                </a:lnTo>
                <a:close/>
              </a:path>
            </a:pathLst>
          </a:custGeom>
          <a:solidFill>
            <a:srgbClr val="000000">
              <a:alpha val="0"/>
            </a:srgbClr>
          </a:solidFill>
          <a:ln/>
        </p:spPr>
      </p:sp>
      <p:sp>
        <p:nvSpPr>
          <p:cNvPr id="64" name="Text 43"/>
          <p:cNvSpPr/>
          <p:nvPr/>
        </p:nvSpPr>
        <p:spPr>
          <a:xfrm>
            <a:off x="425811" y="3169883"/>
            <a:ext cx="2291530" cy="985242"/>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O'sma turlari turli xil o'simlik va hayvonlarda uchraydi. Ular o'simliklar va hayvonlar organizmida o'sish jarayoni davomida yuzaga keladi. O'sma turlari ko'pincha genetik o'zgarishlar yoki atrof-muhit ta'siri natijasida paydo bo'ladi. Bularning ichida benign va malign o'smalar farqlanadi, bu esa sog'liq uchun turlicha xavflarni keltirib chiqaradi.</a:t>
            </a:r>
            <a:endParaRPr lang="en-US" sz="1050" dirty="0"/>
          </a:p>
        </p:txBody>
      </p:sp>
      <p:sp>
        <p:nvSpPr>
          <p:cNvPr id="65" name="Shape 44"/>
          <p:cNvSpPr/>
          <p:nvPr/>
        </p:nvSpPr>
        <p:spPr>
          <a:xfrm>
            <a:off x="6425989" y="3169883"/>
            <a:ext cx="2306980" cy="985242"/>
          </a:xfrm>
          <a:custGeom>
            <a:avLst/>
            <a:gdLst/>
            <a:ahLst/>
            <a:cxnLst/>
            <a:rect l="l" t="t" r="r" b="b"/>
            <a:pathLst>
              <a:path w="2306980" h="985242">
                <a:moveTo>
                  <a:pt x="0" y="0"/>
                </a:moveTo>
                <a:lnTo>
                  <a:pt x="2306980" y="0"/>
                </a:lnTo>
                <a:lnTo>
                  <a:pt x="2306980" y="985242"/>
                </a:lnTo>
                <a:lnTo>
                  <a:pt x="0" y="985242"/>
                </a:lnTo>
                <a:close/>
              </a:path>
            </a:pathLst>
          </a:custGeom>
          <a:solidFill>
            <a:srgbClr val="FFFFFF">
              <a:alpha val="0"/>
            </a:srgbClr>
          </a:solidFill>
          <a:ln/>
        </p:spPr>
      </p:sp>
      <p:sp>
        <p:nvSpPr>
          <p:cNvPr id="66" name="Text 45"/>
          <p:cNvSpPr/>
          <p:nvPr/>
        </p:nvSpPr>
        <p:spPr>
          <a:xfrm>
            <a:off x="6425989" y="3169883"/>
            <a:ext cx="2306980" cy="985242"/>
          </a:xfrm>
          <a:prstGeom prst="rect">
            <a:avLst/>
          </a:prstGeom>
          <a:noFill/>
          <a:ln/>
        </p:spPr>
        <p:txBody>
          <a:bodyPr wrap="square" rtlCol="0" anchor="t"/>
          <a:lstStyle/>
          <a:p>
            <a:pPr indent="0" marL="0">
              <a:spcBef>
                <a:spcPts val="375"/>
              </a:spcBef>
              <a:buNone/>
            </a:pPr>
            <a:endParaRPr lang="en-US" sz="1050" dirty="0"/>
          </a:p>
        </p:txBody>
      </p:sp>
      <p:sp>
        <p:nvSpPr>
          <p:cNvPr id="67" name="Shape 46"/>
          <p:cNvSpPr/>
          <p:nvPr/>
        </p:nvSpPr>
        <p:spPr>
          <a:xfrm>
            <a:off x="6425989" y="3169883"/>
            <a:ext cx="2306980" cy="985242"/>
          </a:xfrm>
          <a:custGeom>
            <a:avLst/>
            <a:gdLst/>
            <a:ahLst/>
            <a:cxnLst/>
            <a:rect l="l" t="t" r="r" b="b"/>
            <a:pathLst>
              <a:path w="2306980" h="985242">
                <a:moveTo>
                  <a:pt x="0" y="0"/>
                </a:moveTo>
                <a:lnTo>
                  <a:pt x="2306980" y="0"/>
                </a:lnTo>
                <a:lnTo>
                  <a:pt x="2306980" y="985242"/>
                </a:lnTo>
                <a:lnTo>
                  <a:pt x="0" y="985242"/>
                </a:lnTo>
                <a:close/>
              </a:path>
            </a:pathLst>
          </a:custGeom>
          <a:solidFill>
            <a:srgbClr val="000000">
              <a:alpha val="0"/>
            </a:srgbClr>
          </a:solidFill>
          <a:ln/>
        </p:spPr>
      </p:sp>
      <p:sp>
        <p:nvSpPr>
          <p:cNvPr id="68" name="Text 47"/>
          <p:cNvSpPr/>
          <p:nvPr/>
        </p:nvSpPr>
        <p:spPr>
          <a:xfrm>
            <a:off x="6425989" y="3169883"/>
            <a:ext cx="2306980" cy="985242"/>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O'sma turlari o'simliklarda ko'plab shakllarda kuzatiladi. Ular ko'pincha o'simlikning iqlimga qarab o'sishiga, biologik faoliyatiga va boshqa stress omillariga bog'liq. O'smalarning turlari o'simlikning o'ziga xos xususiyatlarini belgilaydi va ba'zi hollarda iqtisodiy ahamiyatga ega bo'lishi mumkin.</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1F1F1"/>
        </a:solidFill>
      </p:bgPr>
    </p:bg>
    <p:spTree>
      <p:nvGrpSpPr>
        <p:cNvPr id="1" name=""/>
        <p:cNvGrpSpPr/>
        <p:nvPr/>
      </p:nvGrpSpPr>
      <p:grpSpPr>
        <a:xfrm>
          <a:off x="0" y="0"/>
          <a:ext cx="0" cy="0"/>
          <a:chOff x="0" y="0"/>
          <a:chExt cx="0" cy="0"/>
        </a:xfrm>
      </p:grpSpPr>
      <p:pic>
        <p:nvPicPr>
          <p:cNvPr id="2" name="Image 0" descr="./images\slide4_img51.png">    </p:cNvPr>
          <p:cNvPicPr>
            <a:picLocks noChangeAspect="1"/>
          </p:cNvPicPr>
          <p:nvPr/>
        </p:nvPicPr>
        <p:blipFill>
          <a:blip r:embed="rId1"/>
          <a:stretch>
            <a:fillRect/>
          </a:stretch>
        </p:blipFill>
        <p:spPr>
          <a:xfrm>
            <a:off x="0" y="0"/>
            <a:ext cx="9144000" cy="5143500"/>
          </a:xfrm>
          <a:prstGeom prst="rect">
            <a:avLst/>
          </a:prstGeom>
        </p:spPr>
      </p:pic>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998465" y="1137012"/>
          <a:ext cx="7147070" cy="2771477"/>
        </p:xfrm>
        <a:graphic>
          <a:graphicData uri="http://schemas.openxmlformats.org/drawingml/2006/table">
            <a:tbl>
              <a:tblPr/>
              <a:tblGrid>
                <a:gridCol w="2382357"/>
                <a:gridCol w="2382357"/>
                <a:gridCol w="2382357"/>
              </a:tblGrid>
              <a:tr h="461913">
                <a:tc>
                  <a:txBody>
                    <a:bodyPr/>
                    <a:lstStyle/>
                    <a:p>
                      <a:pPr algn="l" indent="0" marL="0">
                        <a:buNone/>
                      </a:pPr>
                      <a:r>
                        <a:rPr lang="en-US" sz="900" u="none" dirty="0">
                          <a:solidFill>
                            <a:srgbClr val="000000"/>
                          </a:solidFill>
                          <a:latin typeface="Nunito" pitchFamily="34" charset="0"/>
                          <a:ea typeface="Nunito" pitchFamily="34" charset="-122"/>
                          <a:cs typeface="Nunito" pitchFamily="34" charset="-120"/>
                        </a:rPr>
                        <a:t>Belgi</a:t>
                      </a:r>
                      <a:endParaRPr lang="en-US" sz="900" dirty="0">
                        <a:latin typeface="Nunito" charset="0"/>
                        <a:ea typeface="Nunito" charset="0"/>
                        <a:cs typeface="Nunito"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solidFill>
                      <a:srgbClr val="C1C5D4"/>
                    </a:solidFill>
                  </a:tcPr>
                </a:tc>
                <a:tc>
                  <a:txBody>
                    <a:bodyPr/>
                    <a:lstStyle/>
                    <a:p>
                      <a:pPr algn="l" indent="0" marL="0">
                        <a:buNone/>
                      </a:pPr>
                      <a:r>
                        <a:rPr lang="en-US" sz="900" u="none" dirty="0">
                          <a:solidFill>
                            <a:srgbClr val="000000"/>
                          </a:solidFill>
                          <a:latin typeface="Nunito" pitchFamily="34" charset="0"/>
                          <a:ea typeface="Nunito" pitchFamily="34" charset="-122"/>
                          <a:cs typeface="Nunito" pitchFamily="34" charset="-120"/>
                        </a:rPr>
                        <a:t>Tashxis</a:t>
                      </a:r>
                      <a:endParaRPr lang="en-US" sz="900" dirty="0">
                        <a:latin typeface="Nunito" charset="0"/>
                        <a:ea typeface="Nunito" charset="0"/>
                        <a:cs typeface="Nunito"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solidFill>
                      <a:srgbClr val="C1C5D4"/>
                    </a:solidFill>
                  </a:tcPr>
                </a:tc>
                <a:tc>
                  <a:txBody>
                    <a:bodyPr/>
                    <a:lstStyle/>
                    <a:p>
                      <a:pPr algn="l" indent="0" marL="0">
                        <a:buNone/>
                      </a:pPr>
                      <a:r>
                        <a:rPr lang="en-US" sz="900" u="none" dirty="0">
                          <a:solidFill>
                            <a:srgbClr val="000000"/>
                          </a:solidFill>
                          <a:latin typeface="Nunito" pitchFamily="34" charset="0"/>
                          <a:ea typeface="Nunito" pitchFamily="34" charset="-122"/>
                          <a:cs typeface="Nunito" pitchFamily="34" charset="-120"/>
                        </a:rPr>
                        <a:t>Mavjudlik</a:t>
                      </a:r>
                      <a:endParaRPr lang="en-US" sz="900" dirty="0">
                        <a:latin typeface="Nunito" charset="0"/>
                        <a:ea typeface="Nunito" charset="0"/>
                        <a:cs typeface="Nunito"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solidFill>
                      <a:srgbClr val="C1C5D4"/>
                    </a:solidFill>
                  </a:tcPr>
                </a:tc>
              </a:tr>
              <a:tr h="461913">
                <a:tc>
                  <a:txBody>
                    <a:bodyPr/>
                    <a:lstStyle/>
                    <a:p>
                      <a:pPr algn="l" indent="0" marL="0">
                        <a:buNone/>
                      </a:pPr>
                      <a:r>
                        <a:rPr lang="en-US" sz="900" u="none" dirty="0">
                          <a:solidFill>
                            <a:srgbClr val="000000"/>
                          </a:solidFill>
                          <a:latin typeface="Calibri" pitchFamily="34" charset="0"/>
                          <a:ea typeface="Calibri" pitchFamily="34" charset="-122"/>
                          <a:cs typeface="Calibri" pitchFamily="34" charset="-120"/>
                        </a:rPr>
                        <a:t>Bosh og'rig'i</a:t>
                      </a:r>
                      <a:endParaRPr lang="en-US" sz="900" dirty="0">
                        <a:latin typeface="Calibri" charset="0"/>
                        <a:ea typeface="Calibri" charset="0"/>
                        <a:cs typeface="Calibri"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tcPr>
                </a:tc>
                <a:tc>
                  <a:txBody>
                    <a:bodyPr/>
                    <a:lstStyle/>
                    <a:p>
                      <a:pPr algn="l" indent="0" marL="0">
                        <a:buNone/>
                      </a:pPr>
                      <a:r>
                        <a:rPr lang="en-US" sz="900" u="none" dirty="0">
                          <a:solidFill>
                            <a:srgbClr val="000000"/>
                          </a:solidFill>
                          <a:latin typeface="Calibri" pitchFamily="34" charset="0"/>
                          <a:ea typeface="Calibri" pitchFamily="34" charset="-122"/>
                          <a:cs typeface="Calibri" pitchFamily="34" charset="-120"/>
                        </a:rPr>
                        <a:t>Tumor</a:t>
                      </a:r>
                      <a:endParaRPr lang="en-US" sz="900" dirty="0">
                        <a:latin typeface="Calibri" charset="0"/>
                        <a:ea typeface="Calibri" charset="0"/>
                        <a:cs typeface="Calibri"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tcPr>
                </a:tc>
                <a:tc>
                  <a:txBody>
                    <a:bodyPr/>
                    <a:lstStyle/>
                    <a:p>
                      <a:pPr algn="l" indent="0" marL="0">
                        <a:buNone/>
                      </a:pPr>
                      <a:r>
                        <a:rPr lang="en-US" sz="900" u="none" dirty="0">
                          <a:solidFill>
                            <a:srgbClr val="000000"/>
                          </a:solidFill>
                          <a:latin typeface="Calibri" pitchFamily="34" charset="0"/>
                          <a:ea typeface="Calibri" pitchFamily="34" charset="-122"/>
                          <a:cs typeface="Calibri" pitchFamily="34" charset="-120"/>
                        </a:rPr>
                        <a:t>Ha</a:t>
                      </a:r>
                      <a:endParaRPr lang="en-US" sz="900" dirty="0">
                        <a:latin typeface="Calibri" charset="0"/>
                        <a:ea typeface="Calibri" charset="0"/>
                        <a:cs typeface="Calibri"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tcPr>
                </a:tc>
              </a:tr>
              <a:tr h="461913">
                <a:tc>
                  <a:txBody>
                    <a:bodyPr/>
                    <a:lstStyle/>
                    <a:p>
                      <a:pPr algn="l" indent="0" marL="0">
                        <a:buNone/>
                      </a:pPr>
                      <a:r>
                        <a:rPr lang="en-US" sz="900" u="none" dirty="0">
                          <a:solidFill>
                            <a:srgbClr val="000000"/>
                          </a:solidFill>
                          <a:latin typeface="Calibri" pitchFamily="34" charset="0"/>
                          <a:ea typeface="Calibri" pitchFamily="34" charset="-122"/>
                          <a:cs typeface="Calibri" pitchFamily="34" charset="-120"/>
                        </a:rPr>
                        <a:t>Bosh aylanishi</a:t>
                      </a:r>
                      <a:endParaRPr lang="en-US" sz="900" dirty="0">
                        <a:latin typeface="Calibri" charset="0"/>
                        <a:ea typeface="Calibri" charset="0"/>
                        <a:cs typeface="Calibri"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tcPr>
                </a:tc>
                <a:tc>
                  <a:txBody>
                    <a:bodyPr/>
                    <a:lstStyle/>
                    <a:p>
                      <a:pPr algn="l" indent="0" marL="0">
                        <a:buNone/>
                      </a:pPr>
                      <a:r>
                        <a:rPr lang="en-US" sz="900" u="none" dirty="0">
                          <a:solidFill>
                            <a:srgbClr val="000000"/>
                          </a:solidFill>
                          <a:latin typeface="Calibri" pitchFamily="34" charset="0"/>
                          <a:ea typeface="Calibri" pitchFamily="34" charset="-122"/>
                          <a:cs typeface="Calibri" pitchFamily="34" charset="-120"/>
                        </a:rPr>
                        <a:t>Neyroblastoma</a:t>
                      </a:r>
                      <a:endParaRPr lang="en-US" sz="900" dirty="0">
                        <a:latin typeface="Calibri" charset="0"/>
                        <a:ea typeface="Calibri" charset="0"/>
                        <a:cs typeface="Calibri"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tcPr>
                </a:tc>
                <a:tc>
                  <a:txBody>
                    <a:bodyPr/>
                    <a:lstStyle/>
                    <a:p>
                      <a:pPr algn="l" indent="0" marL="0">
                        <a:buNone/>
                      </a:pPr>
                      <a:r>
                        <a:rPr lang="en-US" sz="900" u="none" dirty="0">
                          <a:solidFill>
                            <a:srgbClr val="000000"/>
                          </a:solidFill>
                          <a:latin typeface="Calibri" pitchFamily="34" charset="0"/>
                          <a:ea typeface="Calibri" pitchFamily="34" charset="-122"/>
                          <a:cs typeface="Calibri" pitchFamily="34" charset="-120"/>
                        </a:rPr>
                        <a:t>Yo'q</a:t>
                      </a:r>
                      <a:endParaRPr lang="en-US" sz="900" dirty="0">
                        <a:latin typeface="Calibri" charset="0"/>
                        <a:ea typeface="Calibri" charset="0"/>
                        <a:cs typeface="Calibri"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tcPr>
                </a:tc>
              </a:tr>
              <a:tr h="461913">
                <a:tc>
                  <a:txBody>
                    <a:bodyPr/>
                    <a:lstStyle/>
                    <a:p>
                      <a:pPr algn="l" indent="0" marL="0">
                        <a:buNone/>
                      </a:pPr>
                      <a:r>
                        <a:rPr lang="en-US" sz="900" u="none" dirty="0">
                          <a:solidFill>
                            <a:srgbClr val="000000"/>
                          </a:solidFill>
                          <a:latin typeface="Calibri" pitchFamily="34" charset="0"/>
                          <a:ea typeface="Calibri" pitchFamily="34" charset="-122"/>
                          <a:cs typeface="Calibri" pitchFamily="34" charset="-120"/>
                        </a:rPr>
                        <a:t>Qon bosimi yuqoriligi</a:t>
                      </a:r>
                      <a:endParaRPr lang="en-US" sz="900" dirty="0">
                        <a:latin typeface="Calibri" charset="0"/>
                        <a:ea typeface="Calibri" charset="0"/>
                        <a:cs typeface="Calibri"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tcPr>
                </a:tc>
                <a:tc>
                  <a:txBody>
                    <a:bodyPr/>
                    <a:lstStyle/>
                    <a:p>
                      <a:pPr algn="l" indent="0" marL="0">
                        <a:buNone/>
                      </a:pPr>
                      <a:r>
                        <a:rPr lang="en-US" sz="900" u="none" dirty="0">
                          <a:solidFill>
                            <a:srgbClr val="000000"/>
                          </a:solidFill>
                          <a:latin typeface="Calibri" pitchFamily="34" charset="0"/>
                          <a:ea typeface="Calibri" pitchFamily="34" charset="-122"/>
                          <a:cs typeface="Calibri" pitchFamily="34" charset="-120"/>
                        </a:rPr>
                        <a:t>Meningioma</a:t>
                      </a:r>
                      <a:endParaRPr lang="en-US" sz="900" dirty="0">
                        <a:latin typeface="Calibri" charset="0"/>
                        <a:ea typeface="Calibri" charset="0"/>
                        <a:cs typeface="Calibri"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tcPr>
                </a:tc>
                <a:tc>
                  <a:txBody>
                    <a:bodyPr/>
                    <a:lstStyle/>
                    <a:p>
                      <a:pPr algn="l" indent="0" marL="0">
                        <a:buNone/>
                      </a:pPr>
                      <a:r>
                        <a:rPr lang="en-US" sz="900" u="none" dirty="0">
                          <a:solidFill>
                            <a:srgbClr val="000000"/>
                          </a:solidFill>
                          <a:latin typeface="Calibri" pitchFamily="34" charset="0"/>
                          <a:ea typeface="Calibri" pitchFamily="34" charset="-122"/>
                          <a:cs typeface="Calibri" pitchFamily="34" charset="-120"/>
                        </a:rPr>
                        <a:t>Ha</a:t>
                      </a:r>
                      <a:endParaRPr lang="en-US" sz="900" dirty="0">
                        <a:latin typeface="Calibri" charset="0"/>
                        <a:ea typeface="Calibri" charset="0"/>
                        <a:cs typeface="Calibri"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tcPr>
                </a:tc>
              </a:tr>
              <a:tr h="461913">
                <a:tc>
                  <a:txBody>
                    <a:bodyPr/>
                    <a:lstStyle/>
                    <a:p>
                      <a:pPr algn="l" indent="0" marL="0">
                        <a:buNone/>
                      </a:pPr>
                      <a:r>
                        <a:rPr lang="en-US" sz="900" u="none" dirty="0">
                          <a:solidFill>
                            <a:srgbClr val="000000"/>
                          </a:solidFill>
                          <a:latin typeface="Calibri" pitchFamily="34" charset="0"/>
                          <a:ea typeface="Calibri" pitchFamily="34" charset="-122"/>
                          <a:cs typeface="Calibri" pitchFamily="34" charset="-120"/>
                        </a:rPr>
                        <a:t>Tez charchoq</a:t>
                      </a:r>
                      <a:endParaRPr lang="en-US" sz="900" dirty="0">
                        <a:latin typeface="Calibri" charset="0"/>
                        <a:ea typeface="Calibri" charset="0"/>
                        <a:cs typeface="Calibri"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tcPr>
                </a:tc>
                <a:tc>
                  <a:txBody>
                    <a:bodyPr/>
                    <a:lstStyle/>
                    <a:p>
                      <a:pPr algn="l" indent="0" marL="0">
                        <a:buNone/>
                      </a:pPr>
                      <a:r>
                        <a:rPr lang="en-US" sz="900" u="none" dirty="0">
                          <a:solidFill>
                            <a:srgbClr val="000000"/>
                          </a:solidFill>
                          <a:latin typeface="Calibri" pitchFamily="34" charset="0"/>
                          <a:ea typeface="Calibri" pitchFamily="34" charset="-122"/>
                          <a:cs typeface="Calibri" pitchFamily="34" charset="-120"/>
                        </a:rPr>
                        <a:t>Lymphoma</a:t>
                      </a:r>
                      <a:endParaRPr lang="en-US" sz="900" dirty="0">
                        <a:latin typeface="Calibri" charset="0"/>
                        <a:ea typeface="Calibri" charset="0"/>
                        <a:cs typeface="Calibri"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tcPr>
                </a:tc>
                <a:tc>
                  <a:txBody>
                    <a:bodyPr/>
                    <a:lstStyle/>
                    <a:p>
                      <a:pPr algn="l" indent="0" marL="0">
                        <a:buNone/>
                      </a:pPr>
                      <a:r>
                        <a:rPr lang="en-US" sz="900" u="none" dirty="0">
                          <a:solidFill>
                            <a:srgbClr val="000000"/>
                          </a:solidFill>
                          <a:latin typeface="Calibri" pitchFamily="34" charset="0"/>
                          <a:ea typeface="Calibri" pitchFamily="34" charset="-122"/>
                          <a:cs typeface="Calibri" pitchFamily="34" charset="-120"/>
                        </a:rPr>
                        <a:t>Ha</a:t>
                      </a:r>
                      <a:endParaRPr lang="en-US" sz="900" dirty="0">
                        <a:latin typeface="Calibri" charset="0"/>
                        <a:ea typeface="Calibri" charset="0"/>
                        <a:cs typeface="Calibri"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tcPr>
                </a:tc>
              </a:tr>
              <a:tr h="461913">
                <a:tc>
                  <a:txBody>
                    <a:bodyPr/>
                    <a:lstStyle/>
                    <a:p>
                      <a:pPr algn="l" indent="0" marL="0">
                        <a:buNone/>
                      </a:pPr>
                      <a:r>
                        <a:rPr lang="en-US" sz="900" u="none" dirty="0">
                          <a:solidFill>
                            <a:srgbClr val="000000"/>
                          </a:solidFill>
                          <a:latin typeface="Calibri" pitchFamily="34" charset="0"/>
                          <a:ea typeface="Calibri" pitchFamily="34" charset="-122"/>
                          <a:cs typeface="Calibri" pitchFamily="34" charset="-120"/>
                        </a:rPr>
                        <a:t>Mushak zaifligi</a:t>
                      </a:r>
                      <a:endParaRPr lang="en-US" sz="900" dirty="0">
                        <a:latin typeface="Calibri" charset="0"/>
                        <a:ea typeface="Calibri" charset="0"/>
                        <a:cs typeface="Calibri"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tcPr>
                </a:tc>
                <a:tc>
                  <a:txBody>
                    <a:bodyPr/>
                    <a:lstStyle/>
                    <a:p>
                      <a:pPr algn="l" indent="0" marL="0">
                        <a:buNone/>
                      </a:pPr>
                      <a:r>
                        <a:rPr lang="en-US" sz="900" u="none" dirty="0">
                          <a:solidFill>
                            <a:srgbClr val="000000"/>
                          </a:solidFill>
                          <a:latin typeface="Calibri" pitchFamily="34" charset="0"/>
                          <a:ea typeface="Calibri" pitchFamily="34" charset="-122"/>
                          <a:cs typeface="Calibri" pitchFamily="34" charset="-120"/>
                        </a:rPr>
                        <a:t>Sarcoma</a:t>
                      </a:r>
                      <a:endParaRPr lang="en-US" sz="900" dirty="0">
                        <a:latin typeface="Calibri" charset="0"/>
                        <a:ea typeface="Calibri" charset="0"/>
                        <a:cs typeface="Calibri"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tcPr>
                </a:tc>
                <a:tc>
                  <a:txBody>
                    <a:bodyPr/>
                    <a:lstStyle/>
                    <a:p>
                      <a:pPr algn="l" indent="0" marL="0">
                        <a:buNone/>
                      </a:pPr>
                      <a:r>
                        <a:rPr lang="en-US" sz="900" u="none" dirty="0">
                          <a:solidFill>
                            <a:srgbClr val="000000"/>
                          </a:solidFill>
                          <a:latin typeface="Calibri" pitchFamily="34" charset="0"/>
                          <a:ea typeface="Calibri" pitchFamily="34" charset="-122"/>
                          <a:cs typeface="Calibri" pitchFamily="34" charset="-120"/>
                        </a:rPr>
                        <a:t>Yo'q</a:t>
                      </a:r>
                      <a:endParaRPr lang="en-US" sz="900" dirty="0">
                        <a:latin typeface="Calibri" charset="0"/>
                        <a:ea typeface="Calibri" charset="0"/>
                        <a:cs typeface="Calibri"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tcPr>
                </a:tc>
              </a:tr>
            </a:tbl>
          </a:graphicData>
        </a:graphic>
      </p:graphicFrame>
      <p:sp>
        <p:nvSpPr>
          <p:cNvPr id="4" name="Shape 0"/>
          <p:cNvSpPr/>
          <p:nvPr/>
        </p:nvSpPr>
        <p:spPr>
          <a:xfrm>
            <a:off x="874050" y="246298"/>
            <a:ext cx="7395900" cy="666750"/>
          </a:xfrm>
          <a:custGeom>
            <a:avLst/>
            <a:gdLst/>
            <a:ahLst/>
            <a:cxnLst/>
            <a:rect l="l" t="t" r="r" b="b"/>
            <a:pathLst>
              <a:path w="7395900" h="666750">
                <a:moveTo>
                  <a:pt x="0" y="0"/>
                </a:moveTo>
                <a:lnTo>
                  <a:pt x="7395900" y="0"/>
                </a:lnTo>
                <a:lnTo>
                  <a:pt x="7395900" y="666750"/>
                </a:lnTo>
                <a:lnTo>
                  <a:pt x="0" y="666750"/>
                </a:lnTo>
                <a:close/>
              </a:path>
            </a:pathLst>
          </a:custGeom>
          <a:solidFill>
            <a:srgbClr val="FFFFFF">
              <a:alpha val="0"/>
            </a:srgbClr>
          </a:solidFill>
          <a:ln/>
        </p:spPr>
      </p:sp>
      <p:sp>
        <p:nvSpPr>
          <p:cNvPr id="5" name="Text 1"/>
          <p:cNvSpPr/>
          <p:nvPr/>
        </p:nvSpPr>
        <p:spPr>
          <a:xfrm>
            <a:off x="874050" y="246298"/>
            <a:ext cx="7395900" cy="666750"/>
          </a:xfrm>
          <a:prstGeom prst="rect">
            <a:avLst/>
          </a:prstGeom>
          <a:noFill/>
          <a:ln/>
        </p:spPr>
        <p:txBody>
          <a:bodyPr wrap="square" rtlCol="0" anchor="t"/>
          <a:lstStyle/>
          <a:p>
            <a:pPr indent="0" marL="0">
              <a:spcBef>
                <a:spcPts val="375"/>
              </a:spcBef>
              <a:buNone/>
            </a:pPr>
            <a:endParaRPr lang="en-US" sz="1050" dirty="0"/>
          </a:p>
        </p:txBody>
      </p:sp>
      <p:sp>
        <p:nvSpPr>
          <p:cNvPr id="6" name="Shape 2"/>
          <p:cNvSpPr/>
          <p:nvPr/>
        </p:nvSpPr>
        <p:spPr>
          <a:xfrm>
            <a:off x="874050" y="246298"/>
            <a:ext cx="7395900" cy="666750"/>
          </a:xfrm>
          <a:custGeom>
            <a:avLst/>
            <a:gdLst/>
            <a:ahLst/>
            <a:cxnLst/>
            <a:rect l="l" t="t" r="r" b="b"/>
            <a:pathLst>
              <a:path w="7395900" h="666750">
                <a:moveTo>
                  <a:pt x="0" y="0"/>
                </a:moveTo>
                <a:lnTo>
                  <a:pt x="7395900" y="0"/>
                </a:lnTo>
                <a:lnTo>
                  <a:pt x="7395900" y="666750"/>
                </a:lnTo>
                <a:lnTo>
                  <a:pt x="0" y="666750"/>
                </a:lnTo>
                <a:close/>
              </a:path>
            </a:pathLst>
          </a:custGeom>
          <a:solidFill>
            <a:srgbClr val="000000">
              <a:alpha val="0"/>
            </a:srgbClr>
          </a:solidFill>
          <a:ln/>
        </p:spPr>
      </p:sp>
      <p:sp>
        <p:nvSpPr>
          <p:cNvPr id="7" name="Text 3"/>
          <p:cNvSpPr/>
          <p:nvPr/>
        </p:nvSpPr>
        <p:spPr>
          <a:xfrm>
            <a:off x="874050" y="246298"/>
            <a:ext cx="7395900" cy="666750"/>
          </a:xfrm>
          <a:prstGeom prst="rect">
            <a:avLst/>
          </a:prstGeom>
          <a:noFill/>
          <a:ln/>
        </p:spPr>
        <p:txBody>
          <a:bodyPr wrap="square" rtlCol="0" anchor="t"/>
          <a:lstStyle/>
          <a:p>
            <a:pPr algn="ctr" indent="0" marL="0">
              <a:spcBef>
                <a:spcPts val="375"/>
              </a:spcBef>
              <a:buNone/>
            </a:pPr>
            <a:r>
              <a:rPr lang="en-US" sz="3000" dirty="0">
                <a:solidFill>
                  <a:srgbClr val="45464D"/>
                </a:solidFill>
                <a:latin typeface="Caveat Brush" pitchFamily="34" charset="0"/>
                <a:ea typeface="Caveat Brush" pitchFamily="34" charset="-122"/>
                <a:cs typeface="Caveat Brush" pitchFamily="34" charset="-120"/>
              </a:rPr>
              <a:t>Tumor tasnifi jadvali</a:t>
            </a:r>
            <a:endParaRPr lang="en-US" sz="1050" dirty="0"/>
          </a:p>
        </p:txBody>
      </p:sp>
      <p:pic>
        <p:nvPicPr>
          <p:cNvPr id="8" name="Image 1" descr="./images\slide4_img52.png">    </p:cNvPr>
          <p:cNvPicPr>
            <a:picLocks noChangeAspect="1"/>
          </p:cNvPicPr>
          <p:nvPr/>
        </p:nvPicPr>
        <p:blipFill>
          <a:blip r:embed="rId2"/>
          <a:stretch>
            <a:fillRect/>
          </a:stretch>
        </p:blipFill>
        <p:spPr>
          <a:xfrm rot="-1800000">
            <a:off x="7936523" y="1969549"/>
            <a:ext cx="1198261" cy="1707367"/>
          </a:xfrm>
          <a:prstGeom prst="rect">
            <a:avLst/>
          </a:prstGeom>
        </p:spPr>
      </p:pic>
      <p:sp>
        <p:nvSpPr>
          <p:cNvPr id="9" name="Shape 4"/>
          <p:cNvSpPr/>
          <p:nvPr/>
        </p:nvSpPr>
        <p:spPr>
          <a:xfrm rot="-1800000">
            <a:off x="7936523" y="1969549"/>
            <a:ext cx="1198261" cy="1707367"/>
          </a:xfrm>
          <a:custGeom>
            <a:avLst/>
            <a:gdLst/>
            <a:ahLst/>
            <a:cxnLst/>
            <a:rect l="l" t="t" r="r" b="b"/>
            <a:pathLst>
              <a:path w="1198261" h="1707367">
                <a:moveTo>
                  <a:pt x="0" y="0"/>
                </a:moveTo>
                <a:lnTo>
                  <a:pt x="1198261" y="0"/>
                </a:lnTo>
                <a:lnTo>
                  <a:pt x="1198261" y="1707367"/>
                </a:lnTo>
                <a:lnTo>
                  <a:pt x="0" y="1707367"/>
                </a:lnTo>
                <a:close/>
              </a:path>
            </a:pathLst>
          </a:custGeom>
          <a:solidFill>
            <a:srgbClr val="FFFFFF">
              <a:alpha val="0"/>
            </a:srgbClr>
          </a:solidFill>
          <a:ln/>
        </p:spPr>
      </p:sp>
      <p:sp>
        <p:nvSpPr>
          <p:cNvPr id="10" name="Text 5"/>
          <p:cNvSpPr/>
          <p:nvPr/>
        </p:nvSpPr>
        <p:spPr>
          <a:xfrm rot="-1800000">
            <a:off x="7936523" y="1969549"/>
            <a:ext cx="1198261" cy="1707367"/>
          </a:xfrm>
          <a:prstGeom prst="rect">
            <a:avLst/>
          </a:prstGeom>
          <a:noFill/>
          <a:ln/>
        </p:spPr>
        <p:txBody>
          <a:bodyPr wrap="square" rtlCol="0" anchor="t"/>
          <a:lstStyle/>
          <a:p>
            <a:pPr indent="0" marL="0">
              <a:spcBef>
                <a:spcPts val="375"/>
              </a:spcBef>
              <a:buNone/>
            </a:pPr>
            <a:endParaRPr lang="en-US" sz="1050" dirty="0"/>
          </a:p>
        </p:txBody>
      </p:sp>
      <p:sp>
        <p:nvSpPr>
          <p:cNvPr id="11" name="Shape 6"/>
          <p:cNvSpPr/>
          <p:nvPr/>
        </p:nvSpPr>
        <p:spPr>
          <a:xfrm rot="-1800000">
            <a:off x="7936523" y="1969549"/>
            <a:ext cx="1198261" cy="1707367"/>
          </a:xfrm>
          <a:custGeom>
            <a:avLst/>
            <a:gdLst/>
            <a:ahLst/>
            <a:cxnLst/>
            <a:rect l="l" t="t" r="r" b="b"/>
            <a:pathLst>
              <a:path w="1198261" h="1707367">
                <a:moveTo>
                  <a:pt x="0" y="0"/>
                </a:moveTo>
                <a:lnTo>
                  <a:pt x="1198261" y="0"/>
                </a:lnTo>
                <a:lnTo>
                  <a:pt x="1198261" y="1707367"/>
                </a:lnTo>
                <a:lnTo>
                  <a:pt x="0" y="1707367"/>
                </a:lnTo>
                <a:close/>
              </a:path>
            </a:pathLst>
          </a:custGeom>
          <a:solidFill>
            <a:srgbClr val="000000">
              <a:alpha val="0"/>
            </a:srgbClr>
          </a:solidFill>
          <a:ln/>
        </p:spPr>
      </p:sp>
      <p:sp>
        <p:nvSpPr>
          <p:cNvPr id="12" name="Text 7"/>
          <p:cNvSpPr/>
          <p:nvPr/>
        </p:nvSpPr>
        <p:spPr>
          <a:xfrm rot="-1800000">
            <a:off x="7936523" y="1969549"/>
            <a:ext cx="1198261" cy="1707367"/>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13" name="Image 2" descr="./images\slide4_img53.png">    </p:cNvPr>
          <p:cNvPicPr>
            <a:picLocks noChangeAspect="1"/>
          </p:cNvPicPr>
          <p:nvPr/>
        </p:nvPicPr>
        <p:blipFill>
          <a:blip r:embed="rId3"/>
          <a:stretch>
            <a:fillRect/>
          </a:stretch>
        </p:blipFill>
        <p:spPr>
          <a:xfrm rot="-1800000">
            <a:off x="7936523" y="1969549"/>
            <a:ext cx="1198261" cy="1707367"/>
          </a:xfrm>
          <a:prstGeom prst="rect">
            <a:avLst/>
          </a:prstGeom>
        </p:spPr>
      </p:pic>
      <p:pic>
        <p:nvPicPr>
          <p:cNvPr id="14" name="Image 3" descr="./images\slide4_img54.png">    </p:cNvPr>
          <p:cNvPicPr>
            <a:picLocks noChangeAspect="1"/>
          </p:cNvPicPr>
          <p:nvPr/>
        </p:nvPicPr>
        <p:blipFill>
          <a:blip r:embed="rId4"/>
          <a:stretch>
            <a:fillRect/>
          </a:stretch>
        </p:blipFill>
        <p:spPr>
          <a:xfrm rot="4620000">
            <a:off x="-282748" y="3452461"/>
            <a:ext cx="1086318" cy="1547864"/>
          </a:xfrm>
          <a:prstGeom prst="rect">
            <a:avLst/>
          </a:prstGeom>
        </p:spPr>
      </p:pic>
      <p:sp>
        <p:nvSpPr>
          <p:cNvPr id="15" name="Shape 8"/>
          <p:cNvSpPr/>
          <p:nvPr/>
        </p:nvSpPr>
        <p:spPr>
          <a:xfrm rot="4620000">
            <a:off x="-282748" y="3452461"/>
            <a:ext cx="1086318" cy="1547864"/>
          </a:xfrm>
          <a:custGeom>
            <a:avLst/>
            <a:gdLst/>
            <a:ahLst/>
            <a:cxnLst/>
            <a:rect l="l" t="t" r="r" b="b"/>
            <a:pathLst>
              <a:path w="1086318" h="1547864">
                <a:moveTo>
                  <a:pt x="0" y="0"/>
                </a:moveTo>
                <a:lnTo>
                  <a:pt x="1086318" y="0"/>
                </a:lnTo>
                <a:lnTo>
                  <a:pt x="1086318" y="1547864"/>
                </a:lnTo>
                <a:lnTo>
                  <a:pt x="0" y="1547864"/>
                </a:lnTo>
                <a:close/>
              </a:path>
            </a:pathLst>
          </a:custGeom>
          <a:solidFill>
            <a:srgbClr val="FFFFFF">
              <a:alpha val="0"/>
            </a:srgbClr>
          </a:solidFill>
          <a:ln/>
        </p:spPr>
      </p:sp>
      <p:sp>
        <p:nvSpPr>
          <p:cNvPr id="16" name="Text 9"/>
          <p:cNvSpPr/>
          <p:nvPr/>
        </p:nvSpPr>
        <p:spPr>
          <a:xfrm rot="4620000">
            <a:off x="-282748" y="3452461"/>
            <a:ext cx="1086318" cy="1547864"/>
          </a:xfrm>
          <a:prstGeom prst="rect">
            <a:avLst/>
          </a:prstGeom>
          <a:noFill/>
          <a:ln/>
        </p:spPr>
        <p:txBody>
          <a:bodyPr wrap="square" rtlCol="0" anchor="t"/>
          <a:lstStyle/>
          <a:p>
            <a:pPr indent="0" marL="0">
              <a:spcBef>
                <a:spcPts val="375"/>
              </a:spcBef>
              <a:buNone/>
            </a:pPr>
            <a:endParaRPr lang="en-US" sz="1050" dirty="0"/>
          </a:p>
        </p:txBody>
      </p:sp>
      <p:sp>
        <p:nvSpPr>
          <p:cNvPr id="17" name="Shape 10"/>
          <p:cNvSpPr/>
          <p:nvPr/>
        </p:nvSpPr>
        <p:spPr>
          <a:xfrm rot="4620000">
            <a:off x="-282748" y="3452461"/>
            <a:ext cx="1086318" cy="1547864"/>
          </a:xfrm>
          <a:custGeom>
            <a:avLst/>
            <a:gdLst/>
            <a:ahLst/>
            <a:cxnLst/>
            <a:rect l="l" t="t" r="r" b="b"/>
            <a:pathLst>
              <a:path w="1086318" h="1547864">
                <a:moveTo>
                  <a:pt x="0" y="0"/>
                </a:moveTo>
                <a:lnTo>
                  <a:pt x="1086318" y="0"/>
                </a:lnTo>
                <a:lnTo>
                  <a:pt x="1086318" y="1547864"/>
                </a:lnTo>
                <a:lnTo>
                  <a:pt x="0" y="1547864"/>
                </a:lnTo>
                <a:close/>
              </a:path>
            </a:pathLst>
          </a:custGeom>
          <a:solidFill>
            <a:srgbClr val="000000">
              <a:alpha val="0"/>
            </a:srgbClr>
          </a:solidFill>
          <a:ln/>
        </p:spPr>
      </p:sp>
      <p:sp>
        <p:nvSpPr>
          <p:cNvPr id="18" name="Text 11"/>
          <p:cNvSpPr/>
          <p:nvPr/>
        </p:nvSpPr>
        <p:spPr>
          <a:xfrm rot="4620000">
            <a:off x="-282748" y="3452461"/>
            <a:ext cx="1086318" cy="1547864"/>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19" name="Image 4" descr="./images\slide4_img55.png">    </p:cNvPr>
          <p:cNvPicPr>
            <a:picLocks noChangeAspect="1"/>
          </p:cNvPicPr>
          <p:nvPr/>
        </p:nvPicPr>
        <p:blipFill>
          <a:blip r:embed="rId5"/>
          <a:stretch>
            <a:fillRect/>
          </a:stretch>
        </p:blipFill>
        <p:spPr>
          <a:xfrm rot="4620000">
            <a:off x="-282748" y="3452461"/>
            <a:ext cx="1086318" cy="154786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1F1F1"/>
        </a:solidFill>
      </p:bgPr>
    </p:bg>
    <p:spTree>
      <p:nvGrpSpPr>
        <p:cNvPr id="1" name=""/>
        <p:cNvGrpSpPr/>
        <p:nvPr/>
      </p:nvGrpSpPr>
      <p:grpSpPr>
        <a:xfrm>
          <a:off x="0" y="0"/>
          <a:ext cx="0" cy="0"/>
          <a:chOff x="0" y="0"/>
          <a:chExt cx="0" cy="0"/>
        </a:xfrm>
      </p:grpSpPr>
      <p:pic>
        <p:nvPicPr>
          <p:cNvPr id="2" name="Image 0" descr="./images\slide5_img56.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images\slide5_img57.png">    </p:cNvPr>
          <p:cNvPicPr>
            <a:picLocks noChangeAspect="1"/>
          </p:cNvPicPr>
          <p:nvPr/>
        </p:nvPicPr>
        <p:blipFill>
          <a:blip r:embed="rId2"/>
          <a:stretch>
            <a:fillRect/>
          </a:stretch>
        </p:blipFill>
        <p:spPr>
          <a:xfrm>
            <a:off x="3385895" y="1452747"/>
            <a:ext cx="2299344" cy="2299344"/>
          </a:xfrm>
          <a:prstGeom prst="rect">
            <a:avLst/>
          </a:prstGeom>
        </p:spPr>
      </p:pic>
      <p:sp>
        <p:nvSpPr>
          <p:cNvPr id="4" name="Shape 0"/>
          <p:cNvSpPr/>
          <p:nvPr/>
        </p:nvSpPr>
        <p:spPr>
          <a:xfrm>
            <a:off x="3385895" y="1452747"/>
            <a:ext cx="2299344" cy="2299344"/>
          </a:xfrm>
          <a:custGeom>
            <a:avLst/>
            <a:gdLst/>
            <a:ahLst/>
            <a:cxnLst/>
            <a:rect l="l" t="t" r="r" b="b"/>
            <a:pathLst>
              <a:path w="2299344" h="2299344">
                <a:moveTo>
                  <a:pt x="0" y="0"/>
                </a:moveTo>
                <a:lnTo>
                  <a:pt x="2299344" y="0"/>
                </a:lnTo>
                <a:lnTo>
                  <a:pt x="2299344" y="2299344"/>
                </a:lnTo>
                <a:lnTo>
                  <a:pt x="0" y="2299344"/>
                </a:lnTo>
                <a:close/>
              </a:path>
            </a:pathLst>
          </a:custGeom>
          <a:solidFill>
            <a:srgbClr val="FFFFFF">
              <a:alpha val="0"/>
            </a:srgbClr>
          </a:solidFill>
          <a:ln/>
        </p:spPr>
      </p:sp>
      <p:sp>
        <p:nvSpPr>
          <p:cNvPr id="5" name="Text 1"/>
          <p:cNvSpPr/>
          <p:nvPr/>
        </p:nvSpPr>
        <p:spPr>
          <a:xfrm>
            <a:off x="3385895" y="1452747"/>
            <a:ext cx="2299344" cy="2299344"/>
          </a:xfrm>
          <a:prstGeom prst="rect">
            <a:avLst/>
          </a:prstGeom>
          <a:noFill/>
          <a:ln/>
        </p:spPr>
        <p:txBody>
          <a:bodyPr wrap="square" rtlCol="0" anchor="t"/>
          <a:lstStyle/>
          <a:p>
            <a:pPr indent="0" marL="0">
              <a:spcBef>
                <a:spcPts val="375"/>
              </a:spcBef>
              <a:buNone/>
            </a:pPr>
            <a:endParaRPr lang="en-US" sz="1050" dirty="0"/>
          </a:p>
        </p:txBody>
      </p:sp>
      <p:sp>
        <p:nvSpPr>
          <p:cNvPr id="6" name="Shape 2"/>
          <p:cNvSpPr/>
          <p:nvPr/>
        </p:nvSpPr>
        <p:spPr>
          <a:xfrm>
            <a:off x="3385895" y="1452747"/>
            <a:ext cx="2299344" cy="2299344"/>
          </a:xfrm>
          <a:custGeom>
            <a:avLst/>
            <a:gdLst/>
            <a:ahLst/>
            <a:cxnLst/>
            <a:rect l="l" t="t" r="r" b="b"/>
            <a:pathLst>
              <a:path w="2299344" h="2299344">
                <a:moveTo>
                  <a:pt x="0" y="0"/>
                </a:moveTo>
                <a:lnTo>
                  <a:pt x="2299344" y="0"/>
                </a:lnTo>
                <a:lnTo>
                  <a:pt x="2299344" y="2299344"/>
                </a:lnTo>
                <a:lnTo>
                  <a:pt x="0" y="2299344"/>
                </a:lnTo>
                <a:close/>
              </a:path>
            </a:pathLst>
          </a:custGeom>
          <a:solidFill>
            <a:srgbClr val="000000">
              <a:alpha val="0"/>
            </a:srgbClr>
          </a:solidFill>
          <a:ln/>
        </p:spPr>
      </p:sp>
      <p:sp>
        <p:nvSpPr>
          <p:cNvPr id="7" name="Text 3"/>
          <p:cNvSpPr/>
          <p:nvPr/>
        </p:nvSpPr>
        <p:spPr>
          <a:xfrm>
            <a:off x="3385895" y="1452747"/>
            <a:ext cx="2299344" cy="2299344"/>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8" name="Image 2" descr="./images\slide5_img58.png">    </p:cNvPr>
          <p:cNvPicPr>
            <a:picLocks noChangeAspect="1"/>
          </p:cNvPicPr>
          <p:nvPr/>
        </p:nvPicPr>
        <p:blipFill>
          <a:blip r:embed="rId3"/>
          <a:stretch>
            <a:fillRect/>
          </a:stretch>
        </p:blipFill>
        <p:spPr>
          <a:xfrm>
            <a:off x="3385895" y="1452747"/>
            <a:ext cx="2299344" cy="2299344"/>
          </a:xfrm>
          <a:prstGeom prst="rect">
            <a:avLst/>
          </a:prstGeom>
        </p:spPr>
      </p:pic>
      <p:pic>
        <p:nvPicPr>
          <p:cNvPr id="9" name="Image 3" descr="./images\slide5_img59.png">    </p:cNvPr>
          <p:cNvPicPr>
            <a:picLocks noChangeAspect="1"/>
          </p:cNvPicPr>
          <p:nvPr/>
        </p:nvPicPr>
        <p:blipFill>
          <a:blip r:embed="rId4"/>
          <a:stretch>
            <a:fillRect/>
          </a:stretch>
        </p:blipFill>
        <p:spPr>
          <a:xfrm>
            <a:off x="6193097" y="1452747"/>
            <a:ext cx="2299344" cy="2299344"/>
          </a:xfrm>
          <a:prstGeom prst="rect">
            <a:avLst/>
          </a:prstGeom>
        </p:spPr>
      </p:pic>
      <p:sp>
        <p:nvSpPr>
          <p:cNvPr id="10" name="Shape 4"/>
          <p:cNvSpPr/>
          <p:nvPr/>
        </p:nvSpPr>
        <p:spPr>
          <a:xfrm>
            <a:off x="6193097" y="1452747"/>
            <a:ext cx="2299344" cy="2299344"/>
          </a:xfrm>
          <a:custGeom>
            <a:avLst/>
            <a:gdLst/>
            <a:ahLst/>
            <a:cxnLst/>
            <a:rect l="l" t="t" r="r" b="b"/>
            <a:pathLst>
              <a:path w="2299344" h="2299344">
                <a:moveTo>
                  <a:pt x="0" y="0"/>
                </a:moveTo>
                <a:lnTo>
                  <a:pt x="2299344" y="0"/>
                </a:lnTo>
                <a:lnTo>
                  <a:pt x="2299344" y="2299344"/>
                </a:lnTo>
                <a:lnTo>
                  <a:pt x="0" y="2299344"/>
                </a:lnTo>
                <a:close/>
              </a:path>
            </a:pathLst>
          </a:custGeom>
          <a:solidFill>
            <a:srgbClr val="FFFFFF">
              <a:alpha val="0"/>
            </a:srgbClr>
          </a:solidFill>
          <a:ln/>
        </p:spPr>
      </p:sp>
      <p:sp>
        <p:nvSpPr>
          <p:cNvPr id="11" name="Text 5"/>
          <p:cNvSpPr/>
          <p:nvPr/>
        </p:nvSpPr>
        <p:spPr>
          <a:xfrm>
            <a:off x="6193097" y="1452747"/>
            <a:ext cx="2299344" cy="2299344"/>
          </a:xfrm>
          <a:prstGeom prst="rect">
            <a:avLst/>
          </a:prstGeom>
          <a:noFill/>
          <a:ln/>
        </p:spPr>
        <p:txBody>
          <a:bodyPr wrap="square" rtlCol="0" anchor="t"/>
          <a:lstStyle/>
          <a:p>
            <a:pPr indent="0" marL="0">
              <a:spcBef>
                <a:spcPts val="375"/>
              </a:spcBef>
              <a:buNone/>
            </a:pPr>
            <a:endParaRPr lang="en-US" sz="1050" dirty="0"/>
          </a:p>
        </p:txBody>
      </p:sp>
      <p:sp>
        <p:nvSpPr>
          <p:cNvPr id="12" name="Shape 6"/>
          <p:cNvSpPr/>
          <p:nvPr/>
        </p:nvSpPr>
        <p:spPr>
          <a:xfrm>
            <a:off x="6193097" y="1452747"/>
            <a:ext cx="2299344" cy="2299344"/>
          </a:xfrm>
          <a:custGeom>
            <a:avLst/>
            <a:gdLst/>
            <a:ahLst/>
            <a:cxnLst/>
            <a:rect l="l" t="t" r="r" b="b"/>
            <a:pathLst>
              <a:path w="2299344" h="2299344">
                <a:moveTo>
                  <a:pt x="0" y="0"/>
                </a:moveTo>
                <a:lnTo>
                  <a:pt x="2299344" y="0"/>
                </a:lnTo>
                <a:lnTo>
                  <a:pt x="2299344" y="2299344"/>
                </a:lnTo>
                <a:lnTo>
                  <a:pt x="0" y="2299344"/>
                </a:lnTo>
                <a:close/>
              </a:path>
            </a:pathLst>
          </a:custGeom>
          <a:solidFill>
            <a:srgbClr val="000000">
              <a:alpha val="0"/>
            </a:srgbClr>
          </a:solidFill>
          <a:ln/>
        </p:spPr>
      </p:sp>
      <p:sp>
        <p:nvSpPr>
          <p:cNvPr id="13" name="Text 7"/>
          <p:cNvSpPr/>
          <p:nvPr/>
        </p:nvSpPr>
        <p:spPr>
          <a:xfrm>
            <a:off x="6193097" y="1452747"/>
            <a:ext cx="2299344" cy="2299344"/>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14" name="Image 4" descr="./images\slide5_img60.png">    </p:cNvPr>
          <p:cNvPicPr>
            <a:picLocks noChangeAspect="1"/>
          </p:cNvPicPr>
          <p:nvPr/>
        </p:nvPicPr>
        <p:blipFill>
          <a:blip r:embed="rId5"/>
          <a:stretch>
            <a:fillRect/>
          </a:stretch>
        </p:blipFill>
        <p:spPr>
          <a:xfrm>
            <a:off x="6193097" y="1452747"/>
            <a:ext cx="2299344" cy="2299344"/>
          </a:xfrm>
          <a:prstGeom prst="rect">
            <a:avLst/>
          </a:prstGeom>
        </p:spPr>
      </p:pic>
      <p:pic>
        <p:nvPicPr>
          <p:cNvPr id="15" name="Image 5" descr="./images\slide5_img61.png">    </p:cNvPr>
          <p:cNvPicPr>
            <a:picLocks noChangeAspect="1"/>
          </p:cNvPicPr>
          <p:nvPr/>
        </p:nvPicPr>
        <p:blipFill>
          <a:blip r:embed="rId6"/>
          <a:stretch>
            <a:fillRect/>
          </a:stretch>
        </p:blipFill>
        <p:spPr>
          <a:xfrm>
            <a:off x="651178" y="1452747"/>
            <a:ext cx="2299344" cy="2299344"/>
          </a:xfrm>
          <a:prstGeom prst="rect">
            <a:avLst/>
          </a:prstGeom>
        </p:spPr>
      </p:pic>
      <p:sp>
        <p:nvSpPr>
          <p:cNvPr id="16" name="Shape 8"/>
          <p:cNvSpPr/>
          <p:nvPr/>
        </p:nvSpPr>
        <p:spPr>
          <a:xfrm>
            <a:off x="651178" y="1452747"/>
            <a:ext cx="2299344" cy="2299344"/>
          </a:xfrm>
          <a:custGeom>
            <a:avLst/>
            <a:gdLst/>
            <a:ahLst/>
            <a:cxnLst/>
            <a:rect l="l" t="t" r="r" b="b"/>
            <a:pathLst>
              <a:path w="2299344" h="2299344">
                <a:moveTo>
                  <a:pt x="0" y="0"/>
                </a:moveTo>
                <a:lnTo>
                  <a:pt x="2299344" y="0"/>
                </a:lnTo>
                <a:lnTo>
                  <a:pt x="2299344" y="2299344"/>
                </a:lnTo>
                <a:lnTo>
                  <a:pt x="0" y="2299344"/>
                </a:lnTo>
                <a:close/>
              </a:path>
            </a:pathLst>
          </a:custGeom>
          <a:solidFill>
            <a:srgbClr val="FFFFFF">
              <a:alpha val="0"/>
            </a:srgbClr>
          </a:solidFill>
          <a:ln/>
        </p:spPr>
      </p:sp>
      <p:sp>
        <p:nvSpPr>
          <p:cNvPr id="17" name="Text 9"/>
          <p:cNvSpPr/>
          <p:nvPr/>
        </p:nvSpPr>
        <p:spPr>
          <a:xfrm>
            <a:off x="651178" y="1452747"/>
            <a:ext cx="2299344" cy="2299344"/>
          </a:xfrm>
          <a:prstGeom prst="rect">
            <a:avLst/>
          </a:prstGeom>
          <a:noFill/>
          <a:ln/>
        </p:spPr>
        <p:txBody>
          <a:bodyPr wrap="square" rtlCol="0" anchor="t"/>
          <a:lstStyle/>
          <a:p>
            <a:pPr indent="0" marL="0">
              <a:spcBef>
                <a:spcPts val="375"/>
              </a:spcBef>
              <a:buNone/>
            </a:pPr>
            <a:endParaRPr lang="en-US" sz="1050" dirty="0"/>
          </a:p>
        </p:txBody>
      </p:sp>
      <p:sp>
        <p:nvSpPr>
          <p:cNvPr id="18" name="Shape 10"/>
          <p:cNvSpPr/>
          <p:nvPr/>
        </p:nvSpPr>
        <p:spPr>
          <a:xfrm>
            <a:off x="651178" y="1452747"/>
            <a:ext cx="2299344" cy="2299344"/>
          </a:xfrm>
          <a:custGeom>
            <a:avLst/>
            <a:gdLst/>
            <a:ahLst/>
            <a:cxnLst/>
            <a:rect l="l" t="t" r="r" b="b"/>
            <a:pathLst>
              <a:path w="2299344" h="2299344">
                <a:moveTo>
                  <a:pt x="0" y="0"/>
                </a:moveTo>
                <a:lnTo>
                  <a:pt x="2299344" y="0"/>
                </a:lnTo>
                <a:lnTo>
                  <a:pt x="2299344" y="2299344"/>
                </a:lnTo>
                <a:lnTo>
                  <a:pt x="0" y="2299344"/>
                </a:lnTo>
                <a:close/>
              </a:path>
            </a:pathLst>
          </a:custGeom>
          <a:solidFill>
            <a:srgbClr val="000000">
              <a:alpha val="0"/>
            </a:srgbClr>
          </a:solidFill>
          <a:ln/>
        </p:spPr>
      </p:sp>
      <p:sp>
        <p:nvSpPr>
          <p:cNvPr id="19" name="Text 11"/>
          <p:cNvSpPr/>
          <p:nvPr/>
        </p:nvSpPr>
        <p:spPr>
          <a:xfrm>
            <a:off x="651178" y="1452747"/>
            <a:ext cx="2299344" cy="2299344"/>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20" name="Image 6" descr="./images\slide5_img62.png">    </p:cNvPr>
          <p:cNvPicPr>
            <a:picLocks noChangeAspect="1"/>
          </p:cNvPicPr>
          <p:nvPr/>
        </p:nvPicPr>
        <p:blipFill>
          <a:blip r:embed="rId7"/>
          <a:stretch>
            <a:fillRect/>
          </a:stretch>
        </p:blipFill>
        <p:spPr>
          <a:xfrm>
            <a:off x="651178" y="1452747"/>
            <a:ext cx="2299344" cy="2299344"/>
          </a:xfrm>
          <a:prstGeom prst="rect">
            <a:avLst/>
          </a:prstGeom>
        </p:spPr>
      </p:pic>
      <p:pic>
        <p:nvPicPr>
          <p:cNvPr id="21" name="Image 7" descr="./images\slide5_img63.png">    </p:cNvPr>
          <p:cNvPicPr>
            <a:picLocks noChangeAspect="1"/>
          </p:cNvPicPr>
          <p:nvPr/>
        </p:nvPicPr>
        <p:blipFill>
          <a:blip r:embed="rId8"/>
          <a:stretch>
            <a:fillRect/>
          </a:stretch>
        </p:blipFill>
        <p:spPr>
          <a:xfrm>
            <a:off x="551228" y="1377789"/>
            <a:ext cx="2499245" cy="2449260"/>
          </a:xfrm>
          <a:prstGeom prst="rect">
            <a:avLst/>
          </a:prstGeom>
        </p:spPr>
      </p:pic>
      <p:sp>
        <p:nvSpPr>
          <p:cNvPr id="22" name="Shape 12"/>
          <p:cNvSpPr/>
          <p:nvPr/>
        </p:nvSpPr>
        <p:spPr>
          <a:xfrm>
            <a:off x="551228" y="1377789"/>
            <a:ext cx="2499245" cy="2449260"/>
          </a:xfrm>
          <a:custGeom>
            <a:avLst/>
            <a:gdLst/>
            <a:ahLst/>
            <a:cxnLst/>
            <a:rect l="l" t="t" r="r" b="b"/>
            <a:pathLst>
              <a:path w="2499245" h="2449260">
                <a:moveTo>
                  <a:pt x="0" y="0"/>
                </a:moveTo>
                <a:lnTo>
                  <a:pt x="2499245" y="0"/>
                </a:lnTo>
                <a:lnTo>
                  <a:pt x="2499245" y="2449260"/>
                </a:lnTo>
                <a:lnTo>
                  <a:pt x="0" y="2449260"/>
                </a:lnTo>
                <a:close/>
              </a:path>
            </a:pathLst>
          </a:custGeom>
          <a:solidFill>
            <a:srgbClr val="FFFFFF">
              <a:alpha val="0"/>
            </a:srgbClr>
          </a:solidFill>
          <a:ln/>
        </p:spPr>
      </p:sp>
      <p:sp>
        <p:nvSpPr>
          <p:cNvPr id="23" name="Text 13"/>
          <p:cNvSpPr/>
          <p:nvPr/>
        </p:nvSpPr>
        <p:spPr>
          <a:xfrm>
            <a:off x="551228" y="1377789"/>
            <a:ext cx="2499245" cy="2449260"/>
          </a:xfrm>
          <a:prstGeom prst="rect">
            <a:avLst/>
          </a:prstGeom>
          <a:noFill/>
          <a:ln/>
        </p:spPr>
        <p:txBody>
          <a:bodyPr wrap="square" rtlCol="0" anchor="t"/>
          <a:lstStyle/>
          <a:p>
            <a:pPr indent="0" marL="0">
              <a:spcBef>
                <a:spcPts val="375"/>
              </a:spcBef>
              <a:buNone/>
            </a:pPr>
            <a:endParaRPr lang="en-US" sz="1050" dirty="0"/>
          </a:p>
        </p:txBody>
      </p:sp>
      <p:sp>
        <p:nvSpPr>
          <p:cNvPr id="24" name="Shape 14"/>
          <p:cNvSpPr/>
          <p:nvPr/>
        </p:nvSpPr>
        <p:spPr>
          <a:xfrm>
            <a:off x="551228" y="1377789"/>
            <a:ext cx="2499245" cy="2449260"/>
          </a:xfrm>
          <a:custGeom>
            <a:avLst/>
            <a:gdLst/>
            <a:ahLst/>
            <a:cxnLst/>
            <a:rect l="l" t="t" r="r" b="b"/>
            <a:pathLst>
              <a:path w="2499245" h="2449260">
                <a:moveTo>
                  <a:pt x="0" y="0"/>
                </a:moveTo>
                <a:lnTo>
                  <a:pt x="2499245" y="0"/>
                </a:lnTo>
                <a:lnTo>
                  <a:pt x="2499245" y="2449260"/>
                </a:lnTo>
                <a:lnTo>
                  <a:pt x="0" y="2449260"/>
                </a:lnTo>
                <a:close/>
              </a:path>
            </a:pathLst>
          </a:custGeom>
          <a:solidFill>
            <a:srgbClr val="000000">
              <a:alpha val="0"/>
            </a:srgbClr>
          </a:solidFill>
          <a:ln/>
        </p:spPr>
      </p:sp>
      <p:sp>
        <p:nvSpPr>
          <p:cNvPr id="25" name="Text 15"/>
          <p:cNvSpPr/>
          <p:nvPr/>
        </p:nvSpPr>
        <p:spPr>
          <a:xfrm>
            <a:off x="551228" y="1377789"/>
            <a:ext cx="2499245" cy="2449260"/>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26" name="Image 8" descr="./images\slide5_img64.png">    </p:cNvPr>
          <p:cNvPicPr>
            <a:picLocks noChangeAspect="1"/>
          </p:cNvPicPr>
          <p:nvPr/>
        </p:nvPicPr>
        <p:blipFill>
          <a:blip r:embed="rId9"/>
          <a:stretch>
            <a:fillRect/>
          </a:stretch>
        </p:blipFill>
        <p:spPr>
          <a:xfrm>
            <a:off x="551228" y="1377789"/>
            <a:ext cx="2499245" cy="2449260"/>
          </a:xfrm>
          <a:prstGeom prst="rect">
            <a:avLst/>
          </a:prstGeom>
        </p:spPr>
      </p:pic>
      <p:pic>
        <p:nvPicPr>
          <p:cNvPr id="27" name="Image 9" descr="./images\slide5_img65.png">    </p:cNvPr>
          <p:cNvPicPr>
            <a:picLocks noChangeAspect="1"/>
          </p:cNvPicPr>
          <p:nvPr/>
        </p:nvPicPr>
        <p:blipFill>
          <a:blip r:embed="rId10"/>
          <a:stretch>
            <a:fillRect/>
          </a:stretch>
        </p:blipFill>
        <p:spPr>
          <a:xfrm>
            <a:off x="3322378" y="1377789"/>
            <a:ext cx="2499245" cy="2449260"/>
          </a:xfrm>
          <a:prstGeom prst="rect">
            <a:avLst/>
          </a:prstGeom>
        </p:spPr>
      </p:pic>
      <p:sp>
        <p:nvSpPr>
          <p:cNvPr id="28" name="Shape 16"/>
          <p:cNvSpPr/>
          <p:nvPr/>
        </p:nvSpPr>
        <p:spPr>
          <a:xfrm>
            <a:off x="3322378" y="1377789"/>
            <a:ext cx="2499245" cy="2449260"/>
          </a:xfrm>
          <a:custGeom>
            <a:avLst/>
            <a:gdLst/>
            <a:ahLst/>
            <a:cxnLst/>
            <a:rect l="l" t="t" r="r" b="b"/>
            <a:pathLst>
              <a:path w="2499245" h="2449260">
                <a:moveTo>
                  <a:pt x="0" y="0"/>
                </a:moveTo>
                <a:lnTo>
                  <a:pt x="2499245" y="0"/>
                </a:lnTo>
                <a:lnTo>
                  <a:pt x="2499245" y="2449260"/>
                </a:lnTo>
                <a:lnTo>
                  <a:pt x="0" y="2449260"/>
                </a:lnTo>
                <a:close/>
              </a:path>
            </a:pathLst>
          </a:custGeom>
          <a:solidFill>
            <a:srgbClr val="FFFFFF">
              <a:alpha val="0"/>
            </a:srgbClr>
          </a:solidFill>
          <a:ln/>
        </p:spPr>
      </p:sp>
      <p:sp>
        <p:nvSpPr>
          <p:cNvPr id="29" name="Text 17"/>
          <p:cNvSpPr/>
          <p:nvPr/>
        </p:nvSpPr>
        <p:spPr>
          <a:xfrm>
            <a:off x="3322378" y="1377789"/>
            <a:ext cx="2499245" cy="2449260"/>
          </a:xfrm>
          <a:prstGeom prst="rect">
            <a:avLst/>
          </a:prstGeom>
          <a:noFill/>
          <a:ln/>
        </p:spPr>
        <p:txBody>
          <a:bodyPr wrap="square" rtlCol="0" anchor="t"/>
          <a:lstStyle/>
          <a:p>
            <a:pPr indent="0" marL="0">
              <a:spcBef>
                <a:spcPts val="375"/>
              </a:spcBef>
              <a:buNone/>
            </a:pPr>
            <a:endParaRPr lang="en-US" sz="1050" dirty="0"/>
          </a:p>
        </p:txBody>
      </p:sp>
      <p:sp>
        <p:nvSpPr>
          <p:cNvPr id="30" name="Shape 18"/>
          <p:cNvSpPr/>
          <p:nvPr/>
        </p:nvSpPr>
        <p:spPr>
          <a:xfrm>
            <a:off x="3322378" y="1377789"/>
            <a:ext cx="2499245" cy="2449260"/>
          </a:xfrm>
          <a:custGeom>
            <a:avLst/>
            <a:gdLst/>
            <a:ahLst/>
            <a:cxnLst/>
            <a:rect l="l" t="t" r="r" b="b"/>
            <a:pathLst>
              <a:path w="2499245" h="2449260">
                <a:moveTo>
                  <a:pt x="0" y="0"/>
                </a:moveTo>
                <a:lnTo>
                  <a:pt x="2499245" y="0"/>
                </a:lnTo>
                <a:lnTo>
                  <a:pt x="2499245" y="2449260"/>
                </a:lnTo>
                <a:lnTo>
                  <a:pt x="0" y="2449260"/>
                </a:lnTo>
                <a:close/>
              </a:path>
            </a:pathLst>
          </a:custGeom>
          <a:solidFill>
            <a:srgbClr val="000000">
              <a:alpha val="0"/>
            </a:srgbClr>
          </a:solidFill>
          <a:ln/>
        </p:spPr>
      </p:sp>
      <p:sp>
        <p:nvSpPr>
          <p:cNvPr id="31" name="Text 19"/>
          <p:cNvSpPr/>
          <p:nvPr/>
        </p:nvSpPr>
        <p:spPr>
          <a:xfrm>
            <a:off x="3322378" y="1377789"/>
            <a:ext cx="2499245" cy="2449260"/>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32" name="Image 10" descr="./images\slide5_img66.png">    </p:cNvPr>
          <p:cNvPicPr>
            <a:picLocks noChangeAspect="1"/>
          </p:cNvPicPr>
          <p:nvPr/>
        </p:nvPicPr>
        <p:blipFill>
          <a:blip r:embed="rId11"/>
          <a:stretch>
            <a:fillRect/>
          </a:stretch>
        </p:blipFill>
        <p:spPr>
          <a:xfrm>
            <a:off x="3322378" y="1377789"/>
            <a:ext cx="2499245" cy="2449260"/>
          </a:xfrm>
          <a:prstGeom prst="rect">
            <a:avLst/>
          </a:prstGeom>
        </p:spPr>
      </p:pic>
      <p:pic>
        <p:nvPicPr>
          <p:cNvPr id="33" name="Image 11" descr="./images\slide5_img67.png">    </p:cNvPr>
          <p:cNvPicPr>
            <a:picLocks noChangeAspect="1"/>
          </p:cNvPicPr>
          <p:nvPr/>
        </p:nvPicPr>
        <p:blipFill>
          <a:blip r:embed="rId12"/>
          <a:stretch>
            <a:fillRect/>
          </a:stretch>
        </p:blipFill>
        <p:spPr>
          <a:xfrm>
            <a:off x="6093528" y="1377789"/>
            <a:ext cx="2499245" cy="2449260"/>
          </a:xfrm>
          <a:prstGeom prst="rect">
            <a:avLst/>
          </a:prstGeom>
        </p:spPr>
      </p:pic>
      <p:sp>
        <p:nvSpPr>
          <p:cNvPr id="34" name="Shape 20"/>
          <p:cNvSpPr/>
          <p:nvPr/>
        </p:nvSpPr>
        <p:spPr>
          <a:xfrm>
            <a:off x="6093528" y="1377789"/>
            <a:ext cx="2499245" cy="2449260"/>
          </a:xfrm>
          <a:custGeom>
            <a:avLst/>
            <a:gdLst/>
            <a:ahLst/>
            <a:cxnLst/>
            <a:rect l="l" t="t" r="r" b="b"/>
            <a:pathLst>
              <a:path w="2499245" h="2449260">
                <a:moveTo>
                  <a:pt x="0" y="0"/>
                </a:moveTo>
                <a:lnTo>
                  <a:pt x="2499245" y="0"/>
                </a:lnTo>
                <a:lnTo>
                  <a:pt x="2499245" y="2449260"/>
                </a:lnTo>
                <a:lnTo>
                  <a:pt x="0" y="2449260"/>
                </a:lnTo>
                <a:close/>
              </a:path>
            </a:pathLst>
          </a:custGeom>
          <a:solidFill>
            <a:srgbClr val="FFFFFF">
              <a:alpha val="0"/>
            </a:srgbClr>
          </a:solidFill>
          <a:ln/>
        </p:spPr>
      </p:sp>
      <p:sp>
        <p:nvSpPr>
          <p:cNvPr id="35" name="Text 21"/>
          <p:cNvSpPr/>
          <p:nvPr/>
        </p:nvSpPr>
        <p:spPr>
          <a:xfrm>
            <a:off x="6093528" y="1377789"/>
            <a:ext cx="2499245" cy="2449260"/>
          </a:xfrm>
          <a:prstGeom prst="rect">
            <a:avLst/>
          </a:prstGeom>
          <a:noFill/>
          <a:ln/>
        </p:spPr>
        <p:txBody>
          <a:bodyPr wrap="square" rtlCol="0" anchor="t"/>
          <a:lstStyle/>
          <a:p>
            <a:pPr indent="0" marL="0">
              <a:spcBef>
                <a:spcPts val="375"/>
              </a:spcBef>
              <a:buNone/>
            </a:pPr>
            <a:endParaRPr lang="en-US" sz="1050" dirty="0"/>
          </a:p>
        </p:txBody>
      </p:sp>
      <p:sp>
        <p:nvSpPr>
          <p:cNvPr id="36" name="Shape 22"/>
          <p:cNvSpPr/>
          <p:nvPr/>
        </p:nvSpPr>
        <p:spPr>
          <a:xfrm>
            <a:off x="6093528" y="1377789"/>
            <a:ext cx="2499245" cy="2449260"/>
          </a:xfrm>
          <a:custGeom>
            <a:avLst/>
            <a:gdLst/>
            <a:ahLst/>
            <a:cxnLst/>
            <a:rect l="l" t="t" r="r" b="b"/>
            <a:pathLst>
              <a:path w="2499245" h="2449260">
                <a:moveTo>
                  <a:pt x="0" y="0"/>
                </a:moveTo>
                <a:lnTo>
                  <a:pt x="2499245" y="0"/>
                </a:lnTo>
                <a:lnTo>
                  <a:pt x="2499245" y="2449260"/>
                </a:lnTo>
                <a:lnTo>
                  <a:pt x="0" y="2449260"/>
                </a:lnTo>
                <a:close/>
              </a:path>
            </a:pathLst>
          </a:custGeom>
          <a:solidFill>
            <a:srgbClr val="000000">
              <a:alpha val="0"/>
            </a:srgbClr>
          </a:solidFill>
          <a:ln/>
        </p:spPr>
      </p:sp>
      <p:sp>
        <p:nvSpPr>
          <p:cNvPr id="37" name="Text 23"/>
          <p:cNvSpPr/>
          <p:nvPr/>
        </p:nvSpPr>
        <p:spPr>
          <a:xfrm>
            <a:off x="6093528" y="1377789"/>
            <a:ext cx="2499245" cy="2449260"/>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38" name="Image 12" descr="./images\slide5_img68.png">    </p:cNvPr>
          <p:cNvPicPr>
            <a:picLocks noChangeAspect="1"/>
          </p:cNvPicPr>
          <p:nvPr/>
        </p:nvPicPr>
        <p:blipFill>
          <a:blip r:embed="rId13"/>
          <a:stretch>
            <a:fillRect/>
          </a:stretch>
        </p:blipFill>
        <p:spPr>
          <a:xfrm>
            <a:off x="6093528" y="1377789"/>
            <a:ext cx="2499245" cy="2449260"/>
          </a:xfrm>
          <a:prstGeom prst="rect">
            <a:avLst/>
          </a:prstGeom>
        </p:spPr>
      </p:pic>
      <p:sp>
        <p:nvSpPr>
          <p:cNvPr id="39" name="Shape 24"/>
          <p:cNvSpPr/>
          <p:nvPr/>
        </p:nvSpPr>
        <p:spPr>
          <a:xfrm>
            <a:off x="874042" y="197820"/>
            <a:ext cx="7395900" cy="552450"/>
          </a:xfrm>
          <a:custGeom>
            <a:avLst/>
            <a:gdLst/>
            <a:ahLst/>
            <a:cxnLst/>
            <a:rect l="l" t="t" r="r" b="b"/>
            <a:pathLst>
              <a:path w="7395900" h="552450">
                <a:moveTo>
                  <a:pt x="0" y="0"/>
                </a:moveTo>
                <a:lnTo>
                  <a:pt x="7395900" y="0"/>
                </a:lnTo>
                <a:lnTo>
                  <a:pt x="7395900" y="552450"/>
                </a:lnTo>
                <a:lnTo>
                  <a:pt x="0" y="552450"/>
                </a:lnTo>
                <a:close/>
              </a:path>
            </a:pathLst>
          </a:custGeom>
          <a:solidFill>
            <a:srgbClr val="FFFFFF">
              <a:alpha val="0"/>
            </a:srgbClr>
          </a:solidFill>
          <a:ln/>
        </p:spPr>
      </p:sp>
      <p:sp>
        <p:nvSpPr>
          <p:cNvPr id="40" name="Text 25"/>
          <p:cNvSpPr/>
          <p:nvPr/>
        </p:nvSpPr>
        <p:spPr>
          <a:xfrm>
            <a:off x="874042" y="197820"/>
            <a:ext cx="7395900" cy="552450"/>
          </a:xfrm>
          <a:prstGeom prst="rect">
            <a:avLst/>
          </a:prstGeom>
          <a:noFill/>
          <a:ln/>
        </p:spPr>
        <p:txBody>
          <a:bodyPr wrap="square" rtlCol="0" anchor="t"/>
          <a:lstStyle/>
          <a:p>
            <a:pPr indent="0" marL="0">
              <a:spcBef>
                <a:spcPts val="375"/>
              </a:spcBef>
              <a:buNone/>
            </a:pPr>
            <a:endParaRPr lang="en-US" sz="1050" dirty="0"/>
          </a:p>
        </p:txBody>
      </p:sp>
      <p:sp>
        <p:nvSpPr>
          <p:cNvPr id="41" name="Shape 26"/>
          <p:cNvSpPr/>
          <p:nvPr/>
        </p:nvSpPr>
        <p:spPr>
          <a:xfrm>
            <a:off x="874042" y="197820"/>
            <a:ext cx="7395900" cy="552450"/>
          </a:xfrm>
          <a:custGeom>
            <a:avLst/>
            <a:gdLst/>
            <a:ahLst/>
            <a:cxnLst/>
            <a:rect l="l" t="t" r="r" b="b"/>
            <a:pathLst>
              <a:path w="7395900" h="552450">
                <a:moveTo>
                  <a:pt x="0" y="0"/>
                </a:moveTo>
                <a:lnTo>
                  <a:pt x="7395900" y="0"/>
                </a:lnTo>
                <a:lnTo>
                  <a:pt x="7395900" y="552450"/>
                </a:lnTo>
                <a:lnTo>
                  <a:pt x="0" y="552450"/>
                </a:lnTo>
                <a:close/>
              </a:path>
            </a:pathLst>
          </a:custGeom>
          <a:solidFill>
            <a:srgbClr val="000000">
              <a:alpha val="0"/>
            </a:srgbClr>
          </a:solidFill>
          <a:ln/>
        </p:spPr>
      </p:sp>
      <p:sp>
        <p:nvSpPr>
          <p:cNvPr id="42" name="Text 27"/>
          <p:cNvSpPr/>
          <p:nvPr/>
        </p:nvSpPr>
        <p:spPr>
          <a:xfrm>
            <a:off x="874042" y="197820"/>
            <a:ext cx="7395900" cy="552450"/>
          </a:xfrm>
          <a:prstGeom prst="rect">
            <a:avLst/>
          </a:prstGeom>
          <a:noFill/>
          <a:ln/>
        </p:spPr>
        <p:txBody>
          <a:bodyPr wrap="square" rtlCol="0" anchor="t"/>
          <a:lstStyle/>
          <a:p>
            <a:pPr algn="ctr" indent="0" marL="0">
              <a:spcBef>
                <a:spcPts val="375"/>
              </a:spcBef>
              <a:buNone/>
            </a:pPr>
            <a:r>
              <a:rPr lang="en-US" sz="3000" dirty="0">
                <a:solidFill>
                  <a:srgbClr val="45464D"/>
                </a:solidFill>
                <a:latin typeface="Caveat Brush" pitchFamily="34" charset="0"/>
                <a:ea typeface="Caveat Brush" pitchFamily="34" charset="-122"/>
                <a:cs typeface="Caveat Brush" pitchFamily="34" charset="-120"/>
              </a:rPr>
              <a:t>Diagnostika Usullari</a:t>
            </a:r>
            <a:endParaRPr lang="en-US" sz="1050" dirty="0"/>
          </a:p>
        </p:txBody>
      </p:sp>
      <p:sp>
        <p:nvSpPr>
          <p:cNvPr id="43" name="Shape 28"/>
          <p:cNvSpPr/>
          <p:nvPr/>
        </p:nvSpPr>
        <p:spPr>
          <a:xfrm>
            <a:off x="651178" y="1478873"/>
            <a:ext cx="2269341" cy="603796"/>
          </a:xfrm>
          <a:custGeom>
            <a:avLst/>
            <a:gdLst/>
            <a:ahLst/>
            <a:cxnLst/>
            <a:rect l="l" t="t" r="r" b="b"/>
            <a:pathLst>
              <a:path w="2269341" h="603796">
                <a:moveTo>
                  <a:pt x="0" y="0"/>
                </a:moveTo>
                <a:lnTo>
                  <a:pt x="2269341" y="0"/>
                </a:lnTo>
                <a:lnTo>
                  <a:pt x="2269341" y="603796"/>
                </a:lnTo>
                <a:lnTo>
                  <a:pt x="0" y="603796"/>
                </a:lnTo>
                <a:close/>
              </a:path>
            </a:pathLst>
          </a:custGeom>
          <a:solidFill>
            <a:srgbClr val="FFFFFF">
              <a:alpha val="0"/>
            </a:srgbClr>
          </a:solidFill>
          <a:ln/>
        </p:spPr>
      </p:sp>
      <p:sp>
        <p:nvSpPr>
          <p:cNvPr id="44" name="Text 29"/>
          <p:cNvSpPr/>
          <p:nvPr/>
        </p:nvSpPr>
        <p:spPr>
          <a:xfrm>
            <a:off x="651178" y="1478873"/>
            <a:ext cx="2269341" cy="603796"/>
          </a:xfrm>
          <a:prstGeom prst="rect">
            <a:avLst/>
          </a:prstGeom>
          <a:noFill/>
          <a:ln/>
        </p:spPr>
        <p:txBody>
          <a:bodyPr wrap="square" rtlCol="0" anchor="t"/>
          <a:lstStyle/>
          <a:p>
            <a:pPr indent="0" marL="0">
              <a:spcBef>
                <a:spcPts val="375"/>
              </a:spcBef>
              <a:buNone/>
            </a:pPr>
            <a:endParaRPr lang="en-US" sz="1050" dirty="0"/>
          </a:p>
        </p:txBody>
      </p:sp>
      <p:sp>
        <p:nvSpPr>
          <p:cNvPr id="45" name="Shape 30"/>
          <p:cNvSpPr/>
          <p:nvPr/>
        </p:nvSpPr>
        <p:spPr>
          <a:xfrm>
            <a:off x="651178" y="1478873"/>
            <a:ext cx="2269341" cy="603796"/>
          </a:xfrm>
          <a:custGeom>
            <a:avLst/>
            <a:gdLst/>
            <a:ahLst/>
            <a:cxnLst/>
            <a:rect l="l" t="t" r="r" b="b"/>
            <a:pathLst>
              <a:path w="2269341" h="603796">
                <a:moveTo>
                  <a:pt x="0" y="0"/>
                </a:moveTo>
                <a:lnTo>
                  <a:pt x="2269341" y="0"/>
                </a:lnTo>
                <a:lnTo>
                  <a:pt x="2269341" y="603796"/>
                </a:lnTo>
                <a:lnTo>
                  <a:pt x="0" y="603796"/>
                </a:lnTo>
                <a:close/>
              </a:path>
            </a:pathLst>
          </a:custGeom>
          <a:solidFill>
            <a:srgbClr val="000000">
              <a:alpha val="0"/>
            </a:srgbClr>
          </a:solidFill>
          <a:ln/>
        </p:spPr>
      </p:sp>
      <p:sp>
        <p:nvSpPr>
          <p:cNvPr id="46" name="Text 31"/>
          <p:cNvSpPr/>
          <p:nvPr/>
        </p:nvSpPr>
        <p:spPr>
          <a:xfrm>
            <a:off x="651178" y="1478873"/>
            <a:ext cx="2269341" cy="603796"/>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Diagnostika usullari tibbiyotda kasalliklarni aniqlashda muhim ahamiyatga ega. Ular turli xil metodlar va vositalarni o'z ichiga oladi, bu esa shifokorlarga aniq va tezkor tashxis qo'yishga yordam beradi.</a:t>
            </a:r>
            <a:endParaRPr lang="en-US" sz="1050" dirty="0"/>
          </a:p>
        </p:txBody>
      </p:sp>
      <p:sp>
        <p:nvSpPr>
          <p:cNvPr id="47" name="Shape 32"/>
          <p:cNvSpPr/>
          <p:nvPr/>
        </p:nvSpPr>
        <p:spPr>
          <a:xfrm>
            <a:off x="3385895" y="1537943"/>
            <a:ext cx="2216616" cy="603796"/>
          </a:xfrm>
          <a:custGeom>
            <a:avLst/>
            <a:gdLst/>
            <a:ahLst/>
            <a:cxnLst/>
            <a:rect l="l" t="t" r="r" b="b"/>
            <a:pathLst>
              <a:path w="2216616" h="603796">
                <a:moveTo>
                  <a:pt x="0" y="0"/>
                </a:moveTo>
                <a:lnTo>
                  <a:pt x="2216616" y="0"/>
                </a:lnTo>
                <a:lnTo>
                  <a:pt x="2216616" y="603796"/>
                </a:lnTo>
                <a:lnTo>
                  <a:pt x="0" y="603796"/>
                </a:lnTo>
                <a:close/>
              </a:path>
            </a:pathLst>
          </a:custGeom>
          <a:solidFill>
            <a:srgbClr val="FFFFFF">
              <a:alpha val="0"/>
            </a:srgbClr>
          </a:solidFill>
          <a:ln/>
        </p:spPr>
      </p:sp>
      <p:sp>
        <p:nvSpPr>
          <p:cNvPr id="48" name="Text 33"/>
          <p:cNvSpPr/>
          <p:nvPr/>
        </p:nvSpPr>
        <p:spPr>
          <a:xfrm>
            <a:off x="3385895" y="1537943"/>
            <a:ext cx="2216616" cy="603796"/>
          </a:xfrm>
          <a:prstGeom prst="rect">
            <a:avLst/>
          </a:prstGeom>
          <a:noFill/>
          <a:ln/>
        </p:spPr>
        <p:txBody>
          <a:bodyPr wrap="square" rtlCol="0" anchor="t"/>
          <a:lstStyle/>
          <a:p>
            <a:pPr indent="0" marL="0">
              <a:spcBef>
                <a:spcPts val="375"/>
              </a:spcBef>
              <a:buNone/>
            </a:pPr>
            <a:endParaRPr lang="en-US" sz="1050" dirty="0"/>
          </a:p>
        </p:txBody>
      </p:sp>
      <p:sp>
        <p:nvSpPr>
          <p:cNvPr id="49" name="Shape 34"/>
          <p:cNvSpPr/>
          <p:nvPr/>
        </p:nvSpPr>
        <p:spPr>
          <a:xfrm>
            <a:off x="3385895" y="1537943"/>
            <a:ext cx="2216616" cy="603796"/>
          </a:xfrm>
          <a:custGeom>
            <a:avLst/>
            <a:gdLst/>
            <a:ahLst/>
            <a:cxnLst/>
            <a:rect l="l" t="t" r="r" b="b"/>
            <a:pathLst>
              <a:path w="2216616" h="603796">
                <a:moveTo>
                  <a:pt x="0" y="0"/>
                </a:moveTo>
                <a:lnTo>
                  <a:pt x="2216616" y="0"/>
                </a:lnTo>
                <a:lnTo>
                  <a:pt x="2216616" y="603796"/>
                </a:lnTo>
                <a:lnTo>
                  <a:pt x="0" y="603796"/>
                </a:lnTo>
                <a:close/>
              </a:path>
            </a:pathLst>
          </a:custGeom>
          <a:solidFill>
            <a:srgbClr val="000000">
              <a:alpha val="0"/>
            </a:srgbClr>
          </a:solidFill>
          <a:ln/>
        </p:spPr>
      </p:sp>
      <p:sp>
        <p:nvSpPr>
          <p:cNvPr id="50" name="Text 35"/>
          <p:cNvSpPr/>
          <p:nvPr/>
        </p:nvSpPr>
        <p:spPr>
          <a:xfrm>
            <a:off x="3385895" y="1537943"/>
            <a:ext cx="2216616" cy="603796"/>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Asosiy diagnostika usullari: klinik tekshiruv, laboratoriya tahlillari, tasviriy diagnostika va genetik testlar. Har bir usul o'ziga xos afzalliklarga ega bo'lib, kasallikning turiga qarab tanlanadi.</a:t>
            </a:r>
            <a:endParaRPr lang="en-US" sz="1050" dirty="0"/>
          </a:p>
        </p:txBody>
      </p:sp>
      <p:sp>
        <p:nvSpPr>
          <p:cNvPr id="51" name="Shape 36"/>
          <p:cNvSpPr/>
          <p:nvPr/>
        </p:nvSpPr>
        <p:spPr>
          <a:xfrm>
            <a:off x="6234269" y="1597013"/>
            <a:ext cx="2228813" cy="603796"/>
          </a:xfrm>
          <a:custGeom>
            <a:avLst/>
            <a:gdLst/>
            <a:ahLst/>
            <a:cxnLst/>
            <a:rect l="l" t="t" r="r" b="b"/>
            <a:pathLst>
              <a:path w="2228813" h="603796">
                <a:moveTo>
                  <a:pt x="0" y="0"/>
                </a:moveTo>
                <a:lnTo>
                  <a:pt x="2228813" y="0"/>
                </a:lnTo>
                <a:lnTo>
                  <a:pt x="2228813" y="603796"/>
                </a:lnTo>
                <a:lnTo>
                  <a:pt x="0" y="603796"/>
                </a:lnTo>
                <a:close/>
              </a:path>
            </a:pathLst>
          </a:custGeom>
          <a:solidFill>
            <a:srgbClr val="FFFFFF">
              <a:alpha val="0"/>
            </a:srgbClr>
          </a:solidFill>
          <a:ln/>
        </p:spPr>
      </p:sp>
      <p:sp>
        <p:nvSpPr>
          <p:cNvPr id="52" name="Text 37"/>
          <p:cNvSpPr/>
          <p:nvPr/>
        </p:nvSpPr>
        <p:spPr>
          <a:xfrm>
            <a:off x="6234269" y="1597013"/>
            <a:ext cx="2228813" cy="603796"/>
          </a:xfrm>
          <a:prstGeom prst="rect">
            <a:avLst/>
          </a:prstGeom>
          <a:noFill/>
          <a:ln/>
        </p:spPr>
        <p:txBody>
          <a:bodyPr wrap="square" rtlCol="0" anchor="t"/>
          <a:lstStyle/>
          <a:p>
            <a:pPr indent="0" marL="0">
              <a:spcBef>
                <a:spcPts val="375"/>
              </a:spcBef>
              <a:buNone/>
            </a:pPr>
            <a:endParaRPr lang="en-US" sz="1050" dirty="0"/>
          </a:p>
        </p:txBody>
      </p:sp>
      <p:sp>
        <p:nvSpPr>
          <p:cNvPr id="53" name="Shape 38"/>
          <p:cNvSpPr/>
          <p:nvPr/>
        </p:nvSpPr>
        <p:spPr>
          <a:xfrm>
            <a:off x="6234269" y="1597013"/>
            <a:ext cx="2228813" cy="603796"/>
          </a:xfrm>
          <a:custGeom>
            <a:avLst/>
            <a:gdLst/>
            <a:ahLst/>
            <a:cxnLst/>
            <a:rect l="l" t="t" r="r" b="b"/>
            <a:pathLst>
              <a:path w="2228813" h="603796">
                <a:moveTo>
                  <a:pt x="0" y="0"/>
                </a:moveTo>
                <a:lnTo>
                  <a:pt x="2228813" y="0"/>
                </a:lnTo>
                <a:lnTo>
                  <a:pt x="2228813" y="603796"/>
                </a:lnTo>
                <a:lnTo>
                  <a:pt x="0" y="603796"/>
                </a:lnTo>
                <a:close/>
              </a:path>
            </a:pathLst>
          </a:custGeom>
          <a:solidFill>
            <a:srgbClr val="000000">
              <a:alpha val="0"/>
            </a:srgbClr>
          </a:solidFill>
          <a:ln/>
        </p:spPr>
      </p:sp>
      <p:sp>
        <p:nvSpPr>
          <p:cNvPr id="54" name="Text 39"/>
          <p:cNvSpPr/>
          <p:nvPr/>
        </p:nvSpPr>
        <p:spPr>
          <a:xfrm>
            <a:off x="6234269" y="1597013"/>
            <a:ext cx="2228813" cy="603796"/>
          </a:xfrm>
          <a:prstGeom prst="rect">
            <a:avLst/>
          </a:prstGeom>
          <a:noFill/>
          <a:ln/>
        </p:spPr>
        <p:txBody>
          <a:bodyPr wrap="square" rtlCol="0" anchor="t"/>
          <a:lstStyle/>
          <a:p>
            <a:pPr algn="ctr" indent="0" marL="0">
              <a:spcBef>
                <a:spcPts val="375"/>
              </a:spcBef>
              <a:buNone/>
            </a:pPr>
            <a:r>
              <a:rPr lang="en-US" sz="975" dirty="0">
                <a:solidFill>
                  <a:srgbClr val="000000"/>
                </a:solidFill>
                <a:latin typeface="Nunito" pitchFamily="34" charset="0"/>
                <a:ea typeface="Nunito" pitchFamily="34" charset="-122"/>
                <a:cs typeface="Nunito" pitchFamily="34" charset="-120"/>
              </a:rPr>
              <a:t>Bu usullar yordamida kasalliklarning oldini olish, vaqtida aniqlash va to'g'ri davolash strategiyalarini ishlab chiqish mumkin. Shuningdek, zamonaviy texnologiyalar diagnostikani yanada samarali qilishda yordam beradi.</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1F1F1"/>
        </a:solidFill>
      </p:bgPr>
    </p:bg>
    <p:spTree>
      <p:nvGrpSpPr>
        <p:cNvPr id="1" name=""/>
        <p:cNvGrpSpPr/>
        <p:nvPr/>
      </p:nvGrpSpPr>
      <p:grpSpPr>
        <a:xfrm>
          <a:off x="0" y="0"/>
          <a:ext cx="0" cy="0"/>
          <a:chOff x="0" y="0"/>
          <a:chExt cx="0" cy="0"/>
        </a:xfrm>
      </p:grpSpPr>
      <p:pic>
        <p:nvPicPr>
          <p:cNvPr id="2" name="Image 0" descr="./images\slide6_img69.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images\slide6_img70.png">    </p:cNvPr>
          <p:cNvPicPr>
            <a:picLocks noChangeAspect="1"/>
          </p:cNvPicPr>
          <p:nvPr/>
        </p:nvPicPr>
        <p:blipFill>
          <a:blip r:embed="rId2"/>
          <a:stretch>
            <a:fillRect/>
          </a:stretch>
        </p:blipFill>
        <p:spPr>
          <a:xfrm>
            <a:off x="3116890" y="1094737"/>
            <a:ext cx="2910220" cy="3713738"/>
          </a:xfrm>
          <a:prstGeom prst="rect">
            <a:avLst/>
          </a:prstGeom>
        </p:spPr>
      </p:pic>
      <p:sp>
        <p:nvSpPr>
          <p:cNvPr id="4" name="Shape 0"/>
          <p:cNvSpPr/>
          <p:nvPr/>
        </p:nvSpPr>
        <p:spPr>
          <a:xfrm>
            <a:off x="1401482" y="161274"/>
            <a:ext cx="6341100" cy="476250"/>
          </a:xfrm>
          <a:custGeom>
            <a:avLst/>
            <a:gdLst/>
            <a:ahLst/>
            <a:cxnLst/>
            <a:rect l="l" t="t" r="r" b="b"/>
            <a:pathLst>
              <a:path w="6341100" h="476250">
                <a:moveTo>
                  <a:pt x="0" y="0"/>
                </a:moveTo>
                <a:lnTo>
                  <a:pt x="6341100" y="0"/>
                </a:lnTo>
                <a:lnTo>
                  <a:pt x="6341100" y="476250"/>
                </a:lnTo>
                <a:lnTo>
                  <a:pt x="0" y="476250"/>
                </a:lnTo>
                <a:close/>
              </a:path>
            </a:pathLst>
          </a:custGeom>
          <a:solidFill>
            <a:srgbClr val="FFFFFF">
              <a:alpha val="0"/>
            </a:srgbClr>
          </a:solidFill>
          <a:ln/>
        </p:spPr>
      </p:sp>
      <p:sp>
        <p:nvSpPr>
          <p:cNvPr id="5" name="Text 1"/>
          <p:cNvSpPr/>
          <p:nvPr/>
        </p:nvSpPr>
        <p:spPr>
          <a:xfrm>
            <a:off x="1401482" y="161274"/>
            <a:ext cx="6341100" cy="476250"/>
          </a:xfrm>
          <a:prstGeom prst="rect">
            <a:avLst/>
          </a:prstGeom>
          <a:noFill/>
          <a:ln/>
        </p:spPr>
        <p:txBody>
          <a:bodyPr wrap="square" rtlCol="0" anchor="t"/>
          <a:lstStyle/>
          <a:p>
            <a:pPr indent="0" marL="0">
              <a:spcBef>
                <a:spcPts val="375"/>
              </a:spcBef>
              <a:buNone/>
            </a:pPr>
            <a:endParaRPr lang="en-US" sz="1050" dirty="0"/>
          </a:p>
        </p:txBody>
      </p:sp>
      <p:sp>
        <p:nvSpPr>
          <p:cNvPr id="6" name="Shape 2"/>
          <p:cNvSpPr/>
          <p:nvPr/>
        </p:nvSpPr>
        <p:spPr>
          <a:xfrm>
            <a:off x="1401482" y="161274"/>
            <a:ext cx="6341100" cy="476250"/>
          </a:xfrm>
          <a:custGeom>
            <a:avLst/>
            <a:gdLst/>
            <a:ahLst/>
            <a:cxnLst/>
            <a:rect l="l" t="t" r="r" b="b"/>
            <a:pathLst>
              <a:path w="6341100" h="476250">
                <a:moveTo>
                  <a:pt x="0" y="0"/>
                </a:moveTo>
                <a:lnTo>
                  <a:pt x="6341100" y="0"/>
                </a:lnTo>
                <a:lnTo>
                  <a:pt x="6341100" y="476250"/>
                </a:lnTo>
                <a:lnTo>
                  <a:pt x="0" y="476250"/>
                </a:lnTo>
                <a:close/>
              </a:path>
            </a:pathLst>
          </a:custGeom>
          <a:solidFill>
            <a:srgbClr val="000000">
              <a:alpha val="0"/>
            </a:srgbClr>
          </a:solidFill>
          <a:ln/>
        </p:spPr>
      </p:sp>
      <p:sp>
        <p:nvSpPr>
          <p:cNvPr id="7" name="Text 3"/>
          <p:cNvSpPr/>
          <p:nvPr/>
        </p:nvSpPr>
        <p:spPr>
          <a:xfrm>
            <a:off x="1401482" y="161274"/>
            <a:ext cx="6341100" cy="476250"/>
          </a:xfrm>
          <a:prstGeom prst="rect">
            <a:avLst/>
          </a:prstGeom>
          <a:noFill/>
          <a:ln/>
        </p:spPr>
        <p:txBody>
          <a:bodyPr wrap="square" rtlCol="0" anchor="t"/>
          <a:lstStyle/>
          <a:p>
            <a:pPr algn="ctr" indent="0" marL="0">
              <a:spcBef>
                <a:spcPts val="375"/>
              </a:spcBef>
              <a:buNone/>
            </a:pPr>
            <a:r>
              <a:rPr lang="en-US" sz="3000" dirty="0">
                <a:solidFill>
                  <a:srgbClr val="45464D"/>
                </a:solidFill>
                <a:latin typeface="Caveat Brush" pitchFamily="34" charset="0"/>
                <a:ea typeface="Caveat Brush" pitchFamily="34" charset="-122"/>
                <a:cs typeface="Caveat Brush" pitchFamily="34" charset="-120"/>
              </a:rPr>
              <a:t>Davolash usullari: Asosiy tushunchalar</a:t>
            </a:r>
            <a:endParaRPr lang="en-US" sz="1050" dirty="0"/>
          </a:p>
        </p:txBody>
      </p:sp>
      <p:sp>
        <p:nvSpPr>
          <p:cNvPr id="8" name="Shape 4"/>
          <p:cNvSpPr/>
          <p:nvPr/>
        </p:nvSpPr>
        <p:spPr>
          <a:xfrm>
            <a:off x="6517040" y="2139780"/>
            <a:ext cx="2026650" cy="349523"/>
          </a:xfrm>
          <a:custGeom>
            <a:avLst/>
            <a:gdLst/>
            <a:ahLst/>
            <a:cxnLst/>
            <a:rect l="l" t="t" r="r" b="b"/>
            <a:pathLst>
              <a:path w="2026650" h="349523">
                <a:moveTo>
                  <a:pt x="0" y="0"/>
                </a:moveTo>
                <a:lnTo>
                  <a:pt x="2026650" y="0"/>
                </a:lnTo>
                <a:lnTo>
                  <a:pt x="2026650" y="349523"/>
                </a:lnTo>
                <a:lnTo>
                  <a:pt x="0" y="349523"/>
                </a:lnTo>
                <a:close/>
              </a:path>
            </a:pathLst>
          </a:custGeom>
          <a:solidFill>
            <a:srgbClr val="FFFFFF">
              <a:alpha val="0"/>
            </a:srgbClr>
          </a:solidFill>
          <a:ln/>
        </p:spPr>
      </p:sp>
      <p:sp>
        <p:nvSpPr>
          <p:cNvPr id="9" name="Text 5"/>
          <p:cNvSpPr/>
          <p:nvPr/>
        </p:nvSpPr>
        <p:spPr>
          <a:xfrm>
            <a:off x="6517040" y="2139780"/>
            <a:ext cx="2026650" cy="349523"/>
          </a:xfrm>
          <a:prstGeom prst="rect">
            <a:avLst/>
          </a:prstGeom>
          <a:noFill/>
          <a:ln/>
        </p:spPr>
        <p:txBody>
          <a:bodyPr wrap="square" rtlCol="0" anchor="t"/>
          <a:lstStyle/>
          <a:p>
            <a:pPr indent="0" marL="0">
              <a:spcBef>
                <a:spcPts val="375"/>
              </a:spcBef>
              <a:buNone/>
            </a:pPr>
            <a:endParaRPr lang="en-US" sz="1050" dirty="0"/>
          </a:p>
        </p:txBody>
      </p:sp>
      <p:sp>
        <p:nvSpPr>
          <p:cNvPr id="10" name="Shape 6"/>
          <p:cNvSpPr/>
          <p:nvPr/>
        </p:nvSpPr>
        <p:spPr>
          <a:xfrm>
            <a:off x="6517040" y="2139780"/>
            <a:ext cx="2026650" cy="349523"/>
          </a:xfrm>
          <a:custGeom>
            <a:avLst/>
            <a:gdLst/>
            <a:ahLst/>
            <a:cxnLst/>
            <a:rect l="l" t="t" r="r" b="b"/>
            <a:pathLst>
              <a:path w="2026650" h="349523">
                <a:moveTo>
                  <a:pt x="0" y="0"/>
                </a:moveTo>
                <a:lnTo>
                  <a:pt x="2026650" y="0"/>
                </a:lnTo>
                <a:lnTo>
                  <a:pt x="2026650" y="349523"/>
                </a:lnTo>
                <a:lnTo>
                  <a:pt x="0" y="349523"/>
                </a:lnTo>
                <a:close/>
              </a:path>
            </a:pathLst>
          </a:custGeom>
          <a:solidFill>
            <a:srgbClr val="000000">
              <a:alpha val="0"/>
            </a:srgbClr>
          </a:solidFill>
          <a:ln/>
        </p:spPr>
      </p:sp>
      <p:sp>
        <p:nvSpPr>
          <p:cNvPr id="11" name="Text 7"/>
          <p:cNvSpPr/>
          <p:nvPr/>
        </p:nvSpPr>
        <p:spPr>
          <a:xfrm>
            <a:off x="6517040" y="2139780"/>
            <a:ext cx="2026650" cy="349523"/>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Davolash usullari inson salomatligini tiklash va saqlash uchun muhimdir. Turli kasalliklar uchun turli usullar qo'llaniladi, masalan, dori-darmonlar, jismoniy terapiya va operatsiyalar.</a:t>
            </a:r>
            <a:endParaRPr lang="en-US" sz="1050" dirty="0"/>
          </a:p>
        </p:txBody>
      </p:sp>
      <p:sp>
        <p:nvSpPr>
          <p:cNvPr id="12" name="Shape 8"/>
          <p:cNvSpPr/>
          <p:nvPr/>
        </p:nvSpPr>
        <p:spPr>
          <a:xfrm>
            <a:off x="6446157" y="1520039"/>
            <a:ext cx="2026650" cy="241399"/>
          </a:xfrm>
          <a:custGeom>
            <a:avLst/>
            <a:gdLst/>
            <a:ahLst/>
            <a:cxnLst/>
            <a:rect l="l" t="t" r="r" b="b"/>
            <a:pathLst>
              <a:path w="2026650" h="241399">
                <a:moveTo>
                  <a:pt x="0" y="0"/>
                </a:moveTo>
                <a:lnTo>
                  <a:pt x="2026650" y="0"/>
                </a:lnTo>
                <a:lnTo>
                  <a:pt x="2026650" y="241399"/>
                </a:lnTo>
                <a:lnTo>
                  <a:pt x="0" y="241399"/>
                </a:lnTo>
                <a:close/>
              </a:path>
            </a:pathLst>
          </a:custGeom>
          <a:solidFill>
            <a:srgbClr val="FFFFFF">
              <a:alpha val="0"/>
            </a:srgbClr>
          </a:solidFill>
          <a:ln/>
        </p:spPr>
      </p:sp>
      <p:sp>
        <p:nvSpPr>
          <p:cNvPr id="13" name="Text 9"/>
          <p:cNvSpPr/>
          <p:nvPr/>
        </p:nvSpPr>
        <p:spPr>
          <a:xfrm>
            <a:off x="6446157" y="1520039"/>
            <a:ext cx="2026650" cy="241399"/>
          </a:xfrm>
          <a:prstGeom prst="rect">
            <a:avLst/>
          </a:prstGeom>
          <a:noFill/>
          <a:ln/>
        </p:spPr>
        <p:txBody>
          <a:bodyPr wrap="square" rtlCol="0" anchor="t"/>
          <a:lstStyle/>
          <a:p>
            <a:pPr indent="0" marL="0">
              <a:spcBef>
                <a:spcPts val="375"/>
              </a:spcBef>
              <a:buNone/>
            </a:pPr>
            <a:endParaRPr lang="en-US" sz="1050" dirty="0"/>
          </a:p>
        </p:txBody>
      </p:sp>
      <p:sp>
        <p:nvSpPr>
          <p:cNvPr id="14" name="Shape 10"/>
          <p:cNvSpPr/>
          <p:nvPr/>
        </p:nvSpPr>
        <p:spPr>
          <a:xfrm>
            <a:off x="6446157" y="1520039"/>
            <a:ext cx="2026650" cy="241399"/>
          </a:xfrm>
          <a:custGeom>
            <a:avLst/>
            <a:gdLst/>
            <a:ahLst/>
            <a:cxnLst/>
            <a:rect l="l" t="t" r="r" b="b"/>
            <a:pathLst>
              <a:path w="2026650" h="241399">
                <a:moveTo>
                  <a:pt x="0" y="0"/>
                </a:moveTo>
                <a:lnTo>
                  <a:pt x="2026650" y="0"/>
                </a:lnTo>
                <a:lnTo>
                  <a:pt x="2026650" y="241399"/>
                </a:lnTo>
                <a:lnTo>
                  <a:pt x="0" y="241399"/>
                </a:lnTo>
                <a:close/>
              </a:path>
            </a:pathLst>
          </a:custGeom>
          <a:solidFill>
            <a:srgbClr val="000000">
              <a:alpha val="0"/>
            </a:srgbClr>
          </a:solidFill>
          <a:ln/>
        </p:spPr>
      </p:sp>
      <p:sp>
        <p:nvSpPr>
          <p:cNvPr id="15" name="Text 11"/>
          <p:cNvSpPr/>
          <p:nvPr/>
        </p:nvSpPr>
        <p:spPr>
          <a:xfrm>
            <a:off x="6446157" y="1520039"/>
            <a:ext cx="2026650" cy="241399"/>
          </a:xfrm>
          <a:prstGeom prst="rect">
            <a:avLst/>
          </a:prstGeom>
          <a:noFill/>
          <a:ln/>
        </p:spPr>
        <p:txBody>
          <a:bodyPr wrap="square" rtlCol="0" anchor="t"/>
          <a:lstStyle/>
          <a:p>
            <a:pPr algn="ctr" indent="0" marL="0">
              <a:spcBef>
                <a:spcPts val="375"/>
              </a:spcBef>
              <a:buNone/>
            </a:pPr>
            <a:r>
              <a:rPr lang="en-US" sz="1125" b="1" dirty="0">
                <a:solidFill>
                  <a:srgbClr val="000000"/>
                </a:solidFill>
                <a:latin typeface="Nunito" pitchFamily="34" charset="0"/>
                <a:ea typeface="Nunito" pitchFamily="34" charset="-122"/>
                <a:cs typeface="Nunito" pitchFamily="34" charset="-120"/>
              </a:rPr>
              <a:t>Dori-darmonlar</a:t>
            </a:r>
            <a:endParaRPr lang="en-US" sz="1050" dirty="0"/>
          </a:p>
        </p:txBody>
      </p:sp>
      <p:sp>
        <p:nvSpPr>
          <p:cNvPr id="16" name="Shape 12"/>
          <p:cNvSpPr/>
          <p:nvPr/>
        </p:nvSpPr>
        <p:spPr>
          <a:xfrm>
            <a:off x="6517040" y="3923708"/>
            <a:ext cx="2026650" cy="349523"/>
          </a:xfrm>
          <a:custGeom>
            <a:avLst/>
            <a:gdLst/>
            <a:ahLst/>
            <a:cxnLst/>
            <a:rect l="l" t="t" r="r" b="b"/>
            <a:pathLst>
              <a:path w="2026650" h="349523">
                <a:moveTo>
                  <a:pt x="0" y="0"/>
                </a:moveTo>
                <a:lnTo>
                  <a:pt x="2026650" y="0"/>
                </a:lnTo>
                <a:lnTo>
                  <a:pt x="2026650" y="349523"/>
                </a:lnTo>
                <a:lnTo>
                  <a:pt x="0" y="349523"/>
                </a:lnTo>
                <a:close/>
              </a:path>
            </a:pathLst>
          </a:custGeom>
          <a:solidFill>
            <a:srgbClr val="FFFFFF">
              <a:alpha val="0"/>
            </a:srgbClr>
          </a:solidFill>
          <a:ln/>
        </p:spPr>
      </p:sp>
      <p:sp>
        <p:nvSpPr>
          <p:cNvPr id="17" name="Text 13"/>
          <p:cNvSpPr/>
          <p:nvPr/>
        </p:nvSpPr>
        <p:spPr>
          <a:xfrm>
            <a:off x="6517040" y="3923708"/>
            <a:ext cx="2026650" cy="349523"/>
          </a:xfrm>
          <a:prstGeom prst="rect">
            <a:avLst/>
          </a:prstGeom>
          <a:noFill/>
          <a:ln/>
        </p:spPr>
        <p:txBody>
          <a:bodyPr wrap="square" rtlCol="0" anchor="t"/>
          <a:lstStyle/>
          <a:p>
            <a:pPr indent="0" marL="0">
              <a:spcBef>
                <a:spcPts val="375"/>
              </a:spcBef>
              <a:buNone/>
            </a:pPr>
            <a:endParaRPr lang="en-US" sz="1050" dirty="0"/>
          </a:p>
        </p:txBody>
      </p:sp>
      <p:sp>
        <p:nvSpPr>
          <p:cNvPr id="18" name="Shape 14"/>
          <p:cNvSpPr/>
          <p:nvPr/>
        </p:nvSpPr>
        <p:spPr>
          <a:xfrm>
            <a:off x="6517040" y="3923708"/>
            <a:ext cx="2026650" cy="349523"/>
          </a:xfrm>
          <a:custGeom>
            <a:avLst/>
            <a:gdLst/>
            <a:ahLst/>
            <a:cxnLst/>
            <a:rect l="l" t="t" r="r" b="b"/>
            <a:pathLst>
              <a:path w="2026650" h="349523">
                <a:moveTo>
                  <a:pt x="0" y="0"/>
                </a:moveTo>
                <a:lnTo>
                  <a:pt x="2026650" y="0"/>
                </a:lnTo>
                <a:lnTo>
                  <a:pt x="2026650" y="349523"/>
                </a:lnTo>
                <a:lnTo>
                  <a:pt x="0" y="349523"/>
                </a:lnTo>
                <a:close/>
              </a:path>
            </a:pathLst>
          </a:custGeom>
          <a:solidFill>
            <a:srgbClr val="000000">
              <a:alpha val="0"/>
            </a:srgbClr>
          </a:solidFill>
          <a:ln/>
        </p:spPr>
      </p:sp>
      <p:sp>
        <p:nvSpPr>
          <p:cNvPr id="19" name="Text 15"/>
          <p:cNvSpPr/>
          <p:nvPr/>
        </p:nvSpPr>
        <p:spPr>
          <a:xfrm>
            <a:off x="6517040" y="3923708"/>
            <a:ext cx="2026650" cy="349523"/>
          </a:xfrm>
          <a:prstGeom prst="rect">
            <a:avLst/>
          </a:prstGeom>
          <a:noFill/>
          <a:ln/>
        </p:spPr>
        <p:txBody>
          <a:bodyPr wrap="square" rtlCol="0" anchor="t"/>
          <a:lstStyle/>
          <a:p>
            <a:pPr algn="ctr" indent="0" marL="0">
              <a:spcBef>
                <a:spcPts val="375"/>
              </a:spcBef>
              <a:buNone/>
            </a:pPr>
            <a:r>
              <a:rPr lang="en-US" sz="975" dirty="0">
                <a:solidFill>
                  <a:srgbClr val="000000"/>
                </a:solidFill>
                <a:latin typeface="Nunito" pitchFamily="34" charset="0"/>
                <a:ea typeface="Nunito" pitchFamily="34" charset="-122"/>
                <a:cs typeface="Nunito" pitchFamily="34" charset="-120"/>
              </a:rPr>
              <a:t>Dori-darmonlar ko'plab kasalliklarni davolashda asosiy vosita hisoblanadi. Ular turli shaklda bo'lishi mumkin: tabletkalar, in'ektsiyalar va sirop. Har bir dori o'ziga xos ta'sir ko'rsatadi.</a:t>
            </a:r>
            <a:endParaRPr lang="en-US" sz="1050" dirty="0"/>
          </a:p>
        </p:txBody>
      </p:sp>
      <p:sp>
        <p:nvSpPr>
          <p:cNvPr id="20" name="Shape 16"/>
          <p:cNvSpPr/>
          <p:nvPr/>
        </p:nvSpPr>
        <p:spPr>
          <a:xfrm>
            <a:off x="6481599" y="3307470"/>
            <a:ext cx="2026650" cy="241399"/>
          </a:xfrm>
          <a:custGeom>
            <a:avLst/>
            <a:gdLst/>
            <a:ahLst/>
            <a:cxnLst/>
            <a:rect l="l" t="t" r="r" b="b"/>
            <a:pathLst>
              <a:path w="2026650" h="241399">
                <a:moveTo>
                  <a:pt x="0" y="0"/>
                </a:moveTo>
                <a:lnTo>
                  <a:pt x="2026650" y="0"/>
                </a:lnTo>
                <a:lnTo>
                  <a:pt x="2026650" y="241399"/>
                </a:lnTo>
                <a:lnTo>
                  <a:pt x="0" y="241399"/>
                </a:lnTo>
                <a:close/>
              </a:path>
            </a:pathLst>
          </a:custGeom>
          <a:solidFill>
            <a:srgbClr val="FFFFFF">
              <a:alpha val="0"/>
            </a:srgbClr>
          </a:solidFill>
          <a:ln/>
        </p:spPr>
      </p:sp>
      <p:sp>
        <p:nvSpPr>
          <p:cNvPr id="21" name="Text 17"/>
          <p:cNvSpPr/>
          <p:nvPr/>
        </p:nvSpPr>
        <p:spPr>
          <a:xfrm>
            <a:off x="6481599" y="3307470"/>
            <a:ext cx="2026650" cy="241399"/>
          </a:xfrm>
          <a:prstGeom prst="rect">
            <a:avLst/>
          </a:prstGeom>
          <a:noFill/>
          <a:ln/>
        </p:spPr>
        <p:txBody>
          <a:bodyPr wrap="square" rtlCol="0" anchor="t"/>
          <a:lstStyle/>
          <a:p>
            <a:pPr indent="0" marL="0">
              <a:spcBef>
                <a:spcPts val="375"/>
              </a:spcBef>
              <a:buNone/>
            </a:pPr>
            <a:endParaRPr lang="en-US" sz="1050" dirty="0"/>
          </a:p>
        </p:txBody>
      </p:sp>
      <p:sp>
        <p:nvSpPr>
          <p:cNvPr id="22" name="Shape 18"/>
          <p:cNvSpPr/>
          <p:nvPr/>
        </p:nvSpPr>
        <p:spPr>
          <a:xfrm>
            <a:off x="6481599" y="3307470"/>
            <a:ext cx="2026650" cy="241399"/>
          </a:xfrm>
          <a:custGeom>
            <a:avLst/>
            <a:gdLst/>
            <a:ahLst/>
            <a:cxnLst/>
            <a:rect l="l" t="t" r="r" b="b"/>
            <a:pathLst>
              <a:path w="2026650" h="241399">
                <a:moveTo>
                  <a:pt x="0" y="0"/>
                </a:moveTo>
                <a:lnTo>
                  <a:pt x="2026650" y="0"/>
                </a:lnTo>
                <a:lnTo>
                  <a:pt x="2026650" y="241399"/>
                </a:lnTo>
                <a:lnTo>
                  <a:pt x="0" y="241399"/>
                </a:lnTo>
                <a:close/>
              </a:path>
            </a:pathLst>
          </a:custGeom>
          <a:solidFill>
            <a:srgbClr val="000000">
              <a:alpha val="0"/>
            </a:srgbClr>
          </a:solidFill>
          <a:ln/>
        </p:spPr>
      </p:sp>
      <p:sp>
        <p:nvSpPr>
          <p:cNvPr id="23" name="Text 19"/>
          <p:cNvSpPr/>
          <p:nvPr/>
        </p:nvSpPr>
        <p:spPr>
          <a:xfrm>
            <a:off x="6481599" y="3307470"/>
            <a:ext cx="2026650" cy="241399"/>
          </a:xfrm>
          <a:prstGeom prst="rect">
            <a:avLst/>
          </a:prstGeom>
          <a:noFill/>
          <a:ln/>
        </p:spPr>
        <p:txBody>
          <a:bodyPr wrap="square" rtlCol="0" anchor="t"/>
          <a:lstStyle/>
          <a:p>
            <a:pPr algn="ctr" indent="0" marL="0">
              <a:spcBef>
                <a:spcPts val="375"/>
              </a:spcBef>
              <a:buNone/>
            </a:pPr>
            <a:r>
              <a:rPr lang="en-US" sz="1125" b="1" dirty="0">
                <a:solidFill>
                  <a:srgbClr val="000000"/>
                </a:solidFill>
                <a:latin typeface="Nunito" pitchFamily="34" charset="0"/>
                <a:ea typeface="Nunito" pitchFamily="34" charset="-122"/>
                <a:cs typeface="Nunito" pitchFamily="34" charset="-120"/>
              </a:rPr>
              <a:t>Jismoniy terapiya</a:t>
            </a:r>
            <a:endParaRPr lang="en-US" sz="1050" dirty="0"/>
          </a:p>
        </p:txBody>
      </p:sp>
      <p:sp>
        <p:nvSpPr>
          <p:cNvPr id="24" name="Shape 20"/>
          <p:cNvSpPr/>
          <p:nvPr/>
        </p:nvSpPr>
        <p:spPr>
          <a:xfrm>
            <a:off x="600373" y="2018613"/>
            <a:ext cx="2026650" cy="349523"/>
          </a:xfrm>
          <a:custGeom>
            <a:avLst/>
            <a:gdLst/>
            <a:ahLst/>
            <a:cxnLst/>
            <a:rect l="l" t="t" r="r" b="b"/>
            <a:pathLst>
              <a:path w="2026650" h="349523">
                <a:moveTo>
                  <a:pt x="0" y="0"/>
                </a:moveTo>
                <a:lnTo>
                  <a:pt x="2026650" y="0"/>
                </a:lnTo>
                <a:lnTo>
                  <a:pt x="2026650" y="349523"/>
                </a:lnTo>
                <a:lnTo>
                  <a:pt x="0" y="349523"/>
                </a:lnTo>
                <a:close/>
              </a:path>
            </a:pathLst>
          </a:custGeom>
          <a:solidFill>
            <a:srgbClr val="FFFFFF">
              <a:alpha val="0"/>
            </a:srgbClr>
          </a:solidFill>
          <a:ln/>
        </p:spPr>
      </p:sp>
      <p:sp>
        <p:nvSpPr>
          <p:cNvPr id="25" name="Text 21"/>
          <p:cNvSpPr/>
          <p:nvPr/>
        </p:nvSpPr>
        <p:spPr>
          <a:xfrm>
            <a:off x="600373" y="2018613"/>
            <a:ext cx="2026650" cy="349523"/>
          </a:xfrm>
          <a:prstGeom prst="rect">
            <a:avLst/>
          </a:prstGeom>
          <a:noFill/>
          <a:ln/>
        </p:spPr>
        <p:txBody>
          <a:bodyPr wrap="square" rtlCol="0" anchor="t"/>
          <a:lstStyle/>
          <a:p>
            <a:pPr indent="0" marL="0">
              <a:spcBef>
                <a:spcPts val="375"/>
              </a:spcBef>
              <a:buNone/>
            </a:pPr>
            <a:endParaRPr lang="en-US" sz="1050" dirty="0"/>
          </a:p>
        </p:txBody>
      </p:sp>
      <p:sp>
        <p:nvSpPr>
          <p:cNvPr id="26" name="Shape 22"/>
          <p:cNvSpPr/>
          <p:nvPr/>
        </p:nvSpPr>
        <p:spPr>
          <a:xfrm>
            <a:off x="600373" y="2018613"/>
            <a:ext cx="2026650" cy="349523"/>
          </a:xfrm>
          <a:custGeom>
            <a:avLst/>
            <a:gdLst/>
            <a:ahLst/>
            <a:cxnLst/>
            <a:rect l="l" t="t" r="r" b="b"/>
            <a:pathLst>
              <a:path w="2026650" h="349523">
                <a:moveTo>
                  <a:pt x="0" y="0"/>
                </a:moveTo>
                <a:lnTo>
                  <a:pt x="2026650" y="0"/>
                </a:lnTo>
                <a:lnTo>
                  <a:pt x="2026650" y="349523"/>
                </a:lnTo>
                <a:lnTo>
                  <a:pt x="0" y="349523"/>
                </a:lnTo>
                <a:close/>
              </a:path>
            </a:pathLst>
          </a:custGeom>
          <a:solidFill>
            <a:srgbClr val="000000">
              <a:alpha val="0"/>
            </a:srgbClr>
          </a:solidFill>
          <a:ln/>
        </p:spPr>
      </p:sp>
      <p:sp>
        <p:nvSpPr>
          <p:cNvPr id="27" name="Text 23"/>
          <p:cNvSpPr/>
          <p:nvPr/>
        </p:nvSpPr>
        <p:spPr>
          <a:xfrm>
            <a:off x="600373" y="2018613"/>
            <a:ext cx="2026650" cy="349523"/>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Jismoniy terapiya bemorlarning harakatlarini tiklash va kuchaytirish uchun muhim ahamiyatga ega. Bu usul og'riqni kamaytirish va funktsiyalarni yaxshilashda yordam beradi.</a:t>
            </a:r>
            <a:endParaRPr lang="en-US" sz="1050" dirty="0"/>
          </a:p>
        </p:txBody>
      </p:sp>
      <p:sp>
        <p:nvSpPr>
          <p:cNvPr id="28" name="Shape 24"/>
          <p:cNvSpPr/>
          <p:nvPr/>
        </p:nvSpPr>
        <p:spPr>
          <a:xfrm>
            <a:off x="600373" y="1456867"/>
            <a:ext cx="2026650" cy="241399"/>
          </a:xfrm>
          <a:custGeom>
            <a:avLst/>
            <a:gdLst/>
            <a:ahLst/>
            <a:cxnLst/>
            <a:rect l="l" t="t" r="r" b="b"/>
            <a:pathLst>
              <a:path w="2026650" h="241399">
                <a:moveTo>
                  <a:pt x="0" y="0"/>
                </a:moveTo>
                <a:lnTo>
                  <a:pt x="2026650" y="0"/>
                </a:lnTo>
                <a:lnTo>
                  <a:pt x="2026650" y="241399"/>
                </a:lnTo>
                <a:lnTo>
                  <a:pt x="0" y="241399"/>
                </a:lnTo>
                <a:close/>
              </a:path>
            </a:pathLst>
          </a:custGeom>
          <a:solidFill>
            <a:srgbClr val="FFFFFF">
              <a:alpha val="0"/>
            </a:srgbClr>
          </a:solidFill>
          <a:ln/>
        </p:spPr>
      </p:sp>
      <p:sp>
        <p:nvSpPr>
          <p:cNvPr id="29" name="Text 25"/>
          <p:cNvSpPr/>
          <p:nvPr/>
        </p:nvSpPr>
        <p:spPr>
          <a:xfrm>
            <a:off x="600373" y="1456867"/>
            <a:ext cx="2026650" cy="241399"/>
          </a:xfrm>
          <a:prstGeom prst="rect">
            <a:avLst/>
          </a:prstGeom>
          <a:noFill/>
          <a:ln/>
        </p:spPr>
        <p:txBody>
          <a:bodyPr wrap="square" rtlCol="0" anchor="t"/>
          <a:lstStyle/>
          <a:p>
            <a:pPr indent="0" marL="0">
              <a:spcBef>
                <a:spcPts val="375"/>
              </a:spcBef>
              <a:buNone/>
            </a:pPr>
            <a:endParaRPr lang="en-US" sz="1050" dirty="0"/>
          </a:p>
        </p:txBody>
      </p:sp>
      <p:sp>
        <p:nvSpPr>
          <p:cNvPr id="30" name="Shape 26"/>
          <p:cNvSpPr/>
          <p:nvPr/>
        </p:nvSpPr>
        <p:spPr>
          <a:xfrm>
            <a:off x="600373" y="1456867"/>
            <a:ext cx="2026650" cy="241399"/>
          </a:xfrm>
          <a:custGeom>
            <a:avLst/>
            <a:gdLst/>
            <a:ahLst/>
            <a:cxnLst/>
            <a:rect l="l" t="t" r="r" b="b"/>
            <a:pathLst>
              <a:path w="2026650" h="241399">
                <a:moveTo>
                  <a:pt x="0" y="0"/>
                </a:moveTo>
                <a:lnTo>
                  <a:pt x="2026650" y="0"/>
                </a:lnTo>
                <a:lnTo>
                  <a:pt x="2026650" y="241399"/>
                </a:lnTo>
                <a:lnTo>
                  <a:pt x="0" y="241399"/>
                </a:lnTo>
                <a:close/>
              </a:path>
            </a:pathLst>
          </a:custGeom>
          <a:solidFill>
            <a:srgbClr val="000000">
              <a:alpha val="0"/>
            </a:srgbClr>
          </a:solidFill>
          <a:ln/>
        </p:spPr>
      </p:sp>
      <p:sp>
        <p:nvSpPr>
          <p:cNvPr id="31" name="Text 27"/>
          <p:cNvSpPr/>
          <p:nvPr/>
        </p:nvSpPr>
        <p:spPr>
          <a:xfrm>
            <a:off x="600373" y="1456867"/>
            <a:ext cx="2026650" cy="241399"/>
          </a:xfrm>
          <a:prstGeom prst="rect">
            <a:avLst/>
          </a:prstGeom>
          <a:noFill/>
          <a:ln/>
        </p:spPr>
        <p:txBody>
          <a:bodyPr wrap="square" rtlCol="0" anchor="t"/>
          <a:lstStyle/>
          <a:p>
            <a:pPr algn="ctr" indent="0" marL="0">
              <a:spcBef>
                <a:spcPts val="375"/>
              </a:spcBef>
              <a:buNone/>
            </a:pPr>
            <a:r>
              <a:rPr lang="en-US" sz="1125" b="1" dirty="0">
                <a:solidFill>
                  <a:srgbClr val="000000"/>
                </a:solidFill>
                <a:latin typeface="Nunito" pitchFamily="34" charset="0"/>
                <a:ea typeface="Nunito" pitchFamily="34" charset="-122"/>
                <a:cs typeface="Nunito" pitchFamily="34" charset="-120"/>
              </a:rPr>
              <a:t>Operatsiyalar</a:t>
            </a:r>
            <a:endParaRPr lang="en-US" sz="1050" dirty="0"/>
          </a:p>
        </p:txBody>
      </p:sp>
      <p:sp>
        <p:nvSpPr>
          <p:cNvPr id="32" name="Shape 28"/>
          <p:cNvSpPr/>
          <p:nvPr/>
        </p:nvSpPr>
        <p:spPr>
          <a:xfrm>
            <a:off x="600373" y="3866558"/>
            <a:ext cx="2026650" cy="349523"/>
          </a:xfrm>
          <a:custGeom>
            <a:avLst/>
            <a:gdLst/>
            <a:ahLst/>
            <a:cxnLst/>
            <a:rect l="l" t="t" r="r" b="b"/>
            <a:pathLst>
              <a:path w="2026650" h="349523">
                <a:moveTo>
                  <a:pt x="0" y="0"/>
                </a:moveTo>
                <a:lnTo>
                  <a:pt x="2026650" y="0"/>
                </a:lnTo>
                <a:lnTo>
                  <a:pt x="2026650" y="349523"/>
                </a:lnTo>
                <a:lnTo>
                  <a:pt x="0" y="349523"/>
                </a:lnTo>
                <a:close/>
              </a:path>
            </a:pathLst>
          </a:custGeom>
          <a:solidFill>
            <a:srgbClr val="FFFFFF">
              <a:alpha val="0"/>
            </a:srgbClr>
          </a:solidFill>
          <a:ln/>
        </p:spPr>
      </p:sp>
      <p:sp>
        <p:nvSpPr>
          <p:cNvPr id="33" name="Text 29"/>
          <p:cNvSpPr/>
          <p:nvPr/>
        </p:nvSpPr>
        <p:spPr>
          <a:xfrm>
            <a:off x="600373" y="3866558"/>
            <a:ext cx="2026650" cy="349523"/>
          </a:xfrm>
          <a:prstGeom prst="rect">
            <a:avLst/>
          </a:prstGeom>
          <a:noFill/>
          <a:ln/>
        </p:spPr>
        <p:txBody>
          <a:bodyPr wrap="square" rtlCol="0" anchor="t"/>
          <a:lstStyle/>
          <a:p>
            <a:pPr indent="0" marL="0">
              <a:spcBef>
                <a:spcPts val="375"/>
              </a:spcBef>
              <a:buNone/>
            </a:pPr>
            <a:endParaRPr lang="en-US" sz="1050" dirty="0"/>
          </a:p>
        </p:txBody>
      </p:sp>
      <p:sp>
        <p:nvSpPr>
          <p:cNvPr id="34" name="Shape 30"/>
          <p:cNvSpPr/>
          <p:nvPr/>
        </p:nvSpPr>
        <p:spPr>
          <a:xfrm>
            <a:off x="600373" y="3866558"/>
            <a:ext cx="2026650" cy="349523"/>
          </a:xfrm>
          <a:custGeom>
            <a:avLst/>
            <a:gdLst/>
            <a:ahLst/>
            <a:cxnLst/>
            <a:rect l="l" t="t" r="r" b="b"/>
            <a:pathLst>
              <a:path w="2026650" h="349523">
                <a:moveTo>
                  <a:pt x="0" y="0"/>
                </a:moveTo>
                <a:lnTo>
                  <a:pt x="2026650" y="0"/>
                </a:lnTo>
                <a:lnTo>
                  <a:pt x="2026650" y="349523"/>
                </a:lnTo>
                <a:lnTo>
                  <a:pt x="0" y="349523"/>
                </a:lnTo>
                <a:close/>
              </a:path>
            </a:pathLst>
          </a:custGeom>
          <a:solidFill>
            <a:srgbClr val="000000">
              <a:alpha val="0"/>
            </a:srgbClr>
          </a:solidFill>
          <a:ln/>
        </p:spPr>
      </p:sp>
      <p:sp>
        <p:nvSpPr>
          <p:cNvPr id="35" name="Text 31"/>
          <p:cNvSpPr/>
          <p:nvPr/>
        </p:nvSpPr>
        <p:spPr>
          <a:xfrm>
            <a:off x="600373" y="3866558"/>
            <a:ext cx="2026650" cy="349523"/>
          </a:xfrm>
          <a:prstGeom prst="rect">
            <a:avLst/>
          </a:prstGeom>
          <a:noFill/>
          <a:ln/>
        </p:spPr>
        <p:txBody>
          <a:bodyPr wrap="square" rtlCol="0" anchor="t"/>
          <a:lstStyle/>
          <a:p>
            <a:pPr algn="ctr" indent="0" marL="0">
              <a:spcBef>
                <a:spcPts val="375"/>
              </a:spcBef>
              <a:buNone/>
            </a:pPr>
            <a:r>
              <a:rPr lang="en-US" sz="975" dirty="0">
                <a:solidFill>
                  <a:srgbClr val="000000"/>
                </a:solidFill>
                <a:latin typeface="Nunito" pitchFamily="34" charset="0"/>
                <a:ea typeface="Nunito" pitchFamily="34" charset="-122"/>
                <a:cs typeface="Nunito" pitchFamily="34" charset="-120"/>
              </a:rPr>
              <a:t>Operatsiyalar ko'pincha og'ir holatlarda qo'llaniladi. Ular zarar ko'rgan to'qimalarni tuzatish yoki kasalliklarni bartaraf etish maqsadida amalga oshiriladi.</a:t>
            </a:r>
            <a:endParaRPr lang="en-US" sz="1050" dirty="0"/>
          </a:p>
        </p:txBody>
      </p:sp>
      <p:sp>
        <p:nvSpPr>
          <p:cNvPr id="36" name="Shape 32"/>
          <p:cNvSpPr/>
          <p:nvPr/>
        </p:nvSpPr>
        <p:spPr>
          <a:xfrm>
            <a:off x="482233" y="3307470"/>
            <a:ext cx="2026650" cy="241399"/>
          </a:xfrm>
          <a:custGeom>
            <a:avLst/>
            <a:gdLst/>
            <a:ahLst/>
            <a:cxnLst/>
            <a:rect l="l" t="t" r="r" b="b"/>
            <a:pathLst>
              <a:path w="2026650" h="241399">
                <a:moveTo>
                  <a:pt x="0" y="0"/>
                </a:moveTo>
                <a:lnTo>
                  <a:pt x="2026650" y="0"/>
                </a:lnTo>
                <a:lnTo>
                  <a:pt x="2026650" y="241399"/>
                </a:lnTo>
                <a:lnTo>
                  <a:pt x="0" y="241399"/>
                </a:lnTo>
                <a:close/>
              </a:path>
            </a:pathLst>
          </a:custGeom>
          <a:solidFill>
            <a:srgbClr val="FFFFFF">
              <a:alpha val="0"/>
            </a:srgbClr>
          </a:solidFill>
          <a:ln/>
        </p:spPr>
      </p:sp>
      <p:sp>
        <p:nvSpPr>
          <p:cNvPr id="37" name="Text 33"/>
          <p:cNvSpPr/>
          <p:nvPr/>
        </p:nvSpPr>
        <p:spPr>
          <a:xfrm>
            <a:off x="482233" y="3307470"/>
            <a:ext cx="2026650" cy="241399"/>
          </a:xfrm>
          <a:prstGeom prst="rect">
            <a:avLst/>
          </a:prstGeom>
          <a:noFill/>
          <a:ln/>
        </p:spPr>
        <p:txBody>
          <a:bodyPr wrap="square" rtlCol="0" anchor="t"/>
          <a:lstStyle/>
          <a:p>
            <a:pPr indent="0" marL="0">
              <a:spcBef>
                <a:spcPts val="375"/>
              </a:spcBef>
              <a:buNone/>
            </a:pPr>
            <a:endParaRPr lang="en-US" sz="1050" dirty="0"/>
          </a:p>
        </p:txBody>
      </p:sp>
      <p:sp>
        <p:nvSpPr>
          <p:cNvPr id="38" name="Shape 34"/>
          <p:cNvSpPr/>
          <p:nvPr/>
        </p:nvSpPr>
        <p:spPr>
          <a:xfrm>
            <a:off x="482233" y="3307470"/>
            <a:ext cx="2026650" cy="241399"/>
          </a:xfrm>
          <a:custGeom>
            <a:avLst/>
            <a:gdLst/>
            <a:ahLst/>
            <a:cxnLst/>
            <a:rect l="l" t="t" r="r" b="b"/>
            <a:pathLst>
              <a:path w="2026650" h="241399">
                <a:moveTo>
                  <a:pt x="0" y="0"/>
                </a:moveTo>
                <a:lnTo>
                  <a:pt x="2026650" y="0"/>
                </a:lnTo>
                <a:lnTo>
                  <a:pt x="2026650" y="241399"/>
                </a:lnTo>
                <a:lnTo>
                  <a:pt x="0" y="241399"/>
                </a:lnTo>
                <a:close/>
              </a:path>
            </a:pathLst>
          </a:custGeom>
          <a:solidFill>
            <a:srgbClr val="000000">
              <a:alpha val="0"/>
            </a:srgbClr>
          </a:solidFill>
          <a:ln/>
        </p:spPr>
      </p:sp>
      <p:sp>
        <p:nvSpPr>
          <p:cNvPr id="39" name="Text 35"/>
          <p:cNvSpPr/>
          <p:nvPr/>
        </p:nvSpPr>
        <p:spPr>
          <a:xfrm>
            <a:off x="482233" y="3307470"/>
            <a:ext cx="2026650" cy="241399"/>
          </a:xfrm>
          <a:prstGeom prst="rect">
            <a:avLst/>
          </a:prstGeom>
          <a:noFill/>
          <a:ln/>
        </p:spPr>
        <p:txBody>
          <a:bodyPr wrap="square" rtlCol="0" anchor="t"/>
          <a:lstStyle/>
          <a:p>
            <a:pPr algn="ctr" indent="0" marL="0">
              <a:spcBef>
                <a:spcPts val="375"/>
              </a:spcBef>
              <a:buNone/>
            </a:pPr>
            <a:r>
              <a:rPr lang="en-US" sz="1125" b="1" dirty="0">
                <a:solidFill>
                  <a:srgbClr val="000000"/>
                </a:solidFill>
                <a:latin typeface="Nunito" pitchFamily="34" charset="0"/>
                <a:ea typeface="Nunito" pitchFamily="34" charset="-122"/>
                <a:cs typeface="Nunito" pitchFamily="34" charset="-120"/>
              </a:rPr>
              <a:t>Davolash usullarining kombinatsiyasi</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1F1F1"/>
        </a:solidFill>
      </p:bgPr>
    </p:bg>
    <p:spTree>
      <p:nvGrpSpPr>
        <p:cNvPr id="1" name=""/>
        <p:cNvGrpSpPr/>
        <p:nvPr/>
      </p:nvGrpSpPr>
      <p:grpSpPr>
        <a:xfrm>
          <a:off x="0" y="0"/>
          <a:ext cx="0" cy="0"/>
          <a:chOff x="0" y="0"/>
          <a:chExt cx="0" cy="0"/>
        </a:xfrm>
      </p:grpSpPr>
      <p:pic>
        <p:nvPicPr>
          <p:cNvPr id="2" name="Image 0" descr="./images\slide7_img71.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images\slide7_img72.png">    </p:cNvPr>
          <p:cNvPicPr>
            <a:picLocks noChangeAspect="1"/>
          </p:cNvPicPr>
          <p:nvPr/>
        </p:nvPicPr>
        <p:blipFill>
          <a:blip r:embed="rId2"/>
          <a:stretch>
            <a:fillRect/>
          </a:stretch>
        </p:blipFill>
        <p:spPr>
          <a:xfrm>
            <a:off x="998990" y="2046872"/>
            <a:ext cx="590056" cy="590056"/>
          </a:xfrm>
          <a:prstGeom prst="rect">
            <a:avLst/>
          </a:prstGeom>
        </p:spPr>
      </p:pic>
      <p:sp>
        <p:nvSpPr>
          <p:cNvPr id="4" name="Shape 0"/>
          <p:cNvSpPr/>
          <p:nvPr/>
        </p:nvSpPr>
        <p:spPr>
          <a:xfrm>
            <a:off x="998990" y="2046872"/>
            <a:ext cx="590056" cy="590056"/>
          </a:xfrm>
          <a:custGeom>
            <a:avLst/>
            <a:gdLst/>
            <a:ahLst/>
            <a:cxnLst/>
            <a:rect l="l" t="t" r="r" b="b"/>
            <a:pathLst>
              <a:path w="590056" h="590056">
                <a:moveTo>
                  <a:pt x="0" y="0"/>
                </a:moveTo>
                <a:lnTo>
                  <a:pt x="590056" y="0"/>
                </a:lnTo>
                <a:lnTo>
                  <a:pt x="590056" y="590056"/>
                </a:lnTo>
                <a:lnTo>
                  <a:pt x="0" y="590056"/>
                </a:lnTo>
                <a:close/>
              </a:path>
            </a:pathLst>
          </a:custGeom>
          <a:solidFill>
            <a:srgbClr val="FFFFFF">
              <a:alpha val="0"/>
            </a:srgbClr>
          </a:solidFill>
          <a:ln/>
        </p:spPr>
      </p:sp>
      <p:sp>
        <p:nvSpPr>
          <p:cNvPr id="5" name="Text 1"/>
          <p:cNvSpPr/>
          <p:nvPr/>
        </p:nvSpPr>
        <p:spPr>
          <a:xfrm>
            <a:off x="998990" y="2046872"/>
            <a:ext cx="590056" cy="590056"/>
          </a:xfrm>
          <a:prstGeom prst="rect">
            <a:avLst/>
          </a:prstGeom>
          <a:noFill/>
          <a:ln/>
        </p:spPr>
        <p:txBody>
          <a:bodyPr wrap="square" rtlCol="0" anchor="t"/>
          <a:lstStyle/>
          <a:p>
            <a:pPr indent="0" marL="0">
              <a:spcBef>
                <a:spcPts val="375"/>
              </a:spcBef>
              <a:buNone/>
            </a:pPr>
            <a:endParaRPr lang="en-US" sz="1050" dirty="0"/>
          </a:p>
        </p:txBody>
      </p:sp>
      <p:sp>
        <p:nvSpPr>
          <p:cNvPr id="6" name="Shape 2"/>
          <p:cNvSpPr/>
          <p:nvPr/>
        </p:nvSpPr>
        <p:spPr>
          <a:xfrm>
            <a:off x="998990" y="2046872"/>
            <a:ext cx="590056" cy="590056"/>
          </a:xfrm>
          <a:custGeom>
            <a:avLst/>
            <a:gdLst/>
            <a:ahLst/>
            <a:cxnLst/>
            <a:rect l="l" t="t" r="r" b="b"/>
            <a:pathLst>
              <a:path w="590056" h="590056">
                <a:moveTo>
                  <a:pt x="0" y="0"/>
                </a:moveTo>
                <a:lnTo>
                  <a:pt x="590056" y="0"/>
                </a:lnTo>
                <a:lnTo>
                  <a:pt x="590056" y="590056"/>
                </a:lnTo>
                <a:lnTo>
                  <a:pt x="0" y="590056"/>
                </a:lnTo>
                <a:close/>
              </a:path>
            </a:pathLst>
          </a:custGeom>
          <a:solidFill>
            <a:srgbClr val="000000">
              <a:alpha val="0"/>
            </a:srgbClr>
          </a:solidFill>
          <a:ln/>
        </p:spPr>
      </p:sp>
      <p:sp>
        <p:nvSpPr>
          <p:cNvPr id="7" name="Text 3"/>
          <p:cNvSpPr/>
          <p:nvPr/>
        </p:nvSpPr>
        <p:spPr>
          <a:xfrm>
            <a:off x="998990" y="2046872"/>
            <a:ext cx="590056" cy="590056"/>
          </a:xfrm>
          <a:prstGeom prst="rect">
            <a:avLst/>
          </a:prstGeom>
          <a:noFill/>
          <a:ln/>
        </p:spPr>
        <p:txBody>
          <a:bodyPr wrap="square" rtlCol="0" anchor="ctr"/>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sp>
        <p:nvSpPr>
          <p:cNvPr id="8" name="Shape 4"/>
          <p:cNvSpPr/>
          <p:nvPr/>
        </p:nvSpPr>
        <p:spPr>
          <a:xfrm>
            <a:off x="1054308" y="2074531"/>
            <a:ext cx="479420" cy="215875"/>
          </a:xfrm>
          <a:custGeom>
            <a:avLst/>
            <a:gdLst/>
            <a:ahLst/>
            <a:cxnLst/>
            <a:rect l="l" t="t" r="r" b="b"/>
            <a:pathLst>
              <a:path w="479420" h="215875">
                <a:moveTo>
                  <a:pt x="0" y="0"/>
                </a:moveTo>
                <a:lnTo>
                  <a:pt x="479420" y="0"/>
                </a:lnTo>
                <a:lnTo>
                  <a:pt x="479420" y="215875"/>
                </a:lnTo>
                <a:lnTo>
                  <a:pt x="0" y="215875"/>
                </a:lnTo>
                <a:close/>
              </a:path>
            </a:pathLst>
          </a:custGeom>
          <a:solidFill>
            <a:srgbClr val="FFFFFF">
              <a:alpha val="0"/>
            </a:srgbClr>
          </a:solidFill>
          <a:ln/>
        </p:spPr>
      </p:sp>
      <p:sp>
        <p:nvSpPr>
          <p:cNvPr id="9" name="Text 5"/>
          <p:cNvSpPr/>
          <p:nvPr/>
        </p:nvSpPr>
        <p:spPr>
          <a:xfrm>
            <a:off x="1054308" y="2074531"/>
            <a:ext cx="479420" cy="215875"/>
          </a:xfrm>
          <a:prstGeom prst="rect">
            <a:avLst/>
          </a:prstGeom>
          <a:noFill/>
          <a:ln/>
        </p:spPr>
        <p:txBody>
          <a:bodyPr wrap="square" rtlCol="0" anchor="t"/>
          <a:lstStyle/>
          <a:p>
            <a:pPr indent="0" marL="0">
              <a:spcBef>
                <a:spcPts val="375"/>
              </a:spcBef>
              <a:buNone/>
            </a:pPr>
            <a:endParaRPr lang="en-US" sz="1050" dirty="0"/>
          </a:p>
        </p:txBody>
      </p:sp>
      <p:sp>
        <p:nvSpPr>
          <p:cNvPr id="10" name="Shape 6"/>
          <p:cNvSpPr/>
          <p:nvPr/>
        </p:nvSpPr>
        <p:spPr>
          <a:xfrm>
            <a:off x="1054308" y="2074531"/>
            <a:ext cx="479420" cy="215875"/>
          </a:xfrm>
          <a:custGeom>
            <a:avLst/>
            <a:gdLst/>
            <a:ahLst/>
            <a:cxnLst/>
            <a:rect l="l" t="t" r="r" b="b"/>
            <a:pathLst>
              <a:path w="479420" h="215875">
                <a:moveTo>
                  <a:pt x="0" y="0"/>
                </a:moveTo>
                <a:lnTo>
                  <a:pt x="479420" y="0"/>
                </a:lnTo>
                <a:lnTo>
                  <a:pt x="479420" y="215875"/>
                </a:lnTo>
                <a:lnTo>
                  <a:pt x="0" y="215875"/>
                </a:lnTo>
                <a:close/>
              </a:path>
            </a:pathLst>
          </a:custGeom>
          <a:solidFill>
            <a:srgbClr val="000000">
              <a:alpha val="0"/>
            </a:srgbClr>
          </a:solidFill>
          <a:ln/>
        </p:spPr>
      </p:sp>
      <p:sp>
        <p:nvSpPr>
          <p:cNvPr id="11" name="Text 7"/>
          <p:cNvSpPr/>
          <p:nvPr/>
        </p:nvSpPr>
        <p:spPr>
          <a:xfrm>
            <a:off x="1054308" y="2074531"/>
            <a:ext cx="479420" cy="215875"/>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12" name="Image 2" descr="./images\slide7_img73.png">    </p:cNvPr>
          <p:cNvPicPr>
            <a:picLocks noChangeAspect="1"/>
          </p:cNvPicPr>
          <p:nvPr/>
        </p:nvPicPr>
        <p:blipFill>
          <a:blip r:embed="rId3"/>
          <a:stretch>
            <a:fillRect/>
          </a:stretch>
        </p:blipFill>
        <p:spPr>
          <a:xfrm rot="-1020000">
            <a:off x="4361650" y="2004586"/>
            <a:ext cx="1018992" cy="1264684"/>
          </a:xfrm>
          <a:prstGeom prst="rect">
            <a:avLst/>
          </a:prstGeom>
        </p:spPr>
      </p:pic>
      <p:sp>
        <p:nvSpPr>
          <p:cNvPr id="13" name="Shape 8"/>
          <p:cNvSpPr/>
          <p:nvPr/>
        </p:nvSpPr>
        <p:spPr>
          <a:xfrm>
            <a:off x="998990" y="531999"/>
            <a:ext cx="7383349" cy="723900"/>
          </a:xfrm>
          <a:custGeom>
            <a:avLst/>
            <a:gdLst/>
            <a:ahLst/>
            <a:cxnLst/>
            <a:rect l="l" t="t" r="r" b="b"/>
            <a:pathLst>
              <a:path w="7383349" h="723900">
                <a:moveTo>
                  <a:pt x="0" y="0"/>
                </a:moveTo>
                <a:lnTo>
                  <a:pt x="7383349" y="0"/>
                </a:lnTo>
                <a:lnTo>
                  <a:pt x="7383349" y="723900"/>
                </a:lnTo>
                <a:lnTo>
                  <a:pt x="0" y="723900"/>
                </a:lnTo>
                <a:close/>
              </a:path>
            </a:pathLst>
          </a:custGeom>
          <a:solidFill>
            <a:srgbClr val="FFFFFF">
              <a:alpha val="0"/>
            </a:srgbClr>
          </a:solidFill>
          <a:ln/>
        </p:spPr>
      </p:sp>
      <p:sp>
        <p:nvSpPr>
          <p:cNvPr id="14" name="Text 9"/>
          <p:cNvSpPr/>
          <p:nvPr/>
        </p:nvSpPr>
        <p:spPr>
          <a:xfrm>
            <a:off x="998990" y="531999"/>
            <a:ext cx="7383349" cy="723900"/>
          </a:xfrm>
          <a:prstGeom prst="rect">
            <a:avLst/>
          </a:prstGeom>
          <a:noFill/>
          <a:ln/>
        </p:spPr>
        <p:txBody>
          <a:bodyPr wrap="square" rtlCol="0" anchor="t"/>
          <a:lstStyle/>
          <a:p>
            <a:pPr indent="0" marL="0">
              <a:spcBef>
                <a:spcPts val="375"/>
              </a:spcBef>
              <a:buNone/>
            </a:pPr>
            <a:endParaRPr lang="en-US" sz="1050" dirty="0"/>
          </a:p>
        </p:txBody>
      </p:sp>
      <p:sp>
        <p:nvSpPr>
          <p:cNvPr id="15" name="Shape 10"/>
          <p:cNvSpPr/>
          <p:nvPr/>
        </p:nvSpPr>
        <p:spPr>
          <a:xfrm>
            <a:off x="998990" y="531999"/>
            <a:ext cx="7383349" cy="723900"/>
          </a:xfrm>
          <a:custGeom>
            <a:avLst/>
            <a:gdLst/>
            <a:ahLst/>
            <a:cxnLst/>
            <a:rect l="l" t="t" r="r" b="b"/>
            <a:pathLst>
              <a:path w="7383349" h="723900">
                <a:moveTo>
                  <a:pt x="0" y="0"/>
                </a:moveTo>
                <a:lnTo>
                  <a:pt x="7383349" y="0"/>
                </a:lnTo>
                <a:lnTo>
                  <a:pt x="7383349" y="723900"/>
                </a:lnTo>
                <a:lnTo>
                  <a:pt x="0" y="723900"/>
                </a:lnTo>
                <a:close/>
              </a:path>
            </a:pathLst>
          </a:custGeom>
          <a:solidFill>
            <a:srgbClr val="000000">
              <a:alpha val="0"/>
            </a:srgbClr>
          </a:solidFill>
          <a:ln/>
        </p:spPr>
      </p:sp>
      <p:sp>
        <p:nvSpPr>
          <p:cNvPr id="16" name="Text 11"/>
          <p:cNvSpPr/>
          <p:nvPr/>
        </p:nvSpPr>
        <p:spPr>
          <a:xfrm>
            <a:off x="998990" y="531999"/>
            <a:ext cx="7383349" cy="723900"/>
          </a:xfrm>
          <a:prstGeom prst="rect">
            <a:avLst/>
          </a:prstGeom>
          <a:noFill/>
          <a:ln/>
        </p:spPr>
        <p:txBody>
          <a:bodyPr wrap="square" rtlCol="0" anchor="t"/>
          <a:lstStyle/>
          <a:p>
            <a:pPr algn="l" indent="0" marL="0">
              <a:spcBef>
                <a:spcPts val="375"/>
              </a:spcBef>
              <a:buNone/>
            </a:pPr>
            <a:r>
              <a:rPr lang="en-US" sz="4950" dirty="0">
                <a:solidFill>
                  <a:srgbClr val="45464D"/>
                </a:solidFill>
                <a:latin typeface="Caveat Brush" pitchFamily="34" charset="0"/>
                <a:ea typeface="Caveat Brush" pitchFamily="34" charset="-122"/>
                <a:cs typeface="Caveat Brush" pitchFamily="34" charset="-120"/>
              </a:rPr>
              <a:t>O'smalarni tasnifi</a:t>
            </a:r>
            <a:endParaRPr lang="en-US" sz="1050" dirty="0"/>
          </a:p>
        </p:txBody>
      </p:sp>
      <p:sp>
        <p:nvSpPr>
          <p:cNvPr id="17" name="Shape 12"/>
          <p:cNvSpPr/>
          <p:nvPr/>
        </p:nvSpPr>
        <p:spPr>
          <a:xfrm>
            <a:off x="1804873" y="2571750"/>
            <a:ext cx="2026586" cy="1802559"/>
          </a:xfrm>
          <a:custGeom>
            <a:avLst/>
            <a:gdLst/>
            <a:ahLst/>
            <a:cxnLst/>
            <a:rect l="l" t="t" r="r" b="b"/>
            <a:pathLst>
              <a:path w="2026586" h="1802559">
                <a:moveTo>
                  <a:pt x="0" y="0"/>
                </a:moveTo>
                <a:lnTo>
                  <a:pt x="2026586" y="0"/>
                </a:lnTo>
                <a:lnTo>
                  <a:pt x="2026586" y="1802559"/>
                </a:lnTo>
                <a:lnTo>
                  <a:pt x="0" y="1802559"/>
                </a:lnTo>
                <a:close/>
              </a:path>
            </a:pathLst>
          </a:custGeom>
          <a:solidFill>
            <a:srgbClr val="FFFFFF">
              <a:alpha val="0"/>
            </a:srgbClr>
          </a:solidFill>
          <a:ln/>
        </p:spPr>
      </p:sp>
      <p:sp>
        <p:nvSpPr>
          <p:cNvPr id="18" name="Text 13"/>
          <p:cNvSpPr/>
          <p:nvPr/>
        </p:nvSpPr>
        <p:spPr>
          <a:xfrm>
            <a:off x="1804873" y="2571750"/>
            <a:ext cx="2026586" cy="1802559"/>
          </a:xfrm>
          <a:prstGeom prst="rect">
            <a:avLst/>
          </a:prstGeom>
          <a:noFill/>
          <a:ln/>
        </p:spPr>
        <p:txBody>
          <a:bodyPr wrap="square" rtlCol="0" anchor="t"/>
          <a:lstStyle/>
          <a:p>
            <a:pPr indent="0" marL="0">
              <a:spcBef>
                <a:spcPts val="375"/>
              </a:spcBef>
              <a:buNone/>
            </a:pPr>
            <a:endParaRPr lang="en-US" sz="1050" dirty="0"/>
          </a:p>
        </p:txBody>
      </p:sp>
      <p:sp>
        <p:nvSpPr>
          <p:cNvPr id="19" name="Shape 14"/>
          <p:cNvSpPr/>
          <p:nvPr/>
        </p:nvSpPr>
        <p:spPr>
          <a:xfrm>
            <a:off x="1804873" y="2571750"/>
            <a:ext cx="2026586" cy="1802559"/>
          </a:xfrm>
          <a:custGeom>
            <a:avLst/>
            <a:gdLst/>
            <a:ahLst/>
            <a:cxnLst/>
            <a:rect l="l" t="t" r="r" b="b"/>
            <a:pathLst>
              <a:path w="2026586" h="1802559">
                <a:moveTo>
                  <a:pt x="0" y="0"/>
                </a:moveTo>
                <a:lnTo>
                  <a:pt x="2026586" y="0"/>
                </a:lnTo>
                <a:lnTo>
                  <a:pt x="2026586" y="1802559"/>
                </a:lnTo>
                <a:lnTo>
                  <a:pt x="0" y="1802559"/>
                </a:lnTo>
                <a:close/>
              </a:path>
            </a:pathLst>
          </a:custGeom>
          <a:solidFill>
            <a:srgbClr val="000000">
              <a:alpha val="0"/>
            </a:srgbClr>
          </a:solidFill>
          <a:ln/>
        </p:spPr>
      </p:sp>
      <p:sp>
        <p:nvSpPr>
          <p:cNvPr id="20" name="Text 15"/>
          <p:cNvSpPr/>
          <p:nvPr/>
        </p:nvSpPr>
        <p:spPr>
          <a:xfrm>
            <a:off x="1804873" y="2571750"/>
            <a:ext cx="2026586" cy="1802559"/>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O'smalarni tasnifi - bu o'simliklar dunyosini tushunish va o'rganish uchun muhim jarayon. Ular turli xillik, o'sish muhitlari va xususiyatlariga ko'ra guruhlanadi. Bunday tasniflash o'simliklarni tasniflash va bioxilma-xillikni saqlashga yordam beradi.</a:t>
            </a:r>
            <a:endParaRPr lang="en-US" sz="1050" dirty="0"/>
          </a:p>
        </p:txBody>
      </p:sp>
      <p:sp>
        <p:nvSpPr>
          <p:cNvPr id="21" name="Shape 16"/>
          <p:cNvSpPr/>
          <p:nvPr/>
        </p:nvSpPr>
        <p:spPr>
          <a:xfrm>
            <a:off x="1804873" y="2032584"/>
            <a:ext cx="2026586" cy="241399"/>
          </a:xfrm>
          <a:custGeom>
            <a:avLst/>
            <a:gdLst/>
            <a:ahLst/>
            <a:cxnLst/>
            <a:rect l="l" t="t" r="r" b="b"/>
            <a:pathLst>
              <a:path w="2026586" h="241399">
                <a:moveTo>
                  <a:pt x="0" y="0"/>
                </a:moveTo>
                <a:lnTo>
                  <a:pt x="2026586" y="0"/>
                </a:lnTo>
                <a:lnTo>
                  <a:pt x="2026586" y="241399"/>
                </a:lnTo>
                <a:lnTo>
                  <a:pt x="0" y="241399"/>
                </a:lnTo>
                <a:close/>
              </a:path>
            </a:pathLst>
          </a:custGeom>
          <a:solidFill>
            <a:srgbClr val="FFFFFF">
              <a:alpha val="0"/>
            </a:srgbClr>
          </a:solidFill>
          <a:ln/>
        </p:spPr>
      </p:sp>
      <p:sp>
        <p:nvSpPr>
          <p:cNvPr id="22" name="Text 17"/>
          <p:cNvSpPr/>
          <p:nvPr/>
        </p:nvSpPr>
        <p:spPr>
          <a:xfrm>
            <a:off x="1804873" y="2032584"/>
            <a:ext cx="2026586" cy="241399"/>
          </a:xfrm>
          <a:prstGeom prst="rect">
            <a:avLst/>
          </a:prstGeom>
          <a:noFill/>
          <a:ln/>
        </p:spPr>
        <p:txBody>
          <a:bodyPr wrap="square" rtlCol="0" anchor="t"/>
          <a:lstStyle/>
          <a:p>
            <a:pPr indent="0" marL="0">
              <a:spcBef>
                <a:spcPts val="375"/>
              </a:spcBef>
              <a:buNone/>
            </a:pPr>
            <a:endParaRPr lang="en-US" sz="1050" dirty="0"/>
          </a:p>
        </p:txBody>
      </p:sp>
      <p:sp>
        <p:nvSpPr>
          <p:cNvPr id="23" name="Shape 18"/>
          <p:cNvSpPr/>
          <p:nvPr/>
        </p:nvSpPr>
        <p:spPr>
          <a:xfrm>
            <a:off x="1804873" y="2032584"/>
            <a:ext cx="2026586" cy="241399"/>
          </a:xfrm>
          <a:custGeom>
            <a:avLst/>
            <a:gdLst/>
            <a:ahLst/>
            <a:cxnLst/>
            <a:rect l="l" t="t" r="r" b="b"/>
            <a:pathLst>
              <a:path w="2026586" h="241399">
                <a:moveTo>
                  <a:pt x="0" y="0"/>
                </a:moveTo>
                <a:lnTo>
                  <a:pt x="2026586" y="0"/>
                </a:lnTo>
                <a:lnTo>
                  <a:pt x="2026586" y="241399"/>
                </a:lnTo>
                <a:lnTo>
                  <a:pt x="0" y="241399"/>
                </a:lnTo>
                <a:close/>
              </a:path>
            </a:pathLst>
          </a:custGeom>
          <a:solidFill>
            <a:srgbClr val="000000">
              <a:alpha val="0"/>
            </a:srgbClr>
          </a:solidFill>
          <a:ln/>
        </p:spPr>
      </p:sp>
      <p:sp>
        <p:nvSpPr>
          <p:cNvPr id="24" name="Text 19"/>
          <p:cNvSpPr/>
          <p:nvPr/>
        </p:nvSpPr>
        <p:spPr>
          <a:xfrm>
            <a:off x="1804873" y="2032584"/>
            <a:ext cx="2026586" cy="241399"/>
          </a:xfrm>
          <a:prstGeom prst="rect">
            <a:avLst/>
          </a:prstGeom>
          <a:noFill/>
          <a:ln/>
        </p:spPr>
        <p:txBody>
          <a:bodyPr wrap="square" rtlCol="0" anchor="t"/>
          <a:lstStyle/>
          <a:p>
            <a:pPr algn="l" indent="0" marL="0">
              <a:spcBef>
                <a:spcPts val="375"/>
              </a:spcBef>
              <a:buNone/>
            </a:pPr>
            <a:r>
              <a:rPr lang="en-US" sz="1125" b="1" dirty="0">
                <a:solidFill>
                  <a:srgbClr val="000000"/>
                </a:solidFill>
                <a:latin typeface="Nunito" pitchFamily="34" charset="0"/>
                <a:ea typeface="Nunito" pitchFamily="34" charset="-122"/>
                <a:cs typeface="Nunito" pitchFamily="34" charset="-120"/>
              </a:rPr>
              <a:t>O'smalarni guruhlarga ajratish</a:t>
            </a:r>
            <a:endParaRPr lang="en-US" sz="1050" dirty="0"/>
          </a:p>
        </p:txBody>
      </p:sp>
      <p:pic>
        <p:nvPicPr>
          <p:cNvPr id="25" name="Image 3" descr="./images\slide7_img74.png">    </p:cNvPr>
          <p:cNvPicPr>
            <a:picLocks noChangeAspect="1"/>
          </p:cNvPicPr>
          <p:nvPr/>
        </p:nvPicPr>
        <p:blipFill>
          <a:blip r:embed="rId4"/>
          <a:stretch>
            <a:fillRect/>
          </a:stretch>
        </p:blipFill>
        <p:spPr>
          <a:xfrm>
            <a:off x="1112106" y="2144560"/>
            <a:ext cx="363823" cy="394680"/>
          </a:xfrm>
          <a:prstGeom prst="rect">
            <a:avLst/>
          </a:prstGeom>
        </p:spPr>
      </p:pic>
      <p:sp>
        <p:nvSpPr>
          <p:cNvPr id="26" name="Shape 20"/>
          <p:cNvSpPr/>
          <p:nvPr/>
        </p:nvSpPr>
        <p:spPr>
          <a:xfrm>
            <a:off x="1294018" y="1488574"/>
            <a:ext cx="363823" cy="394680"/>
          </a:xfrm>
          <a:custGeom>
            <a:avLst/>
            <a:gdLst/>
            <a:ahLst/>
            <a:cxnLst/>
            <a:rect l="l" t="t" r="r" b="b"/>
            <a:pathLst>
              <a:path w="363823" h="394680">
                <a:moveTo>
                  <a:pt x="0" y="0"/>
                </a:moveTo>
                <a:lnTo>
                  <a:pt x="363823" y="0"/>
                </a:lnTo>
                <a:lnTo>
                  <a:pt x="363823" y="394680"/>
                </a:lnTo>
                <a:lnTo>
                  <a:pt x="0" y="394680"/>
                </a:lnTo>
                <a:close/>
              </a:path>
            </a:pathLst>
          </a:custGeom>
          <a:solidFill>
            <a:srgbClr val="FFFFFF">
              <a:alpha val="0"/>
            </a:srgbClr>
          </a:solidFill>
          <a:ln/>
        </p:spPr>
      </p:sp>
      <p:sp>
        <p:nvSpPr>
          <p:cNvPr id="27" name="Text 21"/>
          <p:cNvSpPr/>
          <p:nvPr/>
        </p:nvSpPr>
        <p:spPr>
          <a:xfrm>
            <a:off x="1294018" y="1488574"/>
            <a:ext cx="363823" cy="394680"/>
          </a:xfrm>
          <a:prstGeom prst="rect">
            <a:avLst/>
          </a:prstGeom>
          <a:noFill/>
          <a:ln/>
        </p:spPr>
        <p:txBody>
          <a:bodyPr wrap="square" rtlCol="0" anchor="t"/>
          <a:lstStyle/>
          <a:p>
            <a:pPr indent="0" marL="0">
              <a:spcBef>
                <a:spcPts val="375"/>
              </a:spcBef>
              <a:buNone/>
            </a:pPr>
            <a:endParaRPr lang="en-US" sz="1050" dirty="0"/>
          </a:p>
        </p:txBody>
      </p:sp>
      <p:sp>
        <p:nvSpPr>
          <p:cNvPr id="28" name="Shape 22"/>
          <p:cNvSpPr/>
          <p:nvPr/>
        </p:nvSpPr>
        <p:spPr>
          <a:xfrm>
            <a:off x="1294018" y="1488574"/>
            <a:ext cx="363823" cy="394680"/>
          </a:xfrm>
          <a:custGeom>
            <a:avLst/>
            <a:gdLst/>
            <a:ahLst/>
            <a:cxnLst/>
            <a:rect l="l" t="t" r="r" b="b"/>
            <a:pathLst>
              <a:path w="363823" h="394680">
                <a:moveTo>
                  <a:pt x="0" y="0"/>
                </a:moveTo>
                <a:lnTo>
                  <a:pt x="363823" y="0"/>
                </a:lnTo>
                <a:lnTo>
                  <a:pt x="363823" y="394680"/>
                </a:lnTo>
                <a:lnTo>
                  <a:pt x="0" y="394680"/>
                </a:lnTo>
                <a:close/>
              </a:path>
            </a:pathLst>
          </a:custGeom>
          <a:solidFill>
            <a:srgbClr val="000000">
              <a:alpha val="0"/>
            </a:srgbClr>
          </a:solidFill>
          <a:ln/>
        </p:spPr>
      </p:sp>
      <p:sp>
        <p:nvSpPr>
          <p:cNvPr id="29" name="Text 23"/>
          <p:cNvSpPr/>
          <p:nvPr/>
        </p:nvSpPr>
        <p:spPr>
          <a:xfrm>
            <a:off x="1294018" y="1488574"/>
            <a:ext cx="363823" cy="394680"/>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30" name="Image 4" descr="./images\slide7_img75.png">    </p:cNvPr>
          <p:cNvPicPr>
            <a:picLocks noChangeAspect="1"/>
          </p:cNvPicPr>
          <p:nvPr/>
        </p:nvPicPr>
        <p:blipFill>
          <a:blip r:embed="rId5"/>
          <a:stretch>
            <a:fillRect/>
          </a:stretch>
        </p:blipFill>
        <p:spPr>
          <a:xfrm>
            <a:off x="5830897" y="2044376"/>
            <a:ext cx="590056" cy="590056"/>
          </a:xfrm>
          <a:prstGeom prst="rect">
            <a:avLst/>
          </a:prstGeom>
        </p:spPr>
      </p:pic>
      <p:sp>
        <p:nvSpPr>
          <p:cNvPr id="31" name="Shape 24"/>
          <p:cNvSpPr/>
          <p:nvPr/>
        </p:nvSpPr>
        <p:spPr>
          <a:xfrm>
            <a:off x="5830897" y="2044376"/>
            <a:ext cx="590056" cy="590056"/>
          </a:xfrm>
          <a:custGeom>
            <a:avLst/>
            <a:gdLst/>
            <a:ahLst/>
            <a:cxnLst/>
            <a:rect l="l" t="t" r="r" b="b"/>
            <a:pathLst>
              <a:path w="590056" h="590056">
                <a:moveTo>
                  <a:pt x="0" y="0"/>
                </a:moveTo>
                <a:lnTo>
                  <a:pt x="590056" y="0"/>
                </a:lnTo>
                <a:lnTo>
                  <a:pt x="590056" y="590056"/>
                </a:lnTo>
                <a:lnTo>
                  <a:pt x="0" y="590056"/>
                </a:lnTo>
                <a:close/>
              </a:path>
            </a:pathLst>
          </a:custGeom>
          <a:solidFill>
            <a:srgbClr val="FFFFFF">
              <a:alpha val="0"/>
            </a:srgbClr>
          </a:solidFill>
          <a:ln/>
        </p:spPr>
      </p:sp>
      <p:sp>
        <p:nvSpPr>
          <p:cNvPr id="32" name="Text 25"/>
          <p:cNvSpPr/>
          <p:nvPr/>
        </p:nvSpPr>
        <p:spPr>
          <a:xfrm>
            <a:off x="5830897" y="2044376"/>
            <a:ext cx="590056" cy="590056"/>
          </a:xfrm>
          <a:prstGeom prst="rect">
            <a:avLst/>
          </a:prstGeom>
          <a:noFill/>
          <a:ln/>
        </p:spPr>
        <p:txBody>
          <a:bodyPr wrap="square" rtlCol="0" anchor="t"/>
          <a:lstStyle/>
          <a:p>
            <a:pPr indent="0" marL="0">
              <a:spcBef>
                <a:spcPts val="375"/>
              </a:spcBef>
              <a:buNone/>
            </a:pPr>
            <a:endParaRPr lang="en-US" sz="1050" dirty="0"/>
          </a:p>
        </p:txBody>
      </p:sp>
      <p:sp>
        <p:nvSpPr>
          <p:cNvPr id="33" name="Shape 26"/>
          <p:cNvSpPr/>
          <p:nvPr/>
        </p:nvSpPr>
        <p:spPr>
          <a:xfrm>
            <a:off x="5830897" y="2044376"/>
            <a:ext cx="590056" cy="590056"/>
          </a:xfrm>
          <a:custGeom>
            <a:avLst/>
            <a:gdLst/>
            <a:ahLst/>
            <a:cxnLst/>
            <a:rect l="l" t="t" r="r" b="b"/>
            <a:pathLst>
              <a:path w="590056" h="590056">
                <a:moveTo>
                  <a:pt x="0" y="0"/>
                </a:moveTo>
                <a:lnTo>
                  <a:pt x="590056" y="0"/>
                </a:lnTo>
                <a:lnTo>
                  <a:pt x="590056" y="590056"/>
                </a:lnTo>
                <a:lnTo>
                  <a:pt x="0" y="590056"/>
                </a:lnTo>
                <a:close/>
              </a:path>
            </a:pathLst>
          </a:custGeom>
          <a:solidFill>
            <a:srgbClr val="000000">
              <a:alpha val="0"/>
            </a:srgbClr>
          </a:solidFill>
          <a:ln/>
        </p:spPr>
      </p:sp>
      <p:sp>
        <p:nvSpPr>
          <p:cNvPr id="34" name="Text 27"/>
          <p:cNvSpPr/>
          <p:nvPr/>
        </p:nvSpPr>
        <p:spPr>
          <a:xfrm>
            <a:off x="5830897" y="2044376"/>
            <a:ext cx="590056" cy="590056"/>
          </a:xfrm>
          <a:prstGeom prst="rect">
            <a:avLst/>
          </a:prstGeom>
          <a:noFill/>
          <a:ln/>
        </p:spPr>
        <p:txBody>
          <a:bodyPr wrap="square" rtlCol="0" anchor="ctr"/>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sp>
        <p:nvSpPr>
          <p:cNvPr id="35" name="Shape 28"/>
          <p:cNvSpPr/>
          <p:nvPr/>
        </p:nvSpPr>
        <p:spPr>
          <a:xfrm>
            <a:off x="5886215" y="2072035"/>
            <a:ext cx="479420" cy="215875"/>
          </a:xfrm>
          <a:custGeom>
            <a:avLst/>
            <a:gdLst/>
            <a:ahLst/>
            <a:cxnLst/>
            <a:rect l="l" t="t" r="r" b="b"/>
            <a:pathLst>
              <a:path w="479420" h="215875">
                <a:moveTo>
                  <a:pt x="0" y="0"/>
                </a:moveTo>
                <a:lnTo>
                  <a:pt x="479420" y="0"/>
                </a:lnTo>
                <a:lnTo>
                  <a:pt x="479420" y="215875"/>
                </a:lnTo>
                <a:lnTo>
                  <a:pt x="0" y="215875"/>
                </a:lnTo>
                <a:close/>
              </a:path>
            </a:pathLst>
          </a:custGeom>
          <a:solidFill>
            <a:srgbClr val="FFFFFF">
              <a:alpha val="0"/>
            </a:srgbClr>
          </a:solidFill>
          <a:ln/>
        </p:spPr>
      </p:sp>
      <p:sp>
        <p:nvSpPr>
          <p:cNvPr id="36" name="Text 29"/>
          <p:cNvSpPr/>
          <p:nvPr/>
        </p:nvSpPr>
        <p:spPr>
          <a:xfrm>
            <a:off x="5886215" y="2072035"/>
            <a:ext cx="479420" cy="215875"/>
          </a:xfrm>
          <a:prstGeom prst="rect">
            <a:avLst/>
          </a:prstGeom>
          <a:noFill/>
          <a:ln/>
        </p:spPr>
        <p:txBody>
          <a:bodyPr wrap="square" rtlCol="0" anchor="t"/>
          <a:lstStyle/>
          <a:p>
            <a:pPr indent="0" marL="0">
              <a:spcBef>
                <a:spcPts val="375"/>
              </a:spcBef>
              <a:buNone/>
            </a:pPr>
            <a:endParaRPr lang="en-US" sz="1050" dirty="0"/>
          </a:p>
        </p:txBody>
      </p:sp>
      <p:sp>
        <p:nvSpPr>
          <p:cNvPr id="37" name="Shape 30"/>
          <p:cNvSpPr/>
          <p:nvPr/>
        </p:nvSpPr>
        <p:spPr>
          <a:xfrm>
            <a:off x="5886215" y="2072035"/>
            <a:ext cx="479420" cy="215875"/>
          </a:xfrm>
          <a:custGeom>
            <a:avLst/>
            <a:gdLst/>
            <a:ahLst/>
            <a:cxnLst/>
            <a:rect l="l" t="t" r="r" b="b"/>
            <a:pathLst>
              <a:path w="479420" h="215875">
                <a:moveTo>
                  <a:pt x="0" y="0"/>
                </a:moveTo>
                <a:lnTo>
                  <a:pt x="479420" y="0"/>
                </a:lnTo>
                <a:lnTo>
                  <a:pt x="479420" y="215875"/>
                </a:lnTo>
                <a:lnTo>
                  <a:pt x="0" y="215875"/>
                </a:lnTo>
                <a:close/>
              </a:path>
            </a:pathLst>
          </a:custGeom>
          <a:solidFill>
            <a:srgbClr val="000000">
              <a:alpha val="0"/>
            </a:srgbClr>
          </a:solidFill>
          <a:ln/>
        </p:spPr>
      </p:sp>
      <p:sp>
        <p:nvSpPr>
          <p:cNvPr id="38" name="Text 31"/>
          <p:cNvSpPr/>
          <p:nvPr/>
        </p:nvSpPr>
        <p:spPr>
          <a:xfrm>
            <a:off x="5886215" y="2072035"/>
            <a:ext cx="479420" cy="215875"/>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sp>
        <p:nvSpPr>
          <p:cNvPr id="39" name="Shape 32"/>
          <p:cNvSpPr/>
          <p:nvPr/>
        </p:nvSpPr>
        <p:spPr>
          <a:xfrm>
            <a:off x="6636780" y="2396989"/>
            <a:ext cx="2026586" cy="1294639"/>
          </a:xfrm>
          <a:custGeom>
            <a:avLst/>
            <a:gdLst/>
            <a:ahLst/>
            <a:cxnLst/>
            <a:rect l="l" t="t" r="r" b="b"/>
            <a:pathLst>
              <a:path w="2026586" h="1294639">
                <a:moveTo>
                  <a:pt x="0" y="0"/>
                </a:moveTo>
                <a:lnTo>
                  <a:pt x="2026586" y="0"/>
                </a:lnTo>
                <a:lnTo>
                  <a:pt x="2026586" y="1294639"/>
                </a:lnTo>
                <a:lnTo>
                  <a:pt x="0" y="1294639"/>
                </a:lnTo>
                <a:close/>
              </a:path>
            </a:pathLst>
          </a:custGeom>
          <a:solidFill>
            <a:srgbClr val="FFFFFF">
              <a:alpha val="0"/>
            </a:srgbClr>
          </a:solidFill>
          <a:ln/>
        </p:spPr>
      </p:sp>
      <p:sp>
        <p:nvSpPr>
          <p:cNvPr id="40" name="Text 33"/>
          <p:cNvSpPr/>
          <p:nvPr/>
        </p:nvSpPr>
        <p:spPr>
          <a:xfrm>
            <a:off x="6636780" y="2396989"/>
            <a:ext cx="2026586" cy="1294639"/>
          </a:xfrm>
          <a:prstGeom prst="rect">
            <a:avLst/>
          </a:prstGeom>
          <a:noFill/>
          <a:ln/>
        </p:spPr>
        <p:txBody>
          <a:bodyPr wrap="square" rtlCol="0" anchor="t"/>
          <a:lstStyle/>
          <a:p>
            <a:pPr indent="0" marL="0">
              <a:spcBef>
                <a:spcPts val="375"/>
              </a:spcBef>
              <a:buNone/>
            </a:pPr>
            <a:endParaRPr lang="en-US" sz="1050" dirty="0"/>
          </a:p>
        </p:txBody>
      </p:sp>
      <p:sp>
        <p:nvSpPr>
          <p:cNvPr id="41" name="Shape 34"/>
          <p:cNvSpPr/>
          <p:nvPr/>
        </p:nvSpPr>
        <p:spPr>
          <a:xfrm>
            <a:off x="6636780" y="2396989"/>
            <a:ext cx="2026586" cy="1294639"/>
          </a:xfrm>
          <a:custGeom>
            <a:avLst/>
            <a:gdLst/>
            <a:ahLst/>
            <a:cxnLst/>
            <a:rect l="l" t="t" r="r" b="b"/>
            <a:pathLst>
              <a:path w="2026586" h="1294639">
                <a:moveTo>
                  <a:pt x="0" y="0"/>
                </a:moveTo>
                <a:lnTo>
                  <a:pt x="2026586" y="0"/>
                </a:lnTo>
                <a:lnTo>
                  <a:pt x="2026586" y="1294639"/>
                </a:lnTo>
                <a:lnTo>
                  <a:pt x="0" y="1294639"/>
                </a:lnTo>
                <a:close/>
              </a:path>
            </a:pathLst>
          </a:custGeom>
          <a:solidFill>
            <a:srgbClr val="000000">
              <a:alpha val="0"/>
            </a:srgbClr>
          </a:solidFill>
          <a:ln/>
        </p:spPr>
      </p:sp>
      <p:sp>
        <p:nvSpPr>
          <p:cNvPr id="42" name="Text 35"/>
          <p:cNvSpPr/>
          <p:nvPr/>
        </p:nvSpPr>
        <p:spPr>
          <a:xfrm>
            <a:off x="6636780" y="2396989"/>
            <a:ext cx="2026586" cy="1294639"/>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O'smalarni tasnifi asosan morfologik, anatomik va ekologik xususiyatlariga ko'ra amalga oshiriladi. Har bir o'simlik turi o'ziga xos xususiyatlarga ega bo'lib, ularni o'zaro farqlash imkonini beradi.</a:t>
            </a:r>
            <a:endParaRPr lang="en-US" sz="1050" dirty="0"/>
          </a:p>
        </p:txBody>
      </p:sp>
      <p:sp>
        <p:nvSpPr>
          <p:cNvPr id="43" name="Shape 36"/>
          <p:cNvSpPr/>
          <p:nvPr/>
        </p:nvSpPr>
        <p:spPr>
          <a:xfrm>
            <a:off x="6636780" y="2030089"/>
            <a:ext cx="2026586" cy="241399"/>
          </a:xfrm>
          <a:custGeom>
            <a:avLst/>
            <a:gdLst/>
            <a:ahLst/>
            <a:cxnLst/>
            <a:rect l="l" t="t" r="r" b="b"/>
            <a:pathLst>
              <a:path w="2026586" h="241399">
                <a:moveTo>
                  <a:pt x="0" y="0"/>
                </a:moveTo>
                <a:lnTo>
                  <a:pt x="2026586" y="0"/>
                </a:lnTo>
                <a:lnTo>
                  <a:pt x="2026586" y="241399"/>
                </a:lnTo>
                <a:lnTo>
                  <a:pt x="0" y="241399"/>
                </a:lnTo>
                <a:close/>
              </a:path>
            </a:pathLst>
          </a:custGeom>
          <a:solidFill>
            <a:srgbClr val="FFFFFF">
              <a:alpha val="0"/>
            </a:srgbClr>
          </a:solidFill>
          <a:ln/>
        </p:spPr>
      </p:sp>
      <p:sp>
        <p:nvSpPr>
          <p:cNvPr id="44" name="Text 37"/>
          <p:cNvSpPr/>
          <p:nvPr/>
        </p:nvSpPr>
        <p:spPr>
          <a:xfrm>
            <a:off x="6636780" y="2030089"/>
            <a:ext cx="2026586" cy="241399"/>
          </a:xfrm>
          <a:prstGeom prst="rect">
            <a:avLst/>
          </a:prstGeom>
          <a:noFill/>
          <a:ln/>
        </p:spPr>
        <p:txBody>
          <a:bodyPr wrap="square" rtlCol="0" anchor="t"/>
          <a:lstStyle/>
          <a:p>
            <a:pPr indent="0" marL="0">
              <a:spcBef>
                <a:spcPts val="375"/>
              </a:spcBef>
              <a:buNone/>
            </a:pPr>
            <a:endParaRPr lang="en-US" sz="1050" dirty="0"/>
          </a:p>
        </p:txBody>
      </p:sp>
      <p:sp>
        <p:nvSpPr>
          <p:cNvPr id="45" name="Shape 38"/>
          <p:cNvSpPr/>
          <p:nvPr/>
        </p:nvSpPr>
        <p:spPr>
          <a:xfrm>
            <a:off x="6636780" y="2030089"/>
            <a:ext cx="2026586" cy="241399"/>
          </a:xfrm>
          <a:custGeom>
            <a:avLst/>
            <a:gdLst/>
            <a:ahLst/>
            <a:cxnLst/>
            <a:rect l="l" t="t" r="r" b="b"/>
            <a:pathLst>
              <a:path w="2026586" h="241399">
                <a:moveTo>
                  <a:pt x="0" y="0"/>
                </a:moveTo>
                <a:lnTo>
                  <a:pt x="2026586" y="0"/>
                </a:lnTo>
                <a:lnTo>
                  <a:pt x="2026586" y="241399"/>
                </a:lnTo>
                <a:lnTo>
                  <a:pt x="0" y="241399"/>
                </a:lnTo>
                <a:close/>
              </a:path>
            </a:pathLst>
          </a:custGeom>
          <a:solidFill>
            <a:srgbClr val="000000">
              <a:alpha val="0"/>
            </a:srgbClr>
          </a:solidFill>
          <a:ln/>
        </p:spPr>
      </p:sp>
      <p:sp>
        <p:nvSpPr>
          <p:cNvPr id="46" name="Text 39"/>
          <p:cNvSpPr/>
          <p:nvPr/>
        </p:nvSpPr>
        <p:spPr>
          <a:xfrm>
            <a:off x="6636780" y="2030089"/>
            <a:ext cx="2026586" cy="241399"/>
          </a:xfrm>
          <a:prstGeom prst="rect">
            <a:avLst/>
          </a:prstGeom>
          <a:noFill/>
          <a:ln/>
        </p:spPr>
        <p:txBody>
          <a:bodyPr wrap="square" rtlCol="0" anchor="t"/>
          <a:lstStyle/>
          <a:p>
            <a:pPr algn="l" indent="0" marL="0">
              <a:spcBef>
                <a:spcPts val="375"/>
              </a:spcBef>
              <a:buNone/>
            </a:pPr>
            <a:r>
              <a:rPr lang="en-US" sz="1125" b="1" dirty="0">
                <a:solidFill>
                  <a:srgbClr val="000000"/>
                </a:solidFill>
                <a:latin typeface="Nunito" pitchFamily="34" charset="0"/>
                <a:ea typeface="Nunito" pitchFamily="34" charset="-122"/>
                <a:cs typeface="Nunito" pitchFamily="34" charset="-120"/>
              </a:rPr>
              <a:t>Tasniflashda asosiy tushunchalar</a:t>
            </a:r>
            <a:endParaRPr lang="en-US" sz="1050" dirty="0"/>
          </a:p>
        </p:txBody>
      </p:sp>
      <p:pic>
        <p:nvPicPr>
          <p:cNvPr id="47" name="Image 5" descr="./images\slide7_img76.png">    </p:cNvPr>
          <p:cNvPicPr>
            <a:picLocks noChangeAspect="1"/>
          </p:cNvPicPr>
          <p:nvPr/>
        </p:nvPicPr>
        <p:blipFill>
          <a:blip r:embed="rId6"/>
          <a:stretch>
            <a:fillRect/>
          </a:stretch>
        </p:blipFill>
        <p:spPr>
          <a:xfrm>
            <a:off x="5953101" y="2164353"/>
            <a:ext cx="345646" cy="350102"/>
          </a:xfrm>
          <a:prstGeom prst="rect">
            <a:avLst/>
          </a:prstGeom>
        </p:spPr>
      </p:pic>
      <p:pic>
        <p:nvPicPr>
          <p:cNvPr id="48" name="Image 6" descr="./images\slide7_img77.png">    </p:cNvPr>
          <p:cNvPicPr>
            <a:picLocks noChangeAspect="1"/>
          </p:cNvPicPr>
          <p:nvPr/>
        </p:nvPicPr>
        <p:blipFill>
          <a:blip r:embed="rId7"/>
          <a:stretch>
            <a:fillRect/>
          </a:stretch>
        </p:blipFill>
        <p:spPr>
          <a:xfrm>
            <a:off x="3274429" y="4092459"/>
            <a:ext cx="590056" cy="590056"/>
          </a:xfrm>
          <a:prstGeom prst="rect">
            <a:avLst/>
          </a:prstGeom>
        </p:spPr>
      </p:pic>
      <p:sp>
        <p:nvSpPr>
          <p:cNvPr id="49" name="Shape 40"/>
          <p:cNvSpPr/>
          <p:nvPr/>
        </p:nvSpPr>
        <p:spPr>
          <a:xfrm>
            <a:off x="3274429" y="4092459"/>
            <a:ext cx="590056" cy="590056"/>
          </a:xfrm>
          <a:custGeom>
            <a:avLst/>
            <a:gdLst/>
            <a:ahLst/>
            <a:cxnLst/>
            <a:rect l="l" t="t" r="r" b="b"/>
            <a:pathLst>
              <a:path w="590056" h="590056">
                <a:moveTo>
                  <a:pt x="0" y="0"/>
                </a:moveTo>
                <a:lnTo>
                  <a:pt x="590056" y="0"/>
                </a:lnTo>
                <a:lnTo>
                  <a:pt x="590056" y="590056"/>
                </a:lnTo>
                <a:lnTo>
                  <a:pt x="0" y="590056"/>
                </a:lnTo>
                <a:close/>
              </a:path>
            </a:pathLst>
          </a:custGeom>
          <a:solidFill>
            <a:srgbClr val="FFFFFF">
              <a:alpha val="0"/>
            </a:srgbClr>
          </a:solidFill>
          <a:ln/>
        </p:spPr>
      </p:sp>
      <p:sp>
        <p:nvSpPr>
          <p:cNvPr id="50" name="Text 41"/>
          <p:cNvSpPr/>
          <p:nvPr/>
        </p:nvSpPr>
        <p:spPr>
          <a:xfrm>
            <a:off x="3274429" y="4092459"/>
            <a:ext cx="590056" cy="590056"/>
          </a:xfrm>
          <a:prstGeom prst="rect">
            <a:avLst/>
          </a:prstGeom>
          <a:noFill/>
          <a:ln/>
        </p:spPr>
        <p:txBody>
          <a:bodyPr wrap="square" rtlCol="0" anchor="t"/>
          <a:lstStyle/>
          <a:p>
            <a:pPr indent="0" marL="0">
              <a:spcBef>
                <a:spcPts val="375"/>
              </a:spcBef>
              <a:buNone/>
            </a:pPr>
            <a:endParaRPr lang="en-US" sz="1050" dirty="0"/>
          </a:p>
        </p:txBody>
      </p:sp>
      <p:sp>
        <p:nvSpPr>
          <p:cNvPr id="51" name="Shape 42"/>
          <p:cNvSpPr/>
          <p:nvPr/>
        </p:nvSpPr>
        <p:spPr>
          <a:xfrm>
            <a:off x="3274429" y="4092459"/>
            <a:ext cx="590056" cy="590056"/>
          </a:xfrm>
          <a:custGeom>
            <a:avLst/>
            <a:gdLst/>
            <a:ahLst/>
            <a:cxnLst/>
            <a:rect l="l" t="t" r="r" b="b"/>
            <a:pathLst>
              <a:path w="590056" h="590056">
                <a:moveTo>
                  <a:pt x="0" y="0"/>
                </a:moveTo>
                <a:lnTo>
                  <a:pt x="590056" y="0"/>
                </a:lnTo>
                <a:lnTo>
                  <a:pt x="590056" y="590056"/>
                </a:lnTo>
                <a:lnTo>
                  <a:pt x="0" y="590056"/>
                </a:lnTo>
                <a:close/>
              </a:path>
            </a:pathLst>
          </a:custGeom>
          <a:solidFill>
            <a:srgbClr val="000000">
              <a:alpha val="0"/>
            </a:srgbClr>
          </a:solidFill>
          <a:ln/>
        </p:spPr>
      </p:sp>
      <p:sp>
        <p:nvSpPr>
          <p:cNvPr id="52" name="Text 43"/>
          <p:cNvSpPr/>
          <p:nvPr/>
        </p:nvSpPr>
        <p:spPr>
          <a:xfrm>
            <a:off x="3274429" y="4092459"/>
            <a:ext cx="590056" cy="590056"/>
          </a:xfrm>
          <a:prstGeom prst="rect">
            <a:avLst/>
          </a:prstGeom>
          <a:noFill/>
          <a:ln/>
        </p:spPr>
        <p:txBody>
          <a:bodyPr wrap="square" rtlCol="0" anchor="ctr"/>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sp>
        <p:nvSpPr>
          <p:cNvPr id="53" name="Shape 44"/>
          <p:cNvSpPr/>
          <p:nvPr/>
        </p:nvSpPr>
        <p:spPr>
          <a:xfrm>
            <a:off x="3329747" y="4120118"/>
            <a:ext cx="479420" cy="215875"/>
          </a:xfrm>
          <a:custGeom>
            <a:avLst/>
            <a:gdLst/>
            <a:ahLst/>
            <a:cxnLst/>
            <a:rect l="l" t="t" r="r" b="b"/>
            <a:pathLst>
              <a:path w="479420" h="215875">
                <a:moveTo>
                  <a:pt x="0" y="0"/>
                </a:moveTo>
                <a:lnTo>
                  <a:pt x="479420" y="0"/>
                </a:lnTo>
                <a:lnTo>
                  <a:pt x="479420" y="215875"/>
                </a:lnTo>
                <a:lnTo>
                  <a:pt x="0" y="215875"/>
                </a:lnTo>
                <a:close/>
              </a:path>
            </a:pathLst>
          </a:custGeom>
          <a:solidFill>
            <a:srgbClr val="FFFFFF">
              <a:alpha val="0"/>
            </a:srgbClr>
          </a:solidFill>
          <a:ln/>
        </p:spPr>
      </p:sp>
      <p:sp>
        <p:nvSpPr>
          <p:cNvPr id="54" name="Text 45"/>
          <p:cNvSpPr/>
          <p:nvPr/>
        </p:nvSpPr>
        <p:spPr>
          <a:xfrm>
            <a:off x="3329747" y="4120118"/>
            <a:ext cx="479420" cy="215875"/>
          </a:xfrm>
          <a:prstGeom prst="rect">
            <a:avLst/>
          </a:prstGeom>
          <a:noFill/>
          <a:ln/>
        </p:spPr>
        <p:txBody>
          <a:bodyPr wrap="square" rtlCol="0" anchor="t"/>
          <a:lstStyle/>
          <a:p>
            <a:pPr indent="0" marL="0">
              <a:spcBef>
                <a:spcPts val="375"/>
              </a:spcBef>
              <a:buNone/>
            </a:pPr>
            <a:endParaRPr lang="en-US" sz="1050" dirty="0"/>
          </a:p>
        </p:txBody>
      </p:sp>
      <p:sp>
        <p:nvSpPr>
          <p:cNvPr id="55" name="Shape 46"/>
          <p:cNvSpPr/>
          <p:nvPr/>
        </p:nvSpPr>
        <p:spPr>
          <a:xfrm>
            <a:off x="3329747" y="4120118"/>
            <a:ext cx="479420" cy="215875"/>
          </a:xfrm>
          <a:custGeom>
            <a:avLst/>
            <a:gdLst/>
            <a:ahLst/>
            <a:cxnLst/>
            <a:rect l="l" t="t" r="r" b="b"/>
            <a:pathLst>
              <a:path w="479420" h="215875">
                <a:moveTo>
                  <a:pt x="0" y="0"/>
                </a:moveTo>
                <a:lnTo>
                  <a:pt x="479420" y="0"/>
                </a:lnTo>
                <a:lnTo>
                  <a:pt x="479420" y="215875"/>
                </a:lnTo>
                <a:lnTo>
                  <a:pt x="0" y="215875"/>
                </a:lnTo>
                <a:close/>
              </a:path>
            </a:pathLst>
          </a:custGeom>
          <a:solidFill>
            <a:srgbClr val="000000">
              <a:alpha val="0"/>
            </a:srgbClr>
          </a:solidFill>
          <a:ln/>
        </p:spPr>
      </p:sp>
      <p:sp>
        <p:nvSpPr>
          <p:cNvPr id="56" name="Text 47"/>
          <p:cNvSpPr/>
          <p:nvPr/>
        </p:nvSpPr>
        <p:spPr>
          <a:xfrm>
            <a:off x="3329747" y="4120118"/>
            <a:ext cx="479420" cy="215875"/>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sp>
        <p:nvSpPr>
          <p:cNvPr id="57" name="Shape 48"/>
          <p:cNvSpPr/>
          <p:nvPr/>
        </p:nvSpPr>
        <p:spPr>
          <a:xfrm>
            <a:off x="4080313" y="4335487"/>
            <a:ext cx="3243423" cy="857523"/>
          </a:xfrm>
          <a:custGeom>
            <a:avLst/>
            <a:gdLst/>
            <a:ahLst/>
            <a:cxnLst/>
            <a:rect l="l" t="t" r="r" b="b"/>
            <a:pathLst>
              <a:path w="3243423" h="857523">
                <a:moveTo>
                  <a:pt x="0" y="0"/>
                </a:moveTo>
                <a:lnTo>
                  <a:pt x="3243423" y="0"/>
                </a:lnTo>
                <a:lnTo>
                  <a:pt x="3243423" y="857523"/>
                </a:lnTo>
                <a:lnTo>
                  <a:pt x="0" y="857523"/>
                </a:lnTo>
                <a:close/>
              </a:path>
            </a:pathLst>
          </a:custGeom>
          <a:solidFill>
            <a:srgbClr val="FFFFFF">
              <a:alpha val="0"/>
            </a:srgbClr>
          </a:solidFill>
          <a:ln/>
        </p:spPr>
      </p:sp>
      <p:sp>
        <p:nvSpPr>
          <p:cNvPr id="58" name="Text 49"/>
          <p:cNvSpPr/>
          <p:nvPr/>
        </p:nvSpPr>
        <p:spPr>
          <a:xfrm>
            <a:off x="4080313" y="4335487"/>
            <a:ext cx="3243423" cy="857523"/>
          </a:xfrm>
          <a:prstGeom prst="rect">
            <a:avLst/>
          </a:prstGeom>
          <a:noFill/>
          <a:ln/>
        </p:spPr>
        <p:txBody>
          <a:bodyPr wrap="square" rtlCol="0" anchor="t"/>
          <a:lstStyle/>
          <a:p>
            <a:pPr indent="0" marL="0">
              <a:spcBef>
                <a:spcPts val="375"/>
              </a:spcBef>
              <a:buNone/>
            </a:pPr>
            <a:endParaRPr lang="en-US" sz="1050" dirty="0"/>
          </a:p>
        </p:txBody>
      </p:sp>
      <p:sp>
        <p:nvSpPr>
          <p:cNvPr id="59" name="Shape 50"/>
          <p:cNvSpPr/>
          <p:nvPr/>
        </p:nvSpPr>
        <p:spPr>
          <a:xfrm>
            <a:off x="4080313" y="4335487"/>
            <a:ext cx="3243423" cy="857523"/>
          </a:xfrm>
          <a:custGeom>
            <a:avLst/>
            <a:gdLst/>
            <a:ahLst/>
            <a:cxnLst/>
            <a:rect l="l" t="t" r="r" b="b"/>
            <a:pathLst>
              <a:path w="3243423" h="857523">
                <a:moveTo>
                  <a:pt x="0" y="0"/>
                </a:moveTo>
                <a:lnTo>
                  <a:pt x="3243423" y="0"/>
                </a:lnTo>
                <a:lnTo>
                  <a:pt x="3243423" y="857523"/>
                </a:lnTo>
                <a:lnTo>
                  <a:pt x="0" y="857523"/>
                </a:lnTo>
                <a:close/>
              </a:path>
            </a:pathLst>
          </a:custGeom>
          <a:solidFill>
            <a:srgbClr val="000000">
              <a:alpha val="0"/>
            </a:srgbClr>
          </a:solidFill>
          <a:ln/>
        </p:spPr>
      </p:sp>
      <p:sp>
        <p:nvSpPr>
          <p:cNvPr id="60" name="Text 51"/>
          <p:cNvSpPr/>
          <p:nvPr/>
        </p:nvSpPr>
        <p:spPr>
          <a:xfrm>
            <a:off x="4080313" y="4335487"/>
            <a:ext cx="3243423" cy="857523"/>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O'smalarni tasnifi quyidagi asosiy tushunchalarga asoslanadi: taxonomiya, filogeniya, va morfologiya. Bu tushunchalar asosida o'simliklar o'zaro bog'lanishi va rivojlanish tarixini o'rganish mumkin.</a:t>
            </a:r>
            <a:endParaRPr lang="en-US" sz="1050" dirty="0"/>
          </a:p>
        </p:txBody>
      </p:sp>
      <p:sp>
        <p:nvSpPr>
          <p:cNvPr id="61" name="Shape 52"/>
          <p:cNvSpPr/>
          <p:nvPr/>
        </p:nvSpPr>
        <p:spPr>
          <a:xfrm>
            <a:off x="4080313" y="4078171"/>
            <a:ext cx="3042586" cy="241399"/>
          </a:xfrm>
          <a:custGeom>
            <a:avLst/>
            <a:gdLst/>
            <a:ahLst/>
            <a:cxnLst/>
            <a:rect l="l" t="t" r="r" b="b"/>
            <a:pathLst>
              <a:path w="3042586" h="241399">
                <a:moveTo>
                  <a:pt x="0" y="0"/>
                </a:moveTo>
                <a:lnTo>
                  <a:pt x="3042586" y="0"/>
                </a:lnTo>
                <a:lnTo>
                  <a:pt x="3042586" y="241399"/>
                </a:lnTo>
                <a:lnTo>
                  <a:pt x="0" y="241399"/>
                </a:lnTo>
                <a:close/>
              </a:path>
            </a:pathLst>
          </a:custGeom>
          <a:solidFill>
            <a:srgbClr val="FFFFFF">
              <a:alpha val="0"/>
            </a:srgbClr>
          </a:solidFill>
          <a:ln/>
        </p:spPr>
      </p:sp>
      <p:sp>
        <p:nvSpPr>
          <p:cNvPr id="62" name="Text 53"/>
          <p:cNvSpPr/>
          <p:nvPr/>
        </p:nvSpPr>
        <p:spPr>
          <a:xfrm>
            <a:off x="4080313" y="4078171"/>
            <a:ext cx="3042586" cy="241399"/>
          </a:xfrm>
          <a:prstGeom prst="rect">
            <a:avLst/>
          </a:prstGeom>
          <a:noFill/>
          <a:ln/>
        </p:spPr>
        <p:txBody>
          <a:bodyPr wrap="square" rtlCol="0" anchor="t"/>
          <a:lstStyle/>
          <a:p>
            <a:pPr indent="0" marL="0">
              <a:spcBef>
                <a:spcPts val="375"/>
              </a:spcBef>
              <a:buNone/>
            </a:pPr>
            <a:endParaRPr lang="en-US" sz="1050" dirty="0"/>
          </a:p>
        </p:txBody>
      </p:sp>
      <p:sp>
        <p:nvSpPr>
          <p:cNvPr id="63" name="Shape 54"/>
          <p:cNvSpPr/>
          <p:nvPr/>
        </p:nvSpPr>
        <p:spPr>
          <a:xfrm>
            <a:off x="4080313" y="4078171"/>
            <a:ext cx="3042586" cy="241399"/>
          </a:xfrm>
          <a:custGeom>
            <a:avLst/>
            <a:gdLst/>
            <a:ahLst/>
            <a:cxnLst/>
            <a:rect l="l" t="t" r="r" b="b"/>
            <a:pathLst>
              <a:path w="3042586" h="241399">
                <a:moveTo>
                  <a:pt x="0" y="0"/>
                </a:moveTo>
                <a:lnTo>
                  <a:pt x="3042586" y="0"/>
                </a:lnTo>
                <a:lnTo>
                  <a:pt x="3042586" y="241399"/>
                </a:lnTo>
                <a:lnTo>
                  <a:pt x="0" y="241399"/>
                </a:lnTo>
                <a:close/>
              </a:path>
            </a:pathLst>
          </a:custGeom>
          <a:solidFill>
            <a:srgbClr val="000000">
              <a:alpha val="0"/>
            </a:srgbClr>
          </a:solidFill>
          <a:ln/>
        </p:spPr>
      </p:sp>
      <p:sp>
        <p:nvSpPr>
          <p:cNvPr id="64" name="Text 55"/>
          <p:cNvSpPr/>
          <p:nvPr/>
        </p:nvSpPr>
        <p:spPr>
          <a:xfrm>
            <a:off x="4080313" y="4078171"/>
            <a:ext cx="3042586" cy="241399"/>
          </a:xfrm>
          <a:prstGeom prst="rect">
            <a:avLst/>
          </a:prstGeom>
          <a:noFill/>
          <a:ln/>
        </p:spPr>
        <p:txBody>
          <a:bodyPr wrap="square" rtlCol="0" anchor="t"/>
          <a:lstStyle/>
          <a:p>
            <a:pPr algn="l" indent="0" marL="0">
              <a:spcBef>
                <a:spcPts val="375"/>
              </a:spcBef>
              <a:buNone/>
            </a:pPr>
            <a:r>
              <a:rPr lang="en-US" sz="1125" b="1" dirty="0">
                <a:solidFill>
                  <a:srgbClr val="000000"/>
                </a:solidFill>
                <a:latin typeface="Nunito" pitchFamily="34" charset="0"/>
                <a:ea typeface="Nunito" pitchFamily="34" charset="-122"/>
                <a:cs typeface="Nunito" pitchFamily="34" charset="-120"/>
              </a:rPr>
              <a:t>O'simliklar turlari</a:t>
            </a:r>
            <a:endParaRPr lang="en-US" sz="1050" dirty="0"/>
          </a:p>
        </p:txBody>
      </p:sp>
      <p:pic>
        <p:nvPicPr>
          <p:cNvPr id="65" name="Image 7" descr="./images\slide7_img78.png">    </p:cNvPr>
          <p:cNvPicPr>
            <a:picLocks noChangeAspect="1"/>
          </p:cNvPicPr>
          <p:nvPr/>
        </p:nvPicPr>
        <p:blipFill>
          <a:blip r:embed="rId8"/>
          <a:stretch>
            <a:fillRect/>
          </a:stretch>
        </p:blipFill>
        <p:spPr>
          <a:xfrm>
            <a:off x="3442299" y="4191607"/>
            <a:ext cx="254316" cy="367122"/>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1F1F1"/>
        </a:solidFill>
      </p:bgPr>
    </p:bg>
    <p:spTree>
      <p:nvGrpSpPr>
        <p:cNvPr id="1" name=""/>
        <p:cNvGrpSpPr/>
        <p:nvPr/>
      </p:nvGrpSpPr>
      <p:grpSpPr>
        <a:xfrm>
          <a:off x="0" y="0"/>
          <a:ext cx="0" cy="0"/>
          <a:chOff x="0" y="0"/>
          <a:chExt cx="0" cy="0"/>
        </a:xfrm>
      </p:grpSpPr>
      <p:pic>
        <p:nvPicPr>
          <p:cNvPr id="2" name="Image 0" descr="./images\slide8_img79.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images\slide8_img80.png">    </p:cNvPr>
          <p:cNvPicPr>
            <a:picLocks noChangeAspect="1"/>
          </p:cNvPicPr>
          <p:nvPr/>
        </p:nvPicPr>
        <p:blipFill>
          <a:blip r:embed="rId2"/>
          <a:stretch>
            <a:fillRect/>
          </a:stretch>
        </p:blipFill>
        <p:spPr>
          <a:xfrm>
            <a:off x="413364" y="1606860"/>
            <a:ext cx="2817893" cy="2510487"/>
          </a:xfrm>
          <a:prstGeom prst="rect">
            <a:avLst/>
          </a:prstGeom>
        </p:spPr>
      </p:pic>
      <p:pic>
        <p:nvPicPr>
          <p:cNvPr id="4" name="Image 2" descr="./images\slide8_img81.png">    </p:cNvPr>
          <p:cNvPicPr>
            <a:picLocks noChangeAspect="1"/>
          </p:cNvPicPr>
          <p:nvPr/>
        </p:nvPicPr>
        <p:blipFill>
          <a:blip r:embed="rId3"/>
          <a:stretch>
            <a:fillRect/>
          </a:stretch>
        </p:blipFill>
        <p:spPr>
          <a:xfrm>
            <a:off x="3382151" y="1860298"/>
            <a:ext cx="548816" cy="594191"/>
          </a:xfrm>
          <a:prstGeom prst="rect">
            <a:avLst/>
          </a:prstGeom>
        </p:spPr>
      </p:pic>
      <p:sp>
        <p:nvSpPr>
          <p:cNvPr id="5" name="Shape 0"/>
          <p:cNvSpPr/>
          <p:nvPr/>
        </p:nvSpPr>
        <p:spPr>
          <a:xfrm>
            <a:off x="3382151" y="1860298"/>
            <a:ext cx="548816" cy="594191"/>
          </a:xfrm>
          <a:custGeom>
            <a:avLst/>
            <a:gdLst/>
            <a:ahLst/>
            <a:cxnLst/>
            <a:rect l="l" t="t" r="r" b="b"/>
            <a:pathLst>
              <a:path w="548816" h="594191">
                <a:moveTo>
                  <a:pt x="0" y="0"/>
                </a:moveTo>
                <a:lnTo>
                  <a:pt x="548816" y="0"/>
                </a:lnTo>
                <a:lnTo>
                  <a:pt x="548816" y="594191"/>
                </a:lnTo>
                <a:lnTo>
                  <a:pt x="0" y="594191"/>
                </a:lnTo>
                <a:close/>
              </a:path>
            </a:pathLst>
          </a:custGeom>
          <a:solidFill>
            <a:srgbClr val="FFFFFF">
              <a:alpha val="0"/>
            </a:srgbClr>
          </a:solidFill>
          <a:ln/>
        </p:spPr>
      </p:sp>
      <p:sp>
        <p:nvSpPr>
          <p:cNvPr id="6" name="Text 1"/>
          <p:cNvSpPr/>
          <p:nvPr/>
        </p:nvSpPr>
        <p:spPr>
          <a:xfrm>
            <a:off x="3382151" y="1860298"/>
            <a:ext cx="548816" cy="594191"/>
          </a:xfrm>
          <a:prstGeom prst="rect">
            <a:avLst/>
          </a:prstGeom>
          <a:noFill/>
          <a:ln/>
        </p:spPr>
        <p:txBody>
          <a:bodyPr wrap="square" rtlCol="0" anchor="t"/>
          <a:lstStyle/>
          <a:p>
            <a:pPr indent="0" marL="0">
              <a:spcBef>
                <a:spcPts val="375"/>
              </a:spcBef>
              <a:buNone/>
            </a:pPr>
            <a:endParaRPr lang="en-US" sz="1050" dirty="0"/>
          </a:p>
        </p:txBody>
      </p:sp>
      <p:sp>
        <p:nvSpPr>
          <p:cNvPr id="7" name="Shape 2"/>
          <p:cNvSpPr/>
          <p:nvPr/>
        </p:nvSpPr>
        <p:spPr>
          <a:xfrm>
            <a:off x="3382151" y="1860298"/>
            <a:ext cx="548816" cy="594191"/>
          </a:xfrm>
          <a:custGeom>
            <a:avLst/>
            <a:gdLst/>
            <a:ahLst/>
            <a:cxnLst/>
            <a:rect l="l" t="t" r="r" b="b"/>
            <a:pathLst>
              <a:path w="548816" h="594191">
                <a:moveTo>
                  <a:pt x="0" y="0"/>
                </a:moveTo>
                <a:lnTo>
                  <a:pt x="548816" y="0"/>
                </a:lnTo>
                <a:lnTo>
                  <a:pt x="548816" y="594191"/>
                </a:lnTo>
                <a:lnTo>
                  <a:pt x="0" y="594191"/>
                </a:lnTo>
                <a:close/>
              </a:path>
            </a:pathLst>
          </a:custGeom>
          <a:solidFill>
            <a:srgbClr val="000000">
              <a:alpha val="0"/>
            </a:srgbClr>
          </a:solidFill>
          <a:ln/>
        </p:spPr>
      </p:sp>
      <p:sp>
        <p:nvSpPr>
          <p:cNvPr id="8" name="Text 3"/>
          <p:cNvSpPr/>
          <p:nvPr/>
        </p:nvSpPr>
        <p:spPr>
          <a:xfrm>
            <a:off x="3382151" y="1860298"/>
            <a:ext cx="548816" cy="594191"/>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9" name="Image 3" descr="./images\slide8_img82.png">    </p:cNvPr>
          <p:cNvPicPr>
            <a:picLocks noChangeAspect="1"/>
          </p:cNvPicPr>
          <p:nvPr/>
        </p:nvPicPr>
        <p:blipFill>
          <a:blip r:embed="rId4"/>
          <a:stretch>
            <a:fillRect/>
          </a:stretch>
        </p:blipFill>
        <p:spPr>
          <a:xfrm>
            <a:off x="6233995" y="1860298"/>
            <a:ext cx="548816" cy="594191"/>
          </a:xfrm>
          <a:prstGeom prst="rect">
            <a:avLst/>
          </a:prstGeom>
        </p:spPr>
      </p:pic>
      <p:sp>
        <p:nvSpPr>
          <p:cNvPr id="10" name="Shape 4"/>
          <p:cNvSpPr/>
          <p:nvPr/>
        </p:nvSpPr>
        <p:spPr>
          <a:xfrm>
            <a:off x="6233995" y="1860298"/>
            <a:ext cx="548816" cy="594191"/>
          </a:xfrm>
          <a:custGeom>
            <a:avLst/>
            <a:gdLst/>
            <a:ahLst/>
            <a:cxnLst/>
            <a:rect l="l" t="t" r="r" b="b"/>
            <a:pathLst>
              <a:path w="548816" h="594191">
                <a:moveTo>
                  <a:pt x="0" y="0"/>
                </a:moveTo>
                <a:lnTo>
                  <a:pt x="548816" y="0"/>
                </a:lnTo>
                <a:lnTo>
                  <a:pt x="548816" y="594191"/>
                </a:lnTo>
                <a:lnTo>
                  <a:pt x="0" y="594191"/>
                </a:lnTo>
                <a:close/>
              </a:path>
            </a:pathLst>
          </a:custGeom>
          <a:solidFill>
            <a:srgbClr val="FFFFFF">
              <a:alpha val="0"/>
            </a:srgbClr>
          </a:solidFill>
          <a:ln/>
        </p:spPr>
      </p:sp>
      <p:sp>
        <p:nvSpPr>
          <p:cNvPr id="11" name="Text 5"/>
          <p:cNvSpPr/>
          <p:nvPr/>
        </p:nvSpPr>
        <p:spPr>
          <a:xfrm>
            <a:off x="6233995" y="1860298"/>
            <a:ext cx="548816" cy="594191"/>
          </a:xfrm>
          <a:prstGeom prst="rect">
            <a:avLst/>
          </a:prstGeom>
          <a:noFill/>
          <a:ln/>
        </p:spPr>
        <p:txBody>
          <a:bodyPr wrap="square" rtlCol="0" anchor="t"/>
          <a:lstStyle/>
          <a:p>
            <a:pPr indent="0" marL="0">
              <a:spcBef>
                <a:spcPts val="375"/>
              </a:spcBef>
              <a:buNone/>
            </a:pPr>
            <a:endParaRPr lang="en-US" sz="1050" dirty="0"/>
          </a:p>
        </p:txBody>
      </p:sp>
      <p:sp>
        <p:nvSpPr>
          <p:cNvPr id="12" name="Shape 6"/>
          <p:cNvSpPr/>
          <p:nvPr/>
        </p:nvSpPr>
        <p:spPr>
          <a:xfrm>
            <a:off x="6233995" y="1860298"/>
            <a:ext cx="548816" cy="594191"/>
          </a:xfrm>
          <a:custGeom>
            <a:avLst/>
            <a:gdLst/>
            <a:ahLst/>
            <a:cxnLst/>
            <a:rect l="l" t="t" r="r" b="b"/>
            <a:pathLst>
              <a:path w="548816" h="594191">
                <a:moveTo>
                  <a:pt x="0" y="0"/>
                </a:moveTo>
                <a:lnTo>
                  <a:pt x="548816" y="0"/>
                </a:lnTo>
                <a:lnTo>
                  <a:pt x="548816" y="594191"/>
                </a:lnTo>
                <a:lnTo>
                  <a:pt x="0" y="594191"/>
                </a:lnTo>
                <a:close/>
              </a:path>
            </a:pathLst>
          </a:custGeom>
          <a:solidFill>
            <a:srgbClr val="000000">
              <a:alpha val="0"/>
            </a:srgbClr>
          </a:solidFill>
          <a:ln/>
        </p:spPr>
      </p:sp>
      <p:sp>
        <p:nvSpPr>
          <p:cNvPr id="13" name="Text 7"/>
          <p:cNvSpPr/>
          <p:nvPr/>
        </p:nvSpPr>
        <p:spPr>
          <a:xfrm>
            <a:off x="6233995" y="1860298"/>
            <a:ext cx="548816" cy="594191"/>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14" name="Image 4" descr="./images\slide8_img83.png">    </p:cNvPr>
          <p:cNvPicPr>
            <a:picLocks noChangeAspect="1"/>
          </p:cNvPicPr>
          <p:nvPr/>
        </p:nvPicPr>
        <p:blipFill>
          <a:blip r:embed="rId5"/>
          <a:stretch>
            <a:fillRect/>
          </a:stretch>
        </p:blipFill>
        <p:spPr>
          <a:xfrm>
            <a:off x="3529788" y="3523156"/>
            <a:ext cx="548816" cy="594191"/>
          </a:xfrm>
          <a:prstGeom prst="rect">
            <a:avLst/>
          </a:prstGeom>
        </p:spPr>
      </p:pic>
      <p:sp>
        <p:nvSpPr>
          <p:cNvPr id="15" name="Shape 8"/>
          <p:cNvSpPr/>
          <p:nvPr/>
        </p:nvSpPr>
        <p:spPr>
          <a:xfrm>
            <a:off x="3529788" y="3523156"/>
            <a:ext cx="548816" cy="594191"/>
          </a:xfrm>
          <a:custGeom>
            <a:avLst/>
            <a:gdLst/>
            <a:ahLst/>
            <a:cxnLst/>
            <a:rect l="l" t="t" r="r" b="b"/>
            <a:pathLst>
              <a:path w="548816" h="594191">
                <a:moveTo>
                  <a:pt x="0" y="0"/>
                </a:moveTo>
                <a:lnTo>
                  <a:pt x="548816" y="0"/>
                </a:lnTo>
                <a:lnTo>
                  <a:pt x="548816" y="594191"/>
                </a:lnTo>
                <a:lnTo>
                  <a:pt x="0" y="594191"/>
                </a:lnTo>
                <a:close/>
              </a:path>
            </a:pathLst>
          </a:custGeom>
          <a:solidFill>
            <a:srgbClr val="FFFFFF">
              <a:alpha val="0"/>
            </a:srgbClr>
          </a:solidFill>
          <a:ln/>
        </p:spPr>
      </p:sp>
      <p:sp>
        <p:nvSpPr>
          <p:cNvPr id="16" name="Text 9"/>
          <p:cNvSpPr/>
          <p:nvPr/>
        </p:nvSpPr>
        <p:spPr>
          <a:xfrm>
            <a:off x="3529788" y="3523156"/>
            <a:ext cx="548816" cy="594191"/>
          </a:xfrm>
          <a:prstGeom prst="rect">
            <a:avLst/>
          </a:prstGeom>
          <a:noFill/>
          <a:ln/>
        </p:spPr>
        <p:txBody>
          <a:bodyPr wrap="square" rtlCol="0" anchor="t"/>
          <a:lstStyle/>
          <a:p>
            <a:pPr indent="0" marL="0">
              <a:spcBef>
                <a:spcPts val="375"/>
              </a:spcBef>
              <a:buNone/>
            </a:pPr>
            <a:endParaRPr lang="en-US" sz="1050" dirty="0"/>
          </a:p>
        </p:txBody>
      </p:sp>
      <p:sp>
        <p:nvSpPr>
          <p:cNvPr id="17" name="Shape 10"/>
          <p:cNvSpPr/>
          <p:nvPr/>
        </p:nvSpPr>
        <p:spPr>
          <a:xfrm>
            <a:off x="3529788" y="3523156"/>
            <a:ext cx="548816" cy="594191"/>
          </a:xfrm>
          <a:custGeom>
            <a:avLst/>
            <a:gdLst/>
            <a:ahLst/>
            <a:cxnLst/>
            <a:rect l="l" t="t" r="r" b="b"/>
            <a:pathLst>
              <a:path w="548816" h="594191">
                <a:moveTo>
                  <a:pt x="0" y="0"/>
                </a:moveTo>
                <a:lnTo>
                  <a:pt x="548816" y="0"/>
                </a:lnTo>
                <a:lnTo>
                  <a:pt x="548816" y="594191"/>
                </a:lnTo>
                <a:lnTo>
                  <a:pt x="0" y="594191"/>
                </a:lnTo>
                <a:close/>
              </a:path>
            </a:pathLst>
          </a:custGeom>
          <a:solidFill>
            <a:srgbClr val="000000">
              <a:alpha val="0"/>
            </a:srgbClr>
          </a:solidFill>
          <a:ln/>
        </p:spPr>
      </p:sp>
      <p:sp>
        <p:nvSpPr>
          <p:cNvPr id="18" name="Text 11"/>
          <p:cNvSpPr/>
          <p:nvPr/>
        </p:nvSpPr>
        <p:spPr>
          <a:xfrm>
            <a:off x="3529788" y="3523156"/>
            <a:ext cx="548816" cy="594191"/>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19" name="Image 5" descr="./images\slide8_img84.png">    </p:cNvPr>
          <p:cNvPicPr>
            <a:picLocks noChangeAspect="1"/>
          </p:cNvPicPr>
          <p:nvPr/>
        </p:nvPicPr>
        <p:blipFill>
          <a:blip r:embed="rId6"/>
          <a:stretch>
            <a:fillRect/>
          </a:stretch>
        </p:blipFill>
        <p:spPr>
          <a:xfrm>
            <a:off x="6233995" y="3523156"/>
            <a:ext cx="548816" cy="594191"/>
          </a:xfrm>
          <a:prstGeom prst="rect">
            <a:avLst/>
          </a:prstGeom>
        </p:spPr>
      </p:pic>
      <p:sp>
        <p:nvSpPr>
          <p:cNvPr id="20" name="Shape 12"/>
          <p:cNvSpPr/>
          <p:nvPr/>
        </p:nvSpPr>
        <p:spPr>
          <a:xfrm>
            <a:off x="6233995" y="3523156"/>
            <a:ext cx="548816" cy="594191"/>
          </a:xfrm>
          <a:custGeom>
            <a:avLst/>
            <a:gdLst/>
            <a:ahLst/>
            <a:cxnLst/>
            <a:rect l="l" t="t" r="r" b="b"/>
            <a:pathLst>
              <a:path w="548816" h="594191">
                <a:moveTo>
                  <a:pt x="0" y="0"/>
                </a:moveTo>
                <a:lnTo>
                  <a:pt x="548816" y="0"/>
                </a:lnTo>
                <a:lnTo>
                  <a:pt x="548816" y="594191"/>
                </a:lnTo>
                <a:lnTo>
                  <a:pt x="0" y="594191"/>
                </a:lnTo>
                <a:close/>
              </a:path>
            </a:pathLst>
          </a:custGeom>
          <a:solidFill>
            <a:srgbClr val="FFFFFF">
              <a:alpha val="0"/>
            </a:srgbClr>
          </a:solidFill>
          <a:ln/>
        </p:spPr>
      </p:sp>
      <p:sp>
        <p:nvSpPr>
          <p:cNvPr id="21" name="Text 13"/>
          <p:cNvSpPr/>
          <p:nvPr/>
        </p:nvSpPr>
        <p:spPr>
          <a:xfrm>
            <a:off x="6233995" y="3523156"/>
            <a:ext cx="548816" cy="594191"/>
          </a:xfrm>
          <a:prstGeom prst="rect">
            <a:avLst/>
          </a:prstGeom>
          <a:noFill/>
          <a:ln/>
        </p:spPr>
        <p:txBody>
          <a:bodyPr wrap="square" rtlCol="0" anchor="t"/>
          <a:lstStyle/>
          <a:p>
            <a:pPr indent="0" marL="0">
              <a:spcBef>
                <a:spcPts val="375"/>
              </a:spcBef>
              <a:buNone/>
            </a:pPr>
            <a:endParaRPr lang="en-US" sz="1050" dirty="0"/>
          </a:p>
        </p:txBody>
      </p:sp>
      <p:sp>
        <p:nvSpPr>
          <p:cNvPr id="22" name="Shape 14"/>
          <p:cNvSpPr/>
          <p:nvPr/>
        </p:nvSpPr>
        <p:spPr>
          <a:xfrm>
            <a:off x="6233995" y="3523156"/>
            <a:ext cx="548816" cy="594191"/>
          </a:xfrm>
          <a:custGeom>
            <a:avLst/>
            <a:gdLst/>
            <a:ahLst/>
            <a:cxnLst/>
            <a:rect l="l" t="t" r="r" b="b"/>
            <a:pathLst>
              <a:path w="548816" h="594191">
                <a:moveTo>
                  <a:pt x="0" y="0"/>
                </a:moveTo>
                <a:lnTo>
                  <a:pt x="548816" y="0"/>
                </a:lnTo>
                <a:lnTo>
                  <a:pt x="548816" y="594191"/>
                </a:lnTo>
                <a:lnTo>
                  <a:pt x="0" y="594191"/>
                </a:lnTo>
                <a:close/>
              </a:path>
            </a:pathLst>
          </a:custGeom>
          <a:solidFill>
            <a:srgbClr val="000000">
              <a:alpha val="0"/>
            </a:srgbClr>
          </a:solidFill>
          <a:ln/>
        </p:spPr>
      </p:sp>
      <p:sp>
        <p:nvSpPr>
          <p:cNvPr id="23" name="Text 15"/>
          <p:cNvSpPr/>
          <p:nvPr/>
        </p:nvSpPr>
        <p:spPr>
          <a:xfrm>
            <a:off x="6233995" y="3523156"/>
            <a:ext cx="548816" cy="594191"/>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sp>
        <p:nvSpPr>
          <p:cNvPr id="24" name="Shape 16"/>
          <p:cNvSpPr/>
          <p:nvPr/>
        </p:nvSpPr>
        <p:spPr>
          <a:xfrm>
            <a:off x="874042" y="328068"/>
            <a:ext cx="8269958" cy="552450"/>
          </a:xfrm>
          <a:custGeom>
            <a:avLst/>
            <a:gdLst/>
            <a:ahLst/>
            <a:cxnLst/>
            <a:rect l="l" t="t" r="r" b="b"/>
            <a:pathLst>
              <a:path w="8269958" h="552450">
                <a:moveTo>
                  <a:pt x="0" y="0"/>
                </a:moveTo>
                <a:lnTo>
                  <a:pt x="8269958" y="0"/>
                </a:lnTo>
                <a:lnTo>
                  <a:pt x="8269958" y="552450"/>
                </a:lnTo>
                <a:lnTo>
                  <a:pt x="0" y="552450"/>
                </a:lnTo>
                <a:close/>
              </a:path>
            </a:pathLst>
          </a:custGeom>
          <a:solidFill>
            <a:srgbClr val="FFFFFF">
              <a:alpha val="0"/>
            </a:srgbClr>
          </a:solidFill>
          <a:ln/>
        </p:spPr>
      </p:sp>
      <p:sp>
        <p:nvSpPr>
          <p:cNvPr id="25" name="Text 17"/>
          <p:cNvSpPr/>
          <p:nvPr/>
        </p:nvSpPr>
        <p:spPr>
          <a:xfrm>
            <a:off x="874042" y="328068"/>
            <a:ext cx="8269958" cy="552450"/>
          </a:xfrm>
          <a:prstGeom prst="rect">
            <a:avLst/>
          </a:prstGeom>
          <a:noFill/>
          <a:ln/>
        </p:spPr>
        <p:txBody>
          <a:bodyPr wrap="square" rtlCol="0" anchor="t"/>
          <a:lstStyle/>
          <a:p>
            <a:pPr indent="0" marL="0">
              <a:spcBef>
                <a:spcPts val="375"/>
              </a:spcBef>
              <a:buNone/>
            </a:pPr>
            <a:endParaRPr lang="en-US" sz="1050" dirty="0"/>
          </a:p>
        </p:txBody>
      </p:sp>
      <p:sp>
        <p:nvSpPr>
          <p:cNvPr id="26" name="Shape 18"/>
          <p:cNvSpPr/>
          <p:nvPr/>
        </p:nvSpPr>
        <p:spPr>
          <a:xfrm>
            <a:off x="874042" y="328068"/>
            <a:ext cx="8269958" cy="552450"/>
          </a:xfrm>
          <a:custGeom>
            <a:avLst/>
            <a:gdLst/>
            <a:ahLst/>
            <a:cxnLst/>
            <a:rect l="l" t="t" r="r" b="b"/>
            <a:pathLst>
              <a:path w="8269958" h="552450">
                <a:moveTo>
                  <a:pt x="0" y="0"/>
                </a:moveTo>
                <a:lnTo>
                  <a:pt x="8269958" y="0"/>
                </a:lnTo>
                <a:lnTo>
                  <a:pt x="8269958" y="552450"/>
                </a:lnTo>
                <a:lnTo>
                  <a:pt x="0" y="552450"/>
                </a:lnTo>
                <a:close/>
              </a:path>
            </a:pathLst>
          </a:custGeom>
          <a:solidFill>
            <a:srgbClr val="000000">
              <a:alpha val="0"/>
            </a:srgbClr>
          </a:solidFill>
          <a:ln/>
        </p:spPr>
      </p:sp>
      <p:sp>
        <p:nvSpPr>
          <p:cNvPr id="27" name="Text 19"/>
          <p:cNvSpPr/>
          <p:nvPr/>
        </p:nvSpPr>
        <p:spPr>
          <a:xfrm>
            <a:off x="874042" y="328068"/>
            <a:ext cx="8269958" cy="552450"/>
          </a:xfrm>
          <a:prstGeom prst="rect">
            <a:avLst/>
          </a:prstGeom>
          <a:noFill/>
          <a:ln/>
        </p:spPr>
        <p:txBody>
          <a:bodyPr wrap="square" rtlCol="0" anchor="t"/>
          <a:lstStyle/>
          <a:p>
            <a:pPr algn="ctr" indent="0" marL="0">
              <a:spcBef>
                <a:spcPts val="375"/>
              </a:spcBef>
              <a:buNone/>
            </a:pPr>
            <a:r>
              <a:rPr lang="en-US" sz="3600" dirty="0">
                <a:solidFill>
                  <a:srgbClr val="45464D"/>
                </a:solidFill>
                <a:latin typeface="Caveat Brush" pitchFamily="34" charset="0"/>
                <a:ea typeface="Caveat Brush" pitchFamily="34" charset="-122"/>
                <a:cs typeface="Caveat Brush" pitchFamily="34" charset="-120"/>
              </a:rPr>
              <a:t>Statistikalar: Muvaffaqiyatni O'lchash</a:t>
            </a:r>
            <a:endParaRPr lang="en-US" sz="1050" dirty="0"/>
          </a:p>
        </p:txBody>
      </p:sp>
      <p:sp>
        <p:nvSpPr>
          <p:cNvPr id="28" name="Shape 20"/>
          <p:cNvSpPr/>
          <p:nvPr/>
        </p:nvSpPr>
        <p:spPr>
          <a:xfrm>
            <a:off x="4141256" y="2454489"/>
            <a:ext cx="1783062" cy="1011869"/>
          </a:xfrm>
          <a:custGeom>
            <a:avLst/>
            <a:gdLst/>
            <a:ahLst/>
            <a:cxnLst/>
            <a:rect l="l" t="t" r="r" b="b"/>
            <a:pathLst>
              <a:path w="1783062" h="1011869">
                <a:moveTo>
                  <a:pt x="0" y="0"/>
                </a:moveTo>
                <a:lnTo>
                  <a:pt x="1783062" y="0"/>
                </a:lnTo>
                <a:lnTo>
                  <a:pt x="1783062" y="1011869"/>
                </a:lnTo>
                <a:lnTo>
                  <a:pt x="0" y="1011869"/>
                </a:lnTo>
                <a:close/>
              </a:path>
            </a:pathLst>
          </a:custGeom>
          <a:solidFill>
            <a:srgbClr val="FFFFFF">
              <a:alpha val="0"/>
            </a:srgbClr>
          </a:solidFill>
          <a:ln/>
        </p:spPr>
      </p:sp>
      <p:sp>
        <p:nvSpPr>
          <p:cNvPr id="29" name="Text 21"/>
          <p:cNvSpPr/>
          <p:nvPr/>
        </p:nvSpPr>
        <p:spPr>
          <a:xfrm>
            <a:off x="4141256" y="2454489"/>
            <a:ext cx="1783062" cy="1011869"/>
          </a:xfrm>
          <a:prstGeom prst="rect">
            <a:avLst/>
          </a:prstGeom>
          <a:noFill/>
          <a:ln/>
        </p:spPr>
        <p:txBody>
          <a:bodyPr wrap="square" rtlCol="0" anchor="t"/>
          <a:lstStyle/>
          <a:p>
            <a:pPr indent="0" marL="0">
              <a:spcBef>
                <a:spcPts val="375"/>
              </a:spcBef>
              <a:buNone/>
            </a:pPr>
            <a:endParaRPr lang="en-US" sz="1050" dirty="0"/>
          </a:p>
        </p:txBody>
      </p:sp>
      <p:sp>
        <p:nvSpPr>
          <p:cNvPr id="30" name="Shape 22"/>
          <p:cNvSpPr/>
          <p:nvPr/>
        </p:nvSpPr>
        <p:spPr>
          <a:xfrm>
            <a:off x="4141256" y="2454489"/>
            <a:ext cx="1783062" cy="1011869"/>
          </a:xfrm>
          <a:custGeom>
            <a:avLst/>
            <a:gdLst/>
            <a:ahLst/>
            <a:cxnLst/>
            <a:rect l="l" t="t" r="r" b="b"/>
            <a:pathLst>
              <a:path w="1783062" h="1011869">
                <a:moveTo>
                  <a:pt x="0" y="0"/>
                </a:moveTo>
                <a:lnTo>
                  <a:pt x="1783062" y="0"/>
                </a:lnTo>
                <a:lnTo>
                  <a:pt x="1783062" y="1011869"/>
                </a:lnTo>
                <a:lnTo>
                  <a:pt x="0" y="1011869"/>
                </a:lnTo>
                <a:close/>
              </a:path>
            </a:pathLst>
          </a:custGeom>
          <a:solidFill>
            <a:srgbClr val="000000">
              <a:alpha val="0"/>
            </a:srgbClr>
          </a:solidFill>
          <a:ln/>
        </p:spPr>
      </p:sp>
      <p:sp>
        <p:nvSpPr>
          <p:cNvPr id="31" name="Text 23"/>
          <p:cNvSpPr/>
          <p:nvPr/>
        </p:nvSpPr>
        <p:spPr>
          <a:xfrm>
            <a:off x="4141256" y="2454489"/>
            <a:ext cx="1783062" cy="1011869"/>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Statistikalar bizga qarorlar qabul qilishda yordam beradi. Ular ma'lumotlarni tahlil qilish va tendentsiyalarni aniqlash imkonini beradi.</a:t>
            </a:r>
            <a:endParaRPr lang="en-US" sz="1050" dirty="0"/>
          </a:p>
        </p:txBody>
      </p:sp>
      <p:sp>
        <p:nvSpPr>
          <p:cNvPr id="32" name="Shape 24"/>
          <p:cNvSpPr/>
          <p:nvPr/>
        </p:nvSpPr>
        <p:spPr>
          <a:xfrm>
            <a:off x="4116705" y="1836485"/>
            <a:ext cx="1924858" cy="253826"/>
          </a:xfrm>
          <a:custGeom>
            <a:avLst/>
            <a:gdLst/>
            <a:ahLst/>
            <a:cxnLst/>
            <a:rect l="l" t="t" r="r" b="b"/>
            <a:pathLst>
              <a:path w="1924858" h="253826">
                <a:moveTo>
                  <a:pt x="0" y="0"/>
                </a:moveTo>
                <a:lnTo>
                  <a:pt x="1924858" y="0"/>
                </a:lnTo>
                <a:lnTo>
                  <a:pt x="1924858" y="253826"/>
                </a:lnTo>
                <a:lnTo>
                  <a:pt x="0" y="253826"/>
                </a:lnTo>
                <a:close/>
              </a:path>
            </a:pathLst>
          </a:custGeom>
          <a:solidFill>
            <a:srgbClr val="FFFFFF">
              <a:alpha val="0"/>
            </a:srgbClr>
          </a:solidFill>
          <a:ln/>
        </p:spPr>
      </p:sp>
      <p:sp>
        <p:nvSpPr>
          <p:cNvPr id="33" name="Text 25"/>
          <p:cNvSpPr/>
          <p:nvPr/>
        </p:nvSpPr>
        <p:spPr>
          <a:xfrm>
            <a:off x="4116705" y="1836485"/>
            <a:ext cx="1924858" cy="253826"/>
          </a:xfrm>
          <a:prstGeom prst="rect">
            <a:avLst/>
          </a:prstGeom>
          <a:noFill/>
          <a:ln/>
        </p:spPr>
        <p:txBody>
          <a:bodyPr wrap="square" rtlCol="0" anchor="t"/>
          <a:lstStyle/>
          <a:p>
            <a:pPr indent="0" marL="0">
              <a:spcBef>
                <a:spcPts val="375"/>
              </a:spcBef>
              <a:buNone/>
            </a:pPr>
            <a:endParaRPr lang="en-US" sz="1050" dirty="0"/>
          </a:p>
        </p:txBody>
      </p:sp>
      <p:sp>
        <p:nvSpPr>
          <p:cNvPr id="34" name="Shape 26"/>
          <p:cNvSpPr/>
          <p:nvPr/>
        </p:nvSpPr>
        <p:spPr>
          <a:xfrm>
            <a:off x="4116705" y="1836485"/>
            <a:ext cx="1924858" cy="253826"/>
          </a:xfrm>
          <a:custGeom>
            <a:avLst/>
            <a:gdLst/>
            <a:ahLst/>
            <a:cxnLst/>
            <a:rect l="l" t="t" r="r" b="b"/>
            <a:pathLst>
              <a:path w="1924858" h="253826">
                <a:moveTo>
                  <a:pt x="0" y="0"/>
                </a:moveTo>
                <a:lnTo>
                  <a:pt x="1924858" y="0"/>
                </a:lnTo>
                <a:lnTo>
                  <a:pt x="1924858" y="253826"/>
                </a:lnTo>
                <a:lnTo>
                  <a:pt x="0" y="253826"/>
                </a:lnTo>
                <a:close/>
              </a:path>
            </a:pathLst>
          </a:custGeom>
          <a:solidFill>
            <a:srgbClr val="000000">
              <a:alpha val="0"/>
            </a:srgbClr>
          </a:solidFill>
          <a:ln/>
        </p:spPr>
      </p:sp>
      <p:sp>
        <p:nvSpPr>
          <p:cNvPr id="35" name="Text 27"/>
          <p:cNvSpPr/>
          <p:nvPr/>
        </p:nvSpPr>
        <p:spPr>
          <a:xfrm>
            <a:off x="4116705" y="1836485"/>
            <a:ext cx="1924858" cy="253826"/>
          </a:xfrm>
          <a:prstGeom prst="rect">
            <a:avLst/>
          </a:prstGeom>
          <a:noFill/>
          <a:ln/>
        </p:spPr>
        <p:txBody>
          <a:bodyPr wrap="square" rtlCol="0" anchor="t"/>
          <a:lstStyle/>
          <a:p>
            <a:pPr algn="l" indent="0" marL="0">
              <a:spcBef>
                <a:spcPts val="375"/>
              </a:spcBef>
              <a:buNone/>
            </a:pPr>
            <a:r>
              <a:rPr lang="en-US" sz="1200" b="1" dirty="0">
                <a:solidFill>
                  <a:srgbClr val="000000"/>
                </a:solidFill>
                <a:latin typeface="Nunito" pitchFamily="34" charset="0"/>
                <a:ea typeface="Nunito" pitchFamily="34" charset="-122"/>
                <a:cs typeface="Nunito" pitchFamily="34" charset="-120"/>
              </a:rPr>
              <a:t>Statistikalar va Ma'lumotlar</a:t>
            </a:r>
            <a:endParaRPr lang="en-US" sz="1050" dirty="0"/>
          </a:p>
        </p:txBody>
      </p:sp>
      <p:sp>
        <p:nvSpPr>
          <p:cNvPr id="36" name="Shape 28"/>
          <p:cNvSpPr/>
          <p:nvPr/>
        </p:nvSpPr>
        <p:spPr>
          <a:xfrm>
            <a:off x="6941071" y="2507763"/>
            <a:ext cx="1688550" cy="1015393"/>
          </a:xfrm>
          <a:custGeom>
            <a:avLst/>
            <a:gdLst/>
            <a:ahLst/>
            <a:cxnLst/>
            <a:rect l="l" t="t" r="r" b="b"/>
            <a:pathLst>
              <a:path w="1688550" h="1015393">
                <a:moveTo>
                  <a:pt x="0" y="0"/>
                </a:moveTo>
                <a:lnTo>
                  <a:pt x="1688550" y="0"/>
                </a:lnTo>
                <a:lnTo>
                  <a:pt x="1688550" y="1015393"/>
                </a:lnTo>
                <a:lnTo>
                  <a:pt x="0" y="1015393"/>
                </a:lnTo>
                <a:close/>
              </a:path>
            </a:pathLst>
          </a:custGeom>
          <a:solidFill>
            <a:srgbClr val="FFFFFF">
              <a:alpha val="0"/>
            </a:srgbClr>
          </a:solidFill>
          <a:ln/>
        </p:spPr>
      </p:sp>
      <p:sp>
        <p:nvSpPr>
          <p:cNvPr id="37" name="Text 29"/>
          <p:cNvSpPr/>
          <p:nvPr/>
        </p:nvSpPr>
        <p:spPr>
          <a:xfrm>
            <a:off x="6941071" y="2507763"/>
            <a:ext cx="1688550" cy="1015393"/>
          </a:xfrm>
          <a:prstGeom prst="rect">
            <a:avLst/>
          </a:prstGeom>
          <a:noFill/>
          <a:ln/>
        </p:spPr>
        <p:txBody>
          <a:bodyPr wrap="square" rtlCol="0" anchor="t"/>
          <a:lstStyle/>
          <a:p>
            <a:pPr indent="0" marL="0">
              <a:spcBef>
                <a:spcPts val="375"/>
              </a:spcBef>
              <a:buNone/>
            </a:pPr>
            <a:endParaRPr lang="en-US" sz="1050" dirty="0"/>
          </a:p>
        </p:txBody>
      </p:sp>
      <p:sp>
        <p:nvSpPr>
          <p:cNvPr id="38" name="Shape 30"/>
          <p:cNvSpPr/>
          <p:nvPr/>
        </p:nvSpPr>
        <p:spPr>
          <a:xfrm>
            <a:off x="6941071" y="2507763"/>
            <a:ext cx="1688550" cy="1015393"/>
          </a:xfrm>
          <a:custGeom>
            <a:avLst/>
            <a:gdLst/>
            <a:ahLst/>
            <a:cxnLst/>
            <a:rect l="l" t="t" r="r" b="b"/>
            <a:pathLst>
              <a:path w="1688550" h="1015393">
                <a:moveTo>
                  <a:pt x="0" y="0"/>
                </a:moveTo>
                <a:lnTo>
                  <a:pt x="1688550" y="0"/>
                </a:lnTo>
                <a:lnTo>
                  <a:pt x="1688550" y="1015393"/>
                </a:lnTo>
                <a:lnTo>
                  <a:pt x="0" y="1015393"/>
                </a:lnTo>
                <a:close/>
              </a:path>
            </a:pathLst>
          </a:custGeom>
          <a:solidFill>
            <a:srgbClr val="000000">
              <a:alpha val="0"/>
            </a:srgbClr>
          </a:solidFill>
          <a:ln/>
        </p:spPr>
      </p:sp>
      <p:sp>
        <p:nvSpPr>
          <p:cNvPr id="39" name="Text 31"/>
          <p:cNvSpPr/>
          <p:nvPr/>
        </p:nvSpPr>
        <p:spPr>
          <a:xfrm>
            <a:off x="6941071" y="2507763"/>
            <a:ext cx="1688550" cy="1015393"/>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Statistika tadqiqotlar, marketing va iqtisodiyot sohalarida muhim rol o'ynaydi. Ular bizga ma'lumotlar asosida strategiyalarni ishlab chiqishga yordam beradi.</a:t>
            </a:r>
            <a:endParaRPr lang="en-US" sz="1050" dirty="0"/>
          </a:p>
        </p:txBody>
      </p:sp>
      <p:sp>
        <p:nvSpPr>
          <p:cNvPr id="40" name="Shape 32"/>
          <p:cNvSpPr/>
          <p:nvPr/>
        </p:nvSpPr>
        <p:spPr>
          <a:xfrm>
            <a:off x="6941071" y="1836485"/>
            <a:ext cx="2019370" cy="537361"/>
          </a:xfrm>
          <a:custGeom>
            <a:avLst/>
            <a:gdLst/>
            <a:ahLst/>
            <a:cxnLst/>
            <a:rect l="l" t="t" r="r" b="b"/>
            <a:pathLst>
              <a:path w="2019370" h="537361">
                <a:moveTo>
                  <a:pt x="0" y="0"/>
                </a:moveTo>
                <a:lnTo>
                  <a:pt x="2019370" y="0"/>
                </a:lnTo>
                <a:lnTo>
                  <a:pt x="2019370" y="537361"/>
                </a:lnTo>
                <a:lnTo>
                  <a:pt x="0" y="537361"/>
                </a:lnTo>
                <a:close/>
              </a:path>
            </a:pathLst>
          </a:custGeom>
          <a:solidFill>
            <a:srgbClr val="FFFFFF">
              <a:alpha val="0"/>
            </a:srgbClr>
          </a:solidFill>
          <a:ln/>
        </p:spPr>
      </p:sp>
      <p:sp>
        <p:nvSpPr>
          <p:cNvPr id="41" name="Text 33"/>
          <p:cNvSpPr/>
          <p:nvPr/>
        </p:nvSpPr>
        <p:spPr>
          <a:xfrm>
            <a:off x="6941071" y="1836485"/>
            <a:ext cx="2019370" cy="537361"/>
          </a:xfrm>
          <a:prstGeom prst="rect">
            <a:avLst/>
          </a:prstGeom>
          <a:noFill/>
          <a:ln/>
        </p:spPr>
        <p:txBody>
          <a:bodyPr wrap="square" rtlCol="0" anchor="t"/>
          <a:lstStyle/>
          <a:p>
            <a:pPr indent="0" marL="0">
              <a:spcBef>
                <a:spcPts val="375"/>
              </a:spcBef>
              <a:buNone/>
            </a:pPr>
            <a:endParaRPr lang="en-US" sz="1050" dirty="0"/>
          </a:p>
        </p:txBody>
      </p:sp>
      <p:sp>
        <p:nvSpPr>
          <p:cNvPr id="42" name="Shape 34"/>
          <p:cNvSpPr/>
          <p:nvPr/>
        </p:nvSpPr>
        <p:spPr>
          <a:xfrm>
            <a:off x="6941071" y="1836485"/>
            <a:ext cx="2019370" cy="537361"/>
          </a:xfrm>
          <a:custGeom>
            <a:avLst/>
            <a:gdLst/>
            <a:ahLst/>
            <a:cxnLst/>
            <a:rect l="l" t="t" r="r" b="b"/>
            <a:pathLst>
              <a:path w="2019370" h="537361">
                <a:moveTo>
                  <a:pt x="0" y="0"/>
                </a:moveTo>
                <a:lnTo>
                  <a:pt x="2019370" y="0"/>
                </a:lnTo>
                <a:lnTo>
                  <a:pt x="2019370" y="537361"/>
                </a:lnTo>
                <a:lnTo>
                  <a:pt x="0" y="537361"/>
                </a:lnTo>
                <a:close/>
              </a:path>
            </a:pathLst>
          </a:custGeom>
          <a:solidFill>
            <a:srgbClr val="000000">
              <a:alpha val="0"/>
            </a:srgbClr>
          </a:solidFill>
          <a:ln/>
        </p:spPr>
      </p:sp>
      <p:sp>
        <p:nvSpPr>
          <p:cNvPr id="43" name="Text 35"/>
          <p:cNvSpPr/>
          <p:nvPr/>
        </p:nvSpPr>
        <p:spPr>
          <a:xfrm>
            <a:off x="6941071" y="1836485"/>
            <a:ext cx="2019370" cy="537361"/>
          </a:xfrm>
          <a:prstGeom prst="rect">
            <a:avLst/>
          </a:prstGeom>
          <a:noFill/>
          <a:ln/>
        </p:spPr>
        <p:txBody>
          <a:bodyPr wrap="square" rtlCol="0" anchor="t"/>
          <a:lstStyle/>
          <a:p>
            <a:pPr algn="l" indent="0" marL="0">
              <a:spcBef>
                <a:spcPts val="375"/>
              </a:spcBef>
              <a:buNone/>
            </a:pPr>
            <a:r>
              <a:rPr lang="en-US" sz="1200" b="1" dirty="0">
                <a:solidFill>
                  <a:srgbClr val="000000"/>
                </a:solidFill>
                <a:latin typeface="Nunito" pitchFamily="34" charset="0"/>
                <a:ea typeface="Nunito" pitchFamily="34" charset="-122"/>
                <a:cs typeface="Nunito" pitchFamily="34" charset="-120"/>
              </a:rPr>
              <a:t>Statistik usullar</a:t>
            </a:r>
            <a:endParaRPr lang="en-US" sz="1050" dirty="0"/>
          </a:p>
        </p:txBody>
      </p:sp>
      <p:sp>
        <p:nvSpPr>
          <p:cNvPr id="44" name="Shape 36"/>
          <p:cNvSpPr/>
          <p:nvPr/>
        </p:nvSpPr>
        <p:spPr>
          <a:xfrm>
            <a:off x="4235768" y="4117347"/>
            <a:ext cx="1688550" cy="1803595"/>
          </a:xfrm>
          <a:custGeom>
            <a:avLst/>
            <a:gdLst/>
            <a:ahLst/>
            <a:cxnLst/>
            <a:rect l="l" t="t" r="r" b="b"/>
            <a:pathLst>
              <a:path w="1688550" h="1803595">
                <a:moveTo>
                  <a:pt x="0" y="0"/>
                </a:moveTo>
                <a:lnTo>
                  <a:pt x="1688550" y="0"/>
                </a:lnTo>
                <a:lnTo>
                  <a:pt x="1688550" y="1803595"/>
                </a:lnTo>
                <a:lnTo>
                  <a:pt x="0" y="1803595"/>
                </a:lnTo>
                <a:close/>
              </a:path>
            </a:pathLst>
          </a:custGeom>
          <a:solidFill>
            <a:srgbClr val="FFFFFF">
              <a:alpha val="0"/>
            </a:srgbClr>
          </a:solidFill>
          <a:ln/>
        </p:spPr>
      </p:sp>
      <p:sp>
        <p:nvSpPr>
          <p:cNvPr id="45" name="Text 37"/>
          <p:cNvSpPr/>
          <p:nvPr/>
        </p:nvSpPr>
        <p:spPr>
          <a:xfrm>
            <a:off x="4235768" y="4117347"/>
            <a:ext cx="1688550" cy="1803595"/>
          </a:xfrm>
          <a:prstGeom prst="rect">
            <a:avLst/>
          </a:prstGeom>
          <a:noFill/>
          <a:ln/>
        </p:spPr>
        <p:txBody>
          <a:bodyPr wrap="square" rtlCol="0" anchor="t"/>
          <a:lstStyle/>
          <a:p>
            <a:pPr indent="0" marL="0">
              <a:spcBef>
                <a:spcPts val="375"/>
              </a:spcBef>
              <a:buNone/>
            </a:pPr>
            <a:endParaRPr lang="en-US" sz="1050" dirty="0"/>
          </a:p>
        </p:txBody>
      </p:sp>
      <p:sp>
        <p:nvSpPr>
          <p:cNvPr id="46" name="Shape 38"/>
          <p:cNvSpPr/>
          <p:nvPr/>
        </p:nvSpPr>
        <p:spPr>
          <a:xfrm>
            <a:off x="4235768" y="4117347"/>
            <a:ext cx="1688550" cy="1803595"/>
          </a:xfrm>
          <a:custGeom>
            <a:avLst/>
            <a:gdLst/>
            <a:ahLst/>
            <a:cxnLst/>
            <a:rect l="l" t="t" r="r" b="b"/>
            <a:pathLst>
              <a:path w="1688550" h="1803595">
                <a:moveTo>
                  <a:pt x="0" y="0"/>
                </a:moveTo>
                <a:lnTo>
                  <a:pt x="1688550" y="0"/>
                </a:lnTo>
                <a:lnTo>
                  <a:pt x="1688550" y="1803595"/>
                </a:lnTo>
                <a:lnTo>
                  <a:pt x="0" y="1803595"/>
                </a:lnTo>
                <a:close/>
              </a:path>
            </a:pathLst>
          </a:custGeom>
          <a:solidFill>
            <a:srgbClr val="000000">
              <a:alpha val="0"/>
            </a:srgbClr>
          </a:solidFill>
          <a:ln/>
        </p:spPr>
      </p:sp>
      <p:sp>
        <p:nvSpPr>
          <p:cNvPr id="47" name="Text 39"/>
          <p:cNvSpPr/>
          <p:nvPr/>
        </p:nvSpPr>
        <p:spPr>
          <a:xfrm>
            <a:off x="4235768" y="4117347"/>
            <a:ext cx="1688550" cy="1803595"/>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O'rtacha, median va modalar kabi statistik ko'rsatkichlar bizga ma'lumotlarning asosiy xususiyatlarini tushunishga yordam beradi.</a:t>
            </a:r>
            <a:endParaRPr lang="en-US" sz="1050" dirty="0"/>
          </a:p>
        </p:txBody>
      </p:sp>
      <p:sp>
        <p:nvSpPr>
          <p:cNvPr id="48" name="Shape 40"/>
          <p:cNvSpPr/>
          <p:nvPr/>
        </p:nvSpPr>
        <p:spPr>
          <a:xfrm>
            <a:off x="4078605" y="3525267"/>
            <a:ext cx="1845741" cy="247650"/>
          </a:xfrm>
          <a:custGeom>
            <a:avLst/>
            <a:gdLst/>
            <a:ahLst/>
            <a:cxnLst/>
            <a:rect l="l" t="t" r="r" b="b"/>
            <a:pathLst>
              <a:path w="1845741" h="247650">
                <a:moveTo>
                  <a:pt x="0" y="0"/>
                </a:moveTo>
                <a:lnTo>
                  <a:pt x="1845741" y="0"/>
                </a:lnTo>
                <a:lnTo>
                  <a:pt x="1845741" y="247650"/>
                </a:lnTo>
                <a:lnTo>
                  <a:pt x="0" y="247650"/>
                </a:lnTo>
                <a:close/>
              </a:path>
            </a:pathLst>
          </a:custGeom>
          <a:solidFill>
            <a:srgbClr val="FFFFFF">
              <a:alpha val="0"/>
            </a:srgbClr>
          </a:solidFill>
          <a:ln/>
        </p:spPr>
      </p:sp>
      <p:sp>
        <p:nvSpPr>
          <p:cNvPr id="49" name="Text 41"/>
          <p:cNvSpPr/>
          <p:nvPr/>
        </p:nvSpPr>
        <p:spPr>
          <a:xfrm>
            <a:off x="4078605" y="3525267"/>
            <a:ext cx="1845741" cy="247650"/>
          </a:xfrm>
          <a:prstGeom prst="rect">
            <a:avLst/>
          </a:prstGeom>
          <a:noFill/>
          <a:ln/>
        </p:spPr>
        <p:txBody>
          <a:bodyPr wrap="square" rtlCol="0" anchor="t"/>
          <a:lstStyle/>
          <a:p>
            <a:pPr indent="0" marL="0">
              <a:spcBef>
                <a:spcPts val="375"/>
              </a:spcBef>
              <a:buNone/>
            </a:pPr>
            <a:endParaRPr lang="en-US" sz="1050" dirty="0"/>
          </a:p>
        </p:txBody>
      </p:sp>
      <p:sp>
        <p:nvSpPr>
          <p:cNvPr id="50" name="Shape 42"/>
          <p:cNvSpPr/>
          <p:nvPr/>
        </p:nvSpPr>
        <p:spPr>
          <a:xfrm>
            <a:off x="4078605" y="3525267"/>
            <a:ext cx="1845741" cy="247650"/>
          </a:xfrm>
          <a:custGeom>
            <a:avLst/>
            <a:gdLst/>
            <a:ahLst/>
            <a:cxnLst/>
            <a:rect l="l" t="t" r="r" b="b"/>
            <a:pathLst>
              <a:path w="1845741" h="247650">
                <a:moveTo>
                  <a:pt x="0" y="0"/>
                </a:moveTo>
                <a:lnTo>
                  <a:pt x="1845741" y="0"/>
                </a:lnTo>
                <a:lnTo>
                  <a:pt x="1845741" y="247650"/>
                </a:lnTo>
                <a:lnTo>
                  <a:pt x="0" y="247650"/>
                </a:lnTo>
                <a:close/>
              </a:path>
            </a:pathLst>
          </a:custGeom>
          <a:solidFill>
            <a:srgbClr val="000000">
              <a:alpha val="0"/>
            </a:srgbClr>
          </a:solidFill>
          <a:ln/>
        </p:spPr>
      </p:sp>
      <p:sp>
        <p:nvSpPr>
          <p:cNvPr id="51" name="Text 43"/>
          <p:cNvSpPr/>
          <p:nvPr/>
        </p:nvSpPr>
        <p:spPr>
          <a:xfrm>
            <a:off x="4078605" y="3525267"/>
            <a:ext cx="1845741" cy="247650"/>
          </a:xfrm>
          <a:prstGeom prst="rect">
            <a:avLst/>
          </a:prstGeom>
          <a:noFill/>
          <a:ln/>
        </p:spPr>
        <p:txBody>
          <a:bodyPr wrap="square" rtlCol="0" anchor="t"/>
          <a:lstStyle/>
          <a:p>
            <a:pPr algn="l" indent="0" marL="0">
              <a:spcBef>
                <a:spcPts val="375"/>
              </a:spcBef>
              <a:buNone/>
            </a:pPr>
            <a:r>
              <a:rPr lang="en-US" sz="1200" b="1" dirty="0">
                <a:solidFill>
                  <a:srgbClr val="000000"/>
                </a:solidFill>
                <a:latin typeface="Nunito" pitchFamily="34" charset="0"/>
                <a:ea typeface="Nunito" pitchFamily="34" charset="-122"/>
                <a:cs typeface="Nunito" pitchFamily="34" charset="-120"/>
              </a:rPr>
              <a:t>Statistika turlari</a:t>
            </a:r>
            <a:endParaRPr lang="en-US" sz="1050" dirty="0"/>
          </a:p>
        </p:txBody>
      </p:sp>
      <p:sp>
        <p:nvSpPr>
          <p:cNvPr id="52" name="Shape 44"/>
          <p:cNvSpPr/>
          <p:nvPr/>
        </p:nvSpPr>
        <p:spPr>
          <a:xfrm>
            <a:off x="6941071" y="4117347"/>
            <a:ext cx="1688550" cy="1026153"/>
          </a:xfrm>
          <a:custGeom>
            <a:avLst/>
            <a:gdLst/>
            <a:ahLst/>
            <a:cxnLst/>
            <a:rect l="l" t="t" r="r" b="b"/>
            <a:pathLst>
              <a:path w="1688550" h="1026153">
                <a:moveTo>
                  <a:pt x="0" y="0"/>
                </a:moveTo>
                <a:lnTo>
                  <a:pt x="1688550" y="0"/>
                </a:lnTo>
                <a:lnTo>
                  <a:pt x="1688550" y="1026153"/>
                </a:lnTo>
                <a:lnTo>
                  <a:pt x="0" y="1026153"/>
                </a:lnTo>
                <a:close/>
              </a:path>
            </a:pathLst>
          </a:custGeom>
          <a:solidFill>
            <a:srgbClr val="FFFFFF">
              <a:alpha val="0"/>
            </a:srgbClr>
          </a:solidFill>
          <a:ln/>
        </p:spPr>
      </p:sp>
      <p:sp>
        <p:nvSpPr>
          <p:cNvPr id="53" name="Text 45"/>
          <p:cNvSpPr/>
          <p:nvPr/>
        </p:nvSpPr>
        <p:spPr>
          <a:xfrm>
            <a:off x="6941071" y="4117347"/>
            <a:ext cx="1688550" cy="1026153"/>
          </a:xfrm>
          <a:prstGeom prst="rect">
            <a:avLst/>
          </a:prstGeom>
          <a:noFill/>
          <a:ln/>
        </p:spPr>
        <p:txBody>
          <a:bodyPr wrap="square" rtlCol="0" anchor="t"/>
          <a:lstStyle/>
          <a:p>
            <a:pPr indent="0" marL="0">
              <a:spcBef>
                <a:spcPts val="375"/>
              </a:spcBef>
              <a:buNone/>
            </a:pPr>
            <a:endParaRPr lang="en-US" sz="1050" dirty="0"/>
          </a:p>
        </p:txBody>
      </p:sp>
      <p:sp>
        <p:nvSpPr>
          <p:cNvPr id="54" name="Shape 46"/>
          <p:cNvSpPr/>
          <p:nvPr/>
        </p:nvSpPr>
        <p:spPr>
          <a:xfrm>
            <a:off x="6941071" y="4117347"/>
            <a:ext cx="1688550" cy="1026153"/>
          </a:xfrm>
          <a:custGeom>
            <a:avLst/>
            <a:gdLst/>
            <a:ahLst/>
            <a:cxnLst/>
            <a:rect l="l" t="t" r="r" b="b"/>
            <a:pathLst>
              <a:path w="1688550" h="1026153">
                <a:moveTo>
                  <a:pt x="0" y="0"/>
                </a:moveTo>
                <a:lnTo>
                  <a:pt x="1688550" y="0"/>
                </a:lnTo>
                <a:lnTo>
                  <a:pt x="1688550" y="1026153"/>
                </a:lnTo>
                <a:lnTo>
                  <a:pt x="0" y="1026153"/>
                </a:lnTo>
                <a:close/>
              </a:path>
            </a:pathLst>
          </a:custGeom>
          <a:solidFill>
            <a:srgbClr val="000000">
              <a:alpha val="0"/>
            </a:srgbClr>
          </a:solidFill>
          <a:ln/>
        </p:spPr>
      </p:sp>
      <p:sp>
        <p:nvSpPr>
          <p:cNvPr id="55" name="Text 47"/>
          <p:cNvSpPr/>
          <p:nvPr/>
        </p:nvSpPr>
        <p:spPr>
          <a:xfrm>
            <a:off x="6941071" y="4117347"/>
            <a:ext cx="1688550" cy="1026153"/>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Tasodifiy va tasodifiy bo'lmagan statistikalar, o'zaro bog'liqliklarni aniqlashda muhim ahamiyatga ega.</a:t>
            </a:r>
            <a:endParaRPr lang="en-US" sz="1050" dirty="0"/>
          </a:p>
        </p:txBody>
      </p:sp>
      <p:sp>
        <p:nvSpPr>
          <p:cNvPr id="56" name="Shape 48"/>
          <p:cNvSpPr/>
          <p:nvPr/>
        </p:nvSpPr>
        <p:spPr>
          <a:xfrm>
            <a:off x="6941071" y="3525267"/>
            <a:ext cx="1960300" cy="253826"/>
          </a:xfrm>
          <a:custGeom>
            <a:avLst/>
            <a:gdLst/>
            <a:ahLst/>
            <a:cxnLst/>
            <a:rect l="l" t="t" r="r" b="b"/>
            <a:pathLst>
              <a:path w="1960300" h="253826">
                <a:moveTo>
                  <a:pt x="0" y="0"/>
                </a:moveTo>
                <a:lnTo>
                  <a:pt x="1960300" y="0"/>
                </a:lnTo>
                <a:lnTo>
                  <a:pt x="1960300" y="253826"/>
                </a:lnTo>
                <a:lnTo>
                  <a:pt x="0" y="253826"/>
                </a:lnTo>
                <a:close/>
              </a:path>
            </a:pathLst>
          </a:custGeom>
          <a:solidFill>
            <a:srgbClr val="FFFFFF">
              <a:alpha val="0"/>
            </a:srgbClr>
          </a:solidFill>
          <a:ln/>
        </p:spPr>
      </p:sp>
      <p:sp>
        <p:nvSpPr>
          <p:cNvPr id="57" name="Text 49"/>
          <p:cNvSpPr/>
          <p:nvPr/>
        </p:nvSpPr>
        <p:spPr>
          <a:xfrm>
            <a:off x="6941071" y="3525267"/>
            <a:ext cx="1960300" cy="253826"/>
          </a:xfrm>
          <a:prstGeom prst="rect">
            <a:avLst/>
          </a:prstGeom>
          <a:noFill/>
          <a:ln/>
        </p:spPr>
        <p:txBody>
          <a:bodyPr wrap="square" rtlCol="0" anchor="t"/>
          <a:lstStyle/>
          <a:p>
            <a:pPr indent="0" marL="0">
              <a:spcBef>
                <a:spcPts val="375"/>
              </a:spcBef>
              <a:buNone/>
            </a:pPr>
            <a:endParaRPr lang="en-US" sz="1050" dirty="0"/>
          </a:p>
        </p:txBody>
      </p:sp>
      <p:sp>
        <p:nvSpPr>
          <p:cNvPr id="58" name="Shape 50"/>
          <p:cNvSpPr/>
          <p:nvPr/>
        </p:nvSpPr>
        <p:spPr>
          <a:xfrm>
            <a:off x="6941071" y="3525267"/>
            <a:ext cx="1960300" cy="253826"/>
          </a:xfrm>
          <a:custGeom>
            <a:avLst/>
            <a:gdLst/>
            <a:ahLst/>
            <a:cxnLst/>
            <a:rect l="l" t="t" r="r" b="b"/>
            <a:pathLst>
              <a:path w="1960300" h="253826">
                <a:moveTo>
                  <a:pt x="0" y="0"/>
                </a:moveTo>
                <a:lnTo>
                  <a:pt x="1960300" y="0"/>
                </a:lnTo>
                <a:lnTo>
                  <a:pt x="1960300" y="253826"/>
                </a:lnTo>
                <a:lnTo>
                  <a:pt x="0" y="253826"/>
                </a:lnTo>
                <a:close/>
              </a:path>
            </a:pathLst>
          </a:custGeom>
          <a:solidFill>
            <a:srgbClr val="000000">
              <a:alpha val="0"/>
            </a:srgbClr>
          </a:solidFill>
          <a:ln/>
        </p:spPr>
      </p:sp>
      <p:sp>
        <p:nvSpPr>
          <p:cNvPr id="59" name="Text 51"/>
          <p:cNvSpPr/>
          <p:nvPr/>
        </p:nvSpPr>
        <p:spPr>
          <a:xfrm>
            <a:off x="6941071" y="3525267"/>
            <a:ext cx="1960300" cy="253826"/>
          </a:xfrm>
          <a:prstGeom prst="rect">
            <a:avLst/>
          </a:prstGeom>
          <a:noFill/>
          <a:ln/>
        </p:spPr>
        <p:txBody>
          <a:bodyPr wrap="square" rtlCol="0" anchor="t"/>
          <a:lstStyle/>
          <a:p>
            <a:pPr algn="l" indent="0" marL="0">
              <a:spcBef>
                <a:spcPts val="375"/>
              </a:spcBef>
              <a:buNone/>
            </a:pPr>
            <a:r>
              <a:rPr lang="en-US" sz="1200" b="1" dirty="0">
                <a:solidFill>
                  <a:srgbClr val="000000"/>
                </a:solidFill>
                <a:latin typeface="Nunito" pitchFamily="34" charset="0"/>
                <a:ea typeface="Nunito" pitchFamily="34" charset="-122"/>
                <a:cs typeface="Nunito" pitchFamily="34" charset="-120"/>
              </a:rPr>
              <a:t>Statistikani qo'llash sohalari</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1F1F1"/>
        </a:solidFill>
      </p:bgPr>
    </p:bg>
    <p:spTree>
      <p:nvGrpSpPr>
        <p:cNvPr id="1" name=""/>
        <p:cNvGrpSpPr/>
        <p:nvPr/>
      </p:nvGrpSpPr>
      <p:grpSpPr>
        <a:xfrm>
          <a:off x="0" y="0"/>
          <a:ext cx="0" cy="0"/>
          <a:chOff x="0" y="0"/>
          <a:chExt cx="0" cy="0"/>
        </a:xfrm>
      </p:grpSpPr>
      <p:pic>
        <p:nvPicPr>
          <p:cNvPr id="2" name="Image 0" descr="./images\slide9_img85.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images\slide9_img86.png">    </p:cNvPr>
          <p:cNvPicPr>
            <a:picLocks noChangeAspect="1"/>
          </p:cNvPicPr>
          <p:nvPr/>
        </p:nvPicPr>
        <p:blipFill>
          <a:blip r:embed="rId2"/>
          <a:stretch>
            <a:fillRect/>
          </a:stretch>
        </p:blipFill>
        <p:spPr>
          <a:xfrm>
            <a:off x="-251991" y="1147736"/>
            <a:ext cx="9647983" cy="210502"/>
          </a:xfrm>
          <a:prstGeom prst="rect">
            <a:avLst/>
          </a:prstGeom>
        </p:spPr>
      </p:pic>
      <p:sp>
        <p:nvSpPr>
          <p:cNvPr id="4" name="Shape 0"/>
          <p:cNvSpPr/>
          <p:nvPr/>
        </p:nvSpPr>
        <p:spPr>
          <a:xfrm>
            <a:off x="-251991" y="1147736"/>
            <a:ext cx="9647983" cy="210502"/>
          </a:xfrm>
          <a:custGeom>
            <a:avLst/>
            <a:gdLst/>
            <a:ahLst/>
            <a:cxnLst/>
            <a:rect l="l" t="t" r="r" b="b"/>
            <a:pathLst>
              <a:path w="9647983" h="210502">
                <a:moveTo>
                  <a:pt x="0" y="0"/>
                </a:moveTo>
                <a:lnTo>
                  <a:pt x="9647983" y="0"/>
                </a:lnTo>
                <a:lnTo>
                  <a:pt x="9647983" y="210502"/>
                </a:lnTo>
                <a:lnTo>
                  <a:pt x="0" y="210502"/>
                </a:lnTo>
                <a:close/>
              </a:path>
            </a:pathLst>
          </a:custGeom>
          <a:solidFill>
            <a:srgbClr val="FFFFFF">
              <a:alpha val="0"/>
            </a:srgbClr>
          </a:solidFill>
          <a:ln/>
        </p:spPr>
      </p:sp>
      <p:sp>
        <p:nvSpPr>
          <p:cNvPr id="5" name="Text 1"/>
          <p:cNvSpPr/>
          <p:nvPr/>
        </p:nvSpPr>
        <p:spPr>
          <a:xfrm>
            <a:off x="-251991" y="1147736"/>
            <a:ext cx="9647983" cy="210502"/>
          </a:xfrm>
          <a:prstGeom prst="rect">
            <a:avLst/>
          </a:prstGeom>
          <a:noFill/>
          <a:ln/>
        </p:spPr>
        <p:txBody>
          <a:bodyPr wrap="square" rtlCol="0" anchor="t"/>
          <a:lstStyle/>
          <a:p>
            <a:pPr indent="0" marL="0">
              <a:spcBef>
                <a:spcPts val="375"/>
              </a:spcBef>
              <a:buNone/>
            </a:pPr>
            <a:endParaRPr lang="en-US" sz="1050" dirty="0"/>
          </a:p>
        </p:txBody>
      </p:sp>
      <p:sp>
        <p:nvSpPr>
          <p:cNvPr id="6" name="Shape 2"/>
          <p:cNvSpPr/>
          <p:nvPr/>
        </p:nvSpPr>
        <p:spPr>
          <a:xfrm>
            <a:off x="-251991" y="1147736"/>
            <a:ext cx="9647983" cy="210502"/>
          </a:xfrm>
          <a:custGeom>
            <a:avLst/>
            <a:gdLst/>
            <a:ahLst/>
            <a:cxnLst/>
            <a:rect l="l" t="t" r="r" b="b"/>
            <a:pathLst>
              <a:path w="9647983" h="210502">
                <a:moveTo>
                  <a:pt x="0" y="0"/>
                </a:moveTo>
                <a:lnTo>
                  <a:pt x="9647983" y="0"/>
                </a:lnTo>
                <a:lnTo>
                  <a:pt x="9647983" y="210502"/>
                </a:lnTo>
                <a:lnTo>
                  <a:pt x="0" y="210502"/>
                </a:lnTo>
                <a:close/>
              </a:path>
            </a:pathLst>
          </a:custGeom>
          <a:solidFill>
            <a:srgbClr val="000000">
              <a:alpha val="0"/>
            </a:srgbClr>
          </a:solidFill>
          <a:ln/>
        </p:spPr>
      </p:sp>
      <p:sp>
        <p:nvSpPr>
          <p:cNvPr id="7" name="Text 3"/>
          <p:cNvSpPr/>
          <p:nvPr/>
        </p:nvSpPr>
        <p:spPr>
          <a:xfrm>
            <a:off x="-251991" y="1147736"/>
            <a:ext cx="9647983" cy="210502"/>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8" name="Image 2" descr="./images\slide9_img87.png">    </p:cNvPr>
          <p:cNvPicPr>
            <a:picLocks noChangeAspect="1"/>
          </p:cNvPicPr>
          <p:nvPr/>
        </p:nvPicPr>
        <p:blipFill>
          <a:blip r:embed="rId3"/>
          <a:stretch>
            <a:fillRect/>
          </a:stretch>
        </p:blipFill>
        <p:spPr>
          <a:xfrm>
            <a:off x="-251991" y="1147736"/>
            <a:ext cx="9647983" cy="210502"/>
          </a:xfrm>
          <a:prstGeom prst="rect">
            <a:avLst/>
          </a:prstGeom>
        </p:spPr>
      </p:pic>
      <p:pic>
        <p:nvPicPr>
          <p:cNvPr id="9" name="Image 3" descr="./images\slide9_img88.png">    </p:cNvPr>
          <p:cNvPicPr>
            <a:picLocks noChangeAspect="1"/>
          </p:cNvPicPr>
          <p:nvPr/>
        </p:nvPicPr>
        <p:blipFill>
          <a:blip r:embed="rId4"/>
          <a:stretch>
            <a:fillRect/>
          </a:stretch>
        </p:blipFill>
        <p:spPr>
          <a:xfrm rot="10800000">
            <a:off x="-251991" y="3490437"/>
            <a:ext cx="9647983" cy="210502"/>
          </a:xfrm>
          <a:prstGeom prst="rect">
            <a:avLst/>
          </a:prstGeom>
        </p:spPr>
      </p:pic>
      <p:sp>
        <p:nvSpPr>
          <p:cNvPr id="10" name="Shape 4"/>
          <p:cNvSpPr/>
          <p:nvPr/>
        </p:nvSpPr>
        <p:spPr>
          <a:xfrm rot="10800000">
            <a:off x="-251991" y="3490437"/>
            <a:ext cx="9647983" cy="210502"/>
          </a:xfrm>
          <a:custGeom>
            <a:avLst/>
            <a:gdLst/>
            <a:ahLst/>
            <a:cxnLst/>
            <a:rect l="l" t="t" r="r" b="b"/>
            <a:pathLst>
              <a:path w="9647983" h="210502">
                <a:moveTo>
                  <a:pt x="0" y="0"/>
                </a:moveTo>
                <a:lnTo>
                  <a:pt x="9647983" y="0"/>
                </a:lnTo>
                <a:lnTo>
                  <a:pt x="9647983" y="210502"/>
                </a:lnTo>
                <a:lnTo>
                  <a:pt x="0" y="210502"/>
                </a:lnTo>
                <a:close/>
              </a:path>
            </a:pathLst>
          </a:custGeom>
          <a:solidFill>
            <a:srgbClr val="FFFFFF">
              <a:alpha val="0"/>
            </a:srgbClr>
          </a:solidFill>
          <a:ln/>
        </p:spPr>
      </p:sp>
      <p:sp>
        <p:nvSpPr>
          <p:cNvPr id="11" name="Text 5"/>
          <p:cNvSpPr/>
          <p:nvPr/>
        </p:nvSpPr>
        <p:spPr>
          <a:xfrm rot="10800000">
            <a:off x="-251991" y="3490437"/>
            <a:ext cx="9647983" cy="210502"/>
          </a:xfrm>
          <a:prstGeom prst="rect">
            <a:avLst/>
          </a:prstGeom>
          <a:noFill/>
          <a:ln/>
        </p:spPr>
        <p:txBody>
          <a:bodyPr wrap="square" rtlCol="0" anchor="t"/>
          <a:lstStyle/>
          <a:p>
            <a:pPr indent="0" marL="0">
              <a:spcBef>
                <a:spcPts val="375"/>
              </a:spcBef>
              <a:buNone/>
            </a:pPr>
            <a:endParaRPr lang="en-US" sz="1050" dirty="0"/>
          </a:p>
        </p:txBody>
      </p:sp>
      <p:sp>
        <p:nvSpPr>
          <p:cNvPr id="12" name="Shape 6"/>
          <p:cNvSpPr/>
          <p:nvPr/>
        </p:nvSpPr>
        <p:spPr>
          <a:xfrm rot="10800000">
            <a:off x="-251991" y="3490437"/>
            <a:ext cx="9647983" cy="210502"/>
          </a:xfrm>
          <a:custGeom>
            <a:avLst/>
            <a:gdLst/>
            <a:ahLst/>
            <a:cxnLst/>
            <a:rect l="l" t="t" r="r" b="b"/>
            <a:pathLst>
              <a:path w="9647983" h="210502">
                <a:moveTo>
                  <a:pt x="0" y="0"/>
                </a:moveTo>
                <a:lnTo>
                  <a:pt x="9647983" y="0"/>
                </a:lnTo>
                <a:lnTo>
                  <a:pt x="9647983" y="210502"/>
                </a:lnTo>
                <a:lnTo>
                  <a:pt x="0" y="210502"/>
                </a:lnTo>
                <a:close/>
              </a:path>
            </a:pathLst>
          </a:custGeom>
          <a:solidFill>
            <a:srgbClr val="000000">
              <a:alpha val="0"/>
            </a:srgbClr>
          </a:solidFill>
          <a:ln/>
        </p:spPr>
      </p:sp>
      <p:sp>
        <p:nvSpPr>
          <p:cNvPr id="13" name="Text 7"/>
          <p:cNvSpPr/>
          <p:nvPr/>
        </p:nvSpPr>
        <p:spPr>
          <a:xfrm rot="10800000">
            <a:off x="-251991" y="3490437"/>
            <a:ext cx="9647983" cy="210502"/>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14" name="Image 4" descr="./images\slide9_img89.png">    </p:cNvPr>
          <p:cNvPicPr>
            <a:picLocks noChangeAspect="1"/>
          </p:cNvPicPr>
          <p:nvPr/>
        </p:nvPicPr>
        <p:blipFill>
          <a:blip r:embed="rId5"/>
          <a:stretch>
            <a:fillRect/>
          </a:stretch>
        </p:blipFill>
        <p:spPr>
          <a:xfrm rot="10800000">
            <a:off x="-251991" y="3490437"/>
            <a:ext cx="9647983" cy="210502"/>
          </a:xfrm>
          <a:prstGeom prst="rect">
            <a:avLst/>
          </a:prstGeom>
        </p:spPr>
      </p:pic>
      <p:pic>
        <p:nvPicPr>
          <p:cNvPr id="15" name="Image 5" descr="./images\slide9_img90.jpeg">    </p:cNvPr>
          <p:cNvPicPr>
            <a:picLocks noChangeAspect="1"/>
          </p:cNvPicPr>
          <p:nvPr/>
        </p:nvPicPr>
        <p:blipFill>
          <a:blip r:embed="rId6"/>
          <a:srcRect l="0" r="45747" t="17465" b="61812"/>
          <a:stretch/>
        </p:blipFill>
        <p:spPr>
          <a:xfrm>
            <a:off x="0" y="1252986"/>
            <a:ext cx="8778240" cy="2235277"/>
          </a:xfrm>
          <a:prstGeom prst="rect">
            <a:avLst/>
          </a:prstGeom>
        </p:spPr>
      </p:pic>
      <p:sp>
        <p:nvSpPr>
          <p:cNvPr id="16" name="Shape 8"/>
          <p:cNvSpPr/>
          <p:nvPr/>
        </p:nvSpPr>
        <p:spPr>
          <a:xfrm>
            <a:off x="874042" y="113254"/>
            <a:ext cx="7395900" cy="514350"/>
          </a:xfrm>
          <a:custGeom>
            <a:avLst/>
            <a:gdLst/>
            <a:ahLst/>
            <a:cxnLst/>
            <a:rect l="l" t="t" r="r" b="b"/>
            <a:pathLst>
              <a:path w="7395900" h="514350">
                <a:moveTo>
                  <a:pt x="0" y="0"/>
                </a:moveTo>
                <a:lnTo>
                  <a:pt x="7395900" y="0"/>
                </a:lnTo>
                <a:lnTo>
                  <a:pt x="7395900" y="514350"/>
                </a:lnTo>
                <a:lnTo>
                  <a:pt x="0" y="514350"/>
                </a:lnTo>
                <a:close/>
              </a:path>
            </a:pathLst>
          </a:custGeom>
          <a:solidFill>
            <a:srgbClr val="FFFFFF">
              <a:alpha val="0"/>
            </a:srgbClr>
          </a:solidFill>
          <a:ln/>
        </p:spPr>
      </p:sp>
      <p:sp>
        <p:nvSpPr>
          <p:cNvPr id="17" name="Text 9"/>
          <p:cNvSpPr/>
          <p:nvPr/>
        </p:nvSpPr>
        <p:spPr>
          <a:xfrm>
            <a:off x="874042" y="113254"/>
            <a:ext cx="7395900" cy="514350"/>
          </a:xfrm>
          <a:prstGeom prst="rect">
            <a:avLst/>
          </a:prstGeom>
          <a:noFill/>
          <a:ln/>
        </p:spPr>
        <p:txBody>
          <a:bodyPr wrap="square" rtlCol="0" anchor="t"/>
          <a:lstStyle/>
          <a:p>
            <a:pPr indent="0" marL="0">
              <a:spcBef>
                <a:spcPts val="375"/>
              </a:spcBef>
              <a:buNone/>
            </a:pPr>
            <a:endParaRPr lang="en-US" sz="1050" dirty="0"/>
          </a:p>
        </p:txBody>
      </p:sp>
      <p:sp>
        <p:nvSpPr>
          <p:cNvPr id="18" name="Shape 10"/>
          <p:cNvSpPr/>
          <p:nvPr/>
        </p:nvSpPr>
        <p:spPr>
          <a:xfrm>
            <a:off x="874042" y="113254"/>
            <a:ext cx="7395900" cy="514350"/>
          </a:xfrm>
          <a:custGeom>
            <a:avLst/>
            <a:gdLst/>
            <a:ahLst/>
            <a:cxnLst/>
            <a:rect l="l" t="t" r="r" b="b"/>
            <a:pathLst>
              <a:path w="7395900" h="514350">
                <a:moveTo>
                  <a:pt x="0" y="0"/>
                </a:moveTo>
                <a:lnTo>
                  <a:pt x="7395900" y="0"/>
                </a:lnTo>
                <a:lnTo>
                  <a:pt x="7395900" y="514350"/>
                </a:lnTo>
                <a:lnTo>
                  <a:pt x="0" y="514350"/>
                </a:lnTo>
                <a:close/>
              </a:path>
            </a:pathLst>
          </a:custGeom>
          <a:solidFill>
            <a:srgbClr val="000000">
              <a:alpha val="0"/>
            </a:srgbClr>
          </a:solidFill>
          <a:ln/>
        </p:spPr>
      </p:sp>
      <p:sp>
        <p:nvSpPr>
          <p:cNvPr id="19" name="Text 11"/>
          <p:cNvSpPr/>
          <p:nvPr/>
        </p:nvSpPr>
        <p:spPr>
          <a:xfrm>
            <a:off x="874042" y="113254"/>
            <a:ext cx="7395900" cy="514350"/>
          </a:xfrm>
          <a:prstGeom prst="rect">
            <a:avLst/>
          </a:prstGeom>
          <a:noFill/>
          <a:ln/>
        </p:spPr>
        <p:txBody>
          <a:bodyPr wrap="square" rtlCol="0" anchor="t"/>
          <a:lstStyle/>
          <a:p>
            <a:pPr algn="ctr" indent="0" marL="0">
              <a:spcBef>
                <a:spcPts val="375"/>
              </a:spcBef>
              <a:buNone/>
            </a:pPr>
            <a:r>
              <a:rPr lang="en-US" sz="3300" dirty="0">
                <a:solidFill>
                  <a:srgbClr val="45464D"/>
                </a:solidFill>
                <a:latin typeface="Caveat Brush" pitchFamily="34" charset="0"/>
                <a:ea typeface="Caveat Brush" pitchFamily="34" charset="-122"/>
                <a:cs typeface="Caveat Brush" pitchFamily="34" charset="-120"/>
              </a:rPr>
              <a:t>O'smalar va ularning tarqalishi</a:t>
            </a:r>
            <a:endParaRPr lang="en-US" sz="1050" dirty="0"/>
          </a:p>
        </p:txBody>
      </p:sp>
      <p:pic>
        <p:nvPicPr>
          <p:cNvPr id="20" name="Image 6" descr="./images\slide9_img91.png">    </p:cNvPr>
          <p:cNvPicPr>
            <a:picLocks noChangeAspect="1"/>
          </p:cNvPicPr>
          <p:nvPr/>
        </p:nvPicPr>
        <p:blipFill>
          <a:blip r:embed="rId7"/>
          <a:stretch>
            <a:fillRect/>
          </a:stretch>
        </p:blipFill>
        <p:spPr>
          <a:xfrm>
            <a:off x="7876431" y="113254"/>
            <a:ext cx="1129834" cy="1549648"/>
          </a:xfrm>
          <a:prstGeom prst="rect">
            <a:avLst/>
          </a:prstGeom>
        </p:spPr>
      </p:pic>
      <p:sp>
        <p:nvSpPr>
          <p:cNvPr id="21" name="Shape 12"/>
          <p:cNvSpPr/>
          <p:nvPr/>
        </p:nvSpPr>
        <p:spPr>
          <a:xfrm>
            <a:off x="261115" y="3980180"/>
            <a:ext cx="2686650" cy="476696"/>
          </a:xfrm>
          <a:custGeom>
            <a:avLst/>
            <a:gdLst/>
            <a:ahLst/>
            <a:cxnLst/>
            <a:rect l="l" t="t" r="r" b="b"/>
            <a:pathLst>
              <a:path w="2686650" h="476696">
                <a:moveTo>
                  <a:pt x="0" y="0"/>
                </a:moveTo>
                <a:lnTo>
                  <a:pt x="2686650" y="0"/>
                </a:lnTo>
                <a:lnTo>
                  <a:pt x="2686650" y="476696"/>
                </a:lnTo>
                <a:lnTo>
                  <a:pt x="0" y="476696"/>
                </a:lnTo>
                <a:close/>
              </a:path>
            </a:pathLst>
          </a:custGeom>
          <a:solidFill>
            <a:srgbClr val="FFFFFF">
              <a:alpha val="0"/>
            </a:srgbClr>
          </a:solidFill>
          <a:ln/>
        </p:spPr>
      </p:sp>
      <p:sp>
        <p:nvSpPr>
          <p:cNvPr id="22" name="Text 13"/>
          <p:cNvSpPr/>
          <p:nvPr/>
        </p:nvSpPr>
        <p:spPr>
          <a:xfrm>
            <a:off x="261115" y="3980180"/>
            <a:ext cx="2686650" cy="476696"/>
          </a:xfrm>
          <a:prstGeom prst="rect">
            <a:avLst/>
          </a:prstGeom>
          <a:noFill/>
          <a:ln/>
        </p:spPr>
        <p:txBody>
          <a:bodyPr wrap="square" rtlCol="0" anchor="t"/>
          <a:lstStyle/>
          <a:p>
            <a:pPr indent="0" marL="0">
              <a:spcBef>
                <a:spcPts val="375"/>
              </a:spcBef>
              <a:buNone/>
            </a:pPr>
            <a:endParaRPr lang="en-US" sz="1050" dirty="0"/>
          </a:p>
        </p:txBody>
      </p:sp>
      <p:sp>
        <p:nvSpPr>
          <p:cNvPr id="23" name="Shape 14"/>
          <p:cNvSpPr/>
          <p:nvPr/>
        </p:nvSpPr>
        <p:spPr>
          <a:xfrm>
            <a:off x="261115" y="3980180"/>
            <a:ext cx="2686650" cy="476696"/>
          </a:xfrm>
          <a:custGeom>
            <a:avLst/>
            <a:gdLst/>
            <a:ahLst/>
            <a:cxnLst/>
            <a:rect l="l" t="t" r="r" b="b"/>
            <a:pathLst>
              <a:path w="2686650" h="476696">
                <a:moveTo>
                  <a:pt x="0" y="0"/>
                </a:moveTo>
                <a:lnTo>
                  <a:pt x="2686650" y="0"/>
                </a:lnTo>
                <a:lnTo>
                  <a:pt x="2686650" y="476696"/>
                </a:lnTo>
                <a:lnTo>
                  <a:pt x="0" y="476696"/>
                </a:lnTo>
                <a:close/>
              </a:path>
            </a:pathLst>
          </a:custGeom>
          <a:solidFill>
            <a:srgbClr val="000000">
              <a:alpha val="0"/>
            </a:srgbClr>
          </a:solidFill>
          <a:ln/>
        </p:spPr>
      </p:sp>
      <p:sp>
        <p:nvSpPr>
          <p:cNvPr id="24" name="Text 15"/>
          <p:cNvSpPr/>
          <p:nvPr/>
        </p:nvSpPr>
        <p:spPr>
          <a:xfrm>
            <a:off x="261115" y="3980180"/>
            <a:ext cx="2686650" cy="476696"/>
          </a:xfrm>
          <a:prstGeom prst="rect">
            <a:avLst/>
          </a:prstGeom>
          <a:noFill/>
          <a:ln/>
        </p:spPr>
        <p:txBody>
          <a:bodyPr wrap="square" rtlCol="0" anchor="t"/>
          <a:lstStyle/>
          <a:p>
            <a:pPr algn="ctr" indent="0" marL="0">
              <a:spcBef>
                <a:spcPts val="375"/>
              </a:spcBef>
              <a:buNone/>
            </a:pPr>
            <a:r>
              <a:rPr lang="en-US" sz="975" dirty="0">
                <a:solidFill>
                  <a:srgbClr val="000000"/>
                </a:solidFill>
                <a:latin typeface="Nunito" pitchFamily="34" charset="0"/>
                <a:ea typeface="Nunito" pitchFamily="34" charset="-122"/>
                <a:cs typeface="Nunito" pitchFamily="34" charset="-120"/>
              </a:rPr>
              <a:t>O'smalar, yoki vegetativ organizmlar, yer yuzida keng tarqalgan. Ular turli iqlim sharoitlariga moslashgan va ko'plab ekotizimlarda muhim rol o'ynaydi. O'smalar oziq-ovqat zanjirining asosi bo'lib, ko'plab hayvonlar va insonlar uchun oziq-ovqat manbai hisoblanadi.</a:t>
            </a:r>
            <a:endParaRPr lang="en-US" sz="1050" dirty="0"/>
          </a:p>
        </p:txBody>
      </p:sp>
      <p:sp>
        <p:nvSpPr>
          <p:cNvPr id="25" name="Shape 16"/>
          <p:cNvSpPr/>
          <p:nvPr/>
        </p:nvSpPr>
        <p:spPr>
          <a:xfrm>
            <a:off x="6196215" y="3980180"/>
            <a:ext cx="2686650" cy="476696"/>
          </a:xfrm>
          <a:custGeom>
            <a:avLst/>
            <a:gdLst/>
            <a:ahLst/>
            <a:cxnLst/>
            <a:rect l="l" t="t" r="r" b="b"/>
            <a:pathLst>
              <a:path w="2686650" h="476696">
                <a:moveTo>
                  <a:pt x="0" y="0"/>
                </a:moveTo>
                <a:lnTo>
                  <a:pt x="2686650" y="0"/>
                </a:lnTo>
                <a:lnTo>
                  <a:pt x="2686650" y="476696"/>
                </a:lnTo>
                <a:lnTo>
                  <a:pt x="0" y="476696"/>
                </a:lnTo>
                <a:close/>
              </a:path>
            </a:pathLst>
          </a:custGeom>
          <a:solidFill>
            <a:srgbClr val="FFFFFF">
              <a:alpha val="0"/>
            </a:srgbClr>
          </a:solidFill>
          <a:ln/>
        </p:spPr>
      </p:sp>
      <p:sp>
        <p:nvSpPr>
          <p:cNvPr id="26" name="Text 17"/>
          <p:cNvSpPr/>
          <p:nvPr/>
        </p:nvSpPr>
        <p:spPr>
          <a:xfrm>
            <a:off x="6196215" y="3980180"/>
            <a:ext cx="2686650" cy="476696"/>
          </a:xfrm>
          <a:prstGeom prst="rect">
            <a:avLst/>
          </a:prstGeom>
          <a:noFill/>
          <a:ln/>
        </p:spPr>
        <p:txBody>
          <a:bodyPr wrap="square" rtlCol="0" anchor="t"/>
          <a:lstStyle/>
          <a:p>
            <a:pPr indent="0" marL="0">
              <a:spcBef>
                <a:spcPts val="375"/>
              </a:spcBef>
              <a:buNone/>
            </a:pPr>
            <a:endParaRPr lang="en-US" sz="1050" dirty="0"/>
          </a:p>
        </p:txBody>
      </p:sp>
      <p:sp>
        <p:nvSpPr>
          <p:cNvPr id="27" name="Shape 18"/>
          <p:cNvSpPr/>
          <p:nvPr/>
        </p:nvSpPr>
        <p:spPr>
          <a:xfrm>
            <a:off x="6196215" y="3980180"/>
            <a:ext cx="2686650" cy="476696"/>
          </a:xfrm>
          <a:custGeom>
            <a:avLst/>
            <a:gdLst/>
            <a:ahLst/>
            <a:cxnLst/>
            <a:rect l="l" t="t" r="r" b="b"/>
            <a:pathLst>
              <a:path w="2686650" h="476696">
                <a:moveTo>
                  <a:pt x="0" y="0"/>
                </a:moveTo>
                <a:lnTo>
                  <a:pt x="2686650" y="0"/>
                </a:lnTo>
                <a:lnTo>
                  <a:pt x="2686650" y="476696"/>
                </a:lnTo>
                <a:lnTo>
                  <a:pt x="0" y="476696"/>
                </a:lnTo>
                <a:close/>
              </a:path>
            </a:pathLst>
          </a:custGeom>
          <a:solidFill>
            <a:srgbClr val="000000">
              <a:alpha val="0"/>
            </a:srgbClr>
          </a:solidFill>
          <a:ln/>
        </p:spPr>
      </p:sp>
      <p:sp>
        <p:nvSpPr>
          <p:cNvPr id="28" name="Text 19"/>
          <p:cNvSpPr/>
          <p:nvPr/>
        </p:nvSpPr>
        <p:spPr>
          <a:xfrm>
            <a:off x="6196215" y="3980180"/>
            <a:ext cx="2686650" cy="476696"/>
          </a:xfrm>
          <a:prstGeom prst="rect">
            <a:avLst/>
          </a:prstGeom>
          <a:noFill/>
          <a:ln/>
        </p:spPr>
        <p:txBody>
          <a:bodyPr wrap="square" rtlCol="0" anchor="t"/>
          <a:lstStyle/>
          <a:p>
            <a:pPr algn="ctr" indent="0" marL="0">
              <a:spcBef>
                <a:spcPts val="375"/>
              </a:spcBef>
              <a:buNone/>
            </a:pPr>
            <a:r>
              <a:rPr lang="en-US" sz="975" dirty="0">
                <a:solidFill>
                  <a:srgbClr val="000000"/>
                </a:solidFill>
                <a:latin typeface="Nunito" pitchFamily="34" charset="0"/>
                <a:ea typeface="Nunito" pitchFamily="34" charset="-122"/>
                <a:cs typeface="Nunito" pitchFamily="34" charset="-120"/>
              </a:rPr>
              <a:t>O'smalarni tarqatish jarayoni tabiiy va inson tomonidan amalga oshiriladigan faoliyatlar orqali sodir bo'ladi. Ular urug'lar, qishloq xo'jaligi amaliyotlari va tabiiy fenomenlar orqali kengayadi. O'smalarni saqlash va ularning tarqalishini nazorat qilish atrof-muhit muhofazasi uchun juda muhimdir.</a:t>
            </a:r>
            <a:endParaRPr lang="en-US" sz="1050" dirty="0"/>
          </a:p>
        </p:txBody>
      </p:sp>
      <p:sp>
        <p:nvSpPr>
          <p:cNvPr id="29" name="Shape 20"/>
          <p:cNvSpPr/>
          <p:nvPr/>
        </p:nvSpPr>
        <p:spPr>
          <a:xfrm>
            <a:off x="3228665" y="3980180"/>
            <a:ext cx="2686650" cy="476696"/>
          </a:xfrm>
          <a:custGeom>
            <a:avLst/>
            <a:gdLst/>
            <a:ahLst/>
            <a:cxnLst/>
            <a:rect l="l" t="t" r="r" b="b"/>
            <a:pathLst>
              <a:path w="2686650" h="476696">
                <a:moveTo>
                  <a:pt x="0" y="0"/>
                </a:moveTo>
                <a:lnTo>
                  <a:pt x="2686650" y="0"/>
                </a:lnTo>
                <a:lnTo>
                  <a:pt x="2686650" y="476696"/>
                </a:lnTo>
                <a:lnTo>
                  <a:pt x="0" y="476696"/>
                </a:lnTo>
                <a:close/>
              </a:path>
            </a:pathLst>
          </a:custGeom>
          <a:solidFill>
            <a:srgbClr val="FFFFFF">
              <a:alpha val="0"/>
            </a:srgbClr>
          </a:solidFill>
          <a:ln/>
        </p:spPr>
      </p:sp>
      <p:sp>
        <p:nvSpPr>
          <p:cNvPr id="30" name="Text 21"/>
          <p:cNvSpPr/>
          <p:nvPr/>
        </p:nvSpPr>
        <p:spPr>
          <a:xfrm>
            <a:off x="3228665" y="3980180"/>
            <a:ext cx="2686650" cy="476696"/>
          </a:xfrm>
          <a:prstGeom prst="rect">
            <a:avLst/>
          </a:prstGeom>
          <a:noFill/>
          <a:ln/>
        </p:spPr>
        <p:txBody>
          <a:bodyPr wrap="square" rtlCol="0" anchor="t"/>
          <a:lstStyle/>
          <a:p>
            <a:pPr indent="0" marL="0">
              <a:spcBef>
                <a:spcPts val="375"/>
              </a:spcBef>
              <a:buNone/>
            </a:pPr>
            <a:endParaRPr lang="en-US" sz="1050" dirty="0"/>
          </a:p>
        </p:txBody>
      </p:sp>
      <p:sp>
        <p:nvSpPr>
          <p:cNvPr id="31" name="Shape 22"/>
          <p:cNvSpPr/>
          <p:nvPr/>
        </p:nvSpPr>
        <p:spPr>
          <a:xfrm>
            <a:off x="3228665" y="3980180"/>
            <a:ext cx="2686650" cy="476696"/>
          </a:xfrm>
          <a:custGeom>
            <a:avLst/>
            <a:gdLst/>
            <a:ahLst/>
            <a:cxnLst/>
            <a:rect l="l" t="t" r="r" b="b"/>
            <a:pathLst>
              <a:path w="2686650" h="476696">
                <a:moveTo>
                  <a:pt x="0" y="0"/>
                </a:moveTo>
                <a:lnTo>
                  <a:pt x="2686650" y="0"/>
                </a:lnTo>
                <a:lnTo>
                  <a:pt x="2686650" y="476696"/>
                </a:lnTo>
                <a:lnTo>
                  <a:pt x="0" y="476696"/>
                </a:lnTo>
                <a:close/>
              </a:path>
            </a:pathLst>
          </a:custGeom>
          <a:solidFill>
            <a:srgbClr val="000000">
              <a:alpha val="0"/>
            </a:srgbClr>
          </a:solidFill>
          <a:ln/>
        </p:spPr>
      </p:sp>
      <p:sp>
        <p:nvSpPr>
          <p:cNvPr id="32" name="Text 23"/>
          <p:cNvSpPr/>
          <p:nvPr/>
        </p:nvSpPr>
        <p:spPr>
          <a:xfrm>
            <a:off x="3228665" y="3980180"/>
            <a:ext cx="2686650" cy="476696"/>
          </a:xfrm>
          <a:prstGeom prst="rect">
            <a:avLst/>
          </a:prstGeom>
          <a:noFill/>
          <a:ln/>
        </p:spPr>
        <p:txBody>
          <a:bodyPr wrap="square" rtlCol="0" anchor="t"/>
          <a:lstStyle/>
          <a:p>
            <a:pPr algn="ctr" indent="0" marL="0">
              <a:spcBef>
                <a:spcPts val="375"/>
              </a:spcBef>
              <a:buNone/>
            </a:pPr>
            <a:r>
              <a:rPr lang="en-US" sz="975" dirty="0">
                <a:solidFill>
                  <a:srgbClr val="000000"/>
                </a:solidFill>
                <a:latin typeface="Nunito" pitchFamily="34" charset="0"/>
                <a:ea typeface="Nunito" pitchFamily="34" charset="-122"/>
                <a:cs typeface="Nunito" pitchFamily="34" charset="-120"/>
              </a:rPr>
              <a:t>O'smalar turli xil iqlim va geografik sharoitlarga moslashadi. Ular quruqlik, suv va havo orqali tarqaladi. O'smalarni o'rganish va ularning tarqalishini tushunish ekologik muammolarni hal qilishda yordam beradi.</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1F1F1"/>
        </a:solidFill>
      </p:bgPr>
    </p:bg>
    <p:spTree>
      <p:nvGrpSpPr>
        <p:cNvPr id="1" name=""/>
        <p:cNvGrpSpPr/>
        <p:nvPr/>
      </p:nvGrpSpPr>
      <p:grpSpPr>
        <a:xfrm>
          <a:off x="0" y="0"/>
          <a:ext cx="0" cy="0"/>
          <a:chOff x="0" y="0"/>
          <a:chExt cx="0" cy="0"/>
        </a:xfrm>
      </p:grpSpPr>
      <p:pic>
        <p:nvPicPr>
          <p:cNvPr id="2" name="Image 0" descr="./images\slide10_img92.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images\slide10_img93.png">    </p:cNvPr>
          <p:cNvPicPr>
            <a:picLocks noChangeAspect="1"/>
          </p:cNvPicPr>
          <p:nvPr/>
        </p:nvPicPr>
        <p:blipFill>
          <a:blip r:embed="rId2"/>
          <a:stretch>
            <a:fillRect/>
          </a:stretch>
        </p:blipFill>
        <p:spPr>
          <a:xfrm>
            <a:off x="261790" y="359765"/>
            <a:ext cx="948272" cy="1498705"/>
          </a:xfrm>
          <a:prstGeom prst="rect">
            <a:avLst/>
          </a:prstGeom>
        </p:spPr>
      </p:pic>
      <p:pic>
        <p:nvPicPr>
          <p:cNvPr id="4" name="Image 2" descr="./images\slide10_img94.png">    </p:cNvPr>
          <p:cNvPicPr>
            <a:picLocks noChangeAspect="1"/>
          </p:cNvPicPr>
          <p:nvPr/>
        </p:nvPicPr>
        <p:blipFill>
          <a:blip r:embed="rId3"/>
          <a:stretch>
            <a:fillRect/>
          </a:stretch>
        </p:blipFill>
        <p:spPr>
          <a:xfrm>
            <a:off x="735926" y="1743752"/>
            <a:ext cx="2035939" cy="2035939"/>
          </a:xfrm>
          <a:prstGeom prst="rect">
            <a:avLst/>
          </a:prstGeom>
        </p:spPr>
      </p:pic>
      <p:sp>
        <p:nvSpPr>
          <p:cNvPr id="5" name="Shape 0"/>
          <p:cNvSpPr/>
          <p:nvPr/>
        </p:nvSpPr>
        <p:spPr>
          <a:xfrm>
            <a:off x="735926" y="1743752"/>
            <a:ext cx="2035939" cy="2035939"/>
          </a:xfrm>
          <a:custGeom>
            <a:avLst/>
            <a:gdLst/>
            <a:ahLst/>
            <a:cxnLst/>
            <a:rect l="l" t="t" r="r" b="b"/>
            <a:pathLst>
              <a:path w="2035939" h="2035939">
                <a:moveTo>
                  <a:pt x="0" y="0"/>
                </a:moveTo>
                <a:lnTo>
                  <a:pt x="2035939" y="0"/>
                </a:lnTo>
                <a:lnTo>
                  <a:pt x="2035939" y="2035939"/>
                </a:lnTo>
                <a:lnTo>
                  <a:pt x="0" y="2035939"/>
                </a:lnTo>
                <a:close/>
              </a:path>
            </a:pathLst>
          </a:custGeom>
          <a:solidFill>
            <a:srgbClr val="FFFFFF">
              <a:alpha val="0"/>
            </a:srgbClr>
          </a:solidFill>
          <a:ln/>
        </p:spPr>
      </p:sp>
      <p:sp>
        <p:nvSpPr>
          <p:cNvPr id="6" name="Text 1"/>
          <p:cNvSpPr/>
          <p:nvPr/>
        </p:nvSpPr>
        <p:spPr>
          <a:xfrm>
            <a:off x="735926" y="1743752"/>
            <a:ext cx="2035939" cy="2035939"/>
          </a:xfrm>
          <a:prstGeom prst="rect">
            <a:avLst/>
          </a:prstGeom>
          <a:noFill/>
          <a:ln/>
        </p:spPr>
        <p:txBody>
          <a:bodyPr wrap="square" rtlCol="0" anchor="t"/>
          <a:lstStyle/>
          <a:p>
            <a:pPr indent="0" marL="0">
              <a:spcBef>
                <a:spcPts val="375"/>
              </a:spcBef>
              <a:buNone/>
            </a:pPr>
            <a:endParaRPr lang="en-US" sz="1050" dirty="0"/>
          </a:p>
        </p:txBody>
      </p:sp>
      <p:sp>
        <p:nvSpPr>
          <p:cNvPr id="7" name="Shape 2"/>
          <p:cNvSpPr/>
          <p:nvPr/>
        </p:nvSpPr>
        <p:spPr>
          <a:xfrm>
            <a:off x="735926" y="1743752"/>
            <a:ext cx="2035939" cy="2035939"/>
          </a:xfrm>
          <a:custGeom>
            <a:avLst/>
            <a:gdLst/>
            <a:ahLst/>
            <a:cxnLst/>
            <a:rect l="l" t="t" r="r" b="b"/>
            <a:pathLst>
              <a:path w="2035939" h="2035939">
                <a:moveTo>
                  <a:pt x="0" y="0"/>
                </a:moveTo>
                <a:lnTo>
                  <a:pt x="2035939" y="0"/>
                </a:lnTo>
                <a:lnTo>
                  <a:pt x="2035939" y="2035939"/>
                </a:lnTo>
                <a:lnTo>
                  <a:pt x="0" y="2035939"/>
                </a:lnTo>
                <a:close/>
              </a:path>
            </a:pathLst>
          </a:custGeom>
          <a:solidFill>
            <a:srgbClr val="000000">
              <a:alpha val="0"/>
            </a:srgbClr>
          </a:solidFill>
          <a:ln/>
        </p:spPr>
      </p:sp>
      <p:sp>
        <p:nvSpPr>
          <p:cNvPr id="8" name="Text 3"/>
          <p:cNvSpPr/>
          <p:nvPr/>
        </p:nvSpPr>
        <p:spPr>
          <a:xfrm>
            <a:off x="735926" y="1743752"/>
            <a:ext cx="2035939" cy="2035939"/>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9" name="Image 3" descr="./images\slide10_img95.png">    </p:cNvPr>
          <p:cNvPicPr>
            <a:picLocks noChangeAspect="1"/>
          </p:cNvPicPr>
          <p:nvPr/>
        </p:nvPicPr>
        <p:blipFill>
          <a:blip r:embed="rId4"/>
          <a:stretch>
            <a:fillRect/>
          </a:stretch>
        </p:blipFill>
        <p:spPr>
          <a:xfrm>
            <a:off x="735926" y="1743752"/>
            <a:ext cx="2035939" cy="2035939"/>
          </a:xfrm>
          <a:prstGeom prst="rect">
            <a:avLst/>
          </a:prstGeom>
        </p:spPr>
      </p:pic>
      <p:pic>
        <p:nvPicPr>
          <p:cNvPr id="10" name="Image 4" descr="./images\slide10_img96.png">    </p:cNvPr>
          <p:cNvPicPr>
            <a:picLocks noChangeAspect="1"/>
          </p:cNvPicPr>
          <p:nvPr/>
        </p:nvPicPr>
        <p:blipFill>
          <a:blip r:embed="rId5"/>
          <a:stretch>
            <a:fillRect/>
          </a:stretch>
        </p:blipFill>
        <p:spPr>
          <a:xfrm>
            <a:off x="3554031" y="1743752"/>
            <a:ext cx="2035939" cy="2035939"/>
          </a:xfrm>
          <a:prstGeom prst="rect">
            <a:avLst/>
          </a:prstGeom>
        </p:spPr>
      </p:pic>
      <p:sp>
        <p:nvSpPr>
          <p:cNvPr id="11" name="Shape 4"/>
          <p:cNvSpPr/>
          <p:nvPr/>
        </p:nvSpPr>
        <p:spPr>
          <a:xfrm>
            <a:off x="3554031" y="1743752"/>
            <a:ext cx="2035939" cy="2035939"/>
          </a:xfrm>
          <a:custGeom>
            <a:avLst/>
            <a:gdLst/>
            <a:ahLst/>
            <a:cxnLst/>
            <a:rect l="l" t="t" r="r" b="b"/>
            <a:pathLst>
              <a:path w="2035939" h="2035939">
                <a:moveTo>
                  <a:pt x="0" y="0"/>
                </a:moveTo>
                <a:lnTo>
                  <a:pt x="2035939" y="0"/>
                </a:lnTo>
                <a:lnTo>
                  <a:pt x="2035939" y="2035939"/>
                </a:lnTo>
                <a:lnTo>
                  <a:pt x="0" y="2035939"/>
                </a:lnTo>
                <a:close/>
              </a:path>
            </a:pathLst>
          </a:custGeom>
          <a:solidFill>
            <a:srgbClr val="FFFFFF">
              <a:alpha val="0"/>
            </a:srgbClr>
          </a:solidFill>
          <a:ln/>
        </p:spPr>
      </p:sp>
      <p:sp>
        <p:nvSpPr>
          <p:cNvPr id="12" name="Text 5"/>
          <p:cNvSpPr/>
          <p:nvPr/>
        </p:nvSpPr>
        <p:spPr>
          <a:xfrm>
            <a:off x="3554031" y="1743752"/>
            <a:ext cx="2035939" cy="2035939"/>
          </a:xfrm>
          <a:prstGeom prst="rect">
            <a:avLst/>
          </a:prstGeom>
          <a:noFill/>
          <a:ln/>
        </p:spPr>
        <p:txBody>
          <a:bodyPr wrap="square" rtlCol="0" anchor="t"/>
          <a:lstStyle/>
          <a:p>
            <a:pPr indent="0" marL="0">
              <a:spcBef>
                <a:spcPts val="375"/>
              </a:spcBef>
              <a:buNone/>
            </a:pPr>
            <a:endParaRPr lang="en-US" sz="1050" dirty="0"/>
          </a:p>
        </p:txBody>
      </p:sp>
      <p:sp>
        <p:nvSpPr>
          <p:cNvPr id="13" name="Shape 6"/>
          <p:cNvSpPr/>
          <p:nvPr/>
        </p:nvSpPr>
        <p:spPr>
          <a:xfrm>
            <a:off x="3554031" y="1743752"/>
            <a:ext cx="2035939" cy="2035939"/>
          </a:xfrm>
          <a:custGeom>
            <a:avLst/>
            <a:gdLst/>
            <a:ahLst/>
            <a:cxnLst/>
            <a:rect l="l" t="t" r="r" b="b"/>
            <a:pathLst>
              <a:path w="2035939" h="2035939">
                <a:moveTo>
                  <a:pt x="0" y="0"/>
                </a:moveTo>
                <a:lnTo>
                  <a:pt x="2035939" y="0"/>
                </a:lnTo>
                <a:lnTo>
                  <a:pt x="2035939" y="2035939"/>
                </a:lnTo>
                <a:lnTo>
                  <a:pt x="0" y="2035939"/>
                </a:lnTo>
                <a:close/>
              </a:path>
            </a:pathLst>
          </a:custGeom>
          <a:solidFill>
            <a:srgbClr val="000000">
              <a:alpha val="0"/>
            </a:srgbClr>
          </a:solidFill>
          <a:ln/>
        </p:spPr>
      </p:sp>
      <p:sp>
        <p:nvSpPr>
          <p:cNvPr id="14" name="Text 7"/>
          <p:cNvSpPr/>
          <p:nvPr/>
        </p:nvSpPr>
        <p:spPr>
          <a:xfrm>
            <a:off x="3554031" y="1743752"/>
            <a:ext cx="2035939" cy="2035939"/>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15" name="Image 5" descr="./images\slide10_img97.png">    </p:cNvPr>
          <p:cNvPicPr>
            <a:picLocks noChangeAspect="1"/>
          </p:cNvPicPr>
          <p:nvPr/>
        </p:nvPicPr>
        <p:blipFill>
          <a:blip r:embed="rId6"/>
          <a:stretch>
            <a:fillRect/>
          </a:stretch>
        </p:blipFill>
        <p:spPr>
          <a:xfrm>
            <a:off x="3554031" y="1743752"/>
            <a:ext cx="2035939" cy="2035939"/>
          </a:xfrm>
          <a:prstGeom prst="rect">
            <a:avLst/>
          </a:prstGeom>
        </p:spPr>
      </p:pic>
      <p:pic>
        <p:nvPicPr>
          <p:cNvPr id="16" name="Image 6" descr="./images\slide10_img98.png">    </p:cNvPr>
          <p:cNvPicPr>
            <a:picLocks noChangeAspect="1"/>
          </p:cNvPicPr>
          <p:nvPr/>
        </p:nvPicPr>
        <p:blipFill>
          <a:blip r:embed="rId7"/>
          <a:stretch>
            <a:fillRect/>
          </a:stretch>
        </p:blipFill>
        <p:spPr>
          <a:xfrm>
            <a:off x="6299267" y="1743752"/>
            <a:ext cx="2035939" cy="2035939"/>
          </a:xfrm>
          <a:prstGeom prst="rect">
            <a:avLst/>
          </a:prstGeom>
        </p:spPr>
      </p:pic>
      <p:sp>
        <p:nvSpPr>
          <p:cNvPr id="17" name="Shape 8"/>
          <p:cNvSpPr/>
          <p:nvPr/>
        </p:nvSpPr>
        <p:spPr>
          <a:xfrm>
            <a:off x="6299267" y="1743752"/>
            <a:ext cx="2035939" cy="2035939"/>
          </a:xfrm>
          <a:custGeom>
            <a:avLst/>
            <a:gdLst/>
            <a:ahLst/>
            <a:cxnLst/>
            <a:rect l="l" t="t" r="r" b="b"/>
            <a:pathLst>
              <a:path w="2035939" h="2035939">
                <a:moveTo>
                  <a:pt x="0" y="0"/>
                </a:moveTo>
                <a:lnTo>
                  <a:pt x="2035939" y="0"/>
                </a:lnTo>
                <a:lnTo>
                  <a:pt x="2035939" y="2035939"/>
                </a:lnTo>
                <a:lnTo>
                  <a:pt x="0" y="2035939"/>
                </a:lnTo>
                <a:close/>
              </a:path>
            </a:pathLst>
          </a:custGeom>
          <a:solidFill>
            <a:srgbClr val="FFFFFF">
              <a:alpha val="0"/>
            </a:srgbClr>
          </a:solidFill>
          <a:ln/>
        </p:spPr>
      </p:sp>
      <p:sp>
        <p:nvSpPr>
          <p:cNvPr id="18" name="Text 9"/>
          <p:cNvSpPr/>
          <p:nvPr/>
        </p:nvSpPr>
        <p:spPr>
          <a:xfrm>
            <a:off x="6299267" y="1743752"/>
            <a:ext cx="2035939" cy="2035939"/>
          </a:xfrm>
          <a:prstGeom prst="rect">
            <a:avLst/>
          </a:prstGeom>
          <a:noFill/>
          <a:ln/>
        </p:spPr>
        <p:txBody>
          <a:bodyPr wrap="square" rtlCol="0" anchor="t"/>
          <a:lstStyle/>
          <a:p>
            <a:pPr indent="0" marL="0">
              <a:spcBef>
                <a:spcPts val="375"/>
              </a:spcBef>
              <a:buNone/>
            </a:pPr>
            <a:endParaRPr lang="en-US" sz="1050" dirty="0"/>
          </a:p>
        </p:txBody>
      </p:sp>
      <p:sp>
        <p:nvSpPr>
          <p:cNvPr id="19" name="Shape 10"/>
          <p:cNvSpPr/>
          <p:nvPr/>
        </p:nvSpPr>
        <p:spPr>
          <a:xfrm>
            <a:off x="6299267" y="1743752"/>
            <a:ext cx="2035939" cy="2035939"/>
          </a:xfrm>
          <a:custGeom>
            <a:avLst/>
            <a:gdLst/>
            <a:ahLst/>
            <a:cxnLst/>
            <a:rect l="l" t="t" r="r" b="b"/>
            <a:pathLst>
              <a:path w="2035939" h="2035939">
                <a:moveTo>
                  <a:pt x="0" y="0"/>
                </a:moveTo>
                <a:lnTo>
                  <a:pt x="2035939" y="0"/>
                </a:lnTo>
                <a:lnTo>
                  <a:pt x="2035939" y="2035939"/>
                </a:lnTo>
                <a:lnTo>
                  <a:pt x="0" y="2035939"/>
                </a:lnTo>
                <a:close/>
              </a:path>
            </a:pathLst>
          </a:custGeom>
          <a:solidFill>
            <a:srgbClr val="000000">
              <a:alpha val="0"/>
            </a:srgbClr>
          </a:solidFill>
          <a:ln/>
        </p:spPr>
      </p:sp>
      <p:sp>
        <p:nvSpPr>
          <p:cNvPr id="20" name="Text 11"/>
          <p:cNvSpPr/>
          <p:nvPr/>
        </p:nvSpPr>
        <p:spPr>
          <a:xfrm>
            <a:off x="6299267" y="1743752"/>
            <a:ext cx="2035939" cy="2035939"/>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21" name="Image 7" descr="./images\slide10_img99.png">    </p:cNvPr>
          <p:cNvPicPr>
            <a:picLocks noChangeAspect="1"/>
          </p:cNvPicPr>
          <p:nvPr/>
        </p:nvPicPr>
        <p:blipFill>
          <a:blip r:embed="rId8"/>
          <a:stretch>
            <a:fillRect/>
          </a:stretch>
        </p:blipFill>
        <p:spPr>
          <a:xfrm>
            <a:off x="6299267" y="1743752"/>
            <a:ext cx="2035939" cy="2035939"/>
          </a:xfrm>
          <a:prstGeom prst="rect">
            <a:avLst/>
          </a:prstGeom>
        </p:spPr>
      </p:pic>
      <p:sp>
        <p:nvSpPr>
          <p:cNvPr id="22" name="Shape 12"/>
          <p:cNvSpPr/>
          <p:nvPr/>
        </p:nvSpPr>
        <p:spPr>
          <a:xfrm>
            <a:off x="874042" y="518568"/>
            <a:ext cx="7395915" cy="590550"/>
          </a:xfrm>
          <a:custGeom>
            <a:avLst/>
            <a:gdLst/>
            <a:ahLst/>
            <a:cxnLst/>
            <a:rect l="l" t="t" r="r" b="b"/>
            <a:pathLst>
              <a:path w="7395915" h="590550">
                <a:moveTo>
                  <a:pt x="0" y="0"/>
                </a:moveTo>
                <a:lnTo>
                  <a:pt x="7395915" y="0"/>
                </a:lnTo>
                <a:lnTo>
                  <a:pt x="7395915" y="590550"/>
                </a:lnTo>
                <a:lnTo>
                  <a:pt x="0" y="590550"/>
                </a:lnTo>
                <a:close/>
              </a:path>
            </a:pathLst>
          </a:custGeom>
          <a:solidFill>
            <a:srgbClr val="FFFFFF">
              <a:alpha val="0"/>
            </a:srgbClr>
          </a:solidFill>
          <a:ln/>
        </p:spPr>
      </p:sp>
      <p:sp>
        <p:nvSpPr>
          <p:cNvPr id="23" name="Text 13"/>
          <p:cNvSpPr/>
          <p:nvPr/>
        </p:nvSpPr>
        <p:spPr>
          <a:xfrm>
            <a:off x="874042" y="518568"/>
            <a:ext cx="7395915" cy="590550"/>
          </a:xfrm>
          <a:prstGeom prst="rect">
            <a:avLst/>
          </a:prstGeom>
          <a:noFill/>
          <a:ln/>
        </p:spPr>
        <p:txBody>
          <a:bodyPr wrap="square" rtlCol="0" anchor="t"/>
          <a:lstStyle/>
          <a:p>
            <a:pPr indent="0" marL="0">
              <a:spcBef>
                <a:spcPts val="375"/>
              </a:spcBef>
              <a:buNone/>
            </a:pPr>
            <a:endParaRPr lang="en-US" sz="1050" dirty="0"/>
          </a:p>
        </p:txBody>
      </p:sp>
      <p:sp>
        <p:nvSpPr>
          <p:cNvPr id="24" name="Shape 14"/>
          <p:cNvSpPr/>
          <p:nvPr/>
        </p:nvSpPr>
        <p:spPr>
          <a:xfrm>
            <a:off x="874042" y="518568"/>
            <a:ext cx="7395915" cy="590550"/>
          </a:xfrm>
          <a:custGeom>
            <a:avLst/>
            <a:gdLst/>
            <a:ahLst/>
            <a:cxnLst/>
            <a:rect l="l" t="t" r="r" b="b"/>
            <a:pathLst>
              <a:path w="7395915" h="590550">
                <a:moveTo>
                  <a:pt x="0" y="0"/>
                </a:moveTo>
                <a:lnTo>
                  <a:pt x="7395915" y="0"/>
                </a:lnTo>
                <a:lnTo>
                  <a:pt x="7395915" y="590550"/>
                </a:lnTo>
                <a:lnTo>
                  <a:pt x="0" y="590550"/>
                </a:lnTo>
                <a:close/>
              </a:path>
            </a:pathLst>
          </a:custGeom>
          <a:solidFill>
            <a:srgbClr val="000000">
              <a:alpha val="0"/>
            </a:srgbClr>
          </a:solidFill>
          <a:ln/>
        </p:spPr>
      </p:sp>
      <p:sp>
        <p:nvSpPr>
          <p:cNvPr id="25" name="Text 15"/>
          <p:cNvSpPr/>
          <p:nvPr/>
        </p:nvSpPr>
        <p:spPr>
          <a:xfrm>
            <a:off x="874042" y="518568"/>
            <a:ext cx="7395915" cy="590550"/>
          </a:xfrm>
          <a:prstGeom prst="rect">
            <a:avLst/>
          </a:prstGeom>
          <a:noFill/>
          <a:ln/>
        </p:spPr>
        <p:txBody>
          <a:bodyPr wrap="square" rtlCol="0" anchor="t"/>
          <a:lstStyle/>
          <a:p>
            <a:pPr algn="ctr" indent="0" marL="0">
              <a:spcBef>
                <a:spcPts val="375"/>
              </a:spcBef>
              <a:buNone/>
            </a:pPr>
            <a:r>
              <a:rPr lang="en-US" sz="3900" dirty="0">
                <a:solidFill>
                  <a:srgbClr val="45464D"/>
                </a:solidFill>
                <a:latin typeface="Caveat Brush" pitchFamily="34" charset="0"/>
                <a:ea typeface="Caveat Brush" pitchFamily="34" charset="-122"/>
                <a:cs typeface="Caveat Brush" pitchFamily="34" charset="-120"/>
              </a:rPr>
              <a:t>O'smalarni profilaktika qilish: Asosiy yo'nalishlar</a:t>
            </a:r>
            <a:endParaRPr lang="en-US" sz="1050" dirty="0"/>
          </a:p>
        </p:txBody>
      </p:sp>
      <p:pic>
        <p:nvPicPr>
          <p:cNvPr id="26" name="Image 8" descr="./images\slide10_img100.png">    </p:cNvPr>
          <p:cNvPicPr>
            <a:picLocks noChangeAspect="1"/>
          </p:cNvPicPr>
          <p:nvPr/>
        </p:nvPicPr>
        <p:blipFill>
          <a:blip r:embed="rId9"/>
          <a:stretch>
            <a:fillRect/>
          </a:stretch>
        </p:blipFill>
        <p:spPr>
          <a:xfrm>
            <a:off x="890801" y="1893864"/>
            <a:ext cx="1745239" cy="1745239"/>
          </a:xfrm>
          <a:prstGeom prst="rect">
            <a:avLst/>
          </a:prstGeom>
        </p:spPr>
      </p:pic>
      <p:sp>
        <p:nvSpPr>
          <p:cNvPr id="27" name="Shape 16"/>
          <p:cNvSpPr/>
          <p:nvPr/>
        </p:nvSpPr>
        <p:spPr>
          <a:xfrm>
            <a:off x="890801" y="1893864"/>
            <a:ext cx="1745239" cy="1745239"/>
          </a:xfrm>
          <a:custGeom>
            <a:avLst/>
            <a:gdLst/>
            <a:ahLst/>
            <a:cxnLst/>
            <a:rect l="l" t="t" r="r" b="b"/>
            <a:pathLst>
              <a:path w="1745239" h="1745239">
                <a:moveTo>
                  <a:pt x="0" y="0"/>
                </a:moveTo>
                <a:lnTo>
                  <a:pt x="1745239" y="0"/>
                </a:lnTo>
                <a:lnTo>
                  <a:pt x="1745239" y="1745239"/>
                </a:lnTo>
                <a:lnTo>
                  <a:pt x="0" y="1745239"/>
                </a:lnTo>
                <a:close/>
              </a:path>
            </a:pathLst>
          </a:custGeom>
          <a:solidFill>
            <a:srgbClr val="FFFFFF">
              <a:alpha val="0"/>
            </a:srgbClr>
          </a:solidFill>
          <a:ln/>
        </p:spPr>
      </p:sp>
      <p:sp>
        <p:nvSpPr>
          <p:cNvPr id="28" name="Text 17"/>
          <p:cNvSpPr/>
          <p:nvPr/>
        </p:nvSpPr>
        <p:spPr>
          <a:xfrm>
            <a:off x="890801" y="1893864"/>
            <a:ext cx="1745239" cy="1745239"/>
          </a:xfrm>
          <a:prstGeom prst="rect">
            <a:avLst/>
          </a:prstGeom>
          <a:noFill/>
          <a:ln/>
        </p:spPr>
        <p:txBody>
          <a:bodyPr wrap="square" rtlCol="0" anchor="t"/>
          <a:lstStyle/>
          <a:p>
            <a:pPr indent="0" marL="0">
              <a:spcBef>
                <a:spcPts val="375"/>
              </a:spcBef>
              <a:buNone/>
            </a:pPr>
            <a:endParaRPr lang="en-US" sz="1050" dirty="0"/>
          </a:p>
        </p:txBody>
      </p:sp>
      <p:sp>
        <p:nvSpPr>
          <p:cNvPr id="29" name="Shape 18"/>
          <p:cNvSpPr/>
          <p:nvPr/>
        </p:nvSpPr>
        <p:spPr>
          <a:xfrm>
            <a:off x="890801" y="1893864"/>
            <a:ext cx="1745239" cy="1745239"/>
          </a:xfrm>
          <a:custGeom>
            <a:avLst/>
            <a:gdLst/>
            <a:ahLst/>
            <a:cxnLst/>
            <a:rect l="l" t="t" r="r" b="b"/>
            <a:pathLst>
              <a:path w="1745239" h="1745239">
                <a:moveTo>
                  <a:pt x="0" y="0"/>
                </a:moveTo>
                <a:lnTo>
                  <a:pt x="1745239" y="0"/>
                </a:lnTo>
                <a:lnTo>
                  <a:pt x="1745239" y="1745239"/>
                </a:lnTo>
                <a:lnTo>
                  <a:pt x="0" y="1745239"/>
                </a:lnTo>
                <a:close/>
              </a:path>
            </a:pathLst>
          </a:custGeom>
          <a:solidFill>
            <a:srgbClr val="000000">
              <a:alpha val="0"/>
            </a:srgbClr>
          </a:solidFill>
          <a:ln/>
        </p:spPr>
      </p:sp>
      <p:sp>
        <p:nvSpPr>
          <p:cNvPr id="30" name="Text 19"/>
          <p:cNvSpPr/>
          <p:nvPr/>
        </p:nvSpPr>
        <p:spPr>
          <a:xfrm>
            <a:off x="890801" y="1893864"/>
            <a:ext cx="1745239" cy="1745239"/>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31" name="Image 9" descr="./images\slide10_img101.png">    </p:cNvPr>
          <p:cNvPicPr>
            <a:picLocks noChangeAspect="1"/>
          </p:cNvPicPr>
          <p:nvPr/>
        </p:nvPicPr>
        <p:blipFill>
          <a:blip r:embed="rId10"/>
          <a:stretch>
            <a:fillRect/>
          </a:stretch>
        </p:blipFill>
        <p:spPr>
          <a:xfrm>
            <a:off x="890801" y="1893864"/>
            <a:ext cx="1745239" cy="1745239"/>
          </a:xfrm>
          <a:prstGeom prst="rect">
            <a:avLst/>
          </a:prstGeom>
        </p:spPr>
      </p:pic>
      <p:pic>
        <p:nvPicPr>
          <p:cNvPr id="32" name="Image 10" descr="./images\slide10_img102.png">    </p:cNvPr>
          <p:cNvPicPr>
            <a:picLocks noChangeAspect="1"/>
          </p:cNvPicPr>
          <p:nvPr/>
        </p:nvPicPr>
        <p:blipFill>
          <a:blip r:embed="rId11"/>
          <a:stretch>
            <a:fillRect/>
          </a:stretch>
        </p:blipFill>
        <p:spPr>
          <a:xfrm>
            <a:off x="3708905" y="1893864"/>
            <a:ext cx="1745239" cy="1745239"/>
          </a:xfrm>
          <a:prstGeom prst="rect">
            <a:avLst/>
          </a:prstGeom>
        </p:spPr>
      </p:pic>
      <p:sp>
        <p:nvSpPr>
          <p:cNvPr id="33" name="Shape 20"/>
          <p:cNvSpPr/>
          <p:nvPr/>
        </p:nvSpPr>
        <p:spPr>
          <a:xfrm>
            <a:off x="3708905" y="1893864"/>
            <a:ext cx="1745239" cy="1745239"/>
          </a:xfrm>
          <a:custGeom>
            <a:avLst/>
            <a:gdLst/>
            <a:ahLst/>
            <a:cxnLst/>
            <a:rect l="l" t="t" r="r" b="b"/>
            <a:pathLst>
              <a:path w="1745239" h="1745239">
                <a:moveTo>
                  <a:pt x="0" y="0"/>
                </a:moveTo>
                <a:lnTo>
                  <a:pt x="1745239" y="0"/>
                </a:lnTo>
                <a:lnTo>
                  <a:pt x="1745239" y="1745239"/>
                </a:lnTo>
                <a:lnTo>
                  <a:pt x="0" y="1745239"/>
                </a:lnTo>
                <a:close/>
              </a:path>
            </a:pathLst>
          </a:custGeom>
          <a:solidFill>
            <a:srgbClr val="FFFFFF">
              <a:alpha val="0"/>
            </a:srgbClr>
          </a:solidFill>
          <a:ln/>
        </p:spPr>
      </p:sp>
      <p:sp>
        <p:nvSpPr>
          <p:cNvPr id="34" name="Text 21"/>
          <p:cNvSpPr/>
          <p:nvPr/>
        </p:nvSpPr>
        <p:spPr>
          <a:xfrm>
            <a:off x="3708905" y="1893864"/>
            <a:ext cx="1745239" cy="1745239"/>
          </a:xfrm>
          <a:prstGeom prst="rect">
            <a:avLst/>
          </a:prstGeom>
          <a:noFill/>
          <a:ln/>
        </p:spPr>
        <p:txBody>
          <a:bodyPr wrap="square" rtlCol="0" anchor="t"/>
          <a:lstStyle/>
          <a:p>
            <a:pPr indent="0" marL="0">
              <a:spcBef>
                <a:spcPts val="375"/>
              </a:spcBef>
              <a:buNone/>
            </a:pPr>
            <a:endParaRPr lang="en-US" sz="1050" dirty="0"/>
          </a:p>
        </p:txBody>
      </p:sp>
      <p:sp>
        <p:nvSpPr>
          <p:cNvPr id="35" name="Shape 22"/>
          <p:cNvSpPr/>
          <p:nvPr/>
        </p:nvSpPr>
        <p:spPr>
          <a:xfrm>
            <a:off x="3708905" y="1893864"/>
            <a:ext cx="1745239" cy="1745239"/>
          </a:xfrm>
          <a:custGeom>
            <a:avLst/>
            <a:gdLst/>
            <a:ahLst/>
            <a:cxnLst/>
            <a:rect l="l" t="t" r="r" b="b"/>
            <a:pathLst>
              <a:path w="1745239" h="1745239">
                <a:moveTo>
                  <a:pt x="0" y="0"/>
                </a:moveTo>
                <a:lnTo>
                  <a:pt x="1745239" y="0"/>
                </a:lnTo>
                <a:lnTo>
                  <a:pt x="1745239" y="1745239"/>
                </a:lnTo>
                <a:lnTo>
                  <a:pt x="0" y="1745239"/>
                </a:lnTo>
                <a:close/>
              </a:path>
            </a:pathLst>
          </a:custGeom>
          <a:solidFill>
            <a:srgbClr val="000000">
              <a:alpha val="0"/>
            </a:srgbClr>
          </a:solidFill>
          <a:ln/>
        </p:spPr>
      </p:sp>
      <p:sp>
        <p:nvSpPr>
          <p:cNvPr id="36" name="Text 23"/>
          <p:cNvSpPr/>
          <p:nvPr/>
        </p:nvSpPr>
        <p:spPr>
          <a:xfrm>
            <a:off x="3708905" y="1893864"/>
            <a:ext cx="1745239" cy="1745239"/>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37" name="Image 11" descr="./images\slide10_img103.png">    </p:cNvPr>
          <p:cNvPicPr>
            <a:picLocks noChangeAspect="1"/>
          </p:cNvPicPr>
          <p:nvPr/>
        </p:nvPicPr>
        <p:blipFill>
          <a:blip r:embed="rId12"/>
          <a:stretch>
            <a:fillRect/>
          </a:stretch>
        </p:blipFill>
        <p:spPr>
          <a:xfrm>
            <a:off x="3708905" y="1893864"/>
            <a:ext cx="1745239" cy="1745239"/>
          </a:xfrm>
          <a:prstGeom prst="rect">
            <a:avLst/>
          </a:prstGeom>
        </p:spPr>
      </p:pic>
      <p:pic>
        <p:nvPicPr>
          <p:cNvPr id="38" name="Image 12" descr="./images\slide10_img104.png">    </p:cNvPr>
          <p:cNvPicPr>
            <a:picLocks noChangeAspect="1"/>
          </p:cNvPicPr>
          <p:nvPr/>
        </p:nvPicPr>
        <p:blipFill>
          <a:blip r:embed="rId13"/>
          <a:stretch>
            <a:fillRect/>
          </a:stretch>
        </p:blipFill>
        <p:spPr>
          <a:xfrm>
            <a:off x="6454142" y="1893864"/>
            <a:ext cx="1745239" cy="1745239"/>
          </a:xfrm>
          <a:prstGeom prst="rect">
            <a:avLst/>
          </a:prstGeom>
        </p:spPr>
      </p:pic>
      <p:sp>
        <p:nvSpPr>
          <p:cNvPr id="39" name="Shape 24"/>
          <p:cNvSpPr/>
          <p:nvPr/>
        </p:nvSpPr>
        <p:spPr>
          <a:xfrm>
            <a:off x="6454142" y="1893864"/>
            <a:ext cx="1745239" cy="1745239"/>
          </a:xfrm>
          <a:custGeom>
            <a:avLst/>
            <a:gdLst/>
            <a:ahLst/>
            <a:cxnLst/>
            <a:rect l="l" t="t" r="r" b="b"/>
            <a:pathLst>
              <a:path w="1745239" h="1745239">
                <a:moveTo>
                  <a:pt x="0" y="0"/>
                </a:moveTo>
                <a:lnTo>
                  <a:pt x="1745239" y="0"/>
                </a:lnTo>
                <a:lnTo>
                  <a:pt x="1745239" y="1745239"/>
                </a:lnTo>
                <a:lnTo>
                  <a:pt x="0" y="1745239"/>
                </a:lnTo>
                <a:close/>
              </a:path>
            </a:pathLst>
          </a:custGeom>
          <a:solidFill>
            <a:srgbClr val="FFFFFF">
              <a:alpha val="0"/>
            </a:srgbClr>
          </a:solidFill>
          <a:ln/>
        </p:spPr>
      </p:sp>
      <p:sp>
        <p:nvSpPr>
          <p:cNvPr id="40" name="Text 25"/>
          <p:cNvSpPr/>
          <p:nvPr/>
        </p:nvSpPr>
        <p:spPr>
          <a:xfrm>
            <a:off x="6454142" y="1893864"/>
            <a:ext cx="1745239" cy="1745239"/>
          </a:xfrm>
          <a:prstGeom prst="rect">
            <a:avLst/>
          </a:prstGeom>
          <a:noFill/>
          <a:ln/>
        </p:spPr>
        <p:txBody>
          <a:bodyPr wrap="square" rtlCol="0" anchor="t"/>
          <a:lstStyle/>
          <a:p>
            <a:pPr indent="0" marL="0">
              <a:spcBef>
                <a:spcPts val="375"/>
              </a:spcBef>
              <a:buNone/>
            </a:pPr>
            <a:endParaRPr lang="en-US" sz="1050" dirty="0"/>
          </a:p>
        </p:txBody>
      </p:sp>
      <p:sp>
        <p:nvSpPr>
          <p:cNvPr id="41" name="Shape 26"/>
          <p:cNvSpPr/>
          <p:nvPr/>
        </p:nvSpPr>
        <p:spPr>
          <a:xfrm>
            <a:off x="6454142" y="1893864"/>
            <a:ext cx="1745239" cy="1745239"/>
          </a:xfrm>
          <a:custGeom>
            <a:avLst/>
            <a:gdLst/>
            <a:ahLst/>
            <a:cxnLst/>
            <a:rect l="l" t="t" r="r" b="b"/>
            <a:pathLst>
              <a:path w="1745239" h="1745239">
                <a:moveTo>
                  <a:pt x="0" y="0"/>
                </a:moveTo>
                <a:lnTo>
                  <a:pt x="1745239" y="0"/>
                </a:lnTo>
                <a:lnTo>
                  <a:pt x="1745239" y="1745239"/>
                </a:lnTo>
                <a:lnTo>
                  <a:pt x="0" y="1745239"/>
                </a:lnTo>
                <a:close/>
              </a:path>
            </a:pathLst>
          </a:custGeom>
          <a:solidFill>
            <a:srgbClr val="000000">
              <a:alpha val="0"/>
            </a:srgbClr>
          </a:solidFill>
          <a:ln/>
        </p:spPr>
      </p:sp>
      <p:sp>
        <p:nvSpPr>
          <p:cNvPr id="42" name="Text 27"/>
          <p:cNvSpPr/>
          <p:nvPr/>
        </p:nvSpPr>
        <p:spPr>
          <a:xfrm>
            <a:off x="6454142" y="1893864"/>
            <a:ext cx="1745239" cy="1745239"/>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43" name="Image 13" descr="./images\slide10_img105.png">    </p:cNvPr>
          <p:cNvPicPr>
            <a:picLocks noChangeAspect="1"/>
          </p:cNvPicPr>
          <p:nvPr/>
        </p:nvPicPr>
        <p:blipFill>
          <a:blip r:embed="rId14"/>
          <a:stretch>
            <a:fillRect/>
          </a:stretch>
        </p:blipFill>
        <p:spPr>
          <a:xfrm>
            <a:off x="6454142" y="1893864"/>
            <a:ext cx="1745239" cy="1745239"/>
          </a:xfrm>
          <a:prstGeom prst="rect">
            <a:avLst/>
          </a:prstGeom>
        </p:spPr>
      </p:pic>
      <p:sp>
        <p:nvSpPr>
          <p:cNvPr id="44" name="Shape 28"/>
          <p:cNvSpPr/>
          <p:nvPr/>
        </p:nvSpPr>
        <p:spPr>
          <a:xfrm>
            <a:off x="3766921" y="2442710"/>
            <a:ext cx="1716484" cy="590550"/>
          </a:xfrm>
          <a:custGeom>
            <a:avLst/>
            <a:gdLst/>
            <a:ahLst/>
            <a:cxnLst/>
            <a:rect l="l" t="t" r="r" b="b"/>
            <a:pathLst>
              <a:path w="1716484" h="590550">
                <a:moveTo>
                  <a:pt x="0" y="0"/>
                </a:moveTo>
                <a:lnTo>
                  <a:pt x="1716484" y="0"/>
                </a:lnTo>
                <a:lnTo>
                  <a:pt x="1716484" y="590550"/>
                </a:lnTo>
                <a:lnTo>
                  <a:pt x="0" y="590550"/>
                </a:lnTo>
                <a:close/>
              </a:path>
            </a:pathLst>
          </a:custGeom>
          <a:solidFill>
            <a:srgbClr val="FFFFFF">
              <a:alpha val="0"/>
            </a:srgbClr>
          </a:solidFill>
          <a:ln/>
        </p:spPr>
      </p:sp>
      <p:sp>
        <p:nvSpPr>
          <p:cNvPr id="45" name="Text 29"/>
          <p:cNvSpPr/>
          <p:nvPr/>
        </p:nvSpPr>
        <p:spPr>
          <a:xfrm>
            <a:off x="3766921" y="2442710"/>
            <a:ext cx="1716484" cy="590550"/>
          </a:xfrm>
          <a:prstGeom prst="rect">
            <a:avLst/>
          </a:prstGeom>
          <a:noFill/>
          <a:ln/>
        </p:spPr>
        <p:txBody>
          <a:bodyPr wrap="square" rtlCol="0" anchor="t"/>
          <a:lstStyle/>
          <a:p>
            <a:pPr indent="0" marL="0">
              <a:spcBef>
                <a:spcPts val="375"/>
              </a:spcBef>
              <a:buNone/>
            </a:pPr>
            <a:endParaRPr lang="en-US" sz="1050" dirty="0"/>
          </a:p>
        </p:txBody>
      </p:sp>
      <p:sp>
        <p:nvSpPr>
          <p:cNvPr id="46" name="Shape 30"/>
          <p:cNvSpPr/>
          <p:nvPr/>
        </p:nvSpPr>
        <p:spPr>
          <a:xfrm>
            <a:off x="3766921" y="2442710"/>
            <a:ext cx="1716484" cy="590550"/>
          </a:xfrm>
          <a:custGeom>
            <a:avLst/>
            <a:gdLst/>
            <a:ahLst/>
            <a:cxnLst/>
            <a:rect l="l" t="t" r="r" b="b"/>
            <a:pathLst>
              <a:path w="1716484" h="590550">
                <a:moveTo>
                  <a:pt x="0" y="0"/>
                </a:moveTo>
                <a:lnTo>
                  <a:pt x="1716484" y="0"/>
                </a:lnTo>
                <a:lnTo>
                  <a:pt x="1716484" y="590550"/>
                </a:lnTo>
                <a:lnTo>
                  <a:pt x="0" y="590550"/>
                </a:lnTo>
                <a:close/>
              </a:path>
            </a:pathLst>
          </a:custGeom>
          <a:solidFill>
            <a:srgbClr val="000000">
              <a:alpha val="0"/>
            </a:srgbClr>
          </a:solidFill>
          <a:ln/>
        </p:spPr>
      </p:sp>
      <p:sp>
        <p:nvSpPr>
          <p:cNvPr id="47" name="Text 31"/>
          <p:cNvSpPr/>
          <p:nvPr/>
        </p:nvSpPr>
        <p:spPr>
          <a:xfrm>
            <a:off x="3766921" y="2442710"/>
            <a:ext cx="1716484" cy="590550"/>
          </a:xfrm>
          <a:prstGeom prst="rect">
            <a:avLst/>
          </a:prstGeom>
          <a:noFill/>
          <a:ln/>
        </p:spPr>
        <p:txBody>
          <a:bodyPr wrap="square" rtlCol="0" anchor="t"/>
          <a:lstStyle/>
          <a:p>
            <a:pPr algn="ctr" indent="0" marL="0">
              <a:spcBef>
                <a:spcPts val="375"/>
              </a:spcBef>
              <a:buNone/>
            </a:pPr>
            <a:r>
              <a:rPr lang="en-US" sz="3900" dirty="0">
                <a:solidFill>
                  <a:srgbClr val="45464D"/>
                </a:solidFill>
                <a:latin typeface="Caveat Brush" pitchFamily="34" charset="0"/>
                <a:ea typeface="Caveat Brush" pitchFamily="34" charset="-122"/>
                <a:cs typeface="Caveat Brush" pitchFamily="34" charset="-120"/>
              </a:rPr>
              <a:t>O'sma xastaligi xavfi</a:t>
            </a:r>
            <a:endParaRPr lang="en-US" sz="1050" dirty="0"/>
          </a:p>
        </p:txBody>
      </p:sp>
      <p:sp>
        <p:nvSpPr>
          <p:cNvPr id="48" name="Shape 32"/>
          <p:cNvSpPr/>
          <p:nvPr/>
        </p:nvSpPr>
        <p:spPr>
          <a:xfrm>
            <a:off x="6382204" y="2442710"/>
            <a:ext cx="1788847" cy="552450"/>
          </a:xfrm>
          <a:custGeom>
            <a:avLst/>
            <a:gdLst/>
            <a:ahLst/>
            <a:cxnLst/>
            <a:rect l="l" t="t" r="r" b="b"/>
            <a:pathLst>
              <a:path w="1788847" h="552450">
                <a:moveTo>
                  <a:pt x="0" y="0"/>
                </a:moveTo>
                <a:lnTo>
                  <a:pt x="1788847" y="0"/>
                </a:lnTo>
                <a:lnTo>
                  <a:pt x="1788847" y="552450"/>
                </a:lnTo>
                <a:lnTo>
                  <a:pt x="0" y="552450"/>
                </a:lnTo>
                <a:close/>
              </a:path>
            </a:pathLst>
          </a:custGeom>
          <a:solidFill>
            <a:srgbClr val="FFFFFF">
              <a:alpha val="0"/>
            </a:srgbClr>
          </a:solidFill>
          <a:ln/>
        </p:spPr>
      </p:sp>
      <p:sp>
        <p:nvSpPr>
          <p:cNvPr id="49" name="Text 33"/>
          <p:cNvSpPr/>
          <p:nvPr/>
        </p:nvSpPr>
        <p:spPr>
          <a:xfrm>
            <a:off x="6382204" y="2442710"/>
            <a:ext cx="1788847" cy="552450"/>
          </a:xfrm>
          <a:prstGeom prst="rect">
            <a:avLst/>
          </a:prstGeom>
          <a:noFill/>
          <a:ln/>
        </p:spPr>
        <p:txBody>
          <a:bodyPr wrap="square" rtlCol="0" anchor="t"/>
          <a:lstStyle/>
          <a:p>
            <a:pPr indent="0" marL="0">
              <a:spcBef>
                <a:spcPts val="375"/>
              </a:spcBef>
              <a:buNone/>
            </a:pPr>
            <a:endParaRPr lang="en-US" sz="1050" dirty="0"/>
          </a:p>
        </p:txBody>
      </p:sp>
      <p:sp>
        <p:nvSpPr>
          <p:cNvPr id="50" name="Shape 34"/>
          <p:cNvSpPr/>
          <p:nvPr/>
        </p:nvSpPr>
        <p:spPr>
          <a:xfrm>
            <a:off x="6382204" y="2442710"/>
            <a:ext cx="1788847" cy="552450"/>
          </a:xfrm>
          <a:custGeom>
            <a:avLst/>
            <a:gdLst/>
            <a:ahLst/>
            <a:cxnLst/>
            <a:rect l="l" t="t" r="r" b="b"/>
            <a:pathLst>
              <a:path w="1788847" h="552450">
                <a:moveTo>
                  <a:pt x="0" y="0"/>
                </a:moveTo>
                <a:lnTo>
                  <a:pt x="1788847" y="0"/>
                </a:lnTo>
                <a:lnTo>
                  <a:pt x="1788847" y="552450"/>
                </a:lnTo>
                <a:lnTo>
                  <a:pt x="0" y="552450"/>
                </a:lnTo>
                <a:close/>
              </a:path>
            </a:pathLst>
          </a:custGeom>
          <a:solidFill>
            <a:srgbClr val="000000">
              <a:alpha val="0"/>
            </a:srgbClr>
          </a:solidFill>
          <a:ln/>
        </p:spPr>
      </p:sp>
      <p:sp>
        <p:nvSpPr>
          <p:cNvPr id="51" name="Text 35"/>
          <p:cNvSpPr/>
          <p:nvPr/>
        </p:nvSpPr>
        <p:spPr>
          <a:xfrm>
            <a:off x="6382204" y="2442710"/>
            <a:ext cx="1788847" cy="552450"/>
          </a:xfrm>
          <a:prstGeom prst="rect">
            <a:avLst/>
          </a:prstGeom>
          <a:noFill/>
          <a:ln/>
        </p:spPr>
        <p:txBody>
          <a:bodyPr wrap="square" rtlCol="0" anchor="t"/>
          <a:lstStyle/>
          <a:p>
            <a:pPr algn="ctr" indent="0" marL="0">
              <a:spcBef>
                <a:spcPts val="375"/>
              </a:spcBef>
              <a:buNone/>
            </a:pPr>
            <a:r>
              <a:rPr lang="en-US" sz="3600" dirty="0">
                <a:solidFill>
                  <a:srgbClr val="45464D"/>
                </a:solidFill>
                <a:latin typeface="Caveat Brush" pitchFamily="34" charset="0"/>
                <a:ea typeface="Caveat Brush" pitchFamily="34" charset="-122"/>
                <a:cs typeface="Caveat Brush" pitchFamily="34" charset="-120"/>
              </a:rPr>
              <a:t>Profilaktika darajasi</a:t>
            </a:r>
            <a:endParaRPr lang="en-US" sz="1050" dirty="0"/>
          </a:p>
        </p:txBody>
      </p:sp>
      <p:sp>
        <p:nvSpPr>
          <p:cNvPr id="52" name="Shape 36"/>
          <p:cNvSpPr/>
          <p:nvPr/>
        </p:nvSpPr>
        <p:spPr>
          <a:xfrm>
            <a:off x="874042" y="2442710"/>
            <a:ext cx="1684933" cy="590550"/>
          </a:xfrm>
          <a:custGeom>
            <a:avLst/>
            <a:gdLst/>
            <a:ahLst/>
            <a:cxnLst/>
            <a:rect l="l" t="t" r="r" b="b"/>
            <a:pathLst>
              <a:path w="1684933" h="590550">
                <a:moveTo>
                  <a:pt x="0" y="0"/>
                </a:moveTo>
                <a:lnTo>
                  <a:pt x="1684933" y="0"/>
                </a:lnTo>
                <a:lnTo>
                  <a:pt x="1684933" y="590550"/>
                </a:lnTo>
                <a:lnTo>
                  <a:pt x="0" y="590550"/>
                </a:lnTo>
                <a:close/>
              </a:path>
            </a:pathLst>
          </a:custGeom>
          <a:solidFill>
            <a:srgbClr val="FFFFFF">
              <a:alpha val="0"/>
            </a:srgbClr>
          </a:solidFill>
          <a:ln/>
        </p:spPr>
      </p:sp>
      <p:sp>
        <p:nvSpPr>
          <p:cNvPr id="53" name="Text 37"/>
          <p:cNvSpPr/>
          <p:nvPr/>
        </p:nvSpPr>
        <p:spPr>
          <a:xfrm>
            <a:off x="874042" y="2442710"/>
            <a:ext cx="1684933" cy="590550"/>
          </a:xfrm>
          <a:prstGeom prst="rect">
            <a:avLst/>
          </a:prstGeom>
          <a:noFill/>
          <a:ln/>
        </p:spPr>
        <p:txBody>
          <a:bodyPr wrap="square" rtlCol="0" anchor="t"/>
          <a:lstStyle/>
          <a:p>
            <a:pPr indent="0" marL="0">
              <a:spcBef>
                <a:spcPts val="375"/>
              </a:spcBef>
              <a:buNone/>
            </a:pPr>
            <a:endParaRPr lang="en-US" sz="1050" dirty="0"/>
          </a:p>
        </p:txBody>
      </p:sp>
      <p:sp>
        <p:nvSpPr>
          <p:cNvPr id="54" name="Shape 38"/>
          <p:cNvSpPr/>
          <p:nvPr/>
        </p:nvSpPr>
        <p:spPr>
          <a:xfrm>
            <a:off x="874042" y="2442710"/>
            <a:ext cx="1684933" cy="590550"/>
          </a:xfrm>
          <a:custGeom>
            <a:avLst/>
            <a:gdLst/>
            <a:ahLst/>
            <a:cxnLst/>
            <a:rect l="l" t="t" r="r" b="b"/>
            <a:pathLst>
              <a:path w="1684933" h="590550">
                <a:moveTo>
                  <a:pt x="0" y="0"/>
                </a:moveTo>
                <a:lnTo>
                  <a:pt x="1684933" y="0"/>
                </a:lnTo>
                <a:lnTo>
                  <a:pt x="1684933" y="590550"/>
                </a:lnTo>
                <a:lnTo>
                  <a:pt x="0" y="590550"/>
                </a:lnTo>
                <a:close/>
              </a:path>
            </a:pathLst>
          </a:custGeom>
          <a:solidFill>
            <a:srgbClr val="000000">
              <a:alpha val="0"/>
            </a:srgbClr>
          </a:solidFill>
          <a:ln/>
        </p:spPr>
      </p:sp>
      <p:sp>
        <p:nvSpPr>
          <p:cNvPr id="55" name="Text 39"/>
          <p:cNvSpPr/>
          <p:nvPr/>
        </p:nvSpPr>
        <p:spPr>
          <a:xfrm>
            <a:off x="874042" y="2442710"/>
            <a:ext cx="1684933" cy="590550"/>
          </a:xfrm>
          <a:prstGeom prst="rect">
            <a:avLst/>
          </a:prstGeom>
          <a:noFill/>
          <a:ln/>
        </p:spPr>
        <p:txBody>
          <a:bodyPr wrap="square" rtlCol="0" anchor="t"/>
          <a:lstStyle/>
          <a:p>
            <a:pPr algn="ctr" indent="0" marL="0">
              <a:spcBef>
                <a:spcPts val="375"/>
              </a:spcBef>
              <a:buNone/>
            </a:pPr>
            <a:r>
              <a:rPr lang="en-US" sz="3900" dirty="0">
                <a:solidFill>
                  <a:srgbClr val="45464D"/>
                </a:solidFill>
                <a:latin typeface="Caveat Brush" pitchFamily="34" charset="0"/>
                <a:ea typeface="Caveat Brush" pitchFamily="34" charset="-122"/>
                <a:cs typeface="Caveat Brush" pitchFamily="34" charset="-120"/>
              </a:rPr>
              <a:t>Sog'lom turmush tarzining ta'siri</a:t>
            </a:r>
            <a:endParaRPr lang="en-US" sz="1050" dirty="0"/>
          </a:p>
        </p:txBody>
      </p:sp>
      <p:sp>
        <p:nvSpPr>
          <p:cNvPr id="56" name="Shape 40"/>
          <p:cNvSpPr/>
          <p:nvPr/>
        </p:nvSpPr>
        <p:spPr>
          <a:xfrm>
            <a:off x="3727710" y="4418448"/>
            <a:ext cx="1862259" cy="725052"/>
          </a:xfrm>
          <a:custGeom>
            <a:avLst/>
            <a:gdLst/>
            <a:ahLst/>
            <a:cxnLst/>
            <a:rect l="l" t="t" r="r" b="b"/>
            <a:pathLst>
              <a:path w="1862259" h="725052">
                <a:moveTo>
                  <a:pt x="0" y="0"/>
                </a:moveTo>
                <a:lnTo>
                  <a:pt x="1862259" y="0"/>
                </a:lnTo>
                <a:lnTo>
                  <a:pt x="1862259" y="725052"/>
                </a:lnTo>
                <a:lnTo>
                  <a:pt x="0" y="725052"/>
                </a:lnTo>
                <a:close/>
              </a:path>
            </a:pathLst>
          </a:custGeom>
          <a:solidFill>
            <a:srgbClr val="FFFFFF">
              <a:alpha val="0"/>
            </a:srgbClr>
          </a:solidFill>
          <a:ln/>
        </p:spPr>
      </p:sp>
      <p:sp>
        <p:nvSpPr>
          <p:cNvPr id="57" name="Text 41"/>
          <p:cNvSpPr/>
          <p:nvPr/>
        </p:nvSpPr>
        <p:spPr>
          <a:xfrm>
            <a:off x="3727710" y="4418448"/>
            <a:ext cx="1862259" cy="725052"/>
          </a:xfrm>
          <a:prstGeom prst="rect">
            <a:avLst/>
          </a:prstGeom>
          <a:noFill/>
          <a:ln/>
        </p:spPr>
        <p:txBody>
          <a:bodyPr wrap="square" rtlCol="0" anchor="t"/>
          <a:lstStyle/>
          <a:p>
            <a:pPr indent="0" marL="0">
              <a:spcBef>
                <a:spcPts val="375"/>
              </a:spcBef>
              <a:buNone/>
            </a:pPr>
            <a:endParaRPr lang="en-US" sz="1050" dirty="0"/>
          </a:p>
        </p:txBody>
      </p:sp>
      <p:sp>
        <p:nvSpPr>
          <p:cNvPr id="58" name="Shape 42"/>
          <p:cNvSpPr/>
          <p:nvPr/>
        </p:nvSpPr>
        <p:spPr>
          <a:xfrm>
            <a:off x="3727710" y="4418448"/>
            <a:ext cx="1862259" cy="725052"/>
          </a:xfrm>
          <a:custGeom>
            <a:avLst/>
            <a:gdLst/>
            <a:ahLst/>
            <a:cxnLst/>
            <a:rect l="l" t="t" r="r" b="b"/>
            <a:pathLst>
              <a:path w="1862259" h="725052">
                <a:moveTo>
                  <a:pt x="0" y="0"/>
                </a:moveTo>
                <a:lnTo>
                  <a:pt x="1862259" y="0"/>
                </a:lnTo>
                <a:lnTo>
                  <a:pt x="1862259" y="725052"/>
                </a:lnTo>
                <a:lnTo>
                  <a:pt x="0" y="725052"/>
                </a:lnTo>
                <a:close/>
              </a:path>
            </a:pathLst>
          </a:custGeom>
          <a:solidFill>
            <a:srgbClr val="000000">
              <a:alpha val="0"/>
            </a:srgbClr>
          </a:solidFill>
          <a:ln/>
        </p:spPr>
      </p:sp>
      <p:sp>
        <p:nvSpPr>
          <p:cNvPr id="59" name="Text 43"/>
          <p:cNvSpPr/>
          <p:nvPr/>
        </p:nvSpPr>
        <p:spPr>
          <a:xfrm>
            <a:off x="3727710" y="4418448"/>
            <a:ext cx="1862259" cy="725052"/>
          </a:xfrm>
          <a:prstGeom prst="rect">
            <a:avLst/>
          </a:prstGeom>
          <a:noFill/>
          <a:ln/>
        </p:spPr>
        <p:txBody>
          <a:bodyPr wrap="square" rtlCol="0" anchor="t"/>
          <a:lstStyle/>
          <a:p>
            <a:pPr algn="ctr" indent="0" marL="0">
              <a:spcBef>
                <a:spcPts val="375"/>
              </a:spcBef>
              <a:buNone/>
            </a:pPr>
            <a:r>
              <a:rPr lang="en-US" sz="975" dirty="0">
                <a:solidFill>
                  <a:srgbClr val="000000"/>
                </a:solidFill>
                <a:latin typeface="Nunito" pitchFamily="34" charset="0"/>
                <a:ea typeface="Nunito" pitchFamily="34" charset="-122"/>
                <a:cs typeface="Nunito" pitchFamily="34" charset="-120"/>
              </a:rPr>
              <a:t>O'smalarni profilaktika qilishda erkaklar va ayollarning o'ziga xos xususiyatlari mavjud. Shaxsiy sog'liqni nazorat qilish, muntazam tibbiy ko'riklar o'tkazish va to'g'ri ovqatlanish muhim ahamiyatga ega.</a:t>
            </a:r>
            <a:endParaRPr lang="en-US" sz="1050" dirty="0"/>
          </a:p>
        </p:txBody>
      </p:sp>
      <p:sp>
        <p:nvSpPr>
          <p:cNvPr id="60" name="Shape 44"/>
          <p:cNvSpPr/>
          <p:nvPr/>
        </p:nvSpPr>
        <p:spPr>
          <a:xfrm>
            <a:off x="824620" y="4312123"/>
            <a:ext cx="1811421" cy="739383"/>
          </a:xfrm>
          <a:custGeom>
            <a:avLst/>
            <a:gdLst/>
            <a:ahLst/>
            <a:cxnLst/>
            <a:rect l="l" t="t" r="r" b="b"/>
            <a:pathLst>
              <a:path w="1811421" h="739383">
                <a:moveTo>
                  <a:pt x="0" y="0"/>
                </a:moveTo>
                <a:lnTo>
                  <a:pt x="1811421" y="0"/>
                </a:lnTo>
                <a:lnTo>
                  <a:pt x="1811421" y="739383"/>
                </a:lnTo>
                <a:lnTo>
                  <a:pt x="0" y="739383"/>
                </a:lnTo>
                <a:close/>
              </a:path>
            </a:pathLst>
          </a:custGeom>
          <a:solidFill>
            <a:srgbClr val="FFFFFF">
              <a:alpha val="0"/>
            </a:srgbClr>
          </a:solidFill>
          <a:ln/>
        </p:spPr>
      </p:sp>
      <p:sp>
        <p:nvSpPr>
          <p:cNvPr id="61" name="Text 45"/>
          <p:cNvSpPr/>
          <p:nvPr/>
        </p:nvSpPr>
        <p:spPr>
          <a:xfrm>
            <a:off x="824620" y="4312123"/>
            <a:ext cx="1811421" cy="739383"/>
          </a:xfrm>
          <a:prstGeom prst="rect">
            <a:avLst/>
          </a:prstGeom>
          <a:noFill/>
          <a:ln/>
        </p:spPr>
        <p:txBody>
          <a:bodyPr wrap="square" rtlCol="0" anchor="t"/>
          <a:lstStyle/>
          <a:p>
            <a:pPr indent="0" marL="0">
              <a:spcBef>
                <a:spcPts val="375"/>
              </a:spcBef>
              <a:buNone/>
            </a:pPr>
            <a:endParaRPr lang="en-US" sz="1050" dirty="0"/>
          </a:p>
        </p:txBody>
      </p:sp>
      <p:sp>
        <p:nvSpPr>
          <p:cNvPr id="62" name="Shape 46"/>
          <p:cNvSpPr/>
          <p:nvPr/>
        </p:nvSpPr>
        <p:spPr>
          <a:xfrm>
            <a:off x="824620" y="4312123"/>
            <a:ext cx="1811421" cy="739383"/>
          </a:xfrm>
          <a:custGeom>
            <a:avLst/>
            <a:gdLst/>
            <a:ahLst/>
            <a:cxnLst/>
            <a:rect l="l" t="t" r="r" b="b"/>
            <a:pathLst>
              <a:path w="1811421" h="739383">
                <a:moveTo>
                  <a:pt x="0" y="0"/>
                </a:moveTo>
                <a:lnTo>
                  <a:pt x="1811421" y="0"/>
                </a:lnTo>
                <a:lnTo>
                  <a:pt x="1811421" y="739383"/>
                </a:lnTo>
                <a:lnTo>
                  <a:pt x="0" y="739383"/>
                </a:lnTo>
                <a:close/>
              </a:path>
            </a:pathLst>
          </a:custGeom>
          <a:solidFill>
            <a:srgbClr val="000000">
              <a:alpha val="0"/>
            </a:srgbClr>
          </a:solidFill>
          <a:ln/>
        </p:spPr>
      </p:sp>
      <p:sp>
        <p:nvSpPr>
          <p:cNvPr id="63" name="Text 47"/>
          <p:cNvSpPr/>
          <p:nvPr/>
        </p:nvSpPr>
        <p:spPr>
          <a:xfrm>
            <a:off x="824620" y="4312123"/>
            <a:ext cx="1811421" cy="739383"/>
          </a:xfrm>
          <a:prstGeom prst="rect">
            <a:avLst/>
          </a:prstGeom>
          <a:noFill/>
          <a:ln/>
        </p:spPr>
        <p:txBody>
          <a:bodyPr wrap="square" rtlCol="0" anchor="t"/>
          <a:lstStyle/>
          <a:p>
            <a:pPr algn="ctr" indent="0" marL="0">
              <a:spcBef>
                <a:spcPts val="375"/>
              </a:spcBef>
              <a:buNone/>
            </a:pPr>
            <a:r>
              <a:rPr lang="en-US" sz="975" dirty="0">
                <a:solidFill>
                  <a:srgbClr val="000000"/>
                </a:solidFill>
                <a:latin typeface="Nunito" pitchFamily="34" charset="0"/>
                <a:ea typeface="Nunito" pitchFamily="34" charset="-122"/>
                <a:cs typeface="Nunito" pitchFamily="34" charset="-120"/>
              </a:rPr>
              <a:t>O'smalarni erta aniqlash va davolash, xavf omillarini kamaytirish va sog'lom turmush tarzini qo'llash - bu o'smalarni oldini olishning muhim qismidir.</a:t>
            </a:r>
            <a:endParaRPr lang="en-US" sz="1050" dirty="0"/>
          </a:p>
        </p:txBody>
      </p:sp>
      <p:sp>
        <p:nvSpPr>
          <p:cNvPr id="64" name="Shape 48"/>
          <p:cNvSpPr/>
          <p:nvPr/>
        </p:nvSpPr>
        <p:spPr>
          <a:xfrm>
            <a:off x="6482472" y="4418448"/>
            <a:ext cx="1688579" cy="725052"/>
          </a:xfrm>
          <a:custGeom>
            <a:avLst/>
            <a:gdLst/>
            <a:ahLst/>
            <a:cxnLst/>
            <a:rect l="l" t="t" r="r" b="b"/>
            <a:pathLst>
              <a:path w="1688579" h="725052">
                <a:moveTo>
                  <a:pt x="0" y="0"/>
                </a:moveTo>
                <a:lnTo>
                  <a:pt x="1688579" y="0"/>
                </a:lnTo>
                <a:lnTo>
                  <a:pt x="1688579" y="725052"/>
                </a:lnTo>
                <a:lnTo>
                  <a:pt x="0" y="725052"/>
                </a:lnTo>
                <a:close/>
              </a:path>
            </a:pathLst>
          </a:custGeom>
          <a:solidFill>
            <a:srgbClr val="FFFFFF">
              <a:alpha val="0"/>
            </a:srgbClr>
          </a:solidFill>
          <a:ln/>
        </p:spPr>
      </p:sp>
      <p:sp>
        <p:nvSpPr>
          <p:cNvPr id="65" name="Text 49"/>
          <p:cNvSpPr/>
          <p:nvPr/>
        </p:nvSpPr>
        <p:spPr>
          <a:xfrm>
            <a:off x="6482472" y="4418448"/>
            <a:ext cx="1688579" cy="725052"/>
          </a:xfrm>
          <a:prstGeom prst="rect">
            <a:avLst/>
          </a:prstGeom>
          <a:noFill/>
          <a:ln/>
        </p:spPr>
        <p:txBody>
          <a:bodyPr wrap="square" rtlCol="0" anchor="t"/>
          <a:lstStyle/>
          <a:p>
            <a:pPr indent="0" marL="0">
              <a:spcBef>
                <a:spcPts val="375"/>
              </a:spcBef>
              <a:buNone/>
            </a:pPr>
            <a:endParaRPr lang="en-US" sz="1050" dirty="0"/>
          </a:p>
        </p:txBody>
      </p:sp>
      <p:sp>
        <p:nvSpPr>
          <p:cNvPr id="66" name="Shape 50"/>
          <p:cNvSpPr/>
          <p:nvPr/>
        </p:nvSpPr>
        <p:spPr>
          <a:xfrm>
            <a:off x="6482472" y="4418448"/>
            <a:ext cx="1688579" cy="725052"/>
          </a:xfrm>
          <a:custGeom>
            <a:avLst/>
            <a:gdLst/>
            <a:ahLst/>
            <a:cxnLst/>
            <a:rect l="l" t="t" r="r" b="b"/>
            <a:pathLst>
              <a:path w="1688579" h="725052">
                <a:moveTo>
                  <a:pt x="0" y="0"/>
                </a:moveTo>
                <a:lnTo>
                  <a:pt x="1688579" y="0"/>
                </a:lnTo>
                <a:lnTo>
                  <a:pt x="1688579" y="725052"/>
                </a:lnTo>
                <a:lnTo>
                  <a:pt x="0" y="725052"/>
                </a:lnTo>
                <a:close/>
              </a:path>
            </a:pathLst>
          </a:custGeom>
          <a:solidFill>
            <a:srgbClr val="000000">
              <a:alpha val="0"/>
            </a:srgbClr>
          </a:solidFill>
          <a:ln/>
        </p:spPr>
      </p:sp>
      <p:sp>
        <p:nvSpPr>
          <p:cNvPr id="67" name="Text 51"/>
          <p:cNvSpPr/>
          <p:nvPr/>
        </p:nvSpPr>
        <p:spPr>
          <a:xfrm>
            <a:off x="6482472" y="4418448"/>
            <a:ext cx="1688579" cy="725052"/>
          </a:xfrm>
          <a:prstGeom prst="rect">
            <a:avLst/>
          </a:prstGeom>
          <a:noFill/>
          <a:ln/>
        </p:spPr>
        <p:txBody>
          <a:bodyPr wrap="square" rtlCol="0" anchor="t"/>
          <a:lstStyle/>
          <a:p>
            <a:pPr algn="ctr" indent="0" marL="0">
              <a:spcBef>
                <a:spcPts val="375"/>
              </a:spcBef>
              <a:buNone/>
            </a:pPr>
            <a:r>
              <a:rPr lang="en-US" sz="975" dirty="0">
                <a:solidFill>
                  <a:srgbClr val="000000"/>
                </a:solidFill>
                <a:latin typeface="Nunito" pitchFamily="34" charset="0"/>
                <a:ea typeface="Nunito" pitchFamily="34" charset="-122"/>
                <a:cs typeface="Nunito" pitchFamily="34" charset="-120"/>
              </a:rPr>
              <a:t>O'smalarni profilaktika qilishda jismoniy faollik, stressni boshqarish va to'g'ri ovqatlanish kabi omillarni hisobga olish zarur.</a:t>
            </a:r>
            <a:endParaRPr lang="en-US" sz="1050" dirty="0"/>
          </a:p>
        </p:txBody>
      </p:sp>
      <p:sp>
        <p:nvSpPr>
          <p:cNvPr id="68" name="Shape 52"/>
          <p:cNvSpPr/>
          <p:nvPr/>
        </p:nvSpPr>
        <p:spPr>
          <a:xfrm>
            <a:off x="3597757" y="3922645"/>
            <a:ext cx="2172951" cy="253826"/>
          </a:xfrm>
          <a:custGeom>
            <a:avLst/>
            <a:gdLst/>
            <a:ahLst/>
            <a:cxnLst/>
            <a:rect l="l" t="t" r="r" b="b"/>
            <a:pathLst>
              <a:path w="2172951" h="253826">
                <a:moveTo>
                  <a:pt x="0" y="0"/>
                </a:moveTo>
                <a:lnTo>
                  <a:pt x="2172951" y="0"/>
                </a:lnTo>
                <a:lnTo>
                  <a:pt x="2172951" y="253826"/>
                </a:lnTo>
                <a:lnTo>
                  <a:pt x="0" y="253826"/>
                </a:lnTo>
                <a:close/>
              </a:path>
            </a:pathLst>
          </a:custGeom>
          <a:solidFill>
            <a:srgbClr val="FFFFFF">
              <a:alpha val="0"/>
            </a:srgbClr>
          </a:solidFill>
          <a:ln/>
        </p:spPr>
      </p:sp>
      <p:sp>
        <p:nvSpPr>
          <p:cNvPr id="69" name="Text 53"/>
          <p:cNvSpPr/>
          <p:nvPr/>
        </p:nvSpPr>
        <p:spPr>
          <a:xfrm>
            <a:off x="3597757" y="3922645"/>
            <a:ext cx="2172951" cy="253826"/>
          </a:xfrm>
          <a:prstGeom prst="rect">
            <a:avLst/>
          </a:prstGeom>
          <a:noFill/>
          <a:ln/>
        </p:spPr>
        <p:txBody>
          <a:bodyPr wrap="square" rtlCol="0" anchor="t"/>
          <a:lstStyle/>
          <a:p>
            <a:pPr indent="0" marL="0">
              <a:spcBef>
                <a:spcPts val="375"/>
              </a:spcBef>
              <a:buNone/>
            </a:pPr>
            <a:endParaRPr lang="en-US" sz="1050" dirty="0"/>
          </a:p>
        </p:txBody>
      </p:sp>
      <p:sp>
        <p:nvSpPr>
          <p:cNvPr id="70" name="Shape 54"/>
          <p:cNvSpPr/>
          <p:nvPr/>
        </p:nvSpPr>
        <p:spPr>
          <a:xfrm>
            <a:off x="3597757" y="3922645"/>
            <a:ext cx="2172951" cy="253826"/>
          </a:xfrm>
          <a:custGeom>
            <a:avLst/>
            <a:gdLst/>
            <a:ahLst/>
            <a:cxnLst/>
            <a:rect l="l" t="t" r="r" b="b"/>
            <a:pathLst>
              <a:path w="2172951" h="253826">
                <a:moveTo>
                  <a:pt x="0" y="0"/>
                </a:moveTo>
                <a:lnTo>
                  <a:pt x="2172951" y="0"/>
                </a:lnTo>
                <a:lnTo>
                  <a:pt x="2172951" y="253826"/>
                </a:lnTo>
                <a:lnTo>
                  <a:pt x="0" y="253826"/>
                </a:lnTo>
                <a:close/>
              </a:path>
            </a:pathLst>
          </a:custGeom>
          <a:solidFill>
            <a:srgbClr val="000000">
              <a:alpha val="0"/>
            </a:srgbClr>
          </a:solidFill>
          <a:ln/>
        </p:spPr>
      </p:sp>
      <p:sp>
        <p:nvSpPr>
          <p:cNvPr id="71" name="Text 55"/>
          <p:cNvSpPr/>
          <p:nvPr/>
        </p:nvSpPr>
        <p:spPr>
          <a:xfrm>
            <a:off x="3597757" y="3922645"/>
            <a:ext cx="2172951" cy="253826"/>
          </a:xfrm>
          <a:prstGeom prst="rect">
            <a:avLst/>
          </a:prstGeom>
          <a:noFill/>
          <a:ln/>
        </p:spPr>
        <p:txBody>
          <a:bodyPr wrap="square" rtlCol="0" anchor="t"/>
          <a:lstStyle/>
          <a:p>
            <a:pPr algn="ctr" indent="0" marL="0">
              <a:spcBef>
                <a:spcPts val="375"/>
              </a:spcBef>
              <a:buNone/>
            </a:pPr>
            <a:r>
              <a:rPr lang="en-US" sz="1200" b="1" dirty="0">
                <a:solidFill>
                  <a:srgbClr val="000000"/>
                </a:solidFill>
                <a:latin typeface="Nunito" pitchFamily="34" charset="0"/>
                <a:ea typeface="Nunito" pitchFamily="34" charset="-122"/>
                <a:cs typeface="Nunito" pitchFamily="34" charset="-120"/>
              </a:rPr>
              <a:t>O'smalarni erta aniqlash: Muntazam tibbiy tekshiruvlar</a:t>
            </a:r>
            <a:endParaRPr lang="en-US" sz="1050" dirty="0"/>
          </a:p>
        </p:txBody>
      </p:sp>
      <p:sp>
        <p:nvSpPr>
          <p:cNvPr id="72" name="Shape 56"/>
          <p:cNvSpPr/>
          <p:nvPr/>
        </p:nvSpPr>
        <p:spPr>
          <a:xfrm>
            <a:off x="681612" y="3920410"/>
            <a:ext cx="2090253" cy="253826"/>
          </a:xfrm>
          <a:custGeom>
            <a:avLst/>
            <a:gdLst/>
            <a:ahLst/>
            <a:cxnLst/>
            <a:rect l="l" t="t" r="r" b="b"/>
            <a:pathLst>
              <a:path w="2090253" h="253826">
                <a:moveTo>
                  <a:pt x="0" y="0"/>
                </a:moveTo>
                <a:lnTo>
                  <a:pt x="2090253" y="0"/>
                </a:lnTo>
                <a:lnTo>
                  <a:pt x="2090253" y="253826"/>
                </a:lnTo>
                <a:lnTo>
                  <a:pt x="0" y="253826"/>
                </a:lnTo>
                <a:close/>
              </a:path>
            </a:pathLst>
          </a:custGeom>
          <a:solidFill>
            <a:srgbClr val="FFFFFF">
              <a:alpha val="0"/>
            </a:srgbClr>
          </a:solidFill>
          <a:ln/>
        </p:spPr>
      </p:sp>
      <p:sp>
        <p:nvSpPr>
          <p:cNvPr id="73" name="Text 57"/>
          <p:cNvSpPr/>
          <p:nvPr/>
        </p:nvSpPr>
        <p:spPr>
          <a:xfrm>
            <a:off x="681612" y="3920410"/>
            <a:ext cx="2090253" cy="253826"/>
          </a:xfrm>
          <a:prstGeom prst="rect">
            <a:avLst/>
          </a:prstGeom>
          <a:noFill/>
          <a:ln/>
        </p:spPr>
        <p:txBody>
          <a:bodyPr wrap="square" rtlCol="0" anchor="t"/>
          <a:lstStyle/>
          <a:p>
            <a:pPr indent="0" marL="0">
              <a:spcBef>
                <a:spcPts val="375"/>
              </a:spcBef>
              <a:buNone/>
            </a:pPr>
            <a:endParaRPr lang="en-US" sz="1050" dirty="0"/>
          </a:p>
        </p:txBody>
      </p:sp>
      <p:sp>
        <p:nvSpPr>
          <p:cNvPr id="74" name="Shape 58"/>
          <p:cNvSpPr/>
          <p:nvPr/>
        </p:nvSpPr>
        <p:spPr>
          <a:xfrm>
            <a:off x="681612" y="3920410"/>
            <a:ext cx="2090253" cy="253826"/>
          </a:xfrm>
          <a:custGeom>
            <a:avLst/>
            <a:gdLst/>
            <a:ahLst/>
            <a:cxnLst/>
            <a:rect l="l" t="t" r="r" b="b"/>
            <a:pathLst>
              <a:path w="2090253" h="253826">
                <a:moveTo>
                  <a:pt x="0" y="0"/>
                </a:moveTo>
                <a:lnTo>
                  <a:pt x="2090253" y="0"/>
                </a:lnTo>
                <a:lnTo>
                  <a:pt x="2090253" y="253826"/>
                </a:lnTo>
                <a:lnTo>
                  <a:pt x="0" y="253826"/>
                </a:lnTo>
                <a:close/>
              </a:path>
            </a:pathLst>
          </a:custGeom>
          <a:solidFill>
            <a:srgbClr val="000000">
              <a:alpha val="0"/>
            </a:srgbClr>
          </a:solidFill>
          <a:ln/>
        </p:spPr>
      </p:sp>
      <p:sp>
        <p:nvSpPr>
          <p:cNvPr id="75" name="Text 59"/>
          <p:cNvSpPr/>
          <p:nvPr/>
        </p:nvSpPr>
        <p:spPr>
          <a:xfrm>
            <a:off x="681612" y="3920410"/>
            <a:ext cx="2090253" cy="253826"/>
          </a:xfrm>
          <a:prstGeom prst="rect">
            <a:avLst/>
          </a:prstGeom>
          <a:noFill/>
          <a:ln/>
        </p:spPr>
        <p:txBody>
          <a:bodyPr wrap="square" rtlCol="0" anchor="t"/>
          <a:lstStyle/>
          <a:p>
            <a:pPr algn="ctr" indent="0" marL="0">
              <a:spcBef>
                <a:spcPts val="375"/>
              </a:spcBef>
              <a:buNone/>
            </a:pPr>
            <a:r>
              <a:rPr lang="en-US" sz="1200" b="1" dirty="0">
                <a:solidFill>
                  <a:srgbClr val="000000"/>
                </a:solidFill>
                <a:latin typeface="Nunito" pitchFamily="34" charset="0"/>
                <a:ea typeface="Nunito" pitchFamily="34" charset="-122"/>
                <a:cs typeface="Nunito" pitchFamily="34" charset="-120"/>
              </a:rPr>
              <a:t>Oziqlanish: Sog'lom ovqatlanish odatlari</a:t>
            </a:r>
            <a:endParaRPr lang="en-US" sz="1050" dirty="0"/>
          </a:p>
        </p:txBody>
      </p:sp>
      <p:sp>
        <p:nvSpPr>
          <p:cNvPr id="76" name="Shape 60"/>
          <p:cNvSpPr/>
          <p:nvPr/>
        </p:nvSpPr>
        <p:spPr>
          <a:xfrm>
            <a:off x="6210752" y="3922645"/>
            <a:ext cx="2124455" cy="253826"/>
          </a:xfrm>
          <a:custGeom>
            <a:avLst/>
            <a:gdLst/>
            <a:ahLst/>
            <a:cxnLst/>
            <a:rect l="l" t="t" r="r" b="b"/>
            <a:pathLst>
              <a:path w="2124455" h="253826">
                <a:moveTo>
                  <a:pt x="0" y="0"/>
                </a:moveTo>
                <a:lnTo>
                  <a:pt x="2124455" y="0"/>
                </a:lnTo>
                <a:lnTo>
                  <a:pt x="2124455" y="253826"/>
                </a:lnTo>
                <a:lnTo>
                  <a:pt x="0" y="253826"/>
                </a:lnTo>
                <a:close/>
              </a:path>
            </a:pathLst>
          </a:custGeom>
          <a:solidFill>
            <a:srgbClr val="FFFFFF">
              <a:alpha val="0"/>
            </a:srgbClr>
          </a:solidFill>
          <a:ln/>
        </p:spPr>
      </p:sp>
      <p:sp>
        <p:nvSpPr>
          <p:cNvPr id="77" name="Text 61"/>
          <p:cNvSpPr/>
          <p:nvPr/>
        </p:nvSpPr>
        <p:spPr>
          <a:xfrm>
            <a:off x="6210752" y="3922645"/>
            <a:ext cx="2124455" cy="253826"/>
          </a:xfrm>
          <a:prstGeom prst="rect">
            <a:avLst/>
          </a:prstGeom>
          <a:noFill/>
          <a:ln/>
        </p:spPr>
        <p:txBody>
          <a:bodyPr wrap="square" rtlCol="0" anchor="t"/>
          <a:lstStyle/>
          <a:p>
            <a:pPr indent="0" marL="0">
              <a:spcBef>
                <a:spcPts val="375"/>
              </a:spcBef>
              <a:buNone/>
            </a:pPr>
            <a:endParaRPr lang="en-US" sz="1050" dirty="0"/>
          </a:p>
        </p:txBody>
      </p:sp>
      <p:sp>
        <p:nvSpPr>
          <p:cNvPr id="78" name="Shape 62"/>
          <p:cNvSpPr/>
          <p:nvPr/>
        </p:nvSpPr>
        <p:spPr>
          <a:xfrm>
            <a:off x="6210752" y="3922645"/>
            <a:ext cx="2124455" cy="253826"/>
          </a:xfrm>
          <a:custGeom>
            <a:avLst/>
            <a:gdLst/>
            <a:ahLst/>
            <a:cxnLst/>
            <a:rect l="l" t="t" r="r" b="b"/>
            <a:pathLst>
              <a:path w="2124455" h="253826">
                <a:moveTo>
                  <a:pt x="0" y="0"/>
                </a:moveTo>
                <a:lnTo>
                  <a:pt x="2124455" y="0"/>
                </a:lnTo>
                <a:lnTo>
                  <a:pt x="2124455" y="253826"/>
                </a:lnTo>
                <a:lnTo>
                  <a:pt x="0" y="253826"/>
                </a:lnTo>
                <a:close/>
              </a:path>
            </a:pathLst>
          </a:custGeom>
          <a:solidFill>
            <a:srgbClr val="000000">
              <a:alpha val="0"/>
            </a:srgbClr>
          </a:solidFill>
          <a:ln/>
        </p:spPr>
      </p:sp>
      <p:sp>
        <p:nvSpPr>
          <p:cNvPr id="79" name="Text 63"/>
          <p:cNvSpPr/>
          <p:nvPr/>
        </p:nvSpPr>
        <p:spPr>
          <a:xfrm>
            <a:off x="6210752" y="3922645"/>
            <a:ext cx="2124455" cy="253826"/>
          </a:xfrm>
          <a:prstGeom prst="rect">
            <a:avLst/>
          </a:prstGeom>
          <a:noFill/>
          <a:ln/>
        </p:spPr>
        <p:txBody>
          <a:bodyPr wrap="square" rtlCol="0" anchor="t"/>
          <a:lstStyle/>
          <a:p>
            <a:pPr algn="ctr" indent="0" marL="0">
              <a:spcBef>
                <a:spcPts val="375"/>
              </a:spcBef>
              <a:buNone/>
            </a:pPr>
            <a:r>
              <a:rPr lang="en-US" sz="1200" b="1" dirty="0">
                <a:solidFill>
                  <a:srgbClr val="000000"/>
                </a:solidFill>
                <a:latin typeface="Nunito" pitchFamily="34" charset="0"/>
                <a:ea typeface="Nunito" pitchFamily="34" charset="-122"/>
                <a:cs typeface="Nunito" pitchFamily="34" charset="-120"/>
              </a:rPr>
              <a:t>Jismoniy faollik: Harakatli turmush tarzi</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1F1F1"/>
        </a:solidFill>
      </p:bgPr>
    </p:bg>
    <p:spTree>
      <p:nvGrpSpPr>
        <p:cNvPr id="1" name=""/>
        <p:cNvGrpSpPr/>
        <p:nvPr/>
      </p:nvGrpSpPr>
      <p:grpSpPr>
        <a:xfrm>
          <a:off x="0" y="0"/>
          <a:ext cx="0" cy="0"/>
          <a:chOff x="0" y="0"/>
          <a:chExt cx="0" cy="0"/>
        </a:xfrm>
      </p:grpSpPr>
      <p:pic>
        <p:nvPicPr>
          <p:cNvPr id="2" name="Image 0" descr="./images\slide11_img106.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images\slide11_img107.png">    </p:cNvPr>
          <p:cNvPicPr>
            <a:picLocks noChangeAspect="1"/>
          </p:cNvPicPr>
          <p:nvPr/>
        </p:nvPicPr>
        <p:blipFill>
          <a:blip r:embed="rId2"/>
          <a:stretch>
            <a:fillRect/>
          </a:stretch>
        </p:blipFill>
        <p:spPr>
          <a:xfrm>
            <a:off x="6087098" y="1683097"/>
            <a:ext cx="2542552" cy="3046631"/>
          </a:xfrm>
          <a:prstGeom prst="rect">
            <a:avLst/>
          </a:prstGeom>
        </p:spPr>
      </p:pic>
      <p:sp>
        <p:nvSpPr>
          <p:cNvPr id="4" name="Shape 0"/>
          <p:cNvSpPr/>
          <p:nvPr/>
        </p:nvSpPr>
        <p:spPr>
          <a:xfrm>
            <a:off x="874042" y="518568"/>
            <a:ext cx="7395915" cy="476250"/>
          </a:xfrm>
          <a:custGeom>
            <a:avLst/>
            <a:gdLst/>
            <a:ahLst/>
            <a:cxnLst/>
            <a:rect l="l" t="t" r="r" b="b"/>
            <a:pathLst>
              <a:path w="7395915" h="476250">
                <a:moveTo>
                  <a:pt x="0" y="0"/>
                </a:moveTo>
                <a:lnTo>
                  <a:pt x="7395915" y="0"/>
                </a:lnTo>
                <a:lnTo>
                  <a:pt x="7395915" y="476250"/>
                </a:lnTo>
                <a:lnTo>
                  <a:pt x="0" y="476250"/>
                </a:lnTo>
                <a:close/>
              </a:path>
            </a:pathLst>
          </a:custGeom>
          <a:solidFill>
            <a:srgbClr val="FFFFFF">
              <a:alpha val="0"/>
            </a:srgbClr>
          </a:solidFill>
          <a:ln/>
        </p:spPr>
      </p:sp>
      <p:sp>
        <p:nvSpPr>
          <p:cNvPr id="5" name="Text 1"/>
          <p:cNvSpPr/>
          <p:nvPr/>
        </p:nvSpPr>
        <p:spPr>
          <a:xfrm>
            <a:off x="874042" y="518568"/>
            <a:ext cx="7395915" cy="476250"/>
          </a:xfrm>
          <a:prstGeom prst="rect">
            <a:avLst/>
          </a:prstGeom>
          <a:noFill/>
          <a:ln/>
        </p:spPr>
        <p:txBody>
          <a:bodyPr wrap="square" rtlCol="0" anchor="t"/>
          <a:lstStyle/>
          <a:p>
            <a:pPr indent="0" marL="0">
              <a:spcBef>
                <a:spcPts val="375"/>
              </a:spcBef>
              <a:buNone/>
            </a:pPr>
            <a:endParaRPr lang="en-US" sz="1050" dirty="0"/>
          </a:p>
        </p:txBody>
      </p:sp>
      <p:sp>
        <p:nvSpPr>
          <p:cNvPr id="6" name="Shape 2"/>
          <p:cNvSpPr/>
          <p:nvPr/>
        </p:nvSpPr>
        <p:spPr>
          <a:xfrm>
            <a:off x="874042" y="518568"/>
            <a:ext cx="7395915" cy="476250"/>
          </a:xfrm>
          <a:custGeom>
            <a:avLst/>
            <a:gdLst/>
            <a:ahLst/>
            <a:cxnLst/>
            <a:rect l="l" t="t" r="r" b="b"/>
            <a:pathLst>
              <a:path w="7395915" h="476250">
                <a:moveTo>
                  <a:pt x="0" y="0"/>
                </a:moveTo>
                <a:lnTo>
                  <a:pt x="7395915" y="0"/>
                </a:lnTo>
                <a:lnTo>
                  <a:pt x="7395915" y="476250"/>
                </a:lnTo>
                <a:lnTo>
                  <a:pt x="0" y="476250"/>
                </a:lnTo>
                <a:close/>
              </a:path>
            </a:pathLst>
          </a:custGeom>
          <a:solidFill>
            <a:srgbClr val="000000">
              <a:alpha val="0"/>
            </a:srgbClr>
          </a:solidFill>
          <a:ln/>
        </p:spPr>
      </p:sp>
      <p:sp>
        <p:nvSpPr>
          <p:cNvPr id="7" name="Text 3"/>
          <p:cNvSpPr/>
          <p:nvPr/>
        </p:nvSpPr>
        <p:spPr>
          <a:xfrm>
            <a:off x="874042" y="518568"/>
            <a:ext cx="7395915" cy="476250"/>
          </a:xfrm>
          <a:prstGeom prst="rect">
            <a:avLst/>
          </a:prstGeom>
          <a:noFill/>
          <a:ln/>
        </p:spPr>
        <p:txBody>
          <a:bodyPr wrap="square" rtlCol="0" anchor="t"/>
          <a:lstStyle/>
          <a:p>
            <a:pPr algn="ctr" indent="0" marL="0">
              <a:spcBef>
                <a:spcPts val="375"/>
              </a:spcBef>
              <a:buNone/>
            </a:pPr>
            <a:r>
              <a:rPr lang="en-US" sz="3000" dirty="0">
                <a:solidFill>
                  <a:srgbClr val="45464D"/>
                </a:solidFill>
                <a:latin typeface="Caveat Brush" pitchFamily="34" charset="0"/>
                <a:ea typeface="Caveat Brush" pitchFamily="34" charset="-122"/>
                <a:cs typeface="Caveat Brush" pitchFamily="34" charset="-120"/>
              </a:rPr>
              <a:t>O'smalarning Xavfi</a:t>
            </a:r>
            <a:endParaRPr lang="en-US" sz="1050" dirty="0"/>
          </a:p>
        </p:txBody>
      </p:sp>
      <p:sp>
        <p:nvSpPr>
          <p:cNvPr id="8" name="Shape 4"/>
          <p:cNvSpPr/>
          <p:nvPr/>
        </p:nvSpPr>
        <p:spPr>
          <a:xfrm>
            <a:off x="705902" y="1623611"/>
            <a:ext cx="1713750" cy="552450"/>
          </a:xfrm>
          <a:custGeom>
            <a:avLst/>
            <a:gdLst/>
            <a:ahLst/>
            <a:cxnLst/>
            <a:rect l="l" t="t" r="r" b="b"/>
            <a:pathLst>
              <a:path w="1713750" h="552450">
                <a:moveTo>
                  <a:pt x="0" y="0"/>
                </a:moveTo>
                <a:lnTo>
                  <a:pt x="1713750" y="0"/>
                </a:lnTo>
                <a:lnTo>
                  <a:pt x="1713750" y="552450"/>
                </a:lnTo>
                <a:lnTo>
                  <a:pt x="0" y="552450"/>
                </a:lnTo>
                <a:close/>
              </a:path>
            </a:pathLst>
          </a:custGeom>
          <a:solidFill>
            <a:srgbClr val="FFFFFF">
              <a:alpha val="0"/>
            </a:srgbClr>
          </a:solidFill>
          <a:ln/>
        </p:spPr>
      </p:sp>
      <p:sp>
        <p:nvSpPr>
          <p:cNvPr id="9" name="Text 5"/>
          <p:cNvSpPr/>
          <p:nvPr/>
        </p:nvSpPr>
        <p:spPr>
          <a:xfrm>
            <a:off x="705902" y="1623611"/>
            <a:ext cx="1713750" cy="552450"/>
          </a:xfrm>
          <a:prstGeom prst="rect">
            <a:avLst/>
          </a:prstGeom>
          <a:noFill/>
          <a:ln/>
        </p:spPr>
        <p:txBody>
          <a:bodyPr wrap="square" rtlCol="0" anchor="t"/>
          <a:lstStyle/>
          <a:p>
            <a:pPr indent="0" marL="0">
              <a:spcBef>
                <a:spcPts val="375"/>
              </a:spcBef>
              <a:buNone/>
            </a:pPr>
            <a:endParaRPr lang="en-US" sz="1050" dirty="0"/>
          </a:p>
        </p:txBody>
      </p:sp>
      <p:sp>
        <p:nvSpPr>
          <p:cNvPr id="10" name="Shape 6"/>
          <p:cNvSpPr/>
          <p:nvPr/>
        </p:nvSpPr>
        <p:spPr>
          <a:xfrm>
            <a:off x="705902" y="1623611"/>
            <a:ext cx="1713750" cy="552450"/>
          </a:xfrm>
          <a:custGeom>
            <a:avLst/>
            <a:gdLst/>
            <a:ahLst/>
            <a:cxnLst/>
            <a:rect l="l" t="t" r="r" b="b"/>
            <a:pathLst>
              <a:path w="1713750" h="552450">
                <a:moveTo>
                  <a:pt x="0" y="0"/>
                </a:moveTo>
                <a:lnTo>
                  <a:pt x="1713750" y="0"/>
                </a:lnTo>
                <a:lnTo>
                  <a:pt x="1713750" y="552450"/>
                </a:lnTo>
                <a:lnTo>
                  <a:pt x="0" y="552450"/>
                </a:lnTo>
                <a:close/>
              </a:path>
            </a:pathLst>
          </a:custGeom>
          <a:solidFill>
            <a:srgbClr val="000000">
              <a:alpha val="0"/>
            </a:srgbClr>
          </a:solidFill>
          <a:ln/>
        </p:spPr>
      </p:sp>
      <p:sp>
        <p:nvSpPr>
          <p:cNvPr id="11" name="Text 7"/>
          <p:cNvSpPr/>
          <p:nvPr/>
        </p:nvSpPr>
        <p:spPr>
          <a:xfrm>
            <a:off x="705902" y="1623611"/>
            <a:ext cx="1713750" cy="552450"/>
          </a:xfrm>
          <a:prstGeom prst="rect">
            <a:avLst/>
          </a:prstGeom>
          <a:noFill/>
          <a:ln/>
        </p:spPr>
        <p:txBody>
          <a:bodyPr wrap="square" rtlCol="0" anchor="t"/>
          <a:lstStyle/>
          <a:p>
            <a:pPr algn="ctr" indent="0" marL="0">
              <a:spcBef>
                <a:spcPts val="375"/>
              </a:spcBef>
              <a:buNone/>
            </a:pPr>
            <a:r>
              <a:rPr lang="en-US" sz="1800" dirty="0">
                <a:solidFill>
                  <a:srgbClr val="45464D"/>
                </a:solidFill>
                <a:latin typeface="Caveat Brush" pitchFamily="34" charset="0"/>
                <a:ea typeface="Caveat Brush" pitchFamily="34" charset="-122"/>
                <a:cs typeface="Caveat Brush" pitchFamily="34" charset="-120"/>
              </a:rPr>
              <a:t>1</a:t>
            </a:r>
            <a:endParaRPr lang="en-US" sz="1050" dirty="0"/>
          </a:p>
        </p:txBody>
      </p:sp>
      <p:sp>
        <p:nvSpPr>
          <p:cNvPr id="12" name="Shape 8"/>
          <p:cNvSpPr/>
          <p:nvPr/>
        </p:nvSpPr>
        <p:spPr>
          <a:xfrm>
            <a:off x="640191" y="3311188"/>
            <a:ext cx="1998818" cy="552450"/>
          </a:xfrm>
          <a:custGeom>
            <a:avLst/>
            <a:gdLst/>
            <a:ahLst/>
            <a:cxnLst/>
            <a:rect l="l" t="t" r="r" b="b"/>
            <a:pathLst>
              <a:path w="1998818" h="552450">
                <a:moveTo>
                  <a:pt x="0" y="0"/>
                </a:moveTo>
                <a:lnTo>
                  <a:pt x="1998818" y="0"/>
                </a:lnTo>
                <a:lnTo>
                  <a:pt x="1998818" y="552450"/>
                </a:lnTo>
                <a:lnTo>
                  <a:pt x="0" y="552450"/>
                </a:lnTo>
                <a:close/>
              </a:path>
            </a:pathLst>
          </a:custGeom>
          <a:solidFill>
            <a:srgbClr val="FFFFFF">
              <a:alpha val="0"/>
            </a:srgbClr>
          </a:solidFill>
          <a:ln/>
        </p:spPr>
      </p:sp>
      <p:sp>
        <p:nvSpPr>
          <p:cNvPr id="13" name="Text 9"/>
          <p:cNvSpPr/>
          <p:nvPr/>
        </p:nvSpPr>
        <p:spPr>
          <a:xfrm>
            <a:off x="640191" y="3311188"/>
            <a:ext cx="1998818" cy="552450"/>
          </a:xfrm>
          <a:prstGeom prst="rect">
            <a:avLst/>
          </a:prstGeom>
          <a:noFill/>
          <a:ln/>
        </p:spPr>
        <p:txBody>
          <a:bodyPr wrap="square" rtlCol="0" anchor="t"/>
          <a:lstStyle/>
          <a:p>
            <a:pPr indent="0" marL="0">
              <a:spcBef>
                <a:spcPts val="375"/>
              </a:spcBef>
              <a:buNone/>
            </a:pPr>
            <a:endParaRPr lang="en-US" sz="1050" dirty="0"/>
          </a:p>
        </p:txBody>
      </p:sp>
      <p:sp>
        <p:nvSpPr>
          <p:cNvPr id="14" name="Shape 10"/>
          <p:cNvSpPr/>
          <p:nvPr/>
        </p:nvSpPr>
        <p:spPr>
          <a:xfrm>
            <a:off x="640191" y="3311188"/>
            <a:ext cx="1998818" cy="552450"/>
          </a:xfrm>
          <a:custGeom>
            <a:avLst/>
            <a:gdLst/>
            <a:ahLst/>
            <a:cxnLst/>
            <a:rect l="l" t="t" r="r" b="b"/>
            <a:pathLst>
              <a:path w="1998818" h="552450">
                <a:moveTo>
                  <a:pt x="0" y="0"/>
                </a:moveTo>
                <a:lnTo>
                  <a:pt x="1998818" y="0"/>
                </a:lnTo>
                <a:lnTo>
                  <a:pt x="1998818" y="552450"/>
                </a:lnTo>
                <a:lnTo>
                  <a:pt x="0" y="552450"/>
                </a:lnTo>
                <a:close/>
              </a:path>
            </a:pathLst>
          </a:custGeom>
          <a:solidFill>
            <a:srgbClr val="000000">
              <a:alpha val="0"/>
            </a:srgbClr>
          </a:solidFill>
          <a:ln/>
        </p:spPr>
      </p:sp>
      <p:sp>
        <p:nvSpPr>
          <p:cNvPr id="15" name="Text 11"/>
          <p:cNvSpPr/>
          <p:nvPr/>
        </p:nvSpPr>
        <p:spPr>
          <a:xfrm>
            <a:off x="640191" y="3311188"/>
            <a:ext cx="1998818" cy="552450"/>
          </a:xfrm>
          <a:prstGeom prst="rect">
            <a:avLst/>
          </a:prstGeom>
          <a:noFill/>
          <a:ln/>
        </p:spPr>
        <p:txBody>
          <a:bodyPr wrap="square" rtlCol="0" anchor="t"/>
          <a:lstStyle/>
          <a:p>
            <a:pPr algn="ctr" indent="0" marL="0">
              <a:spcBef>
                <a:spcPts val="375"/>
              </a:spcBef>
              <a:buNone/>
            </a:pPr>
            <a:r>
              <a:rPr lang="en-US" sz="1800" dirty="0">
                <a:solidFill>
                  <a:srgbClr val="45464D"/>
                </a:solidFill>
                <a:latin typeface="Caveat Brush" pitchFamily="34" charset="0"/>
                <a:ea typeface="Caveat Brush" pitchFamily="34" charset="-122"/>
                <a:cs typeface="Caveat Brush" pitchFamily="34" charset="-120"/>
              </a:rPr>
              <a:t>3</a:t>
            </a:r>
            <a:endParaRPr lang="en-US" sz="1050" dirty="0"/>
          </a:p>
        </p:txBody>
      </p:sp>
      <p:sp>
        <p:nvSpPr>
          <p:cNvPr id="16" name="Shape 12"/>
          <p:cNvSpPr/>
          <p:nvPr/>
        </p:nvSpPr>
        <p:spPr>
          <a:xfrm>
            <a:off x="3848551" y="1623612"/>
            <a:ext cx="1082550" cy="552450"/>
          </a:xfrm>
          <a:custGeom>
            <a:avLst/>
            <a:gdLst/>
            <a:ahLst/>
            <a:cxnLst/>
            <a:rect l="l" t="t" r="r" b="b"/>
            <a:pathLst>
              <a:path w="1082550" h="552450">
                <a:moveTo>
                  <a:pt x="0" y="0"/>
                </a:moveTo>
                <a:lnTo>
                  <a:pt x="1082550" y="0"/>
                </a:lnTo>
                <a:lnTo>
                  <a:pt x="1082550" y="552450"/>
                </a:lnTo>
                <a:lnTo>
                  <a:pt x="0" y="552450"/>
                </a:lnTo>
                <a:close/>
              </a:path>
            </a:pathLst>
          </a:custGeom>
          <a:solidFill>
            <a:srgbClr val="FFFFFF">
              <a:alpha val="0"/>
            </a:srgbClr>
          </a:solidFill>
          <a:ln/>
        </p:spPr>
      </p:sp>
      <p:sp>
        <p:nvSpPr>
          <p:cNvPr id="17" name="Text 13"/>
          <p:cNvSpPr/>
          <p:nvPr/>
        </p:nvSpPr>
        <p:spPr>
          <a:xfrm>
            <a:off x="3848551" y="1623612"/>
            <a:ext cx="1082550" cy="552450"/>
          </a:xfrm>
          <a:prstGeom prst="rect">
            <a:avLst/>
          </a:prstGeom>
          <a:noFill/>
          <a:ln/>
        </p:spPr>
        <p:txBody>
          <a:bodyPr wrap="square" rtlCol="0" anchor="t"/>
          <a:lstStyle/>
          <a:p>
            <a:pPr indent="0" marL="0">
              <a:spcBef>
                <a:spcPts val="375"/>
              </a:spcBef>
              <a:buNone/>
            </a:pPr>
            <a:endParaRPr lang="en-US" sz="1050" dirty="0"/>
          </a:p>
        </p:txBody>
      </p:sp>
      <p:sp>
        <p:nvSpPr>
          <p:cNvPr id="18" name="Shape 14"/>
          <p:cNvSpPr/>
          <p:nvPr/>
        </p:nvSpPr>
        <p:spPr>
          <a:xfrm>
            <a:off x="3848551" y="1623612"/>
            <a:ext cx="1082550" cy="552450"/>
          </a:xfrm>
          <a:custGeom>
            <a:avLst/>
            <a:gdLst/>
            <a:ahLst/>
            <a:cxnLst/>
            <a:rect l="l" t="t" r="r" b="b"/>
            <a:pathLst>
              <a:path w="1082550" h="552450">
                <a:moveTo>
                  <a:pt x="0" y="0"/>
                </a:moveTo>
                <a:lnTo>
                  <a:pt x="1082550" y="0"/>
                </a:lnTo>
                <a:lnTo>
                  <a:pt x="1082550" y="552450"/>
                </a:lnTo>
                <a:lnTo>
                  <a:pt x="0" y="552450"/>
                </a:lnTo>
                <a:close/>
              </a:path>
            </a:pathLst>
          </a:custGeom>
          <a:solidFill>
            <a:srgbClr val="000000">
              <a:alpha val="0"/>
            </a:srgbClr>
          </a:solidFill>
          <a:ln/>
        </p:spPr>
      </p:sp>
      <p:sp>
        <p:nvSpPr>
          <p:cNvPr id="19" name="Text 15"/>
          <p:cNvSpPr/>
          <p:nvPr/>
        </p:nvSpPr>
        <p:spPr>
          <a:xfrm>
            <a:off x="3848551" y="1623612"/>
            <a:ext cx="1082550" cy="552450"/>
          </a:xfrm>
          <a:prstGeom prst="rect">
            <a:avLst/>
          </a:prstGeom>
          <a:noFill/>
          <a:ln/>
        </p:spPr>
        <p:txBody>
          <a:bodyPr wrap="square" rtlCol="0" anchor="t"/>
          <a:lstStyle/>
          <a:p>
            <a:pPr algn="ctr" indent="0" marL="0">
              <a:spcBef>
                <a:spcPts val="375"/>
              </a:spcBef>
              <a:buNone/>
            </a:pPr>
            <a:r>
              <a:rPr lang="en-US" sz="1800" dirty="0">
                <a:solidFill>
                  <a:srgbClr val="45464D"/>
                </a:solidFill>
                <a:latin typeface="Caveat Brush" pitchFamily="34" charset="0"/>
                <a:ea typeface="Caveat Brush" pitchFamily="34" charset="-122"/>
                <a:cs typeface="Caveat Brush" pitchFamily="34" charset="-120"/>
              </a:rPr>
              <a:t>2</a:t>
            </a:r>
            <a:endParaRPr lang="en-US" sz="1050" dirty="0"/>
          </a:p>
        </p:txBody>
      </p:sp>
      <p:sp>
        <p:nvSpPr>
          <p:cNvPr id="20" name="Shape 16"/>
          <p:cNvSpPr/>
          <p:nvPr/>
        </p:nvSpPr>
        <p:spPr>
          <a:xfrm>
            <a:off x="2875893" y="3311188"/>
            <a:ext cx="2968866" cy="552450"/>
          </a:xfrm>
          <a:custGeom>
            <a:avLst/>
            <a:gdLst/>
            <a:ahLst/>
            <a:cxnLst/>
            <a:rect l="l" t="t" r="r" b="b"/>
            <a:pathLst>
              <a:path w="2968866" h="552450">
                <a:moveTo>
                  <a:pt x="0" y="0"/>
                </a:moveTo>
                <a:lnTo>
                  <a:pt x="2968866" y="0"/>
                </a:lnTo>
                <a:lnTo>
                  <a:pt x="2968866" y="552450"/>
                </a:lnTo>
                <a:lnTo>
                  <a:pt x="0" y="552450"/>
                </a:lnTo>
                <a:close/>
              </a:path>
            </a:pathLst>
          </a:custGeom>
          <a:solidFill>
            <a:srgbClr val="FFFFFF">
              <a:alpha val="0"/>
            </a:srgbClr>
          </a:solidFill>
          <a:ln/>
        </p:spPr>
      </p:sp>
      <p:sp>
        <p:nvSpPr>
          <p:cNvPr id="21" name="Text 17"/>
          <p:cNvSpPr/>
          <p:nvPr/>
        </p:nvSpPr>
        <p:spPr>
          <a:xfrm>
            <a:off x="2875893" y="3311188"/>
            <a:ext cx="2968866" cy="552450"/>
          </a:xfrm>
          <a:prstGeom prst="rect">
            <a:avLst/>
          </a:prstGeom>
          <a:noFill/>
          <a:ln/>
        </p:spPr>
        <p:txBody>
          <a:bodyPr wrap="square" rtlCol="0" anchor="t"/>
          <a:lstStyle/>
          <a:p>
            <a:pPr indent="0" marL="0">
              <a:spcBef>
                <a:spcPts val="375"/>
              </a:spcBef>
              <a:buNone/>
            </a:pPr>
            <a:endParaRPr lang="en-US" sz="1050" dirty="0"/>
          </a:p>
        </p:txBody>
      </p:sp>
      <p:sp>
        <p:nvSpPr>
          <p:cNvPr id="22" name="Shape 18"/>
          <p:cNvSpPr/>
          <p:nvPr/>
        </p:nvSpPr>
        <p:spPr>
          <a:xfrm>
            <a:off x="2875893" y="3311188"/>
            <a:ext cx="2968866" cy="552450"/>
          </a:xfrm>
          <a:custGeom>
            <a:avLst/>
            <a:gdLst/>
            <a:ahLst/>
            <a:cxnLst/>
            <a:rect l="l" t="t" r="r" b="b"/>
            <a:pathLst>
              <a:path w="2968866" h="552450">
                <a:moveTo>
                  <a:pt x="0" y="0"/>
                </a:moveTo>
                <a:lnTo>
                  <a:pt x="2968866" y="0"/>
                </a:lnTo>
                <a:lnTo>
                  <a:pt x="2968866" y="552450"/>
                </a:lnTo>
                <a:lnTo>
                  <a:pt x="0" y="552450"/>
                </a:lnTo>
                <a:close/>
              </a:path>
            </a:pathLst>
          </a:custGeom>
          <a:solidFill>
            <a:srgbClr val="000000">
              <a:alpha val="0"/>
            </a:srgbClr>
          </a:solidFill>
          <a:ln/>
        </p:spPr>
      </p:sp>
      <p:sp>
        <p:nvSpPr>
          <p:cNvPr id="23" name="Text 19"/>
          <p:cNvSpPr/>
          <p:nvPr/>
        </p:nvSpPr>
        <p:spPr>
          <a:xfrm>
            <a:off x="2875893" y="3311188"/>
            <a:ext cx="2968866" cy="552450"/>
          </a:xfrm>
          <a:prstGeom prst="rect">
            <a:avLst/>
          </a:prstGeom>
          <a:noFill/>
          <a:ln/>
        </p:spPr>
        <p:txBody>
          <a:bodyPr wrap="square" rtlCol="0" anchor="t"/>
          <a:lstStyle/>
          <a:p>
            <a:pPr algn="ctr" indent="0" marL="0">
              <a:spcBef>
                <a:spcPts val="375"/>
              </a:spcBef>
              <a:buNone/>
            </a:pPr>
            <a:r>
              <a:rPr lang="en-US" sz="1800" dirty="0">
                <a:solidFill>
                  <a:srgbClr val="45464D"/>
                </a:solidFill>
                <a:latin typeface="Caveat Brush" pitchFamily="34" charset="0"/>
                <a:ea typeface="Caveat Brush" pitchFamily="34" charset="-122"/>
                <a:cs typeface="Caveat Brush" pitchFamily="34" charset="-120"/>
              </a:rPr>
              <a:t>4</a:t>
            </a:r>
            <a:endParaRPr lang="en-US" sz="1050" dirty="0"/>
          </a:p>
        </p:txBody>
      </p:sp>
      <p:sp>
        <p:nvSpPr>
          <p:cNvPr id="24" name="Shape 20"/>
          <p:cNvSpPr/>
          <p:nvPr/>
        </p:nvSpPr>
        <p:spPr>
          <a:xfrm>
            <a:off x="705902" y="2176061"/>
            <a:ext cx="1890959" cy="932710"/>
          </a:xfrm>
          <a:custGeom>
            <a:avLst/>
            <a:gdLst/>
            <a:ahLst/>
            <a:cxnLst/>
            <a:rect l="l" t="t" r="r" b="b"/>
            <a:pathLst>
              <a:path w="1890959" h="932710">
                <a:moveTo>
                  <a:pt x="0" y="0"/>
                </a:moveTo>
                <a:lnTo>
                  <a:pt x="1890959" y="0"/>
                </a:lnTo>
                <a:lnTo>
                  <a:pt x="1890959" y="932710"/>
                </a:lnTo>
                <a:lnTo>
                  <a:pt x="0" y="932710"/>
                </a:lnTo>
                <a:close/>
              </a:path>
            </a:pathLst>
          </a:custGeom>
          <a:solidFill>
            <a:srgbClr val="FFFFFF">
              <a:alpha val="0"/>
            </a:srgbClr>
          </a:solidFill>
          <a:ln/>
        </p:spPr>
      </p:sp>
      <p:sp>
        <p:nvSpPr>
          <p:cNvPr id="25" name="Text 21"/>
          <p:cNvSpPr/>
          <p:nvPr/>
        </p:nvSpPr>
        <p:spPr>
          <a:xfrm>
            <a:off x="705902" y="2176061"/>
            <a:ext cx="1890959" cy="932710"/>
          </a:xfrm>
          <a:prstGeom prst="rect">
            <a:avLst/>
          </a:prstGeom>
          <a:noFill/>
          <a:ln/>
        </p:spPr>
        <p:txBody>
          <a:bodyPr wrap="square" rtlCol="0" anchor="t"/>
          <a:lstStyle/>
          <a:p>
            <a:pPr indent="0" marL="0">
              <a:spcBef>
                <a:spcPts val="375"/>
              </a:spcBef>
              <a:buNone/>
            </a:pPr>
            <a:endParaRPr lang="en-US" sz="1050" dirty="0"/>
          </a:p>
        </p:txBody>
      </p:sp>
      <p:sp>
        <p:nvSpPr>
          <p:cNvPr id="26" name="Shape 22"/>
          <p:cNvSpPr/>
          <p:nvPr/>
        </p:nvSpPr>
        <p:spPr>
          <a:xfrm>
            <a:off x="705902" y="2176061"/>
            <a:ext cx="1890959" cy="932710"/>
          </a:xfrm>
          <a:custGeom>
            <a:avLst/>
            <a:gdLst/>
            <a:ahLst/>
            <a:cxnLst/>
            <a:rect l="l" t="t" r="r" b="b"/>
            <a:pathLst>
              <a:path w="1890959" h="932710">
                <a:moveTo>
                  <a:pt x="0" y="0"/>
                </a:moveTo>
                <a:lnTo>
                  <a:pt x="1890959" y="0"/>
                </a:lnTo>
                <a:lnTo>
                  <a:pt x="1890959" y="932710"/>
                </a:lnTo>
                <a:lnTo>
                  <a:pt x="0" y="932710"/>
                </a:lnTo>
                <a:close/>
              </a:path>
            </a:pathLst>
          </a:custGeom>
          <a:solidFill>
            <a:srgbClr val="000000">
              <a:alpha val="0"/>
            </a:srgbClr>
          </a:solidFill>
          <a:ln/>
        </p:spPr>
      </p:sp>
      <p:sp>
        <p:nvSpPr>
          <p:cNvPr id="27" name="Text 23"/>
          <p:cNvSpPr/>
          <p:nvPr/>
        </p:nvSpPr>
        <p:spPr>
          <a:xfrm>
            <a:off x="705902" y="2176061"/>
            <a:ext cx="1890959" cy="932710"/>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O'smalar odam organizmida xavfli o'simta bo'lishi mumkin. Ular tez o'sishi, metastaz berishi va sog'liqni yomonlashtirishi mumkin.</a:t>
            </a:r>
            <a:endParaRPr lang="en-US" sz="1050" dirty="0"/>
          </a:p>
        </p:txBody>
      </p:sp>
      <p:sp>
        <p:nvSpPr>
          <p:cNvPr id="28" name="Shape 24"/>
          <p:cNvSpPr/>
          <p:nvPr/>
        </p:nvSpPr>
        <p:spPr>
          <a:xfrm>
            <a:off x="705902" y="3917979"/>
            <a:ext cx="1713750" cy="1225521"/>
          </a:xfrm>
          <a:custGeom>
            <a:avLst/>
            <a:gdLst/>
            <a:ahLst/>
            <a:cxnLst/>
            <a:rect l="l" t="t" r="r" b="b"/>
            <a:pathLst>
              <a:path w="1713750" h="1225521">
                <a:moveTo>
                  <a:pt x="0" y="0"/>
                </a:moveTo>
                <a:lnTo>
                  <a:pt x="1713750" y="0"/>
                </a:lnTo>
                <a:lnTo>
                  <a:pt x="1713750" y="1225521"/>
                </a:lnTo>
                <a:lnTo>
                  <a:pt x="0" y="1225521"/>
                </a:lnTo>
                <a:close/>
              </a:path>
            </a:pathLst>
          </a:custGeom>
          <a:solidFill>
            <a:srgbClr val="FFFFFF">
              <a:alpha val="0"/>
            </a:srgbClr>
          </a:solidFill>
          <a:ln/>
        </p:spPr>
      </p:sp>
      <p:sp>
        <p:nvSpPr>
          <p:cNvPr id="29" name="Text 25"/>
          <p:cNvSpPr/>
          <p:nvPr/>
        </p:nvSpPr>
        <p:spPr>
          <a:xfrm>
            <a:off x="705902" y="3917979"/>
            <a:ext cx="1713750" cy="1225521"/>
          </a:xfrm>
          <a:prstGeom prst="rect">
            <a:avLst/>
          </a:prstGeom>
          <a:noFill/>
          <a:ln/>
        </p:spPr>
        <p:txBody>
          <a:bodyPr wrap="square" rtlCol="0" anchor="t"/>
          <a:lstStyle/>
          <a:p>
            <a:pPr indent="0" marL="0">
              <a:spcBef>
                <a:spcPts val="375"/>
              </a:spcBef>
              <a:buNone/>
            </a:pPr>
            <a:endParaRPr lang="en-US" sz="1050" dirty="0"/>
          </a:p>
        </p:txBody>
      </p:sp>
      <p:sp>
        <p:nvSpPr>
          <p:cNvPr id="30" name="Shape 26"/>
          <p:cNvSpPr/>
          <p:nvPr/>
        </p:nvSpPr>
        <p:spPr>
          <a:xfrm>
            <a:off x="705902" y="3917979"/>
            <a:ext cx="1713750" cy="1225521"/>
          </a:xfrm>
          <a:custGeom>
            <a:avLst/>
            <a:gdLst/>
            <a:ahLst/>
            <a:cxnLst/>
            <a:rect l="l" t="t" r="r" b="b"/>
            <a:pathLst>
              <a:path w="1713750" h="1225521">
                <a:moveTo>
                  <a:pt x="0" y="0"/>
                </a:moveTo>
                <a:lnTo>
                  <a:pt x="1713750" y="0"/>
                </a:lnTo>
                <a:lnTo>
                  <a:pt x="1713750" y="1225521"/>
                </a:lnTo>
                <a:lnTo>
                  <a:pt x="0" y="1225521"/>
                </a:lnTo>
                <a:close/>
              </a:path>
            </a:pathLst>
          </a:custGeom>
          <a:solidFill>
            <a:srgbClr val="000000">
              <a:alpha val="0"/>
            </a:srgbClr>
          </a:solidFill>
          <a:ln/>
        </p:spPr>
      </p:sp>
      <p:sp>
        <p:nvSpPr>
          <p:cNvPr id="31" name="Text 27"/>
          <p:cNvSpPr/>
          <p:nvPr/>
        </p:nvSpPr>
        <p:spPr>
          <a:xfrm>
            <a:off x="705902" y="3917979"/>
            <a:ext cx="1713750" cy="1225521"/>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O'smalarni erta aniqlash muhimdir. Shifokorlar muntazam tibbiy ko'riklar o'tkazib turishlari zarur.</a:t>
            </a:r>
            <a:endParaRPr lang="en-US" sz="1050" dirty="0"/>
          </a:p>
        </p:txBody>
      </p:sp>
      <p:sp>
        <p:nvSpPr>
          <p:cNvPr id="32" name="Shape 28"/>
          <p:cNvSpPr/>
          <p:nvPr/>
        </p:nvSpPr>
        <p:spPr>
          <a:xfrm>
            <a:off x="3532953" y="3917979"/>
            <a:ext cx="1926401" cy="1225521"/>
          </a:xfrm>
          <a:custGeom>
            <a:avLst/>
            <a:gdLst/>
            <a:ahLst/>
            <a:cxnLst/>
            <a:rect l="l" t="t" r="r" b="b"/>
            <a:pathLst>
              <a:path w="1926401" h="1225521">
                <a:moveTo>
                  <a:pt x="0" y="0"/>
                </a:moveTo>
                <a:lnTo>
                  <a:pt x="1926401" y="0"/>
                </a:lnTo>
                <a:lnTo>
                  <a:pt x="1926401" y="1225521"/>
                </a:lnTo>
                <a:lnTo>
                  <a:pt x="0" y="1225521"/>
                </a:lnTo>
                <a:close/>
              </a:path>
            </a:pathLst>
          </a:custGeom>
          <a:solidFill>
            <a:srgbClr val="FFFFFF">
              <a:alpha val="0"/>
            </a:srgbClr>
          </a:solidFill>
          <a:ln/>
        </p:spPr>
      </p:sp>
      <p:sp>
        <p:nvSpPr>
          <p:cNvPr id="33" name="Text 29"/>
          <p:cNvSpPr/>
          <p:nvPr/>
        </p:nvSpPr>
        <p:spPr>
          <a:xfrm>
            <a:off x="3532953" y="3917979"/>
            <a:ext cx="1926401" cy="1225521"/>
          </a:xfrm>
          <a:prstGeom prst="rect">
            <a:avLst/>
          </a:prstGeom>
          <a:noFill/>
          <a:ln/>
        </p:spPr>
        <p:txBody>
          <a:bodyPr wrap="square" rtlCol="0" anchor="t"/>
          <a:lstStyle/>
          <a:p>
            <a:pPr indent="0" marL="0">
              <a:spcBef>
                <a:spcPts val="375"/>
              </a:spcBef>
              <a:buNone/>
            </a:pPr>
            <a:endParaRPr lang="en-US" sz="1050" dirty="0"/>
          </a:p>
        </p:txBody>
      </p:sp>
      <p:sp>
        <p:nvSpPr>
          <p:cNvPr id="34" name="Shape 30"/>
          <p:cNvSpPr/>
          <p:nvPr/>
        </p:nvSpPr>
        <p:spPr>
          <a:xfrm>
            <a:off x="3532953" y="3917979"/>
            <a:ext cx="1926401" cy="1225521"/>
          </a:xfrm>
          <a:custGeom>
            <a:avLst/>
            <a:gdLst/>
            <a:ahLst/>
            <a:cxnLst/>
            <a:rect l="l" t="t" r="r" b="b"/>
            <a:pathLst>
              <a:path w="1926401" h="1225521">
                <a:moveTo>
                  <a:pt x="0" y="0"/>
                </a:moveTo>
                <a:lnTo>
                  <a:pt x="1926401" y="0"/>
                </a:lnTo>
                <a:lnTo>
                  <a:pt x="1926401" y="1225521"/>
                </a:lnTo>
                <a:lnTo>
                  <a:pt x="0" y="1225521"/>
                </a:lnTo>
                <a:close/>
              </a:path>
            </a:pathLst>
          </a:custGeom>
          <a:solidFill>
            <a:srgbClr val="000000">
              <a:alpha val="0"/>
            </a:srgbClr>
          </a:solidFill>
          <a:ln/>
        </p:spPr>
      </p:sp>
      <p:sp>
        <p:nvSpPr>
          <p:cNvPr id="35" name="Text 31"/>
          <p:cNvSpPr/>
          <p:nvPr/>
        </p:nvSpPr>
        <p:spPr>
          <a:xfrm>
            <a:off x="3532953" y="3917979"/>
            <a:ext cx="1926401" cy="1225521"/>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O'smalarning oldini olish uchun sog'lom turmush tarzini saqlash va zararli odatlardan qochish kerak.</a:t>
            </a:r>
            <a:endParaRPr lang="en-US" sz="1050" dirty="0"/>
          </a:p>
        </p:txBody>
      </p:sp>
      <p:sp>
        <p:nvSpPr>
          <p:cNvPr id="36" name="Shape 32"/>
          <p:cNvSpPr/>
          <p:nvPr/>
        </p:nvSpPr>
        <p:spPr>
          <a:xfrm>
            <a:off x="3473884" y="2053192"/>
            <a:ext cx="2079983" cy="866556"/>
          </a:xfrm>
          <a:custGeom>
            <a:avLst/>
            <a:gdLst/>
            <a:ahLst/>
            <a:cxnLst/>
            <a:rect l="l" t="t" r="r" b="b"/>
            <a:pathLst>
              <a:path w="2079983" h="866556">
                <a:moveTo>
                  <a:pt x="0" y="0"/>
                </a:moveTo>
                <a:lnTo>
                  <a:pt x="2079983" y="0"/>
                </a:lnTo>
                <a:lnTo>
                  <a:pt x="2079983" y="866556"/>
                </a:lnTo>
                <a:lnTo>
                  <a:pt x="0" y="866556"/>
                </a:lnTo>
                <a:close/>
              </a:path>
            </a:pathLst>
          </a:custGeom>
          <a:solidFill>
            <a:srgbClr val="FFFFFF">
              <a:alpha val="0"/>
            </a:srgbClr>
          </a:solidFill>
          <a:ln/>
        </p:spPr>
      </p:sp>
      <p:sp>
        <p:nvSpPr>
          <p:cNvPr id="37" name="Text 33"/>
          <p:cNvSpPr/>
          <p:nvPr/>
        </p:nvSpPr>
        <p:spPr>
          <a:xfrm>
            <a:off x="3473884" y="2053192"/>
            <a:ext cx="2079983" cy="866556"/>
          </a:xfrm>
          <a:prstGeom prst="rect">
            <a:avLst/>
          </a:prstGeom>
          <a:noFill/>
          <a:ln/>
        </p:spPr>
        <p:txBody>
          <a:bodyPr wrap="square" rtlCol="0" anchor="t"/>
          <a:lstStyle/>
          <a:p>
            <a:pPr indent="0" marL="0">
              <a:spcBef>
                <a:spcPts val="375"/>
              </a:spcBef>
              <a:buNone/>
            </a:pPr>
            <a:endParaRPr lang="en-US" sz="1050" dirty="0"/>
          </a:p>
        </p:txBody>
      </p:sp>
      <p:sp>
        <p:nvSpPr>
          <p:cNvPr id="38" name="Shape 34"/>
          <p:cNvSpPr/>
          <p:nvPr/>
        </p:nvSpPr>
        <p:spPr>
          <a:xfrm>
            <a:off x="3473884" y="2053192"/>
            <a:ext cx="2079983" cy="866556"/>
          </a:xfrm>
          <a:custGeom>
            <a:avLst/>
            <a:gdLst/>
            <a:ahLst/>
            <a:cxnLst/>
            <a:rect l="l" t="t" r="r" b="b"/>
            <a:pathLst>
              <a:path w="2079983" h="866556">
                <a:moveTo>
                  <a:pt x="0" y="0"/>
                </a:moveTo>
                <a:lnTo>
                  <a:pt x="2079983" y="0"/>
                </a:lnTo>
                <a:lnTo>
                  <a:pt x="2079983" y="866556"/>
                </a:lnTo>
                <a:lnTo>
                  <a:pt x="0" y="866556"/>
                </a:lnTo>
                <a:close/>
              </a:path>
            </a:pathLst>
          </a:custGeom>
          <a:solidFill>
            <a:srgbClr val="000000">
              <a:alpha val="0"/>
            </a:srgbClr>
          </a:solidFill>
          <a:ln/>
        </p:spPr>
      </p:sp>
      <p:sp>
        <p:nvSpPr>
          <p:cNvPr id="39" name="Text 35"/>
          <p:cNvSpPr/>
          <p:nvPr/>
        </p:nvSpPr>
        <p:spPr>
          <a:xfrm>
            <a:off x="3473884" y="2053192"/>
            <a:ext cx="2079983" cy="866556"/>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O'smalarning xavfi haqida xabardor bo'lishimiz zarur.</a:t>
            </a:r>
            <a:endParaRPr lang="en-US" sz="1050" dirty="0"/>
          </a:p>
        </p:txBody>
      </p:sp>
      <p:sp>
        <p:nvSpPr>
          <p:cNvPr id="40" name="Shape 36"/>
          <p:cNvSpPr/>
          <p:nvPr/>
        </p:nvSpPr>
        <p:spPr>
          <a:xfrm>
            <a:off x="0" y="0"/>
            <a:ext cx="2857500" cy="238125"/>
          </a:xfrm>
          <a:custGeom>
            <a:avLst/>
            <a:gdLst/>
            <a:ahLst/>
            <a:cxnLst/>
            <a:rect l="l" t="t" r="r" b="b"/>
            <a:pathLst>
              <a:path w="2857500" h="238125">
                <a:moveTo>
                  <a:pt x="0" y="0"/>
                </a:moveTo>
                <a:lnTo>
                  <a:pt x="2857500" y="0"/>
                </a:lnTo>
                <a:lnTo>
                  <a:pt x="2857500" y="238125"/>
                </a:lnTo>
                <a:lnTo>
                  <a:pt x="0" y="238125"/>
                </a:lnTo>
                <a:close/>
              </a:path>
            </a:pathLst>
          </a:custGeom>
          <a:solidFill>
            <a:srgbClr val="FFFFFF">
              <a:alpha val="0"/>
            </a:srgbClr>
          </a:solidFill>
          <a:ln/>
        </p:spPr>
      </p:sp>
      <p:sp>
        <p:nvSpPr>
          <p:cNvPr id="41" name="Text 37"/>
          <p:cNvSpPr/>
          <p:nvPr/>
        </p:nvSpPr>
        <p:spPr>
          <a:xfrm>
            <a:off x="0" y="0"/>
            <a:ext cx="2857500" cy="238125"/>
          </a:xfrm>
          <a:prstGeom prst="rect">
            <a:avLst/>
          </a:prstGeom>
          <a:noFill/>
          <a:ln/>
        </p:spPr>
        <p:txBody>
          <a:bodyPr wrap="square" rtlCol="0" anchor="t"/>
          <a:lstStyle/>
          <a:p>
            <a:pPr indent="0" marL="0">
              <a:spcBef>
                <a:spcPts val="375"/>
              </a:spcBef>
              <a:buNone/>
            </a:pPr>
            <a:endParaRPr lang="en-US" sz="1050" dirty="0"/>
          </a:p>
        </p:txBody>
      </p:sp>
      <p:sp>
        <p:nvSpPr>
          <p:cNvPr id="42" name="Shape 38"/>
          <p:cNvSpPr/>
          <p:nvPr/>
        </p:nvSpPr>
        <p:spPr>
          <a:xfrm>
            <a:off x="0" y="0"/>
            <a:ext cx="2857500" cy="238125"/>
          </a:xfrm>
          <a:custGeom>
            <a:avLst/>
            <a:gdLst/>
            <a:ahLst/>
            <a:cxnLst/>
            <a:rect l="l" t="t" r="r" b="b"/>
            <a:pathLst>
              <a:path w="2857500" h="238125">
                <a:moveTo>
                  <a:pt x="0" y="0"/>
                </a:moveTo>
                <a:lnTo>
                  <a:pt x="2857500" y="0"/>
                </a:lnTo>
                <a:lnTo>
                  <a:pt x="2857500" y="238125"/>
                </a:lnTo>
                <a:lnTo>
                  <a:pt x="0" y="238125"/>
                </a:lnTo>
                <a:close/>
              </a:path>
            </a:pathLst>
          </a:custGeom>
          <a:solidFill>
            <a:srgbClr val="000000">
              <a:alpha val="0"/>
            </a:srgbClr>
          </a:solidFill>
          <a:ln/>
        </p:spPr>
      </p:sp>
      <p:sp>
        <p:nvSpPr>
          <p:cNvPr id="43" name="Text 39"/>
          <p:cNvSpPr/>
          <p:nvPr/>
        </p:nvSpPr>
        <p:spPr>
          <a:xfrm>
            <a:off x="0" y="0"/>
            <a:ext cx="2857500" cy="238125"/>
          </a:xfrm>
          <a:prstGeom prst="rect">
            <a:avLst/>
          </a:prstGeom>
          <a:noFill/>
          <a:ln/>
        </p:spPr>
        <p:txBody>
          <a:bodyPr wrap="square" rtlCol="0" anchor="t"/>
          <a:lstStyle/>
          <a:p>
            <a:pPr algn="l" indent="0" marL="0">
              <a:spcBef>
                <a:spcPts val="375"/>
              </a:spcBef>
              <a:buNone/>
            </a:pPr>
            <a:r>
              <a:rPr lang="en-US" sz="600" dirty="0">
                <a:solidFill>
                  <a:srgbClr val="333333"/>
                </a:solidFill>
                <a:latin typeface="微软雅黑" pitchFamily="34" charset="0"/>
                <a:ea typeface="微软雅黑" pitchFamily="34" charset="-122"/>
                <a:cs typeface="微软雅黑" pitchFamily="34" charset="-120"/>
              </a:rPr>
              <a:t>4</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1F1F1"/>
        </a:solidFill>
      </p:bgPr>
    </p:bg>
    <p:spTree>
      <p:nvGrpSpPr>
        <p:cNvPr id="1" name=""/>
        <p:cNvGrpSpPr/>
        <p:nvPr/>
      </p:nvGrpSpPr>
      <p:grpSpPr>
        <a:xfrm>
          <a:off x="0" y="0"/>
          <a:ext cx="0" cy="0"/>
          <a:chOff x="0" y="0"/>
          <a:chExt cx="0" cy="0"/>
        </a:xfrm>
      </p:grpSpPr>
      <p:pic>
        <p:nvPicPr>
          <p:cNvPr id="2" name="Image 0" descr="./images\slide12_img108.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images\slide12_img109.jpeg">    </p:cNvPr>
          <p:cNvPicPr>
            <a:picLocks noChangeAspect="1"/>
          </p:cNvPicPr>
          <p:nvPr/>
        </p:nvPicPr>
        <p:blipFill>
          <a:blip r:embed="rId2"/>
          <a:srcRect l="0" r="45747" t="4269" b="81232"/>
          <a:stretch/>
        </p:blipFill>
        <p:spPr>
          <a:xfrm>
            <a:off x="0" y="0"/>
            <a:ext cx="8778240" cy="1797420"/>
          </a:xfrm>
          <a:prstGeom prst="rect">
            <a:avLst/>
          </a:prstGeom>
        </p:spPr>
      </p:pic>
      <p:sp>
        <p:nvSpPr>
          <p:cNvPr id="4" name="Shape 0"/>
          <p:cNvSpPr/>
          <p:nvPr/>
        </p:nvSpPr>
        <p:spPr>
          <a:xfrm>
            <a:off x="614136" y="1912706"/>
            <a:ext cx="7826859" cy="476250"/>
          </a:xfrm>
          <a:custGeom>
            <a:avLst/>
            <a:gdLst/>
            <a:ahLst/>
            <a:cxnLst/>
            <a:rect l="l" t="t" r="r" b="b"/>
            <a:pathLst>
              <a:path w="7826859" h="476250">
                <a:moveTo>
                  <a:pt x="0" y="0"/>
                </a:moveTo>
                <a:lnTo>
                  <a:pt x="7826859" y="0"/>
                </a:lnTo>
                <a:lnTo>
                  <a:pt x="7826859" y="476250"/>
                </a:lnTo>
                <a:lnTo>
                  <a:pt x="0" y="476250"/>
                </a:lnTo>
                <a:close/>
              </a:path>
            </a:pathLst>
          </a:custGeom>
          <a:solidFill>
            <a:srgbClr val="FFFFFF">
              <a:alpha val="0"/>
            </a:srgbClr>
          </a:solidFill>
          <a:ln/>
        </p:spPr>
      </p:sp>
      <p:sp>
        <p:nvSpPr>
          <p:cNvPr id="5" name="Text 1"/>
          <p:cNvSpPr/>
          <p:nvPr/>
        </p:nvSpPr>
        <p:spPr>
          <a:xfrm>
            <a:off x="614136" y="1912706"/>
            <a:ext cx="7826859" cy="476250"/>
          </a:xfrm>
          <a:prstGeom prst="rect">
            <a:avLst/>
          </a:prstGeom>
          <a:noFill/>
          <a:ln/>
        </p:spPr>
        <p:txBody>
          <a:bodyPr wrap="square" rtlCol="0" anchor="t"/>
          <a:lstStyle/>
          <a:p>
            <a:pPr indent="0" marL="0">
              <a:spcBef>
                <a:spcPts val="375"/>
              </a:spcBef>
              <a:buNone/>
            </a:pPr>
            <a:endParaRPr lang="en-US" sz="1050" dirty="0"/>
          </a:p>
        </p:txBody>
      </p:sp>
      <p:sp>
        <p:nvSpPr>
          <p:cNvPr id="6" name="Shape 2"/>
          <p:cNvSpPr/>
          <p:nvPr/>
        </p:nvSpPr>
        <p:spPr>
          <a:xfrm>
            <a:off x="614136" y="1912706"/>
            <a:ext cx="7826859" cy="476250"/>
          </a:xfrm>
          <a:custGeom>
            <a:avLst/>
            <a:gdLst/>
            <a:ahLst/>
            <a:cxnLst/>
            <a:rect l="l" t="t" r="r" b="b"/>
            <a:pathLst>
              <a:path w="7826859" h="476250">
                <a:moveTo>
                  <a:pt x="0" y="0"/>
                </a:moveTo>
                <a:lnTo>
                  <a:pt x="7826859" y="0"/>
                </a:lnTo>
                <a:lnTo>
                  <a:pt x="7826859" y="476250"/>
                </a:lnTo>
                <a:lnTo>
                  <a:pt x="0" y="476250"/>
                </a:lnTo>
                <a:close/>
              </a:path>
            </a:pathLst>
          </a:custGeom>
          <a:solidFill>
            <a:srgbClr val="000000">
              <a:alpha val="0"/>
            </a:srgbClr>
          </a:solidFill>
          <a:ln/>
        </p:spPr>
      </p:sp>
      <p:sp>
        <p:nvSpPr>
          <p:cNvPr id="7" name="Text 3"/>
          <p:cNvSpPr/>
          <p:nvPr/>
        </p:nvSpPr>
        <p:spPr>
          <a:xfrm>
            <a:off x="614136" y="1912706"/>
            <a:ext cx="7826859" cy="476250"/>
          </a:xfrm>
          <a:prstGeom prst="rect">
            <a:avLst/>
          </a:prstGeom>
          <a:noFill/>
          <a:ln/>
        </p:spPr>
        <p:txBody>
          <a:bodyPr wrap="square" rtlCol="0" anchor="t"/>
          <a:lstStyle/>
          <a:p>
            <a:pPr algn="ctr" indent="0" marL="0">
              <a:spcBef>
                <a:spcPts val="375"/>
              </a:spcBef>
              <a:buNone/>
            </a:pPr>
            <a:r>
              <a:rPr lang="en-US" sz="3000" dirty="0">
                <a:solidFill>
                  <a:srgbClr val="45464D"/>
                </a:solidFill>
                <a:latin typeface="Caveat Brush" pitchFamily="34" charset="0"/>
                <a:ea typeface="Caveat Brush" pitchFamily="34" charset="-122"/>
                <a:cs typeface="Caveat Brush" pitchFamily="34" charset="-120"/>
              </a:rPr>
              <a:t>O'smalar: Umumiy Ma'lumotlar</a:t>
            </a:r>
            <a:endParaRPr lang="en-US" sz="1050" dirty="0"/>
          </a:p>
        </p:txBody>
      </p:sp>
      <p:sp>
        <p:nvSpPr>
          <p:cNvPr id="8" name="Shape 4"/>
          <p:cNvSpPr/>
          <p:nvPr/>
        </p:nvSpPr>
        <p:spPr>
          <a:xfrm>
            <a:off x="661391" y="2388956"/>
            <a:ext cx="7779603" cy="2454473"/>
          </a:xfrm>
          <a:custGeom>
            <a:avLst/>
            <a:gdLst/>
            <a:ahLst/>
            <a:cxnLst/>
            <a:rect l="l" t="t" r="r" b="b"/>
            <a:pathLst>
              <a:path w="7779603" h="2454473">
                <a:moveTo>
                  <a:pt x="0" y="0"/>
                </a:moveTo>
                <a:lnTo>
                  <a:pt x="7779603" y="0"/>
                </a:lnTo>
                <a:lnTo>
                  <a:pt x="7779603" y="2454473"/>
                </a:lnTo>
                <a:lnTo>
                  <a:pt x="0" y="2454473"/>
                </a:lnTo>
                <a:close/>
              </a:path>
            </a:pathLst>
          </a:custGeom>
          <a:solidFill>
            <a:srgbClr val="FFFFFF">
              <a:alpha val="0"/>
            </a:srgbClr>
          </a:solidFill>
          <a:ln/>
        </p:spPr>
      </p:sp>
      <p:sp>
        <p:nvSpPr>
          <p:cNvPr id="9" name="Text 5"/>
          <p:cNvSpPr/>
          <p:nvPr/>
        </p:nvSpPr>
        <p:spPr>
          <a:xfrm>
            <a:off x="661391" y="2388956"/>
            <a:ext cx="7779603" cy="2454473"/>
          </a:xfrm>
          <a:prstGeom prst="rect">
            <a:avLst/>
          </a:prstGeom>
          <a:noFill/>
          <a:ln/>
        </p:spPr>
        <p:txBody>
          <a:bodyPr wrap="square" rtlCol="0" anchor="t"/>
          <a:lstStyle/>
          <a:p>
            <a:pPr indent="0" marL="0">
              <a:spcBef>
                <a:spcPts val="375"/>
              </a:spcBef>
              <a:buNone/>
            </a:pPr>
            <a:endParaRPr lang="en-US" sz="1050" dirty="0"/>
          </a:p>
        </p:txBody>
      </p:sp>
      <p:sp>
        <p:nvSpPr>
          <p:cNvPr id="10" name="Shape 6"/>
          <p:cNvSpPr/>
          <p:nvPr/>
        </p:nvSpPr>
        <p:spPr>
          <a:xfrm>
            <a:off x="661391" y="2388956"/>
            <a:ext cx="7779603" cy="2454473"/>
          </a:xfrm>
          <a:custGeom>
            <a:avLst/>
            <a:gdLst/>
            <a:ahLst/>
            <a:cxnLst/>
            <a:rect l="l" t="t" r="r" b="b"/>
            <a:pathLst>
              <a:path w="7779603" h="2454473">
                <a:moveTo>
                  <a:pt x="0" y="0"/>
                </a:moveTo>
                <a:lnTo>
                  <a:pt x="7779603" y="0"/>
                </a:lnTo>
                <a:lnTo>
                  <a:pt x="7779603" y="2454473"/>
                </a:lnTo>
                <a:lnTo>
                  <a:pt x="0" y="2454473"/>
                </a:lnTo>
                <a:close/>
              </a:path>
            </a:pathLst>
          </a:custGeom>
          <a:solidFill>
            <a:srgbClr val="000000">
              <a:alpha val="0"/>
            </a:srgbClr>
          </a:solidFill>
          <a:ln/>
        </p:spPr>
      </p:sp>
      <p:sp>
        <p:nvSpPr>
          <p:cNvPr id="11" name="Text 7"/>
          <p:cNvSpPr/>
          <p:nvPr/>
        </p:nvSpPr>
        <p:spPr>
          <a:xfrm>
            <a:off x="661391" y="2388956"/>
            <a:ext cx="7779603" cy="2454473"/>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O'smalar, turli xil yashil o'simliklar bo'lib, ularning biologik va ekologik ahamiyati juda katta. Ular tabiatda kislorod ishlab chiqarish, karbonat angidridni so'rish va biosferaning barqarorligini saqlashda muhim rol o'ynaydi. O'smalarni o'rganish, ularning turlari, o'sishi va rivojlanishi haqidagi bilimlarimizni kengaytiradi. O'simliklar shuningdek, insoniyat uchun oziq-ovqat, dori-darmon va boshqa ko'plab resurslar manbaidir.</a:t>
            </a:r>
            <a:endParaRPr lang="en-US" sz="1050" dirty="0"/>
          </a:p>
          <a:p>
            <a:pPr algn="l" indent="0" marL="0">
              <a:spcBef>
                <a:spcPts val="375"/>
              </a:spcBef>
              <a:buNone/>
            </a:pPr>
            <a:r>
              <a:rPr lang="en-US" sz="1800" dirty="0">
                <a:solidFill>
                  <a:srgbClr val="333333"/>
                </a:solidFill>
                <a:latin typeface="Calibri" pitchFamily="34" charset="0"/>
                <a:ea typeface="Calibri" pitchFamily="34" charset="-122"/>
                <a:cs typeface="Calibri" pitchFamily="34" charset="-120"/>
              </a:rPr>
              <a:t> </a:t>
            </a:r>
            <a:endParaRPr lang="en-US" sz="1050" dirty="0"/>
          </a:p>
          <a:p>
            <a:pPr algn="l" indent="0" marL="0">
              <a:spcBef>
                <a:spcPts val="375"/>
              </a:spcBef>
              <a:buNone/>
            </a:pPr>
            <a:r>
              <a:rPr lang="en-US" sz="1800" dirty="0">
                <a:solidFill>
                  <a:srgbClr val="333333"/>
                </a:solidFill>
                <a:latin typeface="Calibri" pitchFamily="34" charset="0"/>
                <a:ea typeface="Calibri" pitchFamily="34" charset="-122"/>
                <a:cs typeface="Calibri" pitchFamily="34" charset="-120"/>
              </a:rPr>
              <a:t> </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1F1F1"/>
        </a:solidFill>
      </p:bgPr>
    </p:bg>
    <p:spTree>
      <p:nvGrpSpPr>
        <p:cNvPr id="1" name=""/>
        <p:cNvGrpSpPr/>
        <p:nvPr/>
      </p:nvGrpSpPr>
      <p:grpSpPr>
        <a:xfrm>
          <a:off x="0" y="0"/>
          <a:ext cx="0" cy="0"/>
          <a:chOff x="0" y="0"/>
          <a:chExt cx="0" cy="0"/>
        </a:xfrm>
      </p:grpSpPr>
      <p:pic>
        <p:nvPicPr>
          <p:cNvPr id="2" name="Image 0" descr="./images\slide13_img110.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images\slide13_img111.png">    </p:cNvPr>
          <p:cNvPicPr>
            <a:picLocks noChangeAspect="1"/>
          </p:cNvPicPr>
          <p:nvPr/>
        </p:nvPicPr>
        <p:blipFill>
          <a:blip r:embed="rId2"/>
          <a:stretch>
            <a:fillRect/>
          </a:stretch>
        </p:blipFill>
        <p:spPr>
          <a:xfrm rot="5400000">
            <a:off x="1448898" y="701944"/>
            <a:ext cx="2176332" cy="3520538"/>
          </a:xfrm>
          <a:prstGeom prst="rect">
            <a:avLst/>
          </a:prstGeom>
        </p:spPr>
      </p:pic>
      <p:sp>
        <p:nvSpPr>
          <p:cNvPr id="4" name="Shape 0"/>
          <p:cNvSpPr/>
          <p:nvPr/>
        </p:nvSpPr>
        <p:spPr>
          <a:xfrm rot="5400000">
            <a:off x="1448898" y="701944"/>
            <a:ext cx="2176332" cy="3520538"/>
          </a:xfrm>
          <a:custGeom>
            <a:avLst/>
            <a:gdLst/>
            <a:ahLst/>
            <a:cxnLst/>
            <a:rect l="l" t="t" r="r" b="b"/>
            <a:pathLst>
              <a:path w="2176332" h="3520538">
                <a:moveTo>
                  <a:pt x="0" y="0"/>
                </a:moveTo>
                <a:lnTo>
                  <a:pt x="2176332" y="0"/>
                </a:lnTo>
                <a:lnTo>
                  <a:pt x="2176332" y="3520538"/>
                </a:lnTo>
                <a:lnTo>
                  <a:pt x="0" y="3520538"/>
                </a:lnTo>
                <a:close/>
              </a:path>
            </a:pathLst>
          </a:custGeom>
          <a:solidFill>
            <a:srgbClr val="FFFFFF">
              <a:alpha val="0"/>
            </a:srgbClr>
          </a:solidFill>
          <a:ln/>
        </p:spPr>
      </p:sp>
      <p:sp>
        <p:nvSpPr>
          <p:cNvPr id="5" name="Text 1"/>
          <p:cNvSpPr/>
          <p:nvPr/>
        </p:nvSpPr>
        <p:spPr>
          <a:xfrm rot="5400000">
            <a:off x="1448898" y="701944"/>
            <a:ext cx="2176332" cy="3520538"/>
          </a:xfrm>
          <a:prstGeom prst="rect">
            <a:avLst/>
          </a:prstGeom>
          <a:noFill/>
          <a:ln/>
        </p:spPr>
        <p:txBody>
          <a:bodyPr wrap="square" rtlCol="0" anchor="t"/>
          <a:lstStyle/>
          <a:p>
            <a:pPr indent="0" marL="0">
              <a:spcBef>
                <a:spcPts val="375"/>
              </a:spcBef>
              <a:buNone/>
            </a:pPr>
            <a:endParaRPr lang="en-US" sz="1050" dirty="0"/>
          </a:p>
        </p:txBody>
      </p:sp>
      <p:sp>
        <p:nvSpPr>
          <p:cNvPr id="6" name="Shape 2"/>
          <p:cNvSpPr/>
          <p:nvPr/>
        </p:nvSpPr>
        <p:spPr>
          <a:xfrm rot="5400000">
            <a:off x="1448898" y="701944"/>
            <a:ext cx="2176332" cy="3520538"/>
          </a:xfrm>
          <a:custGeom>
            <a:avLst/>
            <a:gdLst/>
            <a:ahLst/>
            <a:cxnLst/>
            <a:rect l="l" t="t" r="r" b="b"/>
            <a:pathLst>
              <a:path w="2176332" h="3520538">
                <a:moveTo>
                  <a:pt x="0" y="0"/>
                </a:moveTo>
                <a:lnTo>
                  <a:pt x="2176332" y="0"/>
                </a:lnTo>
                <a:lnTo>
                  <a:pt x="2176332" y="3520538"/>
                </a:lnTo>
                <a:lnTo>
                  <a:pt x="0" y="3520538"/>
                </a:lnTo>
                <a:close/>
              </a:path>
            </a:pathLst>
          </a:custGeom>
          <a:solidFill>
            <a:srgbClr val="000000">
              <a:alpha val="0"/>
            </a:srgbClr>
          </a:solidFill>
          <a:ln/>
        </p:spPr>
      </p:sp>
      <p:sp>
        <p:nvSpPr>
          <p:cNvPr id="7" name="Text 3"/>
          <p:cNvSpPr/>
          <p:nvPr/>
        </p:nvSpPr>
        <p:spPr>
          <a:xfrm rot="5400000">
            <a:off x="1448898" y="701944"/>
            <a:ext cx="2176332" cy="3520538"/>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8" name="Image 2" descr="./images\slide13_img112.png">    </p:cNvPr>
          <p:cNvPicPr>
            <a:picLocks noChangeAspect="1"/>
          </p:cNvPicPr>
          <p:nvPr/>
        </p:nvPicPr>
        <p:blipFill>
          <a:blip r:embed="rId3"/>
          <a:stretch>
            <a:fillRect/>
          </a:stretch>
        </p:blipFill>
        <p:spPr>
          <a:xfrm rot="5400000">
            <a:off x="1448898" y="701944"/>
            <a:ext cx="2176332" cy="3520538"/>
          </a:xfrm>
          <a:prstGeom prst="rect">
            <a:avLst/>
          </a:prstGeom>
        </p:spPr>
      </p:pic>
      <p:pic>
        <p:nvPicPr>
          <p:cNvPr id="9" name="Image 3" descr="./images\slide13_img113.png">    </p:cNvPr>
          <p:cNvPicPr>
            <a:picLocks noChangeAspect="1"/>
          </p:cNvPicPr>
          <p:nvPr/>
        </p:nvPicPr>
        <p:blipFill>
          <a:blip r:embed="rId4"/>
          <a:stretch>
            <a:fillRect/>
          </a:stretch>
        </p:blipFill>
        <p:spPr>
          <a:xfrm rot="5400000">
            <a:off x="5445903" y="701944"/>
            <a:ext cx="2176332" cy="3520538"/>
          </a:xfrm>
          <a:prstGeom prst="rect">
            <a:avLst/>
          </a:prstGeom>
        </p:spPr>
      </p:pic>
      <p:sp>
        <p:nvSpPr>
          <p:cNvPr id="10" name="Shape 4"/>
          <p:cNvSpPr/>
          <p:nvPr/>
        </p:nvSpPr>
        <p:spPr>
          <a:xfrm rot="5400000">
            <a:off x="5445903" y="701944"/>
            <a:ext cx="2176332" cy="3520538"/>
          </a:xfrm>
          <a:custGeom>
            <a:avLst/>
            <a:gdLst/>
            <a:ahLst/>
            <a:cxnLst/>
            <a:rect l="l" t="t" r="r" b="b"/>
            <a:pathLst>
              <a:path w="2176332" h="3520538">
                <a:moveTo>
                  <a:pt x="0" y="0"/>
                </a:moveTo>
                <a:lnTo>
                  <a:pt x="2176332" y="0"/>
                </a:lnTo>
                <a:lnTo>
                  <a:pt x="2176332" y="3520538"/>
                </a:lnTo>
                <a:lnTo>
                  <a:pt x="0" y="3520538"/>
                </a:lnTo>
                <a:close/>
              </a:path>
            </a:pathLst>
          </a:custGeom>
          <a:solidFill>
            <a:srgbClr val="FFFFFF">
              <a:alpha val="0"/>
            </a:srgbClr>
          </a:solidFill>
          <a:ln/>
        </p:spPr>
      </p:sp>
      <p:sp>
        <p:nvSpPr>
          <p:cNvPr id="11" name="Text 5"/>
          <p:cNvSpPr/>
          <p:nvPr/>
        </p:nvSpPr>
        <p:spPr>
          <a:xfrm rot="5400000">
            <a:off x="5445903" y="701944"/>
            <a:ext cx="2176332" cy="3520538"/>
          </a:xfrm>
          <a:prstGeom prst="rect">
            <a:avLst/>
          </a:prstGeom>
          <a:noFill/>
          <a:ln/>
        </p:spPr>
        <p:txBody>
          <a:bodyPr wrap="square" rtlCol="0" anchor="t"/>
          <a:lstStyle/>
          <a:p>
            <a:pPr indent="0" marL="0">
              <a:spcBef>
                <a:spcPts val="375"/>
              </a:spcBef>
              <a:buNone/>
            </a:pPr>
            <a:endParaRPr lang="en-US" sz="1050" dirty="0"/>
          </a:p>
        </p:txBody>
      </p:sp>
      <p:sp>
        <p:nvSpPr>
          <p:cNvPr id="12" name="Shape 6"/>
          <p:cNvSpPr/>
          <p:nvPr/>
        </p:nvSpPr>
        <p:spPr>
          <a:xfrm rot="5400000">
            <a:off x="5445903" y="701944"/>
            <a:ext cx="2176332" cy="3520538"/>
          </a:xfrm>
          <a:custGeom>
            <a:avLst/>
            <a:gdLst/>
            <a:ahLst/>
            <a:cxnLst/>
            <a:rect l="l" t="t" r="r" b="b"/>
            <a:pathLst>
              <a:path w="2176332" h="3520538">
                <a:moveTo>
                  <a:pt x="0" y="0"/>
                </a:moveTo>
                <a:lnTo>
                  <a:pt x="2176332" y="0"/>
                </a:lnTo>
                <a:lnTo>
                  <a:pt x="2176332" y="3520538"/>
                </a:lnTo>
                <a:lnTo>
                  <a:pt x="0" y="3520538"/>
                </a:lnTo>
                <a:close/>
              </a:path>
            </a:pathLst>
          </a:custGeom>
          <a:solidFill>
            <a:srgbClr val="000000">
              <a:alpha val="0"/>
            </a:srgbClr>
          </a:solidFill>
          <a:ln/>
        </p:spPr>
      </p:sp>
      <p:sp>
        <p:nvSpPr>
          <p:cNvPr id="13" name="Text 7"/>
          <p:cNvSpPr/>
          <p:nvPr/>
        </p:nvSpPr>
        <p:spPr>
          <a:xfrm rot="5400000">
            <a:off x="5445903" y="701944"/>
            <a:ext cx="2176332" cy="3520538"/>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14" name="Image 4" descr="./images\slide13_img114.png">    </p:cNvPr>
          <p:cNvPicPr>
            <a:picLocks noChangeAspect="1"/>
          </p:cNvPicPr>
          <p:nvPr/>
        </p:nvPicPr>
        <p:blipFill>
          <a:blip r:embed="rId5"/>
          <a:stretch>
            <a:fillRect/>
          </a:stretch>
        </p:blipFill>
        <p:spPr>
          <a:xfrm rot="5400000">
            <a:off x="5445903" y="701944"/>
            <a:ext cx="2176332" cy="3520538"/>
          </a:xfrm>
          <a:prstGeom prst="rect">
            <a:avLst/>
          </a:prstGeom>
        </p:spPr>
      </p:pic>
      <p:sp>
        <p:nvSpPr>
          <p:cNvPr id="15" name="Shape 8"/>
          <p:cNvSpPr/>
          <p:nvPr/>
        </p:nvSpPr>
        <p:spPr>
          <a:xfrm>
            <a:off x="874042" y="425088"/>
            <a:ext cx="7395915" cy="476250"/>
          </a:xfrm>
          <a:custGeom>
            <a:avLst/>
            <a:gdLst/>
            <a:ahLst/>
            <a:cxnLst/>
            <a:rect l="l" t="t" r="r" b="b"/>
            <a:pathLst>
              <a:path w="7395915" h="476250">
                <a:moveTo>
                  <a:pt x="0" y="0"/>
                </a:moveTo>
                <a:lnTo>
                  <a:pt x="7395915" y="0"/>
                </a:lnTo>
                <a:lnTo>
                  <a:pt x="7395915" y="476250"/>
                </a:lnTo>
                <a:lnTo>
                  <a:pt x="0" y="476250"/>
                </a:lnTo>
                <a:close/>
              </a:path>
            </a:pathLst>
          </a:custGeom>
          <a:solidFill>
            <a:srgbClr val="FFFFFF">
              <a:alpha val="0"/>
            </a:srgbClr>
          </a:solidFill>
          <a:ln/>
        </p:spPr>
      </p:sp>
      <p:sp>
        <p:nvSpPr>
          <p:cNvPr id="16" name="Text 9"/>
          <p:cNvSpPr/>
          <p:nvPr/>
        </p:nvSpPr>
        <p:spPr>
          <a:xfrm>
            <a:off x="874042" y="425088"/>
            <a:ext cx="7395915" cy="476250"/>
          </a:xfrm>
          <a:prstGeom prst="rect">
            <a:avLst/>
          </a:prstGeom>
          <a:noFill/>
          <a:ln/>
        </p:spPr>
        <p:txBody>
          <a:bodyPr wrap="square" rtlCol="0" anchor="t"/>
          <a:lstStyle/>
          <a:p>
            <a:pPr indent="0" marL="0">
              <a:spcBef>
                <a:spcPts val="375"/>
              </a:spcBef>
              <a:buNone/>
            </a:pPr>
            <a:endParaRPr lang="en-US" sz="1050" dirty="0"/>
          </a:p>
        </p:txBody>
      </p:sp>
      <p:sp>
        <p:nvSpPr>
          <p:cNvPr id="17" name="Shape 10"/>
          <p:cNvSpPr/>
          <p:nvPr/>
        </p:nvSpPr>
        <p:spPr>
          <a:xfrm>
            <a:off x="874042" y="425088"/>
            <a:ext cx="7395915" cy="476250"/>
          </a:xfrm>
          <a:custGeom>
            <a:avLst/>
            <a:gdLst/>
            <a:ahLst/>
            <a:cxnLst/>
            <a:rect l="l" t="t" r="r" b="b"/>
            <a:pathLst>
              <a:path w="7395915" h="476250">
                <a:moveTo>
                  <a:pt x="0" y="0"/>
                </a:moveTo>
                <a:lnTo>
                  <a:pt x="7395915" y="0"/>
                </a:lnTo>
                <a:lnTo>
                  <a:pt x="7395915" y="476250"/>
                </a:lnTo>
                <a:lnTo>
                  <a:pt x="0" y="476250"/>
                </a:lnTo>
                <a:close/>
              </a:path>
            </a:pathLst>
          </a:custGeom>
          <a:solidFill>
            <a:srgbClr val="000000">
              <a:alpha val="0"/>
            </a:srgbClr>
          </a:solidFill>
          <a:ln/>
        </p:spPr>
      </p:sp>
      <p:sp>
        <p:nvSpPr>
          <p:cNvPr id="18" name="Text 11"/>
          <p:cNvSpPr/>
          <p:nvPr/>
        </p:nvSpPr>
        <p:spPr>
          <a:xfrm>
            <a:off x="874042" y="425088"/>
            <a:ext cx="7395915" cy="476250"/>
          </a:xfrm>
          <a:prstGeom prst="rect">
            <a:avLst/>
          </a:prstGeom>
          <a:noFill/>
          <a:ln/>
        </p:spPr>
        <p:txBody>
          <a:bodyPr wrap="square" rtlCol="0" anchor="t"/>
          <a:lstStyle/>
          <a:p>
            <a:pPr algn="ctr" indent="0" marL="0">
              <a:spcBef>
                <a:spcPts val="375"/>
              </a:spcBef>
              <a:buNone/>
            </a:pPr>
            <a:r>
              <a:rPr lang="en-US" sz="3000" dirty="0">
                <a:solidFill>
                  <a:srgbClr val="45464D"/>
                </a:solidFill>
                <a:latin typeface="Caveat Brush" pitchFamily="34" charset="0"/>
                <a:ea typeface="Caveat Brush" pitchFamily="34" charset="-122"/>
                <a:cs typeface="Caveat Brush" pitchFamily="34" charset="-120"/>
              </a:rPr>
              <a:t>Yoshi va O'smalar</a:t>
            </a:r>
            <a:endParaRPr lang="en-US" sz="1050" dirty="0"/>
          </a:p>
        </p:txBody>
      </p:sp>
      <p:sp>
        <p:nvSpPr>
          <p:cNvPr id="19" name="Shape 12"/>
          <p:cNvSpPr/>
          <p:nvPr/>
        </p:nvSpPr>
        <p:spPr>
          <a:xfrm>
            <a:off x="1291100" y="3646366"/>
            <a:ext cx="2521072" cy="348338"/>
          </a:xfrm>
          <a:custGeom>
            <a:avLst/>
            <a:gdLst/>
            <a:ahLst/>
            <a:cxnLst/>
            <a:rect l="l" t="t" r="r" b="b"/>
            <a:pathLst>
              <a:path w="2521072" h="348338">
                <a:moveTo>
                  <a:pt x="0" y="0"/>
                </a:moveTo>
                <a:lnTo>
                  <a:pt x="2521072" y="0"/>
                </a:lnTo>
                <a:lnTo>
                  <a:pt x="2521072" y="348338"/>
                </a:lnTo>
                <a:lnTo>
                  <a:pt x="0" y="348338"/>
                </a:lnTo>
                <a:close/>
              </a:path>
            </a:pathLst>
          </a:custGeom>
          <a:solidFill>
            <a:srgbClr val="FFFFFF">
              <a:alpha val="0"/>
            </a:srgbClr>
          </a:solidFill>
          <a:ln/>
        </p:spPr>
      </p:sp>
      <p:sp>
        <p:nvSpPr>
          <p:cNvPr id="20" name="Text 13"/>
          <p:cNvSpPr/>
          <p:nvPr/>
        </p:nvSpPr>
        <p:spPr>
          <a:xfrm>
            <a:off x="1291100" y="3646366"/>
            <a:ext cx="2521072" cy="348338"/>
          </a:xfrm>
          <a:prstGeom prst="rect">
            <a:avLst/>
          </a:prstGeom>
          <a:noFill/>
          <a:ln/>
        </p:spPr>
        <p:txBody>
          <a:bodyPr wrap="square" rtlCol="0" anchor="t"/>
          <a:lstStyle/>
          <a:p>
            <a:pPr indent="0" marL="0">
              <a:spcBef>
                <a:spcPts val="375"/>
              </a:spcBef>
              <a:buNone/>
            </a:pPr>
            <a:endParaRPr lang="en-US" sz="1050" dirty="0"/>
          </a:p>
        </p:txBody>
      </p:sp>
      <p:sp>
        <p:nvSpPr>
          <p:cNvPr id="21" name="Shape 14"/>
          <p:cNvSpPr/>
          <p:nvPr/>
        </p:nvSpPr>
        <p:spPr>
          <a:xfrm>
            <a:off x="1291100" y="3646366"/>
            <a:ext cx="2521072" cy="348338"/>
          </a:xfrm>
          <a:custGeom>
            <a:avLst/>
            <a:gdLst/>
            <a:ahLst/>
            <a:cxnLst/>
            <a:rect l="l" t="t" r="r" b="b"/>
            <a:pathLst>
              <a:path w="2521072" h="348338">
                <a:moveTo>
                  <a:pt x="0" y="0"/>
                </a:moveTo>
                <a:lnTo>
                  <a:pt x="2521072" y="0"/>
                </a:lnTo>
                <a:lnTo>
                  <a:pt x="2521072" y="348338"/>
                </a:lnTo>
                <a:lnTo>
                  <a:pt x="0" y="348338"/>
                </a:lnTo>
                <a:close/>
              </a:path>
            </a:pathLst>
          </a:custGeom>
          <a:solidFill>
            <a:srgbClr val="000000">
              <a:alpha val="0"/>
            </a:srgbClr>
          </a:solidFill>
          <a:ln/>
        </p:spPr>
      </p:sp>
      <p:sp>
        <p:nvSpPr>
          <p:cNvPr id="22" name="Text 15"/>
          <p:cNvSpPr/>
          <p:nvPr/>
        </p:nvSpPr>
        <p:spPr>
          <a:xfrm>
            <a:off x="1291100" y="3646366"/>
            <a:ext cx="2521072" cy="348338"/>
          </a:xfrm>
          <a:prstGeom prst="rect">
            <a:avLst/>
          </a:prstGeom>
          <a:noFill/>
          <a:ln/>
        </p:spPr>
        <p:txBody>
          <a:bodyPr wrap="square" rtlCol="0" anchor="t"/>
          <a:lstStyle/>
          <a:p>
            <a:pPr algn="ctr" indent="0" marL="0">
              <a:spcBef>
                <a:spcPts val="375"/>
              </a:spcBef>
              <a:buNone/>
            </a:pPr>
            <a:r>
              <a:rPr lang="en-US" sz="1200" b="1" dirty="0">
                <a:solidFill>
                  <a:srgbClr val="000000"/>
                </a:solidFill>
                <a:latin typeface="Nunito" pitchFamily="34" charset="0"/>
                <a:ea typeface="Nunito" pitchFamily="34" charset="-122"/>
                <a:cs typeface="Nunito" pitchFamily="34" charset="-120"/>
              </a:rPr>
              <a:t>O'sish jarayoni haqida umumiy ma'lumotlar</a:t>
            </a:r>
            <a:endParaRPr lang="en-US" sz="1050" dirty="0"/>
          </a:p>
        </p:txBody>
      </p:sp>
      <p:sp>
        <p:nvSpPr>
          <p:cNvPr id="23" name="Shape 16"/>
          <p:cNvSpPr/>
          <p:nvPr/>
        </p:nvSpPr>
        <p:spPr>
          <a:xfrm>
            <a:off x="5132203" y="3551855"/>
            <a:ext cx="2610067" cy="336524"/>
          </a:xfrm>
          <a:custGeom>
            <a:avLst/>
            <a:gdLst/>
            <a:ahLst/>
            <a:cxnLst/>
            <a:rect l="l" t="t" r="r" b="b"/>
            <a:pathLst>
              <a:path w="2610067" h="336524">
                <a:moveTo>
                  <a:pt x="0" y="0"/>
                </a:moveTo>
                <a:lnTo>
                  <a:pt x="2610067" y="0"/>
                </a:lnTo>
                <a:lnTo>
                  <a:pt x="2610067" y="336524"/>
                </a:lnTo>
                <a:lnTo>
                  <a:pt x="0" y="336524"/>
                </a:lnTo>
                <a:close/>
              </a:path>
            </a:pathLst>
          </a:custGeom>
          <a:solidFill>
            <a:srgbClr val="FFFFFF">
              <a:alpha val="0"/>
            </a:srgbClr>
          </a:solidFill>
          <a:ln/>
        </p:spPr>
      </p:sp>
      <p:sp>
        <p:nvSpPr>
          <p:cNvPr id="24" name="Text 17"/>
          <p:cNvSpPr/>
          <p:nvPr/>
        </p:nvSpPr>
        <p:spPr>
          <a:xfrm>
            <a:off x="5132203" y="3551855"/>
            <a:ext cx="2610067" cy="336524"/>
          </a:xfrm>
          <a:prstGeom prst="rect">
            <a:avLst/>
          </a:prstGeom>
          <a:noFill/>
          <a:ln/>
        </p:spPr>
        <p:txBody>
          <a:bodyPr wrap="square" rtlCol="0" anchor="t"/>
          <a:lstStyle/>
          <a:p>
            <a:pPr indent="0" marL="0">
              <a:spcBef>
                <a:spcPts val="375"/>
              </a:spcBef>
              <a:buNone/>
            </a:pPr>
            <a:endParaRPr lang="en-US" sz="1050" dirty="0"/>
          </a:p>
        </p:txBody>
      </p:sp>
      <p:sp>
        <p:nvSpPr>
          <p:cNvPr id="25" name="Shape 18"/>
          <p:cNvSpPr/>
          <p:nvPr/>
        </p:nvSpPr>
        <p:spPr>
          <a:xfrm>
            <a:off x="5132203" y="3551855"/>
            <a:ext cx="2610067" cy="336524"/>
          </a:xfrm>
          <a:custGeom>
            <a:avLst/>
            <a:gdLst/>
            <a:ahLst/>
            <a:cxnLst/>
            <a:rect l="l" t="t" r="r" b="b"/>
            <a:pathLst>
              <a:path w="2610067" h="336524">
                <a:moveTo>
                  <a:pt x="0" y="0"/>
                </a:moveTo>
                <a:lnTo>
                  <a:pt x="2610067" y="0"/>
                </a:lnTo>
                <a:lnTo>
                  <a:pt x="2610067" y="336524"/>
                </a:lnTo>
                <a:lnTo>
                  <a:pt x="0" y="336524"/>
                </a:lnTo>
                <a:close/>
              </a:path>
            </a:pathLst>
          </a:custGeom>
          <a:solidFill>
            <a:srgbClr val="000000">
              <a:alpha val="0"/>
            </a:srgbClr>
          </a:solidFill>
          <a:ln/>
        </p:spPr>
      </p:sp>
      <p:sp>
        <p:nvSpPr>
          <p:cNvPr id="26" name="Text 19"/>
          <p:cNvSpPr/>
          <p:nvPr/>
        </p:nvSpPr>
        <p:spPr>
          <a:xfrm>
            <a:off x="5132203" y="3551855"/>
            <a:ext cx="2610067" cy="336524"/>
          </a:xfrm>
          <a:prstGeom prst="rect">
            <a:avLst/>
          </a:prstGeom>
          <a:noFill/>
          <a:ln/>
        </p:spPr>
        <p:txBody>
          <a:bodyPr wrap="square" rtlCol="0" anchor="t"/>
          <a:lstStyle/>
          <a:p>
            <a:pPr algn="ctr" indent="0" marL="0">
              <a:spcBef>
                <a:spcPts val="375"/>
              </a:spcBef>
              <a:buNone/>
            </a:pPr>
            <a:r>
              <a:rPr lang="en-US" sz="1200" b="1" dirty="0">
                <a:solidFill>
                  <a:srgbClr val="000000"/>
                </a:solidFill>
                <a:latin typeface="Nunito" pitchFamily="34" charset="0"/>
                <a:ea typeface="Nunito" pitchFamily="34" charset="-122"/>
                <a:cs typeface="Nunito" pitchFamily="34" charset="-120"/>
              </a:rPr>
              <a:t>O'sish va rivojlanishning asosiy bosqichlari</a:t>
            </a:r>
            <a:endParaRPr lang="en-US" sz="1050" dirty="0"/>
          </a:p>
        </p:txBody>
      </p:sp>
      <p:sp>
        <p:nvSpPr>
          <p:cNvPr id="27" name="Shape 20"/>
          <p:cNvSpPr/>
          <p:nvPr/>
        </p:nvSpPr>
        <p:spPr>
          <a:xfrm>
            <a:off x="1261955" y="4037922"/>
            <a:ext cx="3310045" cy="603796"/>
          </a:xfrm>
          <a:custGeom>
            <a:avLst/>
            <a:gdLst/>
            <a:ahLst/>
            <a:cxnLst/>
            <a:rect l="l" t="t" r="r" b="b"/>
            <a:pathLst>
              <a:path w="3310045" h="603796">
                <a:moveTo>
                  <a:pt x="0" y="0"/>
                </a:moveTo>
                <a:lnTo>
                  <a:pt x="3310045" y="0"/>
                </a:lnTo>
                <a:lnTo>
                  <a:pt x="3310045" y="603796"/>
                </a:lnTo>
                <a:lnTo>
                  <a:pt x="0" y="603796"/>
                </a:lnTo>
                <a:close/>
              </a:path>
            </a:pathLst>
          </a:custGeom>
          <a:solidFill>
            <a:srgbClr val="FFFFFF">
              <a:alpha val="0"/>
            </a:srgbClr>
          </a:solidFill>
          <a:ln/>
        </p:spPr>
      </p:sp>
      <p:sp>
        <p:nvSpPr>
          <p:cNvPr id="28" name="Text 21"/>
          <p:cNvSpPr/>
          <p:nvPr/>
        </p:nvSpPr>
        <p:spPr>
          <a:xfrm>
            <a:off x="1261955" y="4037922"/>
            <a:ext cx="3310045" cy="603796"/>
          </a:xfrm>
          <a:prstGeom prst="rect">
            <a:avLst/>
          </a:prstGeom>
          <a:noFill/>
          <a:ln/>
        </p:spPr>
        <p:txBody>
          <a:bodyPr wrap="square" rtlCol="0" anchor="t"/>
          <a:lstStyle/>
          <a:p>
            <a:pPr indent="0" marL="0">
              <a:spcBef>
                <a:spcPts val="375"/>
              </a:spcBef>
              <a:buNone/>
            </a:pPr>
            <a:endParaRPr lang="en-US" sz="1050" dirty="0"/>
          </a:p>
        </p:txBody>
      </p:sp>
      <p:sp>
        <p:nvSpPr>
          <p:cNvPr id="29" name="Shape 22"/>
          <p:cNvSpPr/>
          <p:nvPr/>
        </p:nvSpPr>
        <p:spPr>
          <a:xfrm>
            <a:off x="1261955" y="4037922"/>
            <a:ext cx="3310045" cy="603796"/>
          </a:xfrm>
          <a:custGeom>
            <a:avLst/>
            <a:gdLst/>
            <a:ahLst/>
            <a:cxnLst/>
            <a:rect l="l" t="t" r="r" b="b"/>
            <a:pathLst>
              <a:path w="3310045" h="603796">
                <a:moveTo>
                  <a:pt x="0" y="0"/>
                </a:moveTo>
                <a:lnTo>
                  <a:pt x="3310045" y="0"/>
                </a:lnTo>
                <a:lnTo>
                  <a:pt x="3310045" y="603796"/>
                </a:lnTo>
                <a:lnTo>
                  <a:pt x="0" y="603796"/>
                </a:lnTo>
                <a:close/>
              </a:path>
            </a:pathLst>
          </a:custGeom>
          <a:solidFill>
            <a:srgbClr val="000000">
              <a:alpha val="0"/>
            </a:srgbClr>
          </a:solidFill>
          <a:ln/>
        </p:spPr>
      </p:sp>
      <p:sp>
        <p:nvSpPr>
          <p:cNvPr id="30" name="Text 23"/>
          <p:cNvSpPr/>
          <p:nvPr/>
        </p:nvSpPr>
        <p:spPr>
          <a:xfrm>
            <a:off x="1261955" y="4037922"/>
            <a:ext cx="3310045" cy="603796"/>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Yosh kattalar hayotining turli bosqichlari, jumladan, jismoniy, ruhiy va ijtimoiy rivojlanishni o'z ichiga oladi. Har bir bosqichda o'smirlar va kattalar uchun o'ziga xos muammolar va qiyinchiliklar mavjud.</a:t>
            </a:r>
            <a:endParaRPr lang="en-US" sz="1050" dirty="0"/>
          </a:p>
        </p:txBody>
      </p:sp>
      <p:sp>
        <p:nvSpPr>
          <p:cNvPr id="31" name="Shape 24"/>
          <p:cNvSpPr/>
          <p:nvPr/>
        </p:nvSpPr>
        <p:spPr>
          <a:xfrm>
            <a:off x="5233011" y="4037922"/>
            <a:ext cx="3660728" cy="603796"/>
          </a:xfrm>
          <a:custGeom>
            <a:avLst/>
            <a:gdLst/>
            <a:ahLst/>
            <a:cxnLst/>
            <a:rect l="l" t="t" r="r" b="b"/>
            <a:pathLst>
              <a:path w="3660728" h="603796">
                <a:moveTo>
                  <a:pt x="0" y="0"/>
                </a:moveTo>
                <a:lnTo>
                  <a:pt x="3660728" y="0"/>
                </a:lnTo>
                <a:lnTo>
                  <a:pt x="3660728" y="603796"/>
                </a:lnTo>
                <a:lnTo>
                  <a:pt x="0" y="603796"/>
                </a:lnTo>
                <a:close/>
              </a:path>
            </a:pathLst>
          </a:custGeom>
          <a:solidFill>
            <a:srgbClr val="FFFFFF">
              <a:alpha val="0"/>
            </a:srgbClr>
          </a:solidFill>
          <a:ln/>
        </p:spPr>
      </p:sp>
      <p:sp>
        <p:nvSpPr>
          <p:cNvPr id="32" name="Text 25"/>
          <p:cNvSpPr/>
          <p:nvPr/>
        </p:nvSpPr>
        <p:spPr>
          <a:xfrm>
            <a:off x="5233011" y="4037922"/>
            <a:ext cx="3660728" cy="603796"/>
          </a:xfrm>
          <a:prstGeom prst="rect">
            <a:avLst/>
          </a:prstGeom>
          <a:noFill/>
          <a:ln/>
        </p:spPr>
        <p:txBody>
          <a:bodyPr wrap="square" rtlCol="0" anchor="t"/>
          <a:lstStyle/>
          <a:p>
            <a:pPr indent="0" marL="0">
              <a:spcBef>
                <a:spcPts val="375"/>
              </a:spcBef>
              <a:buNone/>
            </a:pPr>
            <a:endParaRPr lang="en-US" sz="1050" dirty="0"/>
          </a:p>
        </p:txBody>
      </p:sp>
      <p:sp>
        <p:nvSpPr>
          <p:cNvPr id="33" name="Shape 26"/>
          <p:cNvSpPr/>
          <p:nvPr/>
        </p:nvSpPr>
        <p:spPr>
          <a:xfrm>
            <a:off x="5233011" y="4037922"/>
            <a:ext cx="3660728" cy="603796"/>
          </a:xfrm>
          <a:custGeom>
            <a:avLst/>
            <a:gdLst/>
            <a:ahLst/>
            <a:cxnLst/>
            <a:rect l="l" t="t" r="r" b="b"/>
            <a:pathLst>
              <a:path w="3660728" h="603796">
                <a:moveTo>
                  <a:pt x="0" y="0"/>
                </a:moveTo>
                <a:lnTo>
                  <a:pt x="3660728" y="0"/>
                </a:lnTo>
                <a:lnTo>
                  <a:pt x="3660728" y="603796"/>
                </a:lnTo>
                <a:lnTo>
                  <a:pt x="0" y="603796"/>
                </a:lnTo>
                <a:close/>
              </a:path>
            </a:pathLst>
          </a:custGeom>
          <a:solidFill>
            <a:srgbClr val="000000">
              <a:alpha val="0"/>
            </a:srgbClr>
          </a:solidFill>
          <a:ln/>
        </p:spPr>
      </p:sp>
      <p:sp>
        <p:nvSpPr>
          <p:cNvPr id="34" name="Text 27"/>
          <p:cNvSpPr/>
          <p:nvPr/>
        </p:nvSpPr>
        <p:spPr>
          <a:xfrm>
            <a:off x="5233011" y="4037922"/>
            <a:ext cx="3660728" cy="603796"/>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O'sish jarayonida qiyinchiliklarni bartaraf etish uchun qo'llaniladigan strategiyalar va psixologik yordam ko'rsatish usullarini o'rganish zarur.</a:t>
            </a:r>
            <a:endParaRPr lang="en-US" sz="1050" dirty="0"/>
          </a:p>
        </p:txBody>
      </p:sp>
      <p:pic>
        <p:nvPicPr>
          <p:cNvPr id="35" name="Image 5" descr="./images\slide13_img115.png">    </p:cNvPr>
          <p:cNvPicPr>
            <a:picLocks noChangeAspect="1"/>
          </p:cNvPicPr>
          <p:nvPr/>
        </p:nvPicPr>
        <p:blipFill>
          <a:blip r:embed="rId6"/>
          <a:srcRect l="0" r="45747" t="0" b="45747"/>
          <a:stretch/>
        </p:blipFill>
        <p:spPr>
          <a:xfrm>
            <a:off x="891015" y="1521186"/>
            <a:ext cx="3103200" cy="1858320"/>
          </a:xfrm>
          <a:prstGeom prst="ellipse">
            <a:avLst/>
          </a:prstGeom>
        </p:spPr>
      </p:pic>
      <p:pic>
        <p:nvPicPr>
          <p:cNvPr id="36" name="Image 6" descr="./images\slide13_img116.png">    </p:cNvPr>
          <p:cNvPicPr>
            <a:picLocks noChangeAspect="1"/>
          </p:cNvPicPr>
          <p:nvPr/>
        </p:nvPicPr>
        <p:blipFill>
          <a:blip r:embed="rId7"/>
          <a:srcRect l="0" r="45747" t="0" b="45747"/>
          <a:stretch/>
        </p:blipFill>
        <p:spPr>
          <a:xfrm>
            <a:off x="4914519" y="1499500"/>
            <a:ext cx="3109536" cy="1858320"/>
          </a:xfrm>
          <a:prstGeom prst="ellipse">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1F1F1"/>
        </a:solidFill>
      </p:bgPr>
    </p:bg>
    <p:spTree>
      <p:nvGrpSpPr>
        <p:cNvPr id="1" name=""/>
        <p:cNvGrpSpPr/>
        <p:nvPr/>
      </p:nvGrpSpPr>
      <p:grpSpPr>
        <a:xfrm>
          <a:off x="0" y="0"/>
          <a:ext cx="0" cy="0"/>
          <a:chOff x="0" y="0"/>
          <a:chExt cx="0" cy="0"/>
        </a:xfrm>
      </p:grpSpPr>
      <p:pic>
        <p:nvPicPr>
          <p:cNvPr id="2" name="Image 0" descr="./images\slide14_img117.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images\slide14_img118.png">    </p:cNvPr>
          <p:cNvPicPr>
            <a:picLocks noChangeAspect="1"/>
          </p:cNvPicPr>
          <p:nvPr/>
        </p:nvPicPr>
        <p:blipFill>
          <a:blip r:embed="rId2"/>
          <a:stretch>
            <a:fillRect/>
          </a:stretch>
        </p:blipFill>
        <p:spPr>
          <a:xfrm>
            <a:off x="419387" y="1645896"/>
            <a:ext cx="2957551" cy="3098256"/>
          </a:xfrm>
          <a:prstGeom prst="rect">
            <a:avLst/>
          </a:prstGeom>
        </p:spPr>
      </p:pic>
      <p:sp>
        <p:nvSpPr>
          <p:cNvPr id="4" name="Shape 0"/>
          <p:cNvSpPr/>
          <p:nvPr/>
        </p:nvSpPr>
        <p:spPr>
          <a:xfrm>
            <a:off x="419387" y="1645896"/>
            <a:ext cx="2957551" cy="3098256"/>
          </a:xfrm>
          <a:custGeom>
            <a:avLst/>
            <a:gdLst/>
            <a:ahLst/>
            <a:cxnLst/>
            <a:rect l="l" t="t" r="r" b="b"/>
            <a:pathLst>
              <a:path w="2957551" h="3098256">
                <a:moveTo>
                  <a:pt x="0" y="0"/>
                </a:moveTo>
                <a:lnTo>
                  <a:pt x="2957551" y="0"/>
                </a:lnTo>
                <a:lnTo>
                  <a:pt x="2957551" y="3098256"/>
                </a:lnTo>
                <a:lnTo>
                  <a:pt x="0" y="3098256"/>
                </a:lnTo>
                <a:close/>
              </a:path>
            </a:pathLst>
          </a:custGeom>
          <a:solidFill>
            <a:srgbClr val="FFFFFF">
              <a:alpha val="0"/>
            </a:srgbClr>
          </a:solidFill>
          <a:ln/>
        </p:spPr>
      </p:sp>
      <p:sp>
        <p:nvSpPr>
          <p:cNvPr id="5" name="Text 1"/>
          <p:cNvSpPr/>
          <p:nvPr/>
        </p:nvSpPr>
        <p:spPr>
          <a:xfrm>
            <a:off x="419387" y="1645896"/>
            <a:ext cx="2957551" cy="3098256"/>
          </a:xfrm>
          <a:prstGeom prst="rect">
            <a:avLst/>
          </a:prstGeom>
          <a:noFill/>
          <a:ln/>
        </p:spPr>
        <p:txBody>
          <a:bodyPr wrap="square" rtlCol="0" anchor="t"/>
          <a:lstStyle/>
          <a:p>
            <a:pPr indent="0" marL="0">
              <a:spcBef>
                <a:spcPts val="375"/>
              </a:spcBef>
              <a:buNone/>
            </a:pPr>
            <a:endParaRPr lang="en-US" sz="1050" dirty="0"/>
          </a:p>
        </p:txBody>
      </p:sp>
      <p:sp>
        <p:nvSpPr>
          <p:cNvPr id="6" name="Shape 2"/>
          <p:cNvSpPr/>
          <p:nvPr/>
        </p:nvSpPr>
        <p:spPr>
          <a:xfrm>
            <a:off x="419387" y="1645896"/>
            <a:ext cx="2957551" cy="3098256"/>
          </a:xfrm>
          <a:custGeom>
            <a:avLst/>
            <a:gdLst/>
            <a:ahLst/>
            <a:cxnLst/>
            <a:rect l="l" t="t" r="r" b="b"/>
            <a:pathLst>
              <a:path w="2957551" h="3098256">
                <a:moveTo>
                  <a:pt x="0" y="0"/>
                </a:moveTo>
                <a:lnTo>
                  <a:pt x="2957551" y="0"/>
                </a:lnTo>
                <a:lnTo>
                  <a:pt x="2957551" y="3098256"/>
                </a:lnTo>
                <a:lnTo>
                  <a:pt x="0" y="3098256"/>
                </a:lnTo>
                <a:close/>
              </a:path>
            </a:pathLst>
          </a:custGeom>
          <a:solidFill>
            <a:srgbClr val="000000">
              <a:alpha val="0"/>
            </a:srgbClr>
          </a:solidFill>
          <a:ln/>
        </p:spPr>
      </p:sp>
      <p:sp>
        <p:nvSpPr>
          <p:cNvPr id="7" name="Text 3"/>
          <p:cNvSpPr/>
          <p:nvPr/>
        </p:nvSpPr>
        <p:spPr>
          <a:xfrm>
            <a:off x="419387" y="1645896"/>
            <a:ext cx="2957551" cy="3098256"/>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8" name="Image 2" descr="./images\slide14_img119.png">    </p:cNvPr>
          <p:cNvPicPr>
            <a:picLocks noChangeAspect="1"/>
          </p:cNvPicPr>
          <p:nvPr/>
        </p:nvPicPr>
        <p:blipFill>
          <a:blip r:embed="rId3"/>
          <a:stretch>
            <a:fillRect/>
          </a:stretch>
        </p:blipFill>
        <p:spPr>
          <a:xfrm>
            <a:off x="419387" y="1645896"/>
            <a:ext cx="2957551" cy="3098256"/>
          </a:xfrm>
          <a:prstGeom prst="rect">
            <a:avLst/>
          </a:prstGeom>
        </p:spPr>
      </p:pic>
      <p:pic>
        <p:nvPicPr>
          <p:cNvPr id="9" name="Image 3" descr="./images\slide14_img120.png">    </p:cNvPr>
          <p:cNvPicPr>
            <a:picLocks noChangeAspect="1"/>
          </p:cNvPicPr>
          <p:nvPr/>
        </p:nvPicPr>
        <p:blipFill>
          <a:blip r:embed="rId4"/>
          <a:stretch>
            <a:fillRect/>
          </a:stretch>
        </p:blipFill>
        <p:spPr>
          <a:xfrm>
            <a:off x="1614449" y="1645896"/>
            <a:ext cx="2957551" cy="3098256"/>
          </a:xfrm>
          <a:prstGeom prst="rect">
            <a:avLst/>
          </a:prstGeom>
        </p:spPr>
      </p:pic>
      <p:sp>
        <p:nvSpPr>
          <p:cNvPr id="10" name="Shape 4"/>
          <p:cNvSpPr/>
          <p:nvPr/>
        </p:nvSpPr>
        <p:spPr>
          <a:xfrm>
            <a:off x="1614449" y="1645896"/>
            <a:ext cx="2957551" cy="3098256"/>
          </a:xfrm>
          <a:custGeom>
            <a:avLst/>
            <a:gdLst/>
            <a:ahLst/>
            <a:cxnLst/>
            <a:rect l="l" t="t" r="r" b="b"/>
            <a:pathLst>
              <a:path w="2957551" h="3098256">
                <a:moveTo>
                  <a:pt x="0" y="0"/>
                </a:moveTo>
                <a:lnTo>
                  <a:pt x="2957551" y="0"/>
                </a:lnTo>
                <a:lnTo>
                  <a:pt x="2957551" y="3098256"/>
                </a:lnTo>
                <a:lnTo>
                  <a:pt x="0" y="3098256"/>
                </a:lnTo>
                <a:close/>
              </a:path>
            </a:pathLst>
          </a:custGeom>
          <a:solidFill>
            <a:srgbClr val="FFFFFF">
              <a:alpha val="0"/>
            </a:srgbClr>
          </a:solidFill>
          <a:ln/>
        </p:spPr>
      </p:sp>
      <p:sp>
        <p:nvSpPr>
          <p:cNvPr id="11" name="Text 5"/>
          <p:cNvSpPr/>
          <p:nvPr/>
        </p:nvSpPr>
        <p:spPr>
          <a:xfrm>
            <a:off x="1614449" y="1645896"/>
            <a:ext cx="2957551" cy="3098256"/>
          </a:xfrm>
          <a:prstGeom prst="rect">
            <a:avLst/>
          </a:prstGeom>
          <a:noFill/>
          <a:ln/>
        </p:spPr>
        <p:txBody>
          <a:bodyPr wrap="square" rtlCol="0" anchor="t"/>
          <a:lstStyle/>
          <a:p>
            <a:pPr indent="0" marL="0">
              <a:spcBef>
                <a:spcPts val="375"/>
              </a:spcBef>
              <a:buNone/>
            </a:pPr>
            <a:endParaRPr lang="en-US" sz="1050" dirty="0"/>
          </a:p>
        </p:txBody>
      </p:sp>
      <p:sp>
        <p:nvSpPr>
          <p:cNvPr id="12" name="Shape 6"/>
          <p:cNvSpPr/>
          <p:nvPr/>
        </p:nvSpPr>
        <p:spPr>
          <a:xfrm>
            <a:off x="1614449" y="1645896"/>
            <a:ext cx="2957551" cy="3098256"/>
          </a:xfrm>
          <a:custGeom>
            <a:avLst/>
            <a:gdLst/>
            <a:ahLst/>
            <a:cxnLst/>
            <a:rect l="l" t="t" r="r" b="b"/>
            <a:pathLst>
              <a:path w="2957551" h="3098256">
                <a:moveTo>
                  <a:pt x="0" y="0"/>
                </a:moveTo>
                <a:lnTo>
                  <a:pt x="2957551" y="0"/>
                </a:lnTo>
                <a:lnTo>
                  <a:pt x="2957551" y="3098256"/>
                </a:lnTo>
                <a:lnTo>
                  <a:pt x="0" y="3098256"/>
                </a:lnTo>
                <a:close/>
              </a:path>
            </a:pathLst>
          </a:custGeom>
          <a:solidFill>
            <a:srgbClr val="000000">
              <a:alpha val="0"/>
            </a:srgbClr>
          </a:solidFill>
          <a:ln/>
        </p:spPr>
      </p:sp>
      <p:sp>
        <p:nvSpPr>
          <p:cNvPr id="13" name="Text 7"/>
          <p:cNvSpPr/>
          <p:nvPr/>
        </p:nvSpPr>
        <p:spPr>
          <a:xfrm>
            <a:off x="1614449" y="1645896"/>
            <a:ext cx="2957551" cy="3098256"/>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14" name="Image 4" descr="./images\slide14_img121.png">    </p:cNvPr>
          <p:cNvPicPr>
            <a:picLocks noChangeAspect="1"/>
          </p:cNvPicPr>
          <p:nvPr/>
        </p:nvPicPr>
        <p:blipFill>
          <a:blip r:embed="rId5"/>
          <a:stretch>
            <a:fillRect/>
          </a:stretch>
        </p:blipFill>
        <p:spPr>
          <a:xfrm>
            <a:off x="1614449" y="1645896"/>
            <a:ext cx="2957551" cy="3098256"/>
          </a:xfrm>
          <a:prstGeom prst="rect">
            <a:avLst/>
          </a:prstGeom>
        </p:spPr>
      </p:pic>
      <p:pic>
        <p:nvPicPr>
          <p:cNvPr id="15" name="Image 5" descr="./images\slide14_img122.jpeg">    </p:cNvPr>
          <p:cNvPicPr>
            <a:picLocks noChangeAspect="1"/>
          </p:cNvPicPr>
          <p:nvPr/>
        </p:nvPicPr>
        <p:blipFill>
          <a:blip r:embed="rId6"/>
          <a:srcRect l="2217" r="47786" t="0" b="45747"/>
          <a:stretch/>
        </p:blipFill>
        <p:spPr>
          <a:xfrm>
            <a:off x="534644" y="1797247"/>
            <a:ext cx="3699955" cy="2676661"/>
          </a:xfrm>
          <a:prstGeom prst="rect">
            <a:avLst/>
          </a:prstGeom>
        </p:spPr>
      </p:pic>
      <p:sp>
        <p:nvSpPr>
          <p:cNvPr id="16" name="Shape 8"/>
          <p:cNvSpPr/>
          <p:nvPr/>
        </p:nvSpPr>
        <p:spPr>
          <a:xfrm>
            <a:off x="874042" y="289968"/>
            <a:ext cx="7395900" cy="476250"/>
          </a:xfrm>
          <a:custGeom>
            <a:avLst/>
            <a:gdLst/>
            <a:ahLst/>
            <a:cxnLst/>
            <a:rect l="l" t="t" r="r" b="b"/>
            <a:pathLst>
              <a:path w="7395900" h="476250">
                <a:moveTo>
                  <a:pt x="0" y="0"/>
                </a:moveTo>
                <a:lnTo>
                  <a:pt x="7395900" y="0"/>
                </a:lnTo>
                <a:lnTo>
                  <a:pt x="7395900" y="476250"/>
                </a:lnTo>
                <a:lnTo>
                  <a:pt x="0" y="476250"/>
                </a:lnTo>
                <a:close/>
              </a:path>
            </a:pathLst>
          </a:custGeom>
          <a:solidFill>
            <a:srgbClr val="FFFFFF">
              <a:alpha val="0"/>
            </a:srgbClr>
          </a:solidFill>
          <a:ln/>
        </p:spPr>
      </p:sp>
      <p:sp>
        <p:nvSpPr>
          <p:cNvPr id="17" name="Text 9"/>
          <p:cNvSpPr/>
          <p:nvPr/>
        </p:nvSpPr>
        <p:spPr>
          <a:xfrm>
            <a:off x="874042" y="289968"/>
            <a:ext cx="7395900" cy="476250"/>
          </a:xfrm>
          <a:prstGeom prst="rect">
            <a:avLst/>
          </a:prstGeom>
          <a:noFill/>
          <a:ln/>
        </p:spPr>
        <p:txBody>
          <a:bodyPr wrap="square" rtlCol="0" anchor="t"/>
          <a:lstStyle/>
          <a:p>
            <a:pPr indent="0" marL="0">
              <a:spcBef>
                <a:spcPts val="375"/>
              </a:spcBef>
              <a:buNone/>
            </a:pPr>
            <a:endParaRPr lang="en-US" sz="1050" dirty="0"/>
          </a:p>
        </p:txBody>
      </p:sp>
      <p:sp>
        <p:nvSpPr>
          <p:cNvPr id="18" name="Shape 10"/>
          <p:cNvSpPr/>
          <p:nvPr/>
        </p:nvSpPr>
        <p:spPr>
          <a:xfrm>
            <a:off x="874042" y="289968"/>
            <a:ext cx="7395900" cy="476250"/>
          </a:xfrm>
          <a:custGeom>
            <a:avLst/>
            <a:gdLst/>
            <a:ahLst/>
            <a:cxnLst/>
            <a:rect l="l" t="t" r="r" b="b"/>
            <a:pathLst>
              <a:path w="7395900" h="476250">
                <a:moveTo>
                  <a:pt x="0" y="0"/>
                </a:moveTo>
                <a:lnTo>
                  <a:pt x="7395900" y="0"/>
                </a:lnTo>
                <a:lnTo>
                  <a:pt x="7395900" y="476250"/>
                </a:lnTo>
                <a:lnTo>
                  <a:pt x="0" y="476250"/>
                </a:lnTo>
                <a:close/>
              </a:path>
            </a:pathLst>
          </a:custGeom>
          <a:solidFill>
            <a:srgbClr val="000000">
              <a:alpha val="0"/>
            </a:srgbClr>
          </a:solidFill>
          <a:ln/>
        </p:spPr>
      </p:sp>
      <p:sp>
        <p:nvSpPr>
          <p:cNvPr id="19" name="Text 11"/>
          <p:cNvSpPr/>
          <p:nvPr/>
        </p:nvSpPr>
        <p:spPr>
          <a:xfrm>
            <a:off x="874042" y="289968"/>
            <a:ext cx="7395900" cy="476250"/>
          </a:xfrm>
          <a:prstGeom prst="rect">
            <a:avLst/>
          </a:prstGeom>
          <a:noFill/>
          <a:ln/>
        </p:spPr>
        <p:txBody>
          <a:bodyPr wrap="square" rtlCol="0" anchor="t"/>
          <a:lstStyle/>
          <a:p>
            <a:pPr algn="ctr" indent="0" marL="0">
              <a:spcBef>
                <a:spcPts val="375"/>
              </a:spcBef>
              <a:buNone/>
            </a:pPr>
            <a:r>
              <a:rPr lang="en-US" sz="3000" dirty="0">
                <a:solidFill>
                  <a:srgbClr val="45464D"/>
                </a:solidFill>
                <a:latin typeface="Caveat Brush" pitchFamily="34" charset="0"/>
                <a:ea typeface="Caveat Brush" pitchFamily="34" charset="-122"/>
                <a:cs typeface="Caveat Brush" pitchFamily="34" charset="-120"/>
              </a:rPr>
              <a:t>O'smalar va davolash: Asosiy tushunchalar</a:t>
            </a:r>
            <a:endParaRPr lang="en-US" sz="1050" dirty="0"/>
          </a:p>
        </p:txBody>
      </p:sp>
      <p:sp>
        <p:nvSpPr>
          <p:cNvPr id="20" name="Shape 12"/>
          <p:cNvSpPr/>
          <p:nvPr/>
        </p:nvSpPr>
        <p:spPr>
          <a:xfrm>
            <a:off x="4572000" y="1768209"/>
            <a:ext cx="1448190" cy="476250"/>
          </a:xfrm>
          <a:custGeom>
            <a:avLst/>
            <a:gdLst/>
            <a:ahLst/>
            <a:cxnLst/>
            <a:rect l="l" t="t" r="r" b="b"/>
            <a:pathLst>
              <a:path w="1448190" h="476250">
                <a:moveTo>
                  <a:pt x="0" y="0"/>
                </a:moveTo>
                <a:lnTo>
                  <a:pt x="1448190" y="0"/>
                </a:lnTo>
                <a:lnTo>
                  <a:pt x="1448190" y="476250"/>
                </a:lnTo>
                <a:lnTo>
                  <a:pt x="0" y="476250"/>
                </a:lnTo>
                <a:close/>
              </a:path>
            </a:pathLst>
          </a:custGeom>
          <a:solidFill>
            <a:srgbClr val="FFFFFF">
              <a:alpha val="0"/>
            </a:srgbClr>
          </a:solidFill>
          <a:ln/>
        </p:spPr>
      </p:sp>
      <p:sp>
        <p:nvSpPr>
          <p:cNvPr id="21" name="Text 13"/>
          <p:cNvSpPr/>
          <p:nvPr/>
        </p:nvSpPr>
        <p:spPr>
          <a:xfrm>
            <a:off x="4572000" y="1768209"/>
            <a:ext cx="1448190" cy="476250"/>
          </a:xfrm>
          <a:prstGeom prst="rect">
            <a:avLst/>
          </a:prstGeom>
          <a:noFill/>
          <a:ln/>
        </p:spPr>
        <p:txBody>
          <a:bodyPr wrap="square" rtlCol="0" anchor="t"/>
          <a:lstStyle/>
          <a:p>
            <a:pPr indent="0" marL="0">
              <a:spcBef>
                <a:spcPts val="375"/>
              </a:spcBef>
              <a:buNone/>
            </a:pPr>
            <a:endParaRPr lang="en-US" sz="1050" dirty="0"/>
          </a:p>
        </p:txBody>
      </p:sp>
      <p:sp>
        <p:nvSpPr>
          <p:cNvPr id="22" name="Shape 14"/>
          <p:cNvSpPr/>
          <p:nvPr/>
        </p:nvSpPr>
        <p:spPr>
          <a:xfrm>
            <a:off x="4572000" y="1768209"/>
            <a:ext cx="1448190" cy="476250"/>
          </a:xfrm>
          <a:custGeom>
            <a:avLst/>
            <a:gdLst/>
            <a:ahLst/>
            <a:cxnLst/>
            <a:rect l="l" t="t" r="r" b="b"/>
            <a:pathLst>
              <a:path w="1448190" h="476250">
                <a:moveTo>
                  <a:pt x="0" y="0"/>
                </a:moveTo>
                <a:lnTo>
                  <a:pt x="1448190" y="0"/>
                </a:lnTo>
                <a:lnTo>
                  <a:pt x="1448190" y="476250"/>
                </a:lnTo>
                <a:lnTo>
                  <a:pt x="0" y="476250"/>
                </a:lnTo>
                <a:close/>
              </a:path>
            </a:pathLst>
          </a:custGeom>
          <a:solidFill>
            <a:srgbClr val="000000">
              <a:alpha val="0"/>
            </a:srgbClr>
          </a:solidFill>
          <a:ln/>
        </p:spPr>
      </p:sp>
      <p:sp>
        <p:nvSpPr>
          <p:cNvPr id="23" name="Text 15"/>
          <p:cNvSpPr/>
          <p:nvPr/>
        </p:nvSpPr>
        <p:spPr>
          <a:xfrm>
            <a:off x="4572000" y="1768209"/>
            <a:ext cx="1448190" cy="476250"/>
          </a:xfrm>
          <a:prstGeom prst="rect">
            <a:avLst/>
          </a:prstGeom>
          <a:noFill/>
          <a:ln/>
        </p:spPr>
        <p:txBody>
          <a:bodyPr wrap="square" rtlCol="0" anchor="t"/>
          <a:lstStyle/>
          <a:p>
            <a:pPr algn="ctr" indent="0" marL="0">
              <a:spcBef>
                <a:spcPts val="375"/>
              </a:spcBef>
              <a:buNone/>
            </a:pPr>
            <a:r>
              <a:rPr lang="en-US" sz="1800" dirty="0">
                <a:solidFill>
                  <a:srgbClr val="45464D"/>
                </a:solidFill>
                <a:latin typeface="Caveat Brush" pitchFamily="34" charset="0"/>
                <a:ea typeface="Caveat Brush" pitchFamily="34" charset="-122"/>
                <a:cs typeface="Caveat Brush" pitchFamily="34" charset="-120"/>
              </a:rPr>
              <a:t>O'sma turlari</a:t>
            </a:r>
            <a:endParaRPr lang="en-US" sz="1050" dirty="0"/>
          </a:p>
        </p:txBody>
      </p:sp>
      <p:sp>
        <p:nvSpPr>
          <p:cNvPr id="24" name="Shape 16"/>
          <p:cNvSpPr/>
          <p:nvPr/>
        </p:nvSpPr>
        <p:spPr>
          <a:xfrm>
            <a:off x="4572000" y="2582210"/>
            <a:ext cx="1319049" cy="476250"/>
          </a:xfrm>
          <a:custGeom>
            <a:avLst/>
            <a:gdLst/>
            <a:ahLst/>
            <a:cxnLst/>
            <a:rect l="l" t="t" r="r" b="b"/>
            <a:pathLst>
              <a:path w="1319049" h="476250">
                <a:moveTo>
                  <a:pt x="0" y="0"/>
                </a:moveTo>
                <a:lnTo>
                  <a:pt x="1319049" y="0"/>
                </a:lnTo>
                <a:lnTo>
                  <a:pt x="1319049" y="476250"/>
                </a:lnTo>
                <a:lnTo>
                  <a:pt x="0" y="476250"/>
                </a:lnTo>
                <a:close/>
              </a:path>
            </a:pathLst>
          </a:custGeom>
          <a:solidFill>
            <a:srgbClr val="FFFFFF">
              <a:alpha val="0"/>
            </a:srgbClr>
          </a:solidFill>
          <a:ln/>
        </p:spPr>
      </p:sp>
      <p:sp>
        <p:nvSpPr>
          <p:cNvPr id="25" name="Text 17"/>
          <p:cNvSpPr/>
          <p:nvPr/>
        </p:nvSpPr>
        <p:spPr>
          <a:xfrm>
            <a:off x="4572000" y="2582210"/>
            <a:ext cx="1319049" cy="476250"/>
          </a:xfrm>
          <a:prstGeom prst="rect">
            <a:avLst/>
          </a:prstGeom>
          <a:noFill/>
          <a:ln/>
        </p:spPr>
        <p:txBody>
          <a:bodyPr wrap="square" rtlCol="0" anchor="t"/>
          <a:lstStyle/>
          <a:p>
            <a:pPr indent="0" marL="0">
              <a:spcBef>
                <a:spcPts val="375"/>
              </a:spcBef>
              <a:buNone/>
            </a:pPr>
            <a:endParaRPr lang="en-US" sz="1050" dirty="0"/>
          </a:p>
        </p:txBody>
      </p:sp>
      <p:sp>
        <p:nvSpPr>
          <p:cNvPr id="26" name="Shape 18"/>
          <p:cNvSpPr/>
          <p:nvPr/>
        </p:nvSpPr>
        <p:spPr>
          <a:xfrm>
            <a:off x="4572000" y="2582210"/>
            <a:ext cx="1319049" cy="476250"/>
          </a:xfrm>
          <a:custGeom>
            <a:avLst/>
            <a:gdLst/>
            <a:ahLst/>
            <a:cxnLst/>
            <a:rect l="l" t="t" r="r" b="b"/>
            <a:pathLst>
              <a:path w="1319049" h="476250">
                <a:moveTo>
                  <a:pt x="0" y="0"/>
                </a:moveTo>
                <a:lnTo>
                  <a:pt x="1319049" y="0"/>
                </a:lnTo>
                <a:lnTo>
                  <a:pt x="1319049" y="476250"/>
                </a:lnTo>
                <a:lnTo>
                  <a:pt x="0" y="476250"/>
                </a:lnTo>
                <a:close/>
              </a:path>
            </a:pathLst>
          </a:custGeom>
          <a:solidFill>
            <a:srgbClr val="000000">
              <a:alpha val="0"/>
            </a:srgbClr>
          </a:solidFill>
          <a:ln/>
        </p:spPr>
      </p:sp>
      <p:sp>
        <p:nvSpPr>
          <p:cNvPr id="27" name="Text 19"/>
          <p:cNvSpPr/>
          <p:nvPr/>
        </p:nvSpPr>
        <p:spPr>
          <a:xfrm>
            <a:off x="4572000" y="2582210"/>
            <a:ext cx="1319049" cy="476250"/>
          </a:xfrm>
          <a:prstGeom prst="rect">
            <a:avLst/>
          </a:prstGeom>
          <a:noFill/>
          <a:ln/>
        </p:spPr>
        <p:txBody>
          <a:bodyPr wrap="square" rtlCol="0" anchor="t"/>
          <a:lstStyle/>
          <a:p>
            <a:pPr algn="ctr" indent="0" marL="0">
              <a:spcBef>
                <a:spcPts val="375"/>
              </a:spcBef>
              <a:buNone/>
            </a:pPr>
            <a:r>
              <a:rPr lang="en-US" sz="1800" dirty="0">
                <a:solidFill>
                  <a:srgbClr val="45464D"/>
                </a:solidFill>
                <a:latin typeface="Caveat Brush" pitchFamily="34" charset="0"/>
                <a:ea typeface="Caveat Brush" pitchFamily="34" charset="-122"/>
                <a:cs typeface="Caveat Brush" pitchFamily="34" charset="-120"/>
              </a:rPr>
              <a:t>Davolash usullari</a:t>
            </a:r>
            <a:endParaRPr lang="en-US" sz="1050" dirty="0"/>
          </a:p>
        </p:txBody>
      </p:sp>
      <p:sp>
        <p:nvSpPr>
          <p:cNvPr id="28" name="Shape 20"/>
          <p:cNvSpPr/>
          <p:nvPr/>
        </p:nvSpPr>
        <p:spPr>
          <a:xfrm>
            <a:off x="4572000" y="3663928"/>
            <a:ext cx="1319049" cy="476250"/>
          </a:xfrm>
          <a:custGeom>
            <a:avLst/>
            <a:gdLst/>
            <a:ahLst/>
            <a:cxnLst/>
            <a:rect l="l" t="t" r="r" b="b"/>
            <a:pathLst>
              <a:path w="1319049" h="476250">
                <a:moveTo>
                  <a:pt x="0" y="0"/>
                </a:moveTo>
                <a:lnTo>
                  <a:pt x="1319049" y="0"/>
                </a:lnTo>
                <a:lnTo>
                  <a:pt x="1319049" y="476250"/>
                </a:lnTo>
                <a:lnTo>
                  <a:pt x="0" y="476250"/>
                </a:lnTo>
                <a:close/>
              </a:path>
            </a:pathLst>
          </a:custGeom>
          <a:solidFill>
            <a:srgbClr val="FFFFFF">
              <a:alpha val="0"/>
            </a:srgbClr>
          </a:solidFill>
          <a:ln/>
        </p:spPr>
      </p:sp>
      <p:sp>
        <p:nvSpPr>
          <p:cNvPr id="29" name="Text 21"/>
          <p:cNvSpPr/>
          <p:nvPr/>
        </p:nvSpPr>
        <p:spPr>
          <a:xfrm>
            <a:off x="4572000" y="3663928"/>
            <a:ext cx="1319049" cy="476250"/>
          </a:xfrm>
          <a:prstGeom prst="rect">
            <a:avLst/>
          </a:prstGeom>
          <a:noFill/>
          <a:ln/>
        </p:spPr>
        <p:txBody>
          <a:bodyPr wrap="square" rtlCol="0" anchor="t"/>
          <a:lstStyle/>
          <a:p>
            <a:pPr indent="0" marL="0">
              <a:spcBef>
                <a:spcPts val="375"/>
              </a:spcBef>
              <a:buNone/>
            </a:pPr>
            <a:endParaRPr lang="en-US" sz="1050" dirty="0"/>
          </a:p>
        </p:txBody>
      </p:sp>
      <p:sp>
        <p:nvSpPr>
          <p:cNvPr id="30" name="Shape 22"/>
          <p:cNvSpPr/>
          <p:nvPr/>
        </p:nvSpPr>
        <p:spPr>
          <a:xfrm>
            <a:off x="4572000" y="3663928"/>
            <a:ext cx="1319049" cy="476250"/>
          </a:xfrm>
          <a:custGeom>
            <a:avLst/>
            <a:gdLst/>
            <a:ahLst/>
            <a:cxnLst/>
            <a:rect l="l" t="t" r="r" b="b"/>
            <a:pathLst>
              <a:path w="1319049" h="476250">
                <a:moveTo>
                  <a:pt x="0" y="0"/>
                </a:moveTo>
                <a:lnTo>
                  <a:pt x="1319049" y="0"/>
                </a:lnTo>
                <a:lnTo>
                  <a:pt x="1319049" y="476250"/>
                </a:lnTo>
                <a:lnTo>
                  <a:pt x="0" y="476250"/>
                </a:lnTo>
                <a:close/>
              </a:path>
            </a:pathLst>
          </a:custGeom>
          <a:solidFill>
            <a:srgbClr val="000000">
              <a:alpha val="0"/>
            </a:srgbClr>
          </a:solidFill>
          <a:ln/>
        </p:spPr>
      </p:sp>
      <p:sp>
        <p:nvSpPr>
          <p:cNvPr id="31" name="Text 23"/>
          <p:cNvSpPr/>
          <p:nvPr/>
        </p:nvSpPr>
        <p:spPr>
          <a:xfrm>
            <a:off x="4572000" y="3663928"/>
            <a:ext cx="1319049" cy="476250"/>
          </a:xfrm>
          <a:prstGeom prst="rect">
            <a:avLst/>
          </a:prstGeom>
          <a:noFill/>
          <a:ln/>
        </p:spPr>
        <p:txBody>
          <a:bodyPr wrap="square" rtlCol="0" anchor="t"/>
          <a:lstStyle/>
          <a:p>
            <a:pPr algn="ctr" indent="0" marL="0">
              <a:spcBef>
                <a:spcPts val="375"/>
              </a:spcBef>
              <a:buNone/>
            </a:pPr>
            <a:r>
              <a:rPr lang="en-US" sz="1800" dirty="0">
                <a:solidFill>
                  <a:srgbClr val="45464D"/>
                </a:solidFill>
                <a:latin typeface="Caveat Brush" pitchFamily="34" charset="0"/>
                <a:ea typeface="Caveat Brush" pitchFamily="34" charset="-122"/>
                <a:cs typeface="Caveat Brush" pitchFamily="34" charset="-120"/>
              </a:rPr>
              <a:t>O'smalar va ularning alomatlari</a:t>
            </a:r>
            <a:endParaRPr lang="en-US" sz="1050" dirty="0"/>
          </a:p>
        </p:txBody>
      </p:sp>
      <p:sp>
        <p:nvSpPr>
          <p:cNvPr id="32" name="Shape 24"/>
          <p:cNvSpPr/>
          <p:nvPr/>
        </p:nvSpPr>
        <p:spPr>
          <a:xfrm>
            <a:off x="6052785" y="1736990"/>
            <a:ext cx="3091215" cy="1016499"/>
          </a:xfrm>
          <a:custGeom>
            <a:avLst/>
            <a:gdLst/>
            <a:ahLst/>
            <a:cxnLst/>
            <a:rect l="l" t="t" r="r" b="b"/>
            <a:pathLst>
              <a:path w="3091215" h="1016499">
                <a:moveTo>
                  <a:pt x="0" y="0"/>
                </a:moveTo>
                <a:lnTo>
                  <a:pt x="3091215" y="0"/>
                </a:lnTo>
                <a:lnTo>
                  <a:pt x="3091215" y="1016499"/>
                </a:lnTo>
                <a:lnTo>
                  <a:pt x="0" y="1016499"/>
                </a:lnTo>
                <a:close/>
              </a:path>
            </a:pathLst>
          </a:custGeom>
          <a:solidFill>
            <a:srgbClr val="FFFFFF">
              <a:alpha val="0"/>
            </a:srgbClr>
          </a:solidFill>
          <a:ln/>
        </p:spPr>
      </p:sp>
      <p:sp>
        <p:nvSpPr>
          <p:cNvPr id="33" name="Text 25"/>
          <p:cNvSpPr/>
          <p:nvPr/>
        </p:nvSpPr>
        <p:spPr>
          <a:xfrm>
            <a:off x="6052785" y="1736990"/>
            <a:ext cx="3091215" cy="1016499"/>
          </a:xfrm>
          <a:prstGeom prst="rect">
            <a:avLst/>
          </a:prstGeom>
          <a:noFill/>
          <a:ln/>
        </p:spPr>
        <p:txBody>
          <a:bodyPr wrap="square" rtlCol="0" anchor="t"/>
          <a:lstStyle/>
          <a:p>
            <a:pPr indent="0" marL="0">
              <a:spcBef>
                <a:spcPts val="375"/>
              </a:spcBef>
              <a:buNone/>
            </a:pPr>
            <a:endParaRPr lang="en-US" sz="1050" dirty="0"/>
          </a:p>
        </p:txBody>
      </p:sp>
      <p:sp>
        <p:nvSpPr>
          <p:cNvPr id="34" name="Shape 26"/>
          <p:cNvSpPr/>
          <p:nvPr/>
        </p:nvSpPr>
        <p:spPr>
          <a:xfrm>
            <a:off x="6052785" y="1736990"/>
            <a:ext cx="3091215" cy="1016499"/>
          </a:xfrm>
          <a:custGeom>
            <a:avLst/>
            <a:gdLst/>
            <a:ahLst/>
            <a:cxnLst/>
            <a:rect l="l" t="t" r="r" b="b"/>
            <a:pathLst>
              <a:path w="3091215" h="1016499">
                <a:moveTo>
                  <a:pt x="0" y="0"/>
                </a:moveTo>
                <a:lnTo>
                  <a:pt x="3091215" y="0"/>
                </a:lnTo>
                <a:lnTo>
                  <a:pt x="3091215" y="1016499"/>
                </a:lnTo>
                <a:lnTo>
                  <a:pt x="0" y="1016499"/>
                </a:lnTo>
                <a:close/>
              </a:path>
            </a:pathLst>
          </a:custGeom>
          <a:solidFill>
            <a:srgbClr val="000000">
              <a:alpha val="0"/>
            </a:srgbClr>
          </a:solidFill>
          <a:ln/>
        </p:spPr>
      </p:sp>
      <p:sp>
        <p:nvSpPr>
          <p:cNvPr id="35" name="Text 27"/>
          <p:cNvSpPr/>
          <p:nvPr/>
        </p:nvSpPr>
        <p:spPr>
          <a:xfrm>
            <a:off x="6052785" y="1736990"/>
            <a:ext cx="3091215" cy="1016499"/>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O'smalar, organizmdagi to'qimalarning normadan ortiqcha o'sishi bo'lib, ular benign (yaxshi) yoki malignant (yomon) bo'lishi mumkin. Ularning aniqlanishi va davolash usullari muhimdir.</a:t>
            </a:r>
            <a:endParaRPr lang="en-US" sz="1050" dirty="0"/>
          </a:p>
        </p:txBody>
      </p:sp>
      <p:sp>
        <p:nvSpPr>
          <p:cNvPr id="36" name="Shape 28"/>
          <p:cNvSpPr/>
          <p:nvPr/>
        </p:nvSpPr>
        <p:spPr>
          <a:xfrm>
            <a:off x="6052785" y="2753489"/>
            <a:ext cx="3091215" cy="910439"/>
          </a:xfrm>
          <a:custGeom>
            <a:avLst/>
            <a:gdLst/>
            <a:ahLst/>
            <a:cxnLst/>
            <a:rect l="l" t="t" r="r" b="b"/>
            <a:pathLst>
              <a:path w="3091215" h="910439">
                <a:moveTo>
                  <a:pt x="0" y="0"/>
                </a:moveTo>
                <a:lnTo>
                  <a:pt x="3091215" y="0"/>
                </a:lnTo>
                <a:lnTo>
                  <a:pt x="3091215" y="910439"/>
                </a:lnTo>
                <a:lnTo>
                  <a:pt x="0" y="910439"/>
                </a:lnTo>
                <a:close/>
              </a:path>
            </a:pathLst>
          </a:custGeom>
          <a:solidFill>
            <a:srgbClr val="FFFFFF">
              <a:alpha val="0"/>
            </a:srgbClr>
          </a:solidFill>
          <a:ln/>
        </p:spPr>
      </p:sp>
      <p:sp>
        <p:nvSpPr>
          <p:cNvPr id="37" name="Text 29"/>
          <p:cNvSpPr/>
          <p:nvPr/>
        </p:nvSpPr>
        <p:spPr>
          <a:xfrm>
            <a:off x="6052785" y="2753489"/>
            <a:ext cx="3091215" cy="910439"/>
          </a:xfrm>
          <a:prstGeom prst="rect">
            <a:avLst/>
          </a:prstGeom>
          <a:noFill/>
          <a:ln/>
        </p:spPr>
        <p:txBody>
          <a:bodyPr wrap="square" rtlCol="0" anchor="t"/>
          <a:lstStyle/>
          <a:p>
            <a:pPr indent="0" marL="0">
              <a:spcBef>
                <a:spcPts val="375"/>
              </a:spcBef>
              <a:buNone/>
            </a:pPr>
            <a:endParaRPr lang="en-US" sz="1050" dirty="0"/>
          </a:p>
        </p:txBody>
      </p:sp>
      <p:sp>
        <p:nvSpPr>
          <p:cNvPr id="38" name="Shape 30"/>
          <p:cNvSpPr/>
          <p:nvPr/>
        </p:nvSpPr>
        <p:spPr>
          <a:xfrm>
            <a:off x="6052785" y="2753489"/>
            <a:ext cx="3091215" cy="910439"/>
          </a:xfrm>
          <a:custGeom>
            <a:avLst/>
            <a:gdLst/>
            <a:ahLst/>
            <a:cxnLst/>
            <a:rect l="l" t="t" r="r" b="b"/>
            <a:pathLst>
              <a:path w="3091215" h="910439">
                <a:moveTo>
                  <a:pt x="0" y="0"/>
                </a:moveTo>
                <a:lnTo>
                  <a:pt x="3091215" y="0"/>
                </a:lnTo>
                <a:lnTo>
                  <a:pt x="3091215" y="910439"/>
                </a:lnTo>
                <a:lnTo>
                  <a:pt x="0" y="910439"/>
                </a:lnTo>
                <a:close/>
              </a:path>
            </a:pathLst>
          </a:custGeom>
          <a:solidFill>
            <a:srgbClr val="000000">
              <a:alpha val="0"/>
            </a:srgbClr>
          </a:solidFill>
          <a:ln/>
        </p:spPr>
      </p:sp>
      <p:sp>
        <p:nvSpPr>
          <p:cNvPr id="39" name="Text 31"/>
          <p:cNvSpPr/>
          <p:nvPr/>
        </p:nvSpPr>
        <p:spPr>
          <a:xfrm>
            <a:off x="6052785" y="2753489"/>
            <a:ext cx="3091215" cy="910439"/>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Davolash jarayonida o'smalarning turiga qarab, jarrohlik, kimyoterapiya, radioterapiya yoki immunoterapiya qo'llanilishi mumkin. Har bir usul o'zining afzalliklari va kamchiliklariga ega.</a:t>
            </a:r>
            <a:endParaRPr lang="en-US" sz="1050" dirty="0"/>
          </a:p>
        </p:txBody>
      </p:sp>
      <p:sp>
        <p:nvSpPr>
          <p:cNvPr id="40" name="Shape 32"/>
          <p:cNvSpPr/>
          <p:nvPr/>
        </p:nvSpPr>
        <p:spPr>
          <a:xfrm>
            <a:off x="6052785" y="3847022"/>
            <a:ext cx="3091215" cy="981843"/>
          </a:xfrm>
          <a:custGeom>
            <a:avLst/>
            <a:gdLst/>
            <a:ahLst/>
            <a:cxnLst/>
            <a:rect l="l" t="t" r="r" b="b"/>
            <a:pathLst>
              <a:path w="3091215" h="981843">
                <a:moveTo>
                  <a:pt x="0" y="0"/>
                </a:moveTo>
                <a:lnTo>
                  <a:pt x="3091215" y="0"/>
                </a:lnTo>
                <a:lnTo>
                  <a:pt x="3091215" y="981843"/>
                </a:lnTo>
                <a:lnTo>
                  <a:pt x="0" y="981843"/>
                </a:lnTo>
                <a:close/>
              </a:path>
            </a:pathLst>
          </a:custGeom>
          <a:solidFill>
            <a:srgbClr val="FFFFFF">
              <a:alpha val="0"/>
            </a:srgbClr>
          </a:solidFill>
          <a:ln/>
        </p:spPr>
      </p:sp>
      <p:sp>
        <p:nvSpPr>
          <p:cNvPr id="41" name="Text 33"/>
          <p:cNvSpPr/>
          <p:nvPr/>
        </p:nvSpPr>
        <p:spPr>
          <a:xfrm>
            <a:off x="6052785" y="3847022"/>
            <a:ext cx="3091215" cy="981843"/>
          </a:xfrm>
          <a:prstGeom prst="rect">
            <a:avLst/>
          </a:prstGeom>
          <a:noFill/>
          <a:ln/>
        </p:spPr>
        <p:txBody>
          <a:bodyPr wrap="square" rtlCol="0" anchor="t"/>
          <a:lstStyle/>
          <a:p>
            <a:pPr indent="0" marL="0">
              <a:spcBef>
                <a:spcPts val="375"/>
              </a:spcBef>
              <a:buNone/>
            </a:pPr>
            <a:endParaRPr lang="en-US" sz="1050" dirty="0"/>
          </a:p>
        </p:txBody>
      </p:sp>
      <p:sp>
        <p:nvSpPr>
          <p:cNvPr id="42" name="Shape 34"/>
          <p:cNvSpPr/>
          <p:nvPr/>
        </p:nvSpPr>
        <p:spPr>
          <a:xfrm>
            <a:off x="6052785" y="3847022"/>
            <a:ext cx="3091215" cy="981843"/>
          </a:xfrm>
          <a:custGeom>
            <a:avLst/>
            <a:gdLst/>
            <a:ahLst/>
            <a:cxnLst/>
            <a:rect l="l" t="t" r="r" b="b"/>
            <a:pathLst>
              <a:path w="3091215" h="981843">
                <a:moveTo>
                  <a:pt x="0" y="0"/>
                </a:moveTo>
                <a:lnTo>
                  <a:pt x="3091215" y="0"/>
                </a:lnTo>
                <a:lnTo>
                  <a:pt x="3091215" y="981843"/>
                </a:lnTo>
                <a:lnTo>
                  <a:pt x="0" y="981843"/>
                </a:lnTo>
                <a:close/>
              </a:path>
            </a:pathLst>
          </a:custGeom>
          <a:solidFill>
            <a:srgbClr val="000000">
              <a:alpha val="0"/>
            </a:srgbClr>
          </a:solidFill>
          <a:ln/>
        </p:spPr>
      </p:sp>
      <p:sp>
        <p:nvSpPr>
          <p:cNvPr id="43" name="Text 35"/>
          <p:cNvSpPr/>
          <p:nvPr/>
        </p:nvSpPr>
        <p:spPr>
          <a:xfrm>
            <a:off x="6052785" y="3847022"/>
            <a:ext cx="3091215" cy="981843"/>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O'smalarni erta aniqlash, davolash muvaffaqiyatiga katta ta'sir ko'rsatadi. Shuningdek, sog'lom turmush tarzini saqlash va muntazam tekshiruvlar o'tkazish muhimdir.</a:t>
            </a:r>
            <a:endParaRPr lang="en-US" sz="1050" dirty="0"/>
          </a:p>
        </p:txBody>
      </p:sp>
      <p:pic>
        <p:nvPicPr>
          <p:cNvPr id="44" name="Image 6" descr="./images\slide14_img123.png">    </p:cNvPr>
          <p:cNvPicPr>
            <a:picLocks noChangeAspect="1"/>
          </p:cNvPicPr>
          <p:nvPr/>
        </p:nvPicPr>
        <p:blipFill>
          <a:blip r:embed="rId7"/>
          <a:stretch>
            <a:fillRect/>
          </a:stretch>
        </p:blipFill>
        <p:spPr>
          <a:xfrm rot="-780000">
            <a:off x="-308256" y="617196"/>
            <a:ext cx="1713253" cy="20574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C1C5D4"/>
        </a:solidFill>
      </p:bgPr>
    </p:bg>
    <p:spTree>
      <p:nvGrpSpPr>
        <p:cNvPr id="1" name=""/>
        <p:cNvGrpSpPr/>
        <p:nvPr/>
      </p:nvGrpSpPr>
      <p:grpSpPr>
        <a:xfrm>
          <a:off x="0" y="0"/>
          <a:ext cx="0" cy="0"/>
          <a:chOff x="0" y="0"/>
          <a:chExt cx="0" cy="0"/>
        </a:xfrm>
      </p:grpSpPr>
      <p:pic>
        <p:nvPicPr>
          <p:cNvPr id="2" name="Image 0" descr="./images\slide2_img22.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images\slide2_img23.png">    </p:cNvPr>
          <p:cNvPicPr>
            <a:picLocks noChangeAspect="1"/>
          </p:cNvPicPr>
          <p:nvPr/>
        </p:nvPicPr>
        <p:blipFill>
          <a:blip r:embed="rId2"/>
          <a:srcRect l="0" r="45747" t="0" b="79916"/>
          <a:stretch/>
        </p:blipFill>
        <p:spPr>
          <a:xfrm>
            <a:off x="786525" y="514498"/>
            <a:ext cx="7268112" cy="4443839"/>
          </a:xfrm>
          <a:prstGeom prst="rect">
            <a:avLst/>
          </a:prstGeom>
        </p:spPr>
      </p:pic>
      <p:pic>
        <p:nvPicPr>
          <p:cNvPr id="4" name="Image 2" descr="./images\slide2_img24.png">    </p:cNvPr>
          <p:cNvPicPr>
            <a:picLocks noChangeAspect="1"/>
          </p:cNvPicPr>
          <p:nvPr/>
        </p:nvPicPr>
        <p:blipFill>
          <a:blip r:embed="rId3"/>
          <a:stretch>
            <a:fillRect/>
          </a:stretch>
        </p:blipFill>
        <p:spPr>
          <a:xfrm>
            <a:off x="2788600" y="175622"/>
            <a:ext cx="3566800" cy="3675269"/>
          </a:xfrm>
          <a:prstGeom prst="rect">
            <a:avLst/>
          </a:prstGeom>
        </p:spPr>
      </p:pic>
      <p:pic>
        <p:nvPicPr>
          <p:cNvPr id="5" name="Image 3" descr="./images\slide2_img25.png">    </p:cNvPr>
          <p:cNvPicPr>
            <a:picLocks noChangeAspect="1"/>
          </p:cNvPicPr>
          <p:nvPr/>
        </p:nvPicPr>
        <p:blipFill>
          <a:blip r:embed="rId4"/>
          <a:stretch>
            <a:fillRect/>
          </a:stretch>
        </p:blipFill>
        <p:spPr>
          <a:xfrm>
            <a:off x="1355325" y="3144250"/>
            <a:ext cx="6433349" cy="1369601"/>
          </a:xfrm>
          <a:prstGeom prst="rect">
            <a:avLst/>
          </a:prstGeom>
        </p:spPr>
      </p:pic>
      <p:pic>
        <p:nvPicPr>
          <p:cNvPr id="6" name="Image 4" descr="./images\slide2_img26.png">    </p:cNvPr>
          <p:cNvPicPr>
            <a:picLocks noChangeAspect="1"/>
          </p:cNvPicPr>
          <p:nvPr/>
        </p:nvPicPr>
        <p:blipFill>
          <a:blip r:embed="rId5"/>
          <a:stretch>
            <a:fillRect/>
          </a:stretch>
        </p:blipFill>
        <p:spPr>
          <a:xfrm>
            <a:off x="1243391" y="1303252"/>
            <a:ext cx="1796592" cy="1621143"/>
          </a:xfrm>
          <a:prstGeom prst="rect">
            <a:avLst/>
          </a:prstGeom>
        </p:spPr>
      </p:pic>
      <p:sp>
        <p:nvSpPr>
          <p:cNvPr id="7" name="Shape 0"/>
          <p:cNvSpPr/>
          <p:nvPr/>
        </p:nvSpPr>
        <p:spPr>
          <a:xfrm>
            <a:off x="1243391" y="1303252"/>
            <a:ext cx="1796592" cy="1621143"/>
          </a:xfrm>
          <a:custGeom>
            <a:avLst/>
            <a:gdLst/>
            <a:ahLst/>
            <a:cxnLst/>
            <a:rect l="l" t="t" r="r" b="b"/>
            <a:pathLst>
              <a:path w="1796592" h="1621143">
                <a:moveTo>
                  <a:pt x="0" y="0"/>
                </a:moveTo>
                <a:lnTo>
                  <a:pt x="1796592" y="0"/>
                </a:lnTo>
                <a:lnTo>
                  <a:pt x="1796592" y="1621143"/>
                </a:lnTo>
                <a:lnTo>
                  <a:pt x="0" y="1621143"/>
                </a:lnTo>
                <a:close/>
              </a:path>
            </a:pathLst>
          </a:custGeom>
          <a:solidFill>
            <a:srgbClr val="FFFFFF">
              <a:alpha val="0"/>
            </a:srgbClr>
          </a:solidFill>
          <a:ln/>
        </p:spPr>
      </p:sp>
      <p:sp>
        <p:nvSpPr>
          <p:cNvPr id="8" name="Text 1"/>
          <p:cNvSpPr/>
          <p:nvPr/>
        </p:nvSpPr>
        <p:spPr>
          <a:xfrm>
            <a:off x="1243391" y="1303252"/>
            <a:ext cx="1796592" cy="1621143"/>
          </a:xfrm>
          <a:prstGeom prst="rect">
            <a:avLst/>
          </a:prstGeom>
          <a:noFill/>
          <a:ln/>
        </p:spPr>
        <p:txBody>
          <a:bodyPr wrap="square" rtlCol="0" anchor="t"/>
          <a:lstStyle/>
          <a:p>
            <a:pPr indent="0" marL="0">
              <a:spcBef>
                <a:spcPts val="375"/>
              </a:spcBef>
              <a:buNone/>
            </a:pPr>
            <a:endParaRPr lang="en-US" sz="1050" dirty="0"/>
          </a:p>
        </p:txBody>
      </p:sp>
      <p:sp>
        <p:nvSpPr>
          <p:cNvPr id="9" name="Shape 2"/>
          <p:cNvSpPr/>
          <p:nvPr/>
        </p:nvSpPr>
        <p:spPr>
          <a:xfrm>
            <a:off x="1243391" y="1303252"/>
            <a:ext cx="1796592" cy="1621143"/>
          </a:xfrm>
          <a:custGeom>
            <a:avLst/>
            <a:gdLst/>
            <a:ahLst/>
            <a:cxnLst/>
            <a:rect l="l" t="t" r="r" b="b"/>
            <a:pathLst>
              <a:path w="1796592" h="1621143">
                <a:moveTo>
                  <a:pt x="0" y="0"/>
                </a:moveTo>
                <a:lnTo>
                  <a:pt x="1796592" y="0"/>
                </a:lnTo>
                <a:lnTo>
                  <a:pt x="1796592" y="1621143"/>
                </a:lnTo>
                <a:lnTo>
                  <a:pt x="0" y="1621143"/>
                </a:lnTo>
                <a:close/>
              </a:path>
            </a:pathLst>
          </a:custGeom>
          <a:solidFill>
            <a:srgbClr val="000000">
              <a:alpha val="0"/>
            </a:srgbClr>
          </a:solidFill>
          <a:ln/>
        </p:spPr>
      </p:sp>
      <p:sp>
        <p:nvSpPr>
          <p:cNvPr id="10" name="Text 3"/>
          <p:cNvSpPr/>
          <p:nvPr/>
        </p:nvSpPr>
        <p:spPr>
          <a:xfrm>
            <a:off x="1243391" y="1303252"/>
            <a:ext cx="1796592" cy="1621143"/>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11" name="Image 5" descr="./images\slide2_img27.png">    </p:cNvPr>
          <p:cNvPicPr>
            <a:picLocks noChangeAspect="1"/>
          </p:cNvPicPr>
          <p:nvPr/>
        </p:nvPicPr>
        <p:blipFill>
          <a:blip r:embed="rId6"/>
          <a:stretch>
            <a:fillRect/>
          </a:stretch>
        </p:blipFill>
        <p:spPr>
          <a:xfrm>
            <a:off x="1243391" y="1303252"/>
            <a:ext cx="1796592" cy="1621143"/>
          </a:xfrm>
          <a:prstGeom prst="rect">
            <a:avLst/>
          </a:prstGeom>
        </p:spPr>
      </p:pic>
      <p:pic>
        <p:nvPicPr>
          <p:cNvPr id="12" name="Image 6" descr="./images\slide2_img28.png">    </p:cNvPr>
          <p:cNvPicPr>
            <a:picLocks noChangeAspect="1"/>
          </p:cNvPicPr>
          <p:nvPr/>
        </p:nvPicPr>
        <p:blipFill>
          <a:blip r:embed="rId7"/>
          <a:stretch>
            <a:fillRect/>
          </a:stretch>
        </p:blipFill>
        <p:spPr>
          <a:xfrm>
            <a:off x="5904421" y="1126301"/>
            <a:ext cx="2107602" cy="1732066"/>
          </a:xfrm>
          <a:prstGeom prst="rect">
            <a:avLst/>
          </a:prstGeom>
        </p:spPr>
      </p:pic>
      <p:sp>
        <p:nvSpPr>
          <p:cNvPr id="13" name="Shape 4"/>
          <p:cNvSpPr/>
          <p:nvPr/>
        </p:nvSpPr>
        <p:spPr>
          <a:xfrm>
            <a:off x="5904421" y="1126301"/>
            <a:ext cx="2107602" cy="1732066"/>
          </a:xfrm>
          <a:custGeom>
            <a:avLst/>
            <a:gdLst/>
            <a:ahLst/>
            <a:cxnLst/>
            <a:rect l="l" t="t" r="r" b="b"/>
            <a:pathLst>
              <a:path w="2107602" h="1732066">
                <a:moveTo>
                  <a:pt x="0" y="0"/>
                </a:moveTo>
                <a:lnTo>
                  <a:pt x="2107602" y="0"/>
                </a:lnTo>
                <a:lnTo>
                  <a:pt x="2107602" y="1732066"/>
                </a:lnTo>
                <a:lnTo>
                  <a:pt x="0" y="1732066"/>
                </a:lnTo>
                <a:close/>
              </a:path>
            </a:pathLst>
          </a:custGeom>
          <a:solidFill>
            <a:srgbClr val="FFFFFF">
              <a:alpha val="0"/>
            </a:srgbClr>
          </a:solidFill>
          <a:ln/>
        </p:spPr>
      </p:sp>
      <p:sp>
        <p:nvSpPr>
          <p:cNvPr id="14" name="Text 5"/>
          <p:cNvSpPr/>
          <p:nvPr/>
        </p:nvSpPr>
        <p:spPr>
          <a:xfrm>
            <a:off x="5904421" y="1126301"/>
            <a:ext cx="2107602" cy="1732066"/>
          </a:xfrm>
          <a:prstGeom prst="rect">
            <a:avLst/>
          </a:prstGeom>
          <a:noFill/>
          <a:ln/>
        </p:spPr>
        <p:txBody>
          <a:bodyPr wrap="square" rtlCol="0" anchor="t"/>
          <a:lstStyle/>
          <a:p>
            <a:pPr indent="0" marL="0">
              <a:spcBef>
                <a:spcPts val="375"/>
              </a:spcBef>
              <a:buNone/>
            </a:pPr>
            <a:endParaRPr lang="en-US" sz="1050" dirty="0"/>
          </a:p>
        </p:txBody>
      </p:sp>
      <p:sp>
        <p:nvSpPr>
          <p:cNvPr id="15" name="Shape 6"/>
          <p:cNvSpPr/>
          <p:nvPr/>
        </p:nvSpPr>
        <p:spPr>
          <a:xfrm>
            <a:off x="5904421" y="1126301"/>
            <a:ext cx="2107602" cy="1732066"/>
          </a:xfrm>
          <a:custGeom>
            <a:avLst/>
            <a:gdLst/>
            <a:ahLst/>
            <a:cxnLst/>
            <a:rect l="l" t="t" r="r" b="b"/>
            <a:pathLst>
              <a:path w="2107602" h="1732066">
                <a:moveTo>
                  <a:pt x="0" y="0"/>
                </a:moveTo>
                <a:lnTo>
                  <a:pt x="2107602" y="0"/>
                </a:lnTo>
                <a:lnTo>
                  <a:pt x="2107602" y="1732066"/>
                </a:lnTo>
                <a:lnTo>
                  <a:pt x="0" y="1732066"/>
                </a:lnTo>
                <a:close/>
              </a:path>
            </a:pathLst>
          </a:custGeom>
          <a:solidFill>
            <a:srgbClr val="000000">
              <a:alpha val="0"/>
            </a:srgbClr>
          </a:solidFill>
          <a:ln/>
        </p:spPr>
      </p:sp>
      <p:sp>
        <p:nvSpPr>
          <p:cNvPr id="16" name="Text 7"/>
          <p:cNvSpPr/>
          <p:nvPr/>
        </p:nvSpPr>
        <p:spPr>
          <a:xfrm>
            <a:off x="5904421" y="1126301"/>
            <a:ext cx="2107602" cy="1732066"/>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17" name="Image 7" descr="./images\slide2_img29.png">    </p:cNvPr>
          <p:cNvPicPr>
            <a:picLocks noChangeAspect="1"/>
          </p:cNvPicPr>
          <p:nvPr/>
        </p:nvPicPr>
        <p:blipFill>
          <a:blip r:embed="rId8"/>
          <a:stretch>
            <a:fillRect/>
          </a:stretch>
        </p:blipFill>
        <p:spPr>
          <a:xfrm>
            <a:off x="5904421" y="1126301"/>
            <a:ext cx="2107602" cy="1732066"/>
          </a:xfrm>
          <a:prstGeom prst="rect">
            <a:avLst/>
          </a:prstGeom>
        </p:spPr>
      </p:pic>
      <p:sp>
        <p:nvSpPr>
          <p:cNvPr id="18" name="Shape 8"/>
          <p:cNvSpPr/>
          <p:nvPr/>
        </p:nvSpPr>
        <p:spPr>
          <a:xfrm>
            <a:off x="1669937" y="3440555"/>
            <a:ext cx="5804126" cy="1304925"/>
          </a:xfrm>
          <a:custGeom>
            <a:avLst/>
            <a:gdLst/>
            <a:ahLst/>
            <a:cxnLst/>
            <a:rect l="l" t="t" r="r" b="b"/>
            <a:pathLst>
              <a:path w="5804126" h="1304925">
                <a:moveTo>
                  <a:pt x="0" y="0"/>
                </a:moveTo>
                <a:lnTo>
                  <a:pt x="5804126" y="0"/>
                </a:lnTo>
                <a:lnTo>
                  <a:pt x="5804126" y="1304925"/>
                </a:lnTo>
                <a:lnTo>
                  <a:pt x="0" y="1304925"/>
                </a:lnTo>
                <a:close/>
              </a:path>
            </a:pathLst>
          </a:custGeom>
          <a:solidFill>
            <a:srgbClr val="FFFFFF">
              <a:alpha val="0"/>
            </a:srgbClr>
          </a:solidFill>
          <a:ln/>
        </p:spPr>
      </p:sp>
      <p:sp>
        <p:nvSpPr>
          <p:cNvPr id="19" name="Text 9"/>
          <p:cNvSpPr/>
          <p:nvPr/>
        </p:nvSpPr>
        <p:spPr>
          <a:xfrm>
            <a:off x="1669937" y="3440555"/>
            <a:ext cx="5804126" cy="1304925"/>
          </a:xfrm>
          <a:prstGeom prst="rect">
            <a:avLst/>
          </a:prstGeom>
          <a:noFill/>
          <a:ln/>
        </p:spPr>
        <p:txBody>
          <a:bodyPr wrap="square" rtlCol="0" anchor="t"/>
          <a:lstStyle/>
          <a:p>
            <a:pPr indent="0" marL="0">
              <a:spcBef>
                <a:spcPts val="375"/>
              </a:spcBef>
              <a:buNone/>
            </a:pPr>
            <a:endParaRPr lang="en-US" sz="1050" dirty="0"/>
          </a:p>
        </p:txBody>
      </p:sp>
      <p:sp>
        <p:nvSpPr>
          <p:cNvPr id="20" name="Shape 10"/>
          <p:cNvSpPr/>
          <p:nvPr/>
        </p:nvSpPr>
        <p:spPr>
          <a:xfrm>
            <a:off x="1669937" y="3440555"/>
            <a:ext cx="5804126" cy="1304925"/>
          </a:xfrm>
          <a:custGeom>
            <a:avLst/>
            <a:gdLst/>
            <a:ahLst/>
            <a:cxnLst/>
            <a:rect l="l" t="t" r="r" b="b"/>
            <a:pathLst>
              <a:path w="5804126" h="1304925">
                <a:moveTo>
                  <a:pt x="0" y="0"/>
                </a:moveTo>
                <a:lnTo>
                  <a:pt x="5804126" y="0"/>
                </a:lnTo>
                <a:lnTo>
                  <a:pt x="5804126" y="1304925"/>
                </a:lnTo>
                <a:lnTo>
                  <a:pt x="0" y="1304925"/>
                </a:lnTo>
                <a:close/>
              </a:path>
            </a:pathLst>
          </a:custGeom>
          <a:solidFill>
            <a:srgbClr val="000000">
              <a:alpha val="0"/>
            </a:srgbClr>
          </a:solidFill>
          <a:ln/>
        </p:spPr>
      </p:sp>
      <p:sp>
        <p:nvSpPr>
          <p:cNvPr id="21" name="Text 11"/>
          <p:cNvSpPr/>
          <p:nvPr/>
        </p:nvSpPr>
        <p:spPr>
          <a:xfrm>
            <a:off x="1669937" y="3440555"/>
            <a:ext cx="5804126" cy="1304925"/>
          </a:xfrm>
          <a:prstGeom prst="rect">
            <a:avLst/>
          </a:prstGeom>
          <a:noFill/>
          <a:ln/>
        </p:spPr>
        <p:txBody>
          <a:bodyPr wrap="square" rtlCol="0" anchor="t"/>
          <a:lstStyle/>
          <a:p>
            <a:pPr algn="l" indent="0" marL="0">
              <a:spcBef>
                <a:spcPts val="375"/>
              </a:spcBef>
              <a:buNone/>
            </a:pPr>
            <a:r>
              <a:rPr lang="en-US" sz="1200" dirty="0">
                <a:solidFill>
                  <a:srgbClr val="45464D"/>
                </a:solidFill>
                <a:latin typeface="Caveat Brush" pitchFamily="34" charset="0"/>
                <a:ea typeface="Caveat Brush" pitchFamily="34" charset="-122"/>
                <a:cs typeface="Caveat Brush" pitchFamily="34" charset="-120"/>
              </a:rPr>
              <a:t>Nerv Tizimi O'smalari</a:t>
            </a:r>
            <a:endParaRPr lang="en-US" sz="1050" dirty="0"/>
          </a:p>
        </p:txBody>
      </p:sp>
      <p:sp>
        <p:nvSpPr>
          <p:cNvPr id="22" name="Shape 12"/>
          <p:cNvSpPr/>
          <p:nvPr/>
        </p:nvSpPr>
        <p:spPr>
          <a:xfrm>
            <a:off x="3783190" y="1312039"/>
            <a:ext cx="1577620" cy="1358726"/>
          </a:xfrm>
          <a:custGeom>
            <a:avLst/>
            <a:gdLst/>
            <a:ahLst/>
            <a:cxnLst/>
            <a:rect l="l" t="t" r="r" b="b"/>
            <a:pathLst>
              <a:path w="1577620" h="1358726">
                <a:moveTo>
                  <a:pt x="0" y="0"/>
                </a:moveTo>
                <a:lnTo>
                  <a:pt x="1577620" y="0"/>
                </a:lnTo>
                <a:lnTo>
                  <a:pt x="1577620" y="1358726"/>
                </a:lnTo>
                <a:lnTo>
                  <a:pt x="0" y="1358726"/>
                </a:lnTo>
                <a:close/>
              </a:path>
            </a:pathLst>
          </a:custGeom>
          <a:solidFill>
            <a:srgbClr val="FFFFFF">
              <a:alpha val="0"/>
            </a:srgbClr>
          </a:solidFill>
          <a:ln/>
        </p:spPr>
      </p:sp>
      <p:sp>
        <p:nvSpPr>
          <p:cNvPr id="23" name="Text 13"/>
          <p:cNvSpPr/>
          <p:nvPr/>
        </p:nvSpPr>
        <p:spPr>
          <a:xfrm>
            <a:off x="3783190" y="1312039"/>
            <a:ext cx="1577620" cy="1358726"/>
          </a:xfrm>
          <a:prstGeom prst="rect">
            <a:avLst/>
          </a:prstGeom>
          <a:noFill/>
          <a:ln/>
        </p:spPr>
        <p:txBody>
          <a:bodyPr wrap="square" rtlCol="0" anchor="t"/>
          <a:lstStyle/>
          <a:p>
            <a:pPr indent="0" marL="0">
              <a:spcBef>
                <a:spcPts val="375"/>
              </a:spcBef>
              <a:buNone/>
            </a:pPr>
            <a:endParaRPr lang="en-US" sz="1050" dirty="0"/>
          </a:p>
        </p:txBody>
      </p:sp>
      <p:sp>
        <p:nvSpPr>
          <p:cNvPr id="24" name="Shape 14"/>
          <p:cNvSpPr/>
          <p:nvPr/>
        </p:nvSpPr>
        <p:spPr>
          <a:xfrm>
            <a:off x="3783190" y="1312039"/>
            <a:ext cx="1577620" cy="1358726"/>
          </a:xfrm>
          <a:custGeom>
            <a:avLst/>
            <a:gdLst/>
            <a:ahLst/>
            <a:cxnLst/>
            <a:rect l="l" t="t" r="r" b="b"/>
            <a:pathLst>
              <a:path w="1577620" h="1358726">
                <a:moveTo>
                  <a:pt x="0" y="0"/>
                </a:moveTo>
                <a:lnTo>
                  <a:pt x="1577620" y="0"/>
                </a:lnTo>
                <a:lnTo>
                  <a:pt x="1577620" y="1358726"/>
                </a:lnTo>
                <a:lnTo>
                  <a:pt x="0" y="1358726"/>
                </a:lnTo>
                <a:close/>
              </a:path>
            </a:pathLst>
          </a:custGeom>
          <a:solidFill>
            <a:srgbClr val="000000">
              <a:alpha val="0"/>
            </a:srgbClr>
          </a:solidFill>
          <a:ln/>
        </p:spPr>
      </p:sp>
      <p:sp>
        <p:nvSpPr>
          <p:cNvPr id="25" name="Text 15"/>
          <p:cNvSpPr/>
          <p:nvPr/>
        </p:nvSpPr>
        <p:spPr>
          <a:xfrm>
            <a:off x="3783190" y="1312039"/>
            <a:ext cx="1577620" cy="1358726"/>
          </a:xfrm>
          <a:prstGeom prst="rect">
            <a:avLst/>
          </a:prstGeom>
          <a:noFill/>
          <a:ln/>
        </p:spPr>
        <p:txBody>
          <a:bodyPr wrap="square" rtlCol="0" anchor="t"/>
          <a:lstStyle/>
          <a:p>
            <a:pPr algn="ctr" indent="0" marL="0">
              <a:spcBef>
                <a:spcPts val="375"/>
              </a:spcBef>
              <a:buNone/>
            </a:pPr>
            <a:r>
              <a:rPr lang="en-US" sz="1650" dirty="0">
                <a:solidFill>
                  <a:srgbClr val="45464D"/>
                </a:solidFill>
                <a:latin typeface="Caveat Brush" pitchFamily="34" charset="0"/>
                <a:ea typeface="Caveat Brush" pitchFamily="34" charset="-122"/>
                <a:cs typeface="Caveat Brush" pitchFamily="34" charset="-120"/>
              </a:rPr>
              <a:t>1-bob</a:t>
            </a:r>
            <a:endParaRPr lang="en-US" sz="1050" dirty="0"/>
          </a:p>
        </p:txBody>
      </p:sp>
      <p:pic>
        <p:nvPicPr>
          <p:cNvPr id="26" name="Image 8" descr="./images\slide2_img30.png">    </p:cNvPr>
          <p:cNvPicPr>
            <a:picLocks noChangeAspect="1"/>
          </p:cNvPicPr>
          <p:nvPr/>
        </p:nvPicPr>
        <p:blipFill>
          <a:blip r:embed="rId9"/>
          <a:stretch>
            <a:fillRect/>
          </a:stretch>
        </p:blipFill>
        <p:spPr>
          <a:xfrm flipH="1" rot="1440000">
            <a:off x="-688509" y="2516611"/>
            <a:ext cx="2405718" cy="2230757"/>
          </a:xfrm>
          <a:prstGeom prst="rect">
            <a:avLst/>
          </a:prstGeom>
        </p:spPr>
      </p:pic>
      <p:sp>
        <p:nvSpPr>
          <p:cNvPr id="27" name="Shape 16"/>
          <p:cNvSpPr/>
          <p:nvPr/>
        </p:nvSpPr>
        <p:spPr>
          <a:xfrm rot="1440000">
            <a:off x="-688509" y="2516611"/>
            <a:ext cx="2405718" cy="2230757"/>
          </a:xfrm>
          <a:custGeom>
            <a:avLst/>
            <a:gdLst/>
            <a:ahLst/>
            <a:cxnLst/>
            <a:rect l="l" t="t" r="r" b="b"/>
            <a:pathLst>
              <a:path w="2405718" h="2230757">
                <a:moveTo>
                  <a:pt x="0" y="0"/>
                </a:moveTo>
                <a:lnTo>
                  <a:pt x="2405718" y="0"/>
                </a:lnTo>
                <a:lnTo>
                  <a:pt x="2405718" y="2230757"/>
                </a:lnTo>
                <a:lnTo>
                  <a:pt x="0" y="2230757"/>
                </a:lnTo>
                <a:close/>
              </a:path>
            </a:pathLst>
          </a:custGeom>
          <a:solidFill>
            <a:srgbClr val="FFFFFF">
              <a:alpha val="0"/>
            </a:srgbClr>
          </a:solidFill>
          <a:ln/>
        </p:spPr>
      </p:sp>
      <p:sp>
        <p:nvSpPr>
          <p:cNvPr id="28" name="Text 17"/>
          <p:cNvSpPr/>
          <p:nvPr/>
        </p:nvSpPr>
        <p:spPr>
          <a:xfrm rot="1440000">
            <a:off x="-688509" y="2516611"/>
            <a:ext cx="2405718" cy="2230757"/>
          </a:xfrm>
          <a:prstGeom prst="rect">
            <a:avLst/>
          </a:prstGeom>
          <a:noFill/>
          <a:ln/>
        </p:spPr>
        <p:txBody>
          <a:bodyPr wrap="square" rtlCol="0" anchor="t"/>
          <a:lstStyle/>
          <a:p>
            <a:pPr indent="0" marL="0">
              <a:spcBef>
                <a:spcPts val="375"/>
              </a:spcBef>
              <a:buNone/>
            </a:pPr>
            <a:endParaRPr lang="en-US" sz="1050" dirty="0"/>
          </a:p>
        </p:txBody>
      </p:sp>
      <p:sp>
        <p:nvSpPr>
          <p:cNvPr id="29" name="Shape 18"/>
          <p:cNvSpPr/>
          <p:nvPr/>
        </p:nvSpPr>
        <p:spPr>
          <a:xfrm rot="1440000">
            <a:off x="-688509" y="2516611"/>
            <a:ext cx="2405718" cy="2230757"/>
          </a:xfrm>
          <a:custGeom>
            <a:avLst/>
            <a:gdLst/>
            <a:ahLst/>
            <a:cxnLst/>
            <a:rect l="l" t="t" r="r" b="b"/>
            <a:pathLst>
              <a:path w="2405718" h="2230757">
                <a:moveTo>
                  <a:pt x="0" y="0"/>
                </a:moveTo>
                <a:lnTo>
                  <a:pt x="2405718" y="0"/>
                </a:lnTo>
                <a:lnTo>
                  <a:pt x="2405718" y="2230757"/>
                </a:lnTo>
                <a:lnTo>
                  <a:pt x="0" y="2230757"/>
                </a:lnTo>
                <a:close/>
              </a:path>
            </a:pathLst>
          </a:custGeom>
          <a:solidFill>
            <a:srgbClr val="000000">
              <a:alpha val="0"/>
            </a:srgbClr>
          </a:solidFill>
          <a:ln/>
        </p:spPr>
      </p:sp>
      <p:sp>
        <p:nvSpPr>
          <p:cNvPr id="30" name="Text 19"/>
          <p:cNvSpPr/>
          <p:nvPr/>
        </p:nvSpPr>
        <p:spPr>
          <a:xfrm rot="1440000">
            <a:off x="-688509" y="2516611"/>
            <a:ext cx="2405718" cy="2230757"/>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31" name="Image 9" descr="./images\slide2_img31.png">    </p:cNvPr>
          <p:cNvPicPr>
            <a:picLocks noChangeAspect="1"/>
          </p:cNvPicPr>
          <p:nvPr/>
        </p:nvPicPr>
        <p:blipFill>
          <a:blip r:embed="rId10"/>
          <a:stretch>
            <a:fillRect/>
          </a:stretch>
        </p:blipFill>
        <p:spPr>
          <a:xfrm flipH="1" rot="1440000">
            <a:off x="-688509" y="2516611"/>
            <a:ext cx="2405718" cy="2230757"/>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1F1F1"/>
        </a:solidFill>
      </p:bgPr>
    </p:bg>
    <p:spTree>
      <p:nvGrpSpPr>
        <p:cNvPr id="1" name=""/>
        <p:cNvGrpSpPr/>
        <p:nvPr/>
      </p:nvGrpSpPr>
      <p:grpSpPr>
        <a:xfrm>
          <a:off x="0" y="0"/>
          <a:ext cx="0" cy="0"/>
          <a:chOff x="0" y="0"/>
          <a:chExt cx="0" cy="0"/>
        </a:xfrm>
      </p:grpSpPr>
      <p:pic>
        <p:nvPicPr>
          <p:cNvPr id="2" name="Image 0" descr="./images\slide3_img32.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images\slide3_img33.png">    </p:cNvPr>
          <p:cNvPicPr>
            <a:picLocks noChangeAspect="1"/>
          </p:cNvPicPr>
          <p:nvPr/>
        </p:nvPicPr>
        <p:blipFill>
          <a:blip r:embed="rId2"/>
          <a:stretch>
            <a:fillRect/>
          </a:stretch>
        </p:blipFill>
        <p:spPr>
          <a:xfrm rot="5400000">
            <a:off x="6795487" y="1157904"/>
            <a:ext cx="1543890" cy="2409404"/>
          </a:xfrm>
          <a:prstGeom prst="rect">
            <a:avLst/>
          </a:prstGeom>
        </p:spPr>
      </p:pic>
      <p:sp>
        <p:nvSpPr>
          <p:cNvPr id="4" name="Shape 0"/>
          <p:cNvSpPr/>
          <p:nvPr/>
        </p:nvSpPr>
        <p:spPr>
          <a:xfrm rot="5400000">
            <a:off x="6795487" y="1157904"/>
            <a:ext cx="1543890" cy="2409404"/>
          </a:xfrm>
          <a:custGeom>
            <a:avLst/>
            <a:gdLst/>
            <a:ahLst/>
            <a:cxnLst/>
            <a:rect l="l" t="t" r="r" b="b"/>
            <a:pathLst>
              <a:path w="1543890" h="2409404">
                <a:moveTo>
                  <a:pt x="0" y="0"/>
                </a:moveTo>
                <a:lnTo>
                  <a:pt x="1543890" y="0"/>
                </a:lnTo>
                <a:lnTo>
                  <a:pt x="1543890" y="2409404"/>
                </a:lnTo>
                <a:lnTo>
                  <a:pt x="0" y="2409404"/>
                </a:lnTo>
                <a:close/>
              </a:path>
            </a:pathLst>
          </a:custGeom>
          <a:solidFill>
            <a:srgbClr val="FFFFFF">
              <a:alpha val="0"/>
            </a:srgbClr>
          </a:solidFill>
          <a:ln/>
        </p:spPr>
      </p:sp>
      <p:sp>
        <p:nvSpPr>
          <p:cNvPr id="5" name="Text 1"/>
          <p:cNvSpPr/>
          <p:nvPr/>
        </p:nvSpPr>
        <p:spPr>
          <a:xfrm rot="5400000">
            <a:off x="6795487" y="1157904"/>
            <a:ext cx="1543890" cy="2409404"/>
          </a:xfrm>
          <a:prstGeom prst="rect">
            <a:avLst/>
          </a:prstGeom>
          <a:noFill/>
          <a:ln/>
        </p:spPr>
        <p:txBody>
          <a:bodyPr wrap="square" rtlCol="0" anchor="t"/>
          <a:lstStyle/>
          <a:p>
            <a:pPr indent="0" marL="0">
              <a:spcBef>
                <a:spcPts val="375"/>
              </a:spcBef>
              <a:buNone/>
            </a:pPr>
            <a:endParaRPr lang="en-US" sz="1050" dirty="0"/>
          </a:p>
        </p:txBody>
      </p:sp>
      <p:sp>
        <p:nvSpPr>
          <p:cNvPr id="6" name="Shape 2"/>
          <p:cNvSpPr/>
          <p:nvPr/>
        </p:nvSpPr>
        <p:spPr>
          <a:xfrm rot="5400000">
            <a:off x="6795487" y="1157904"/>
            <a:ext cx="1543890" cy="2409404"/>
          </a:xfrm>
          <a:custGeom>
            <a:avLst/>
            <a:gdLst/>
            <a:ahLst/>
            <a:cxnLst/>
            <a:rect l="l" t="t" r="r" b="b"/>
            <a:pathLst>
              <a:path w="1543890" h="2409404">
                <a:moveTo>
                  <a:pt x="0" y="0"/>
                </a:moveTo>
                <a:lnTo>
                  <a:pt x="1543890" y="0"/>
                </a:lnTo>
                <a:lnTo>
                  <a:pt x="1543890" y="2409404"/>
                </a:lnTo>
                <a:lnTo>
                  <a:pt x="0" y="2409404"/>
                </a:lnTo>
                <a:close/>
              </a:path>
            </a:pathLst>
          </a:custGeom>
          <a:solidFill>
            <a:srgbClr val="000000">
              <a:alpha val="0"/>
            </a:srgbClr>
          </a:solidFill>
          <a:ln/>
        </p:spPr>
      </p:sp>
      <p:sp>
        <p:nvSpPr>
          <p:cNvPr id="7" name="Text 3"/>
          <p:cNvSpPr/>
          <p:nvPr/>
        </p:nvSpPr>
        <p:spPr>
          <a:xfrm rot="5400000">
            <a:off x="6795487" y="1157904"/>
            <a:ext cx="1543890" cy="2409404"/>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8" name="Image 2" descr="./images\slide3_img34.png">    </p:cNvPr>
          <p:cNvPicPr>
            <a:picLocks noChangeAspect="1"/>
          </p:cNvPicPr>
          <p:nvPr/>
        </p:nvPicPr>
        <p:blipFill>
          <a:blip r:embed="rId3"/>
          <a:stretch>
            <a:fillRect/>
          </a:stretch>
        </p:blipFill>
        <p:spPr>
          <a:xfrm rot="5400000">
            <a:off x="6795487" y="1157904"/>
            <a:ext cx="1543890" cy="2409404"/>
          </a:xfrm>
          <a:prstGeom prst="rect">
            <a:avLst/>
          </a:prstGeom>
        </p:spPr>
      </p:pic>
      <p:pic>
        <p:nvPicPr>
          <p:cNvPr id="9" name="Image 3" descr="./images\slide3_img35.png">    </p:cNvPr>
          <p:cNvPicPr>
            <a:picLocks noChangeAspect="1"/>
          </p:cNvPicPr>
          <p:nvPr/>
        </p:nvPicPr>
        <p:blipFill>
          <a:blip r:embed="rId4"/>
          <a:stretch>
            <a:fillRect/>
          </a:stretch>
        </p:blipFill>
        <p:spPr>
          <a:xfrm rot="5400000">
            <a:off x="6640237" y="2848254"/>
            <a:ext cx="1873816" cy="2409404"/>
          </a:xfrm>
          <a:prstGeom prst="rect">
            <a:avLst/>
          </a:prstGeom>
        </p:spPr>
      </p:pic>
      <p:sp>
        <p:nvSpPr>
          <p:cNvPr id="10" name="Shape 4"/>
          <p:cNvSpPr/>
          <p:nvPr/>
        </p:nvSpPr>
        <p:spPr>
          <a:xfrm rot="5400000">
            <a:off x="6640237" y="2848254"/>
            <a:ext cx="1873816" cy="2409404"/>
          </a:xfrm>
          <a:custGeom>
            <a:avLst/>
            <a:gdLst/>
            <a:ahLst/>
            <a:cxnLst/>
            <a:rect l="l" t="t" r="r" b="b"/>
            <a:pathLst>
              <a:path w="1873816" h="2409404">
                <a:moveTo>
                  <a:pt x="0" y="0"/>
                </a:moveTo>
                <a:lnTo>
                  <a:pt x="1873816" y="0"/>
                </a:lnTo>
                <a:lnTo>
                  <a:pt x="1873816" y="2409404"/>
                </a:lnTo>
                <a:lnTo>
                  <a:pt x="0" y="2409404"/>
                </a:lnTo>
                <a:close/>
              </a:path>
            </a:pathLst>
          </a:custGeom>
          <a:solidFill>
            <a:srgbClr val="FFFFFF">
              <a:alpha val="0"/>
            </a:srgbClr>
          </a:solidFill>
          <a:ln/>
        </p:spPr>
      </p:sp>
      <p:sp>
        <p:nvSpPr>
          <p:cNvPr id="11" name="Text 5"/>
          <p:cNvSpPr/>
          <p:nvPr/>
        </p:nvSpPr>
        <p:spPr>
          <a:xfrm rot="5400000">
            <a:off x="6640237" y="2848254"/>
            <a:ext cx="1873816" cy="2409404"/>
          </a:xfrm>
          <a:prstGeom prst="rect">
            <a:avLst/>
          </a:prstGeom>
          <a:noFill/>
          <a:ln/>
        </p:spPr>
        <p:txBody>
          <a:bodyPr wrap="square" rtlCol="0" anchor="t"/>
          <a:lstStyle/>
          <a:p>
            <a:pPr indent="0" marL="0">
              <a:spcBef>
                <a:spcPts val="375"/>
              </a:spcBef>
              <a:buNone/>
            </a:pPr>
            <a:endParaRPr lang="en-US" sz="1050" dirty="0"/>
          </a:p>
        </p:txBody>
      </p:sp>
      <p:sp>
        <p:nvSpPr>
          <p:cNvPr id="12" name="Shape 6"/>
          <p:cNvSpPr/>
          <p:nvPr/>
        </p:nvSpPr>
        <p:spPr>
          <a:xfrm rot="5400000">
            <a:off x="6640237" y="2848254"/>
            <a:ext cx="1873816" cy="2409404"/>
          </a:xfrm>
          <a:custGeom>
            <a:avLst/>
            <a:gdLst/>
            <a:ahLst/>
            <a:cxnLst/>
            <a:rect l="l" t="t" r="r" b="b"/>
            <a:pathLst>
              <a:path w="1873816" h="2409404">
                <a:moveTo>
                  <a:pt x="0" y="0"/>
                </a:moveTo>
                <a:lnTo>
                  <a:pt x="1873816" y="0"/>
                </a:lnTo>
                <a:lnTo>
                  <a:pt x="1873816" y="2409404"/>
                </a:lnTo>
                <a:lnTo>
                  <a:pt x="0" y="2409404"/>
                </a:lnTo>
                <a:close/>
              </a:path>
            </a:pathLst>
          </a:custGeom>
          <a:solidFill>
            <a:srgbClr val="000000">
              <a:alpha val="0"/>
            </a:srgbClr>
          </a:solidFill>
          <a:ln/>
        </p:spPr>
      </p:sp>
      <p:sp>
        <p:nvSpPr>
          <p:cNvPr id="13" name="Text 7"/>
          <p:cNvSpPr/>
          <p:nvPr/>
        </p:nvSpPr>
        <p:spPr>
          <a:xfrm rot="5400000">
            <a:off x="6640237" y="2848254"/>
            <a:ext cx="1873816" cy="2409404"/>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14" name="Image 4" descr="./images\slide3_img36.png">    </p:cNvPr>
          <p:cNvPicPr>
            <a:picLocks noChangeAspect="1"/>
          </p:cNvPicPr>
          <p:nvPr/>
        </p:nvPicPr>
        <p:blipFill>
          <a:blip r:embed="rId5"/>
          <a:stretch>
            <a:fillRect/>
          </a:stretch>
        </p:blipFill>
        <p:spPr>
          <a:xfrm rot="5400000">
            <a:off x="6640237" y="2848254"/>
            <a:ext cx="1873816" cy="2409404"/>
          </a:xfrm>
          <a:prstGeom prst="rect">
            <a:avLst/>
          </a:prstGeom>
        </p:spPr>
      </p:pic>
      <p:pic>
        <p:nvPicPr>
          <p:cNvPr id="15" name="Image 5" descr="./images\slide3_img37.png">    </p:cNvPr>
          <p:cNvPicPr>
            <a:picLocks noChangeAspect="1"/>
          </p:cNvPicPr>
          <p:nvPr/>
        </p:nvPicPr>
        <p:blipFill>
          <a:blip r:embed="rId6"/>
          <a:stretch>
            <a:fillRect/>
          </a:stretch>
        </p:blipFill>
        <p:spPr>
          <a:xfrm rot="5400000">
            <a:off x="724026" y="1153732"/>
            <a:ext cx="1685658" cy="2409404"/>
          </a:xfrm>
          <a:prstGeom prst="rect">
            <a:avLst/>
          </a:prstGeom>
        </p:spPr>
      </p:pic>
      <p:sp>
        <p:nvSpPr>
          <p:cNvPr id="16" name="Shape 8"/>
          <p:cNvSpPr/>
          <p:nvPr/>
        </p:nvSpPr>
        <p:spPr>
          <a:xfrm rot="5400000">
            <a:off x="724026" y="1153732"/>
            <a:ext cx="1685658" cy="2409404"/>
          </a:xfrm>
          <a:custGeom>
            <a:avLst/>
            <a:gdLst/>
            <a:ahLst/>
            <a:cxnLst/>
            <a:rect l="l" t="t" r="r" b="b"/>
            <a:pathLst>
              <a:path w="1685658" h="2409404">
                <a:moveTo>
                  <a:pt x="0" y="0"/>
                </a:moveTo>
                <a:lnTo>
                  <a:pt x="1685658" y="0"/>
                </a:lnTo>
                <a:lnTo>
                  <a:pt x="1685658" y="2409404"/>
                </a:lnTo>
                <a:lnTo>
                  <a:pt x="0" y="2409404"/>
                </a:lnTo>
                <a:close/>
              </a:path>
            </a:pathLst>
          </a:custGeom>
          <a:solidFill>
            <a:srgbClr val="FFFFFF">
              <a:alpha val="0"/>
            </a:srgbClr>
          </a:solidFill>
          <a:ln/>
        </p:spPr>
      </p:sp>
      <p:sp>
        <p:nvSpPr>
          <p:cNvPr id="17" name="Text 9"/>
          <p:cNvSpPr/>
          <p:nvPr/>
        </p:nvSpPr>
        <p:spPr>
          <a:xfrm rot="5400000">
            <a:off x="724026" y="1153732"/>
            <a:ext cx="1685658" cy="2409404"/>
          </a:xfrm>
          <a:prstGeom prst="rect">
            <a:avLst/>
          </a:prstGeom>
          <a:noFill/>
          <a:ln/>
        </p:spPr>
        <p:txBody>
          <a:bodyPr wrap="square" rtlCol="0" anchor="t"/>
          <a:lstStyle/>
          <a:p>
            <a:pPr indent="0" marL="0">
              <a:spcBef>
                <a:spcPts val="375"/>
              </a:spcBef>
              <a:buNone/>
            </a:pPr>
            <a:endParaRPr lang="en-US" sz="1050" dirty="0"/>
          </a:p>
        </p:txBody>
      </p:sp>
      <p:sp>
        <p:nvSpPr>
          <p:cNvPr id="18" name="Shape 10"/>
          <p:cNvSpPr/>
          <p:nvPr/>
        </p:nvSpPr>
        <p:spPr>
          <a:xfrm rot="5400000">
            <a:off x="724026" y="1153732"/>
            <a:ext cx="1685658" cy="2409404"/>
          </a:xfrm>
          <a:custGeom>
            <a:avLst/>
            <a:gdLst/>
            <a:ahLst/>
            <a:cxnLst/>
            <a:rect l="l" t="t" r="r" b="b"/>
            <a:pathLst>
              <a:path w="1685658" h="2409404">
                <a:moveTo>
                  <a:pt x="0" y="0"/>
                </a:moveTo>
                <a:lnTo>
                  <a:pt x="1685658" y="0"/>
                </a:lnTo>
                <a:lnTo>
                  <a:pt x="1685658" y="2409404"/>
                </a:lnTo>
                <a:lnTo>
                  <a:pt x="0" y="2409404"/>
                </a:lnTo>
                <a:close/>
              </a:path>
            </a:pathLst>
          </a:custGeom>
          <a:solidFill>
            <a:srgbClr val="000000">
              <a:alpha val="0"/>
            </a:srgbClr>
          </a:solidFill>
          <a:ln/>
        </p:spPr>
      </p:sp>
      <p:sp>
        <p:nvSpPr>
          <p:cNvPr id="19" name="Text 11"/>
          <p:cNvSpPr/>
          <p:nvPr/>
        </p:nvSpPr>
        <p:spPr>
          <a:xfrm rot="5400000">
            <a:off x="724026" y="1153732"/>
            <a:ext cx="1685658" cy="2409404"/>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20" name="Image 6" descr="./images\slide3_img38.png">    </p:cNvPr>
          <p:cNvPicPr>
            <a:picLocks noChangeAspect="1"/>
          </p:cNvPicPr>
          <p:nvPr/>
        </p:nvPicPr>
        <p:blipFill>
          <a:blip r:embed="rId7"/>
          <a:stretch>
            <a:fillRect/>
          </a:stretch>
        </p:blipFill>
        <p:spPr>
          <a:xfrm rot="5400000">
            <a:off x="724026" y="1153732"/>
            <a:ext cx="1685658" cy="2409404"/>
          </a:xfrm>
          <a:prstGeom prst="rect">
            <a:avLst/>
          </a:prstGeom>
        </p:spPr>
      </p:pic>
      <p:pic>
        <p:nvPicPr>
          <p:cNvPr id="21" name="Image 7" descr="./images\slide3_img39.png">    </p:cNvPr>
          <p:cNvPicPr>
            <a:picLocks noChangeAspect="1"/>
          </p:cNvPicPr>
          <p:nvPr/>
        </p:nvPicPr>
        <p:blipFill>
          <a:blip r:embed="rId8"/>
          <a:stretch>
            <a:fillRect/>
          </a:stretch>
        </p:blipFill>
        <p:spPr>
          <a:xfrm rot="5400000">
            <a:off x="624040" y="2907996"/>
            <a:ext cx="1885630" cy="2409404"/>
          </a:xfrm>
          <a:prstGeom prst="rect">
            <a:avLst/>
          </a:prstGeom>
        </p:spPr>
      </p:pic>
      <p:sp>
        <p:nvSpPr>
          <p:cNvPr id="22" name="Shape 12"/>
          <p:cNvSpPr/>
          <p:nvPr/>
        </p:nvSpPr>
        <p:spPr>
          <a:xfrm rot="5400000">
            <a:off x="624040" y="2907996"/>
            <a:ext cx="1885630" cy="2409404"/>
          </a:xfrm>
          <a:custGeom>
            <a:avLst/>
            <a:gdLst/>
            <a:ahLst/>
            <a:cxnLst/>
            <a:rect l="l" t="t" r="r" b="b"/>
            <a:pathLst>
              <a:path w="1885630" h="2409404">
                <a:moveTo>
                  <a:pt x="0" y="0"/>
                </a:moveTo>
                <a:lnTo>
                  <a:pt x="1885630" y="0"/>
                </a:lnTo>
                <a:lnTo>
                  <a:pt x="1885630" y="2409404"/>
                </a:lnTo>
                <a:lnTo>
                  <a:pt x="0" y="2409404"/>
                </a:lnTo>
                <a:close/>
              </a:path>
            </a:pathLst>
          </a:custGeom>
          <a:solidFill>
            <a:srgbClr val="FFFFFF">
              <a:alpha val="0"/>
            </a:srgbClr>
          </a:solidFill>
          <a:ln/>
        </p:spPr>
      </p:sp>
      <p:sp>
        <p:nvSpPr>
          <p:cNvPr id="23" name="Text 13"/>
          <p:cNvSpPr/>
          <p:nvPr/>
        </p:nvSpPr>
        <p:spPr>
          <a:xfrm rot="5400000">
            <a:off x="624040" y="2907996"/>
            <a:ext cx="1885630" cy="2409404"/>
          </a:xfrm>
          <a:prstGeom prst="rect">
            <a:avLst/>
          </a:prstGeom>
          <a:noFill/>
          <a:ln/>
        </p:spPr>
        <p:txBody>
          <a:bodyPr wrap="square" rtlCol="0" anchor="t"/>
          <a:lstStyle/>
          <a:p>
            <a:pPr indent="0" marL="0">
              <a:spcBef>
                <a:spcPts val="375"/>
              </a:spcBef>
              <a:buNone/>
            </a:pPr>
            <a:endParaRPr lang="en-US" sz="1050" dirty="0"/>
          </a:p>
        </p:txBody>
      </p:sp>
      <p:sp>
        <p:nvSpPr>
          <p:cNvPr id="24" name="Shape 14"/>
          <p:cNvSpPr/>
          <p:nvPr/>
        </p:nvSpPr>
        <p:spPr>
          <a:xfrm rot="5400000">
            <a:off x="624040" y="2907996"/>
            <a:ext cx="1885630" cy="2409404"/>
          </a:xfrm>
          <a:custGeom>
            <a:avLst/>
            <a:gdLst/>
            <a:ahLst/>
            <a:cxnLst/>
            <a:rect l="l" t="t" r="r" b="b"/>
            <a:pathLst>
              <a:path w="1885630" h="2409404">
                <a:moveTo>
                  <a:pt x="0" y="0"/>
                </a:moveTo>
                <a:lnTo>
                  <a:pt x="1885630" y="0"/>
                </a:lnTo>
                <a:lnTo>
                  <a:pt x="1885630" y="2409404"/>
                </a:lnTo>
                <a:lnTo>
                  <a:pt x="0" y="2409404"/>
                </a:lnTo>
                <a:close/>
              </a:path>
            </a:pathLst>
          </a:custGeom>
          <a:solidFill>
            <a:srgbClr val="000000">
              <a:alpha val="0"/>
            </a:srgbClr>
          </a:solidFill>
          <a:ln/>
        </p:spPr>
      </p:sp>
      <p:sp>
        <p:nvSpPr>
          <p:cNvPr id="25" name="Text 15"/>
          <p:cNvSpPr/>
          <p:nvPr/>
        </p:nvSpPr>
        <p:spPr>
          <a:xfrm rot="5400000">
            <a:off x="624040" y="2907996"/>
            <a:ext cx="1885630" cy="2409404"/>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26" name="Image 8" descr="./images\slide3_img40.png">    </p:cNvPr>
          <p:cNvPicPr>
            <a:picLocks noChangeAspect="1"/>
          </p:cNvPicPr>
          <p:nvPr/>
        </p:nvPicPr>
        <p:blipFill>
          <a:blip r:embed="rId9"/>
          <a:stretch>
            <a:fillRect/>
          </a:stretch>
        </p:blipFill>
        <p:spPr>
          <a:xfrm rot="5400000">
            <a:off x="624040" y="2907996"/>
            <a:ext cx="1885630" cy="2409404"/>
          </a:xfrm>
          <a:prstGeom prst="rect">
            <a:avLst/>
          </a:prstGeom>
        </p:spPr>
      </p:pic>
      <p:pic>
        <p:nvPicPr>
          <p:cNvPr id="27" name="Image 9" descr="./images\slide3_img41.png">    </p:cNvPr>
          <p:cNvPicPr>
            <a:picLocks noChangeAspect="1"/>
          </p:cNvPicPr>
          <p:nvPr/>
        </p:nvPicPr>
        <p:blipFill>
          <a:blip r:embed="rId10"/>
          <a:stretch>
            <a:fillRect/>
          </a:stretch>
        </p:blipFill>
        <p:spPr>
          <a:xfrm rot="-1560000">
            <a:off x="593199" y="321536"/>
            <a:ext cx="555158" cy="1014408"/>
          </a:xfrm>
          <a:prstGeom prst="rect">
            <a:avLst/>
          </a:prstGeom>
        </p:spPr>
      </p:pic>
      <p:sp>
        <p:nvSpPr>
          <p:cNvPr id="28" name="Shape 16"/>
          <p:cNvSpPr/>
          <p:nvPr/>
        </p:nvSpPr>
        <p:spPr>
          <a:xfrm rot="-1560000">
            <a:off x="593199" y="321536"/>
            <a:ext cx="555158" cy="1014408"/>
          </a:xfrm>
          <a:custGeom>
            <a:avLst/>
            <a:gdLst/>
            <a:ahLst/>
            <a:cxnLst/>
            <a:rect l="l" t="t" r="r" b="b"/>
            <a:pathLst>
              <a:path w="555158" h="1014408">
                <a:moveTo>
                  <a:pt x="0" y="0"/>
                </a:moveTo>
                <a:lnTo>
                  <a:pt x="555158" y="0"/>
                </a:lnTo>
                <a:lnTo>
                  <a:pt x="555158" y="1014408"/>
                </a:lnTo>
                <a:lnTo>
                  <a:pt x="0" y="1014408"/>
                </a:lnTo>
                <a:close/>
              </a:path>
            </a:pathLst>
          </a:custGeom>
          <a:solidFill>
            <a:srgbClr val="FFFFFF">
              <a:alpha val="0"/>
            </a:srgbClr>
          </a:solidFill>
          <a:ln/>
        </p:spPr>
      </p:sp>
      <p:sp>
        <p:nvSpPr>
          <p:cNvPr id="29" name="Text 17"/>
          <p:cNvSpPr/>
          <p:nvPr/>
        </p:nvSpPr>
        <p:spPr>
          <a:xfrm rot="-1560000">
            <a:off x="593199" y="321536"/>
            <a:ext cx="555158" cy="1014408"/>
          </a:xfrm>
          <a:prstGeom prst="rect">
            <a:avLst/>
          </a:prstGeom>
          <a:noFill/>
          <a:ln/>
        </p:spPr>
        <p:txBody>
          <a:bodyPr wrap="square" rtlCol="0" anchor="t"/>
          <a:lstStyle/>
          <a:p>
            <a:pPr indent="0" marL="0">
              <a:spcBef>
                <a:spcPts val="375"/>
              </a:spcBef>
              <a:buNone/>
            </a:pPr>
            <a:endParaRPr lang="en-US" sz="1050" dirty="0"/>
          </a:p>
        </p:txBody>
      </p:sp>
      <p:sp>
        <p:nvSpPr>
          <p:cNvPr id="30" name="Shape 18"/>
          <p:cNvSpPr/>
          <p:nvPr/>
        </p:nvSpPr>
        <p:spPr>
          <a:xfrm rot="-1560000">
            <a:off x="593199" y="321536"/>
            <a:ext cx="555158" cy="1014408"/>
          </a:xfrm>
          <a:custGeom>
            <a:avLst/>
            <a:gdLst/>
            <a:ahLst/>
            <a:cxnLst/>
            <a:rect l="l" t="t" r="r" b="b"/>
            <a:pathLst>
              <a:path w="555158" h="1014408">
                <a:moveTo>
                  <a:pt x="0" y="0"/>
                </a:moveTo>
                <a:lnTo>
                  <a:pt x="555158" y="0"/>
                </a:lnTo>
                <a:lnTo>
                  <a:pt x="555158" y="1014408"/>
                </a:lnTo>
                <a:lnTo>
                  <a:pt x="0" y="1014408"/>
                </a:lnTo>
                <a:close/>
              </a:path>
            </a:pathLst>
          </a:custGeom>
          <a:solidFill>
            <a:srgbClr val="000000">
              <a:alpha val="0"/>
            </a:srgbClr>
          </a:solidFill>
          <a:ln/>
        </p:spPr>
      </p:sp>
      <p:sp>
        <p:nvSpPr>
          <p:cNvPr id="31" name="Text 19"/>
          <p:cNvSpPr/>
          <p:nvPr/>
        </p:nvSpPr>
        <p:spPr>
          <a:xfrm rot="-1560000">
            <a:off x="593199" y="321536"/>
            <a:ext cx="555158" cy="1014408"/>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32" name="Image 10" descr="./images\slide3_img42.png">    </p:cNvPr>
          <p:cNvPicPr>
            <a:picLocks noChangeAspect="1"/>
          </p:cNvPicPr>
          <p:nvPr/>
        </p:nvPicPr>
        <p:blipFill>
          <a:blip r:embed="rId11"/>
          <a:stretch>
            <a:fillRect/>
          </a:stretch>
        </p:blipFill>
        <p:spPr>
          <a:xfrm rot="-1560000">
            <a:off x="593199" y="321536"/>
            <a:ext cx="555158" cy="1014408"/>
          </a:xfrm>
          <a:prstGeom prst="rect">
            <a:avLst/>
          </a:prstGeom>
        </p:spPr>
      </p:pic>
      <p:pic>
        <p:nvPicPr>
          <p:cNvPr id="33" name="Image 11" descr="./images\slide3_img43.png">    </p:cNvPr>
          <p:cNvPicPr>
            <a:picLocks noChangeAspect="1"/>
          </p:cNvPicPr>
          <p:nvPr/>
        </p:nvPicPr>
        <p:blipFill>
          <a:blip r:embed="rId12"/>
          <a:stretch>
            <a:fillRect/>
          </a:stretch>
        </p:blipFill>
        <p:spPr>
          <a:xfrm rot="1080000">
            <a:off x="7992378" y="296089"/>
            <a:ext cx="555158" cy="1014408"/>
          </a:xfrm>
          <a:prstGeom prst="rect">
            <a:avLst/>
          </a:prstGeom>
        </p:spPr>
      </p:pic>
      <p:sp>
        <p:nvSpPr>
          <p:cNvPr id="34" name="Shape 20"/>
          <p:cNvSpPr/>
          <p:nvPr/>
        </p:nvSpPr>
        <p:spPr>
          <a:xfrm rot="1080000">
            <a:off x="7992378" y="296089"/>
            <a:ext cx="555158" cy="1014408"/>
          </a:xfrm>
          <a:custGeom>
            <a:avLst/>
            <a:gdLst/>
            <a:ahLst/>
            <a:cxnLst/>
            <a:rect l="l" t="t" r="r" b="b"/>
            <a:pathLst>
              <a:path w="555158" h="1014408">
                <a:moveTo>
                  <a:pt x="0" y="0"/>
                </a:moveTo>
                <a:lnTo>
                  <a:pt x="555158" y="0"/>
                </a:lnTo>
                <a:lnTo>
                  <a:pt x="555158" y="1014408"/>
                </a:lnTo>
                <a:lnTo>
                  <a:pt x="0" y="1014408"/>
                </a:lnTo>
                <a:close/>
              </a:path>
            </a:pathLst>
          </a:custGeom>
          <a:solidFill>
            <a:srgbClr val="FFFFFF">
              <a:alpha val="0"/>
            </a:srgbClr>
          </a:solidFill>
          <a:ln/>
        </p:spPr>
      </p:sp>
      <p:sp>
        <p:nvSpPr>
          <p:cNvPr id="35" name="Text 21"/>
          <p:cNvSpPr/>
          <p:nvPr/>
        </p:nvSpPr>
        <p:spPr>
          <a:xfrm rot="1080000">
            <a:off x="7992378" y="296089"/>
            <a:ext cx="555158" cy="1014408"/>
          </a:xfrm>
          <a:prstGeom prst="rect">
            <a:avLst/>
          </a:prstGeom>
          <a:noFill/>
          <a:ln/>
        </p:spPr>
        <p:txBody>
          <a:bodyPr wrap="square" rtlCol="0" anchor="t"/>
          <a:lstStyle/>
          <a:p>
            <a:pPr indent="0" marL="0">
              <a:spcBef>
                <a:spcPts val="375"/>
              </a:spcBef>
              <a:buNone/>
            </a:pPr>
            <a:endParaRPr lang="en-US" sz="1050" dirty="0"/>
          </a:p>
        </p:txBody>
      </p:sp>
      <p:sp>
        <p:nvSpPr>
          <p:cNvPr id="36" name="Shape 22"/>
          <p:cNvSpPr/>
          <p:nvPr/>
        </p:nvSpPr>
        <p:spPr>
          <a:xfrm rot="1080000">
            <a:off x="7992378" y="296089"/>
            <a:ext cx="555158" cy="1014408"/>
          </a:xfrm>
          <a:custGeom>
            <a:avLst/>
            <a:gdLst/>
            <a:ahLst/>
            <a:cxnLst/>
            <a:rect l="l" t="t" r="r" b="b"/>
            <a:pathLst>
              <a:path w="555158" h="1014408">
                <a:moveTo>
                  <a:pt x="0" y="0"/>
                </a:moveTo>
                <a:lnTo>
                  <a:pt x="555158" y="0"/>
                </a:lnTo>
                <a:lnTo>
                  <a:pt x="555158" y="1014408"/>
                </a:lnTo>
                <a:lnTo>
                  <a:pt x="0" y="1014408"/>
                </a:lnTo>
                <a:close/>
              </a:path>
            </a:pathLst>
          </a:custGeom>
          <a:solidFill>
            <a:srgbClr val="000000">
              <a:alpha val="0"/>
            </a:srgbClr>
          </a:solidFill>
          <a:ln/>
        </p:spPr>
      </p:sp>
      <p:sp>
        <p:nvSpPr>
          <p:cNvPr id="37" name="Text 23"/>
          <p:cNvSpPr/>
          <p:nvPr/>
        </p:nvSpPr>
        <p:spPr>
          <a:xfrm rot="1080000">
            <a:off x="7992378" y="296089"/>
            <a:ext cx="555158" cy="1014408"/>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38" name="Image 12" descr="./images\slide3_img44.png">    </p:cNvPr>
          <p:cNvPicPr>
            <a:picLocks noChangeAspect="1"/>
          </p:cNvPicPr>
          <p:nvPr/>
        </p:nvPicPr>
        <p:blipFill>
          <a:blip r:embed="rId13"/>
          <a:stretch>
            <a:fillRect/>
          </a:stretch>
        </p:blipFill>
        <p:spPr>
          <a:xfrm rot="1080000">
            <a:off x="7992378" y="296089"/>
            <a:ext cx="555158" cy="1014408"/>
          </a:xfrm>
          <a:prstGeom prst="rect">
            <a:avLst/>
          </a:prstGeom>
        </p:spPr>
      </p:pic>
      <p:pic>
        <p:nvPicPr>
          <p:cNvPr id="39" name="Image 13" descr="./images\slide3_img45.png">    </p:cNvPr>
          <p:cNvPicPr>
            <a:picLocks noChangeAspect="1"/>
          </p:cNvPicPr>
          <p:nvPr/>
        </p:nvPicPr>
        <p:blipFill>
          <a:blip r:embed="rId14"/>
          <a:stretch>
            <a:fillRect/>
          </a:stretch>
        </p:blipFill>
        <p:spPr>
          <a:xfrm>
            <a:off x="3193078" y="1751396"/>
            <a:ext cx="2757845" cy="3021544"/>
          </a:xfrm>
          <a:prstGeom prst="rect">
            <a:avLst/>
          </a:prstGeom>
        </p:spPr>
      </p:pic>
      <p:sp>
        <p:nvSpPr>
          <p:cNvPr id="40" name="Shape 24"/>
          <p:cNvSpPr/>
          <p:nvPr/>
        </p:nvSpPr>
        <p:spPr>
          <a:xfrm>
            <a:off x="3193078" y="1751396"/>
            <a:ext cx="2757845" cy="3021544"/>
          </a:xfrm>
          <a:custGeom>
            <a:avLst/>
            <a:gdLst/>
            <a:ahLst/>
            <a:cxnLst/>
            <a:rect l="l" t="t" r="r" b="b"/>
            <a:pathLst>
              <a:path w="2757845" h="3021544">
                <a:moveTo>
                  <a:pt x="0" y="0"/>
                </a:moveTo>
                <a:lnTo>
                  <a:pt x="2757845" y="0"/>
                </a:lnTo>
                <a:lnTo>
                  <a:pt x="2757845" y="3021544"/>
                </a:lnTo>
                <a:lnTo>
                  <a:pt x="0" y="3021544"/>
                </a:lnTo>
                <a:close/>
              </a:path>
            </a:pathLst>
          </a:custGeom>
          <a:solidFill>
            <a:srgbClr val="FFFFFF">
              <a:alpha val="0"/>
            </a:srgbClr>
          </a:solidFill>
          <a:ln/>
        </p:spPr>
      </p:sp>
      <p:sp>
        <p:nvSpPr>
          <p:cNvPr id="41" name="Text 25"/>
          <p:cNvSpPr/>
          <p:nvPr/>
        </p:nvSpPr>
        <p:spPr>
          <a:xfrm>
            <a:off x="3193078" y="1751396"/>
            <a:ext cx="2757845" cy="3021544"/>
          </a:xfrm>
          <a:prstGeom prst="rect">
            <a:avLst/>
          </a:prstGeom>
          <a:noFill/>
          <a:ln/>
        </p:spPr>
        <p:txBody>
          <a:bodyPr wrap="square" rtlCol="0" anchor="t"/>
          <a:lstStyle/>
          <a:p>
            <a:pPr indent="0" marL="0">
              <a:spcBef>
                <a:spcPts val="375"/>
              </a:spcBef>
              <a:buNone/>
            </a:pPr>
            <a:endParaRPr lang="en-US" sz="1050" dirty="0"/>
          </a:p>
        </p:txBody>
      </p:sp>
      <p:sp>
        <p:nvSpPr>
          <p:cNvPr id="42" name="Shape 26"/>
          <p:cNvSpPr/>
          <p:nvPr/>
        </p:nvSpPr>
        <p:spPr>
          <a:xfrm>
            <a:off x="3193078" y="1751396"/>
            <a:ext cx="2757845" cy="3021544"/>
          </a:xfrm>
          <a:custGeom>
            <a:avLst/>
            <a:gdLst/>
            <a:ahLst/>
            <a:cxnLst/>
            <a:rect l="l" t="t" r="r" b="b"/>
            <a:pathLst>
              <a:path w="2757845" h="3021544">
                <a:moveTo>
                  <a:pt x="0" y="0"/>
                </a:moveTo>
                <a:lnTo>
                  <a:pt x="2757845" y="0"/>
                </a:lnTo>
                <a:lnTo>
                  <a:pt x="2757845" y="3021544"/>
                </a:lnTo>
                <a:lnTo>
                  <a:pt x="0" y="3021544"/>
                </a:lnTo>
                <a:close/>
              </a:path>
            </a:pathLst>
          </a:custGeom>
          <a:solidFill>
            <a:srgbClr val="000000">
              <a:alpha val="0"/>
            </a:srgbClr>
          </a:solidFill>
          <a:ln/>
        </p:spPr>
      </p:sp>
      <p:sp>
        <p:nvSpPr>
          <p:cNvPr id="43" name="Text 27"/>
          <p:cNvSpPr/>
          <p:nvPr/>
        </p:nvSpPr>
        <p:spPr>
          <a:xfrm>
            <a:off x="3193078" y="1751396"/>
            <a:ext cx="2757845" cy="3021544"/>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44" name="Image 14" descr="./images\slide3_img46.png">    </p:cNvPr>
          <p:cNvPicPr>
            <a:picLocks noChangeAspect="1"/>
          </p:cNvPicPr>
          <p:nvPr/>
        </p:nvPicPr>
        <p:blipFill>
          <a:blip r:embed="rId15"/>
          <a:stretch>
            <a:fillRect/>
          </a:stretch>
        </p:blipFill>
        <p:spPr>
          <a:xfrm>
            <a:off x="3193078" y="1751396"/>
            <a:ext cx="2757845" cy="3021544"/>
          </a:xfrm>
          <a:prstGeom prst="rect">
            <a:avLst/>
          </a:prstGeom>
        </p:spPr>
      </p:pic>
      <p:pic>
        <p:nvPicPr>
          <p:cNvPr id="45" name="Image 15" descr="./images\slide3_img47.png">    </p:cNvPr>
          <p:cNvPicPr>
            <a:picLocks noChangeAspect="1"/>
          </p:cNvPicPr>
          <p:nvPr/>
        </p:nvPicPr>
        <p:blipFill>
          <a:blip r:embed="rId16"/>
          <a:stretch>
            <a:fillRect/>
          </a:stretch>
        </p:blipFill>
        <p:spPr>
          <a:xfrm>
            <a:off x="6974470" y="1834514"/>
            <a:ext cx="1186113" cy="1133409"/>
          </a:xfrm>
          <a:prstGeom prst="rect">
            <a:avLst/>
          </a:prstGeom>
        </p:spPr>
      </p:pic>
      <p:sp>
        <p:nvSpPr>
          <p:cNvPr id="46" name="Shape 28"/>
          <p:cNvSpPr/>
          <p:nvPr/>
        </p:nvSpPr>
        <p:spPr>
          <a:xfrm>
            <a:off x="6974470" y="1834514"/>
            <a:ext cx="1186113" cy="1133409"/>
          </a:xfrm>
          <a:custGeom>
            <a:avLst/>
            <a:gdLst/>
            <a:ahLst/>
            <a:cxnLst/>
            <a:rect l="l" t="t" r="r" b="b"/>
            <a:pathLst>
              <a:path w="1186113" h="1133409">
                <a:moveTo>
                  <a:pt x="0" y="0"/>
                </a:moveTo>
                <a:lnTo>
                  <a:pt x="1186113" y="0"/>
                </a:lnTo>
                <a:lnTo>
                  <a:pt x="1186113" y="1133409"/>
                </a:lnTo>
                <a:lnTo>
                  <a:pt x="0" y="1133409"/>
                </a:lnTo>
                <a:close/>
              </a:path>
            </a:pathLst>
          </a:custGeom>
          <a:solidFill>
            <a:srgbClr val="FFFFFF">
              <a:alpha val="0"/>
            </a:srgbClr>
          </a:solidFill>
          <a:ln/>
        </p:spPr>
      </p:sp>
      <p:sp>
        <p:nvSpPr>
          <p:cNvPr id="47" name="Text 29"/>
          <p:cNvSpPr/>
          <p:nvPr/>
        </p:nvSpPr>
        <p:spPr>
          <a:xfrm>
            <a:off x="6974470" y="1834514"/>
            <a:ext cx="1186113" cy="1133409"/>
          </a:xfrm>
          <a:prstGeom prst="rect">
            <a:avLst/>
          </a:prstGeom>
          <a:noFill/>
          <a:ln/>
        </p:spPr>
        <p:txBody>
          <a:bodyPr wrap="square" rtlCol="0" anchor="t"/>
          <a:lstStyle/>
          <a:p>
            <a:pPr indent="0" marL="0">
              <a:spcBef>
                <a:spcPts val="375"/>
              </a:spcBef>
              <a:buNone/>
            </a:pPr>
            <a:endParaRPr lang="en-US" sz="1050" dirty="0"/>
          </a:p>
        </p:txBody>
      </p:sp>
      <p:sp>
        <p:nvSpPr>
          <p:cNvPr id="48" name="Shape 30"/>
          <p:cNvSpPr/>
          <p:nvPr/>
        </p:nvSpPr>
        <p:spPr>
          <a:xfrm>
            <a:off x="6974470" y="1834514"/>
            <a:ext cx="1186113" cy="1133409"/>
          </a:xfrm>
          <a:custGeom>
            <a:avLst/>
            <a:gdLst/>
            <a:ahLst/>
            <a:cxnLst/>
            <a:rect l="l" t="t" r="r" b="b"/>
            <a:pathLst>
              <a:path w="1186113" h="1133409">
                <a:moveTo>
                  <a:pt x="0" y="0"/>
                </a:moveTo>
                <a:lnTo>
                  <a:pt x="1186113" y="0"/>
                </a:lnTo>
                <a:lnTo>
                  <a:pt x="1186113" y="1133409"/>
                </a:lnTo>
                <a:lnTo>
                  <a:pt x="0" y="1133409"/>
                </a:lnTo>
                <a:close/>
              </a:path>
            </a:pathLst>
          </a:custGeom>
          <a:solidFill>
            <a:srgbClr val="000000">
              <a:alpha val="0"/>
            </a:srgbClr>
          </a:solidFill>
          <a:ln/>
        </p:spPr>
      </p:sp>
      <p:sp>
        <p:nvSpPr>
          <p:cNvPr id="49" name="Text 31"/>
          <p:cNvSpPr/>
          <p:nvPr/>
        </p:nvSpPr>
        <p:spPr>
          <a:xfrm>
            <a:off x="6974470" y="1834514"/>
            <a:ext cx="1186113" cy="1133409"/>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50" name="Image 16" descr="./images\slide3_img48.png">    </p:cNvPr>
          <p:cNvPicPr>
            <a:picLocks noChangeAspect="1"/>
          </p:cNvPicPr>
          <p:nvPr/>
        </p:nvPicPr>
        <p:blipFill>
          <a:blip r:embed="rId17"/>
          <a:stretch>
            <a:fillRect/>
          </a:stretch>
        </p:blipFill>
        <p:spPr>
          <a:xfrm>
            <a:off x="6974470" y="1834514"/>
            <a:ext cx="1186113" cy="1133409"/>
          </a:xfrm>
          <a:prstGeom prst="rect">
            <a:avLst/>
          </a:prstGeom>
        </p:spPr>
      </p:pic>
      <p:pic>
        <p:nvPicPr>
          <p:cNvPr id="51" name="Image 17" descr="./images\slide3_img49.png">    </p:cNvPr>
          <p:cNvPicPr>
            <a:picLocks noChangeAspect="1"/>
          </p:cNvPicPr>
          <p:nvPr/>
        </p:nvPicPr>
        <p:blipFill>
          <a:blip r:embed="rId18"/>
          <a:stretch>
            <a:fillRect/>
          </a:stretch>
        </p:blipFill>
        <p:spPr>
          <a:xfrm>
            <a:off x="1407818" y="1743861"/>
            <a:ext cx="327483" cy="1314714"/>
          </a:xfrm>
          <a:prstGeom prst="rect">
            <a:avLst/>
          </a:prstGeom>
        </p:spPr>
      </p:pic>
      <p:sp>
        <p:nvSpPr>
          <p:cNvPr id="52" name="Shape 32"/>
          <p:cNvSpPr/>
          <p:nvPr/>
        </p:nvSpPr>
        <p:spPr>
          <a:xfrm>
            <a:off x="1407818" y="1743861"/>
            <a:ext cx="327483" cy="1314714"/>
          </a:xfrm>
          <a:custGeom>
            <a:avLst/>
            <a:gdLst/>
            <a:ahLst/>
            <a:cxnLst/>
            <a:rect l="l" t="t" r="r" b="b"/>
            <a:pathLst>
              <a:path w="327483" h="1314714">
                <a:moveTo>
                  <a:pt x="0" y="0"/>
                </a:moveTo>
                <a:lnTo>
                  <a:pt x="327483" y="0"/>
                </a:lnTo>
                <a:lnTo>
                  <a:pt x="327483" y="1314714"/>
                </a:lnTo>
                <a:lnTo>
                  <a:pt x="0" y="1314714"/>
                </a:lnTo>
                <a:close/>
              </a:path>
            </a:pathLst>
          </a:custGeom>
          <a:solidFill>
            <a:srgbClr val="FFFFFF">
              <a:alpha val="0"/>
            </a:srgbClr>
          </a:solidFill>
          <a:ln/>
        </p:spPr>
      </p:sp>
      <p:sp>
        <p:nvSpPr>
          <p:cNvPr id="53" name="Text 33"/>
          <p:cNvSpPr/>
          <p:nvPr/>
        </p:nvSpPr>
        <p:spPr>
          <a:xfrm>
            <a:off x="1407818" y="1743861"/>
            <a:ext cx="327483" cy="1314714"/>
          </a:xfrm>
          <a:prstGeom prst="rect">
            <a:avLst/>
          </a:prstGeom>
          <a:noFill/>
          <a:ln/>
        </p:spPr>
        <p:txBody>
          <a:bodyPr wrap="square" rtlCol="0" anchor="t"/>
          <a:lstStyle/>
          <a:p>
            <a:pPr indent="0" marL="0">
              <a:spcBef>
                <a:spcPts val="375"/>
              </a:spcBef>
              <a:buNone/>
            </a:pPr>
            <a:endParaRPr lang="en-US" sz="1050" dirty="0"/>
          </a:p>
        </p:txBody>
      </p:sp>
      <p:sp>
        <p:nvSpPr>
          <p:cNvPr id="54" name="Shape 34"/>
          <p:cNvSpPr/>
          <p:nvPr/>
        </p:nvSpPr>
        <p:spPr>
          <a:xfrm>
            <a:off x="1407818" y="1743861"/>
            <a:ext cx="327483" cy="1314714"/>
          </a:xfrm>
          <a:custGeom>
            <a:avLst/>
            <a:gdLst/>
            <a:ahLst/>
            <a:cxnLst/>
            <a:rect l="l" t="t" r="r" b="b"/>
            <a:pathLst>
              <a:path w="327483" h="1314714">
                <a:moveTo>
                  <a:pt x="0" y="0"/>
                </a:moveTo>
                <a:lnTo>
                  <a:pt x="327483" y="0"/>
                </a:lnTo>
                <a:lnTo>
                  <a:pt x="327483" y="1314714"/>
                </a:lnTo>
                <a:lnTo>
                  <a:pt x="0" y="1314714"/>
                </a:lnTo>
                <a:close/>
              </a:path>
            </a:pathLst>
          </a:custGeom>
          <a:solidFill>
            <a:srgbClr val="000000">
              <a:alpha val="0"/>
            </a:srgbClr>
          </a:solidFill>
          <a:ln/>
        </p:spPr>
      </p:sp>
      <p:sp>
        <p:nvSpPr>
          <p:cNvPr id="55" name="Text 35"/>
          <p:cNvSpPr/>
          <p:nvPr/>
        </p:nvSpPr>
        <p:spPr>
          <a:xfrm>
            <a:off x="1407818" y="1743861"/>
            <a:ext cx="327483" cy="1314714"/>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56" name="Image 18" descr="./images\slide3_img50.png">    </p:cNvPr>
          <p:cNvPicPr>
            <a:picLocks noChangeAspect="1"/>
          </p:cNvPicPr>
          <p:nvPr/>
        </p:nvPicPr>
        <p:blipFill>
          <a:blip r:embed="rId19"/>
          <a:stretch>
            <a:fillRect/>
          </a:stretch>
        </p:blipFill>
        <p:spPr>
          <a:xfrm>
            <a:off x="1407818" y="1743861"/>
            <a:ext cx="327483" cy="1314714"/>
          </a:xfrm>
          <a:prstGeom prst="rect">
            <a:avLst/>
          </a:prstGeom>
        </p:spPr>
      </p:pic>
      <p:sp>
        <p:nvSpPr>
          <p:cNvPr id="57" name="Shape 36"/>
          <p:cNvSpPr/>
          <p:nvPr/>
        </p:nvSpPr>
        <p:spPr>
          <a:xfrm>
            <a:off x="1537080" y="366167"/>
            <a:ext cx="6814179" cy="666750"/>
          </a:xfrm>
          <a:custGeom>
            <a:avLst/>
            <a:gdLst/>
            <a:ahLst/>
            <a:cxnLst/>
            <a:rect l="l" t="t" r="r" b="b"/>
            <a:pathLst>
              <a:path w="6814179" h="666750">
                <a:moveTo>
                  <a:pt x="0" y="0"/>
                </a:moveTo>
                <a:lnTo>
                  <a:pt x="6814179" y="0"/>
                </a:lnTo>
                <a:lnTo>
                  <a:pt x="6814179" y="666750"/>
                </a:lnTo>
                <a:lnTo>
                  <a:pt x="0" y="666750"/>
                </a:lnTo>
                <a:close/>
              </a:path>
            </a:pathLst>
          </a:custGeom>
          <a:solidFill>
            <a:srgbClr val="FFFFFF">
              <a:alpha val="0"/>
            </a:srgbClr>
          </a:solidFill>
          <a:ln/>
        </p:spPr>
      </p:sp>
      <p:sp>
        <p:nvSpPr>
          <p:cNvPr id="58" name="Text 37"/>
          <p:cNvSpPr/>
          <p:nvPr/>
        </p:nvSpPr>
        <p:spPr>
          <a:xfrm>
            <a:off x="1537080" y="366167"/>
            <a:ext cx="6814179" cy="666750"/>
          </a:xfrm>
          <a:prstGeom prst="rect">
            <a:avLst/>
          </a:prstGeom>
          <a:noFill/>
          <a:ln/>
        </p:spPr>
        <p:txBody>
          <a:bodyPr wrap="square" rtlCol="0" anchor="t"/>
          <a:lstStyle/>
          <a:p>
            <a:pPr indent="0" marL="0">
              <a:spcBef>
                <a:spcPts val="375"/>
              </a:spcBef>
              <a:buNone/>
            </a:pPr>
            <a:endParaRPr lang="en-US" sz="1050" dirty="0"/>
          </a:p>
        </p:txBody>
      </p:sp>
      <p:sp>
        <p:nvSpPr>
          <p:cNvPr id="59" name="Shape 38"/>
          <p:cNvSpPr/>
          <p:nvPr/>
        </p:nvSpPr>
        <p:spPr>
          <a:xfrm>
            <a:off x="1537080" y="366167"/>
            <a:ext cx="6814179" cy="666750"/>
          </a:xfrm>
          <a:custGeom>
            <a:avLst/>
            <a:gdLst/>
            <a:ahLst/>
            <a:cxnLst/>
            <a:rect l="l" t="t" r="r" b="b"/>
            <a:pathLst>
              <a:path w="6814179" h="666750">
                <a:moveTo>
                  <a:pt x="0" y="0"/>
                </a:moveTo>
                <a:lnTo>
                  <a:pt x="6814179" y="0"/>
                </a:lnTo>
                <a:lnTo>
                  <a:pt x="6814179" y="666750"/>
                </a:lnTo>
                <a:lnTo>
                  <a:pt x="0" y="666750"/>
                </a:lnTo>
                <a:close/>
              </a:path>
            </a:pathLst>
          </a:custGeom>
          <a:solidFill>
            <a:srgbClr val="000000">
              <a:alpha val="0"/>
            </a:srgbClr>
          </a:solidFill>
          <a:ln/>
        </p:spPr>
      </p:sp>
      <p:sp>
        <p:nvSpPr>
          <p:cNvPr id="60" name="Text 39"/>
          <p:cNvSpPr/>
          <p:nvPr/>
        </p:nvSpPr>
        <p:spPr>
          <a:xfrm>
            <a:off x="1537080" y="366167"/>
            <a:ext cx="6814179" cy="666750"/>
          </a:xfrm>
          <a:prstGeom prst="rect">
            <a:avLst/>
          </a:prstGeom>
          <a:noFill/>
          <a:ln/>
        </p:spPr>
        <p:txBody>
          <a:bodyPr wrap="square" rtlCol="0" anchor="t"/>
          <a:lstStyle/>
          <a:p>
            <a:pPr algn="ctr" indent="0" marL="0">
              <a:spcBef>
                <a:spcPts val="375"/>
              </a:spcBef>
              <a:buNone/>
            </a:pPr>
            <a:r>
              <a:rPr lang="en-US" sz="3000" dirty="0">
                <a:solidFill>
                  <a:srgbClr val="45464D"/>
                </a:solidFill>
                <a:latin typeface="Caveat Brush" pitchFamily="34" charset="0"/>
                <a:ea typeface="Caveat Brush" pitchFamily="34" charset="-122"/>
                <a:cs typeface="Caveat Brush" pitchFamily="34" charset="-120"/>
              </a:rPr>
              <a:t>O'sma turlari haqida</a:t>
            </a:r>
            <a:endParaRPr lang="en-US" sz="1050" dirty="0"/>
          </a:p>
        </p:txBody>
      </p:sp>
      <p:sp>
        <p:nvSpPr>
          <p:cNvPr id="61" name="Shape 40"/>
          <p:cNvSpPr/>
          <p:nvPr/>
        </p:nvSpPr>
        <p:spPr>
          <a:xfrm>
            <a:off x="425811" y="3169883"/>
            <a:ext cx="2291530" cy="985242"/>
          </a:xfrm>
          <a:custGeom>
            <a:avLst/>
            <a:gdLst/>
            <a:ahLst/>
            <a:cxnLst/>
            <a:rect l="l" t="t" r="r" b="b"/>
            <a:pathLst>
              <a:path w="2291530" h="985242">
                <a:moveTo>
                  <a:pt x="0" y="0"/>
                </a:moveTo>
                <a:lnTo>
                  <a:pt x="2291530" y="0"/>
                </a:lnTo>
                <a:lnTo>
                  <a:pt x="2291530" y="985242"/>
                </a:lnTo>
                <a:lnTo>
                  <a:pt x="0" y="985242"/>
                </a:lnTo>
                <a:close/>
              </a:path>
            </a:pathLst>
          </a:custGeom>
          <a:solidFill>
            <a:srgbClr val="FFFFFF">
              <a:alpha val="0"/>
            </a:srgbClr>
          </a:solidFill>
          <a:ln/>
        </p:spPr>
      </p:sp>
      <p:sp>
        <p:nvSpPr>
          <p:cNvPr id="62" name="Text 41"/>
          <p:cNvSpPr/>
          <p:nvPr/>
        </p:nvSpPr>
        <p:spPr>
          <a:xfrm>
            <a:off x="425811" y="3169883"/>
            <a:ext cx="2291530" cy="985242"/>
          </a:xfrm>
          <a:prstGeom prst="rect">
            <a:avLst/>
          </a:prstGeom>
          <a:noFill/>
          <a:ln/>
        </p:spPr>
        <p:txBody>
          <a:bodyPr wrap="square" rtlCol="0" anchor="t"/>
          <a:lstStyle/>
          <a:p>
            <a:pPr indent="0" marL="0">
              <a:spcBef>
                <a:spcPts val="375"/>
              </a:spcBef>
              <a:buNone/>
            </a:pPr>
            <a:endParaRPr lang="en-US" sz="1050" dirty="0"/>
          </a:p>
        </p:txBody>
      </p:sp>
      <p:sp>
        <p:nvSpPr>
          <p:cNvPr id="63" name="Shape 42"/>
          <p:cNvSpPr/>
          <p:nvPr/>
        </p:nvSpPr>
        <p:spPr>
          <a:xfrm>
            <a:off x="425811" y="3169883"/>
            <a:ext cx="2291530" cy="985242"/>
          </a:xfrm>
          <a:custGeom>
            <a:avLst/>
            <a:gdLst/>
            <a:ahLst/>
            <a:cxnLst/>
            <a:rect l="l" t="t" r="r" b="b"/>
            <a:pathLst>
              <a:path w="2291530" h="985242">
                <a:moveTo>
                  <a:pt x="0" y="0"/>
                </a:moveTo>
                <a:lnTo>
                  <a:pt x="2291530" y="0"/>
                </a:lnTo>
                <a:lnTo>
                  <a:pt x="2291530" y="985242"/>
                </a:lnTo>
                <a:lnTo>
                  <a:pt x="0" y="985242"/>
                </a:lnTo>
                <a:close/>
              </a:path>
            </a:pathLst>
          </a:custGeom>
          <a:solidFill>
            <a:srgbClr val="000000">
              <a:alpha val="0"/>
            </a:srgbClr>
          </a:solidFill>
          <a:ln/>
        </p:spPr>
      </p:sp>
      <p:sp>
        <p:nvSpPr>
          <p:cNvPr id="64" name="Text 43"/>
          <p:cNvSpPr/>
          <p:nvPr/>
        </p:nvSpPr>
        <p:spPr>
          <a:xfrm>
            <a:off x="425811" y="3169883"/>
            <a:ext cx="2291530" cy="985242"/>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O'sma turlari, o'simliklar olamidagi muhim qism bo'lib, ularning hayotiy jarayonlari va ekologik ahamiyati juda katta. O'sma turlari turli xil iqlim sharoitlariga moslashgan bo'lib, ularning ko'pchilik qismi o'simliklar va hayvonlar ekotizimlariga ijobiy ta'sir ko'rsatadi. O'sma turlarini o'rganish, ularning saqlanishi va ko'payishini ta'minlash uchun zarurdir.</a:t>
            </a:r>
            <a:endParaRPr lang="en-US" sz="1050" dirty="0"/>
          </a:p>
        </p:txBody>
      </p:sp>
      <p:sp>
        <p:nvSpPr>
          <p:cNvPr id="65" name="Shape 44"/>
          <p:cNvSpPr/>
          <p:nvPr/>
        </p:nvSpPr>
        <p:spPr>
          <a:xfrm>
            <a:off x="6425989" y="3169883"/>
            <a:ext cx="2306980" cy="985242"/>
          </a:xfrm>
          <a:custGeom>
            <a:avLst/>
            <a:gdLst/>
            <a:ahLst/>
            <a:cxnLst/>
            <a:rect l="l" t="t" r="r" b="b"/>
            <a:pathLst>
              <a:path w="2306980" h="985242">
                <a:moveTo>
                  <a:pt x="0" y="0"/>
                </a:moveTo>
                <a:lnTo>
                  <a:pt x="2306980" y="0"/>
                </a:lnTo>
                <a:lnTo>
                  <a:pt x="2306980" y="985242"/>
                </a:lnTo>
                <a:lnTo>
                  <a:pt x="0" y="985242"/>
                </a:lnTo>
                <a:close/>
              </a:path>
            </a:pathLst>
          </a:custGeom>
          <a:solidFill>
            <a:srgbClr val="FFFFFF">
              <a:alpha val="0"/>
            </a:srgbClr>
          </a:solidFill>
          <a:ln/>
        </p:spPr>
      </p:sp>
      <p:sp>
        <p:nvSpPr>
          <p:cNvPr id="66" name="Text 45"/>
          <p:cNvSpPr/>
          <p:nvPr/>
        </p:nvSpPr>
        <p:spPr>
          <a:xfrm>
            <a:off x="6425989" y="3169883"/>
            <a:ext cx="2306980" cy="985242"/>
          </a:xfrm>
          <a:prstGeom prst="rect">
            <a:avLst/>
          </a:prstGeom>
          <a:noFill/>
          <a:ln/>
        </p:spPr>
        <p:txBody>
          <a:bodyPr wrap="square" rtlCol="0" anchor="t"/>
          <a:lstStyle/>
          <a:p>
            <a:pPr indent="0" marL="0">
              <a:spcBef>
                <a:spcPts val="375"/>
              </a:spcBef>
              <a:buNone/>
            </a:pPr>
            <a:endParaRPr lang="en-US" sz="1050" dirty="0"/>
          </a:p>
        </p:txBody>
      </p:sp>
      <p:sp>
        <p:nvSpPr>
          <p:cNvPr id="67" name="Shape 46"/>
          <p:cNvSpPr/>
          <p:nvPr/>
        </p:nvSpPr>
        <p:spPr>
          <a:xfrm>
            <a:off x="6425989" y="3169883"/>
            <a:ext cx="2306980" cy="985242"/>
          </a:xfrm>
          <a:custGeom>
            <a:avLst/>
            <a:gdLst/>
            <a:ahLst/>
            <a:cxnLst/>
            <a:rect l="l" t="t" r="r" b="b"/>
            <a:pathLst>
              <a:path w="2306980" h="985242">
                <a:moveTo>
                  <a:pt x="0" y="0"/>
                </a:moveTo>
                <a:lnTo>
                  <a:pt x="2306980" y="0"/>
                </a:lnTo>
                <a:lnTo>
                  <a:pt x="2306980" y="985242"/>
                </a:lnTo>
                <a:lnTo>
                  <a:pt x="0" y="985242"/>
                </a:lnTo>
                <a:close/>
              </a:path>
            </a:pathLst>
          </a:custGeom>
          <a:solidFill>
            <a:srgbClr val="000000">
              <a:alpha val="0"/>
            </a:srgbClr>
          </a:solidFill>
          <a:ln/>
        </p:spPr>
      </p:sp>
      <p:sp>
        <p:nvSpPr>
          <p:cNvPr id="68" name="Text 47"/>
          <p:cNvSpPr/>
          <p:nvPr/>
        </p:nvSpPr>
        <p:spPr>
          <a:xfrm>
            <a:off x="6425989" y="3169883"/>
            <a:ext cx="2306980" cy="985242"/>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O'sma turlari ko'plab foydali xususiyatlarga ega. Ular qishloq xo'jaligida, tibbiyotda, va ekologik muvozanatni saqlashda muhim rol o'ynaydi. Ularning saqlanishi va rivojlanishi uchun zamonaviy tadqiqotlar va yangi texnologiyalar joriy etilmoqda.</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1F1F1"/>
        </a:solidFill>
      </p:bgPr>
    </p:bg>
    <p:spTree>
      <p:nvGrpSpPr>
        <p:cNvPr id="1" name=""/>
        <p:cNvGrpSpPr/>
        <p:nvPr/>
      </p:nvGrpSpPr>
      <p:grpSpPr>
        <a:xfrm>
          <a:off x="0" y="0"/>
          <a:ext cx="0" cy="0"/>
          <a:chOff x="0" y="0"/>
          <a:chExt cx="0" cy="0"/>
        </a:xfrm>
      </p:grpSpPr>
      <p:pic>
        <p:nvPicPr>
          <p:cNvPr id="2" name="Image 0" descr="./images\slide4_img51.png">    </p:cNvPr>
          <p:cNvPicPr>
            <a:picLocks noChangeAspect="1"/>
          </p:cNvPicPr>
          <p:nvPr/>
        </p:nvPicPr>
        <p:blipFill>
          <a:blip r:embed="rId1"/>
          <a:stretch>
            <a:fillRect/>
          </a:stretch>
        </p:blipFill>
        <p:spPr>
          <a:xfrm>
            <a:off x="0" y="0"/>
            <a:ext cx="9144000" cy="5143500"/>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998465" y="1137012"/>
          <a:ext cx="7147070" cy="2771477"/>
        </p:xfrm>
        <a:graphic>
          <a:graphicData uri="http://schemas.openxmlformats.org/drawingml/2006/table">
            <a:tbl>
              <a:tblPr/>
              <a:tblGrid>
                <a:gridCol w="3573535"/>
                <a:gridCol w="3573535"/>
              </a:tblGrid>
              <a:tr h="461913">
                <a:tc>
                  <a:txBody>
                    <a:bodyPr/>
                    <a:lstStyle/>
                    <a:p>
                      <a:pPr algn="l" indent="0" marL="0">
                        <a:buNone/>
                      </a:pPr>
                      <a:r>
                        <a:rPr lang="en-US" sz="900" u="none" dirty="0">
                          <a:solidFill>
                            <a:srgbClr val="000000"/>
                          </a:solidFill>
                          <a:latin typeface="Nunito" pitchFamily="34" charset="0"/>
                          <a:ea typeface="Nunito" pitchFamily="34" charset="-122"/>
                          <a:cs typeface="Nunito" pitchFamily="34" charset="-120"/>
                        </a:rPr>
                        <a:t>Belgi</a:t>
                      </a:r>
                      <a:endParaRPr lang="en-US" sz="900" dirty="0">
                        <a:latin typeface="Nunito" charset="0"/>
                        <a:ea typeface="Nunito" charset="0"/>
                        <a:cs typeface="Nunito"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solidFill>
                      <a:srgbClr val="C1C5D4"/>
                    </a:solidFill>
                  </a:tcPr>
                </a:tc>
                <a:tc>
                  <a:txBody>
                    <a:bodyPr/>
                    <a:lstStyle/>
                    <a:p>
                      <a:pPr algn="l" indent="0" marL="0">
                        <a:buNone/>
                      </a:pPr>
                      <a:r>
                        <a:rPr lang="en-US" sz="900" u="none" dirty="0">
                          <a:solidFill>
                            <a:srgbClr val="000000"/>
                          </a:solidFill>
                          <a:latin typeface="Nunito" pitchFamily="34" charset="0"/>
                          <a:ea typeface="Nunito" pitchFamily="34" charset="-122"/>
                          <a:cs typeface="Nunito" pitchFamily="34" charset="-120"/>
                        </a:rPr>
                        <a:t>Sharh</a:t>
                      </a:r>
                      <a:endParaRPr lang="en-US" sz="900" dirty="0">
                        <a:latin typeface="Nunito" charset="0"/>
                        <a:ea typeface="Nunito" charset="0"/>
                        <a:cs typeface="Nunito"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solidFill>
                      <a:srgbClr val="C1C5D4"/>
                    </a:solidFill>
                  </a:tcPr>
                </a:tc>
              </a:tr>
              <a:tr h="461913">
                <a:tc>
                  <a:txBody>
                    <a:bodyPr/>
                    <a:lstStyle/>
                    <a:p>
                      <a:pPr algn="l" indent="0" marL="0">
                        <a:buNone/>
                      </a:pPr>
                      <a:r>
                        <a:rPr lang="en-US" sz="900" u="none" dirty="0">
                          <a:solidFill>
                            <a:srgbClr val="000000"/>
                          </a:solidFill>
                          <a:latin typeface="Calibri" pitchFamily="34" charset="0"/>
                          <a:ea typeface="Calibri" pitchFamily="34" charset="-122"/>
                          <a:cs typeface="Calibri" pitchFamily="34" charset="-120"/>
                        </a:rPr>
                        <a:t>Yuqori harorat</a:t>
                      </a:r>
                      <a:endParaRPr lang="en-US" sz="900" dirty="0">
                        <a:latin typeface="Calibri" charset="0"/>
                        <a:ea typeface="Calibri" charset="0"/>
                        <a:cs typeface="Calibri"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tcPr>
                </a:tc>
                <a:tc>
                  <a:txBody>
                    <a:bodyPr/>
                    <a:lstStyle/>
                    <a:p>
                      <a:pPr algn="l" indent="0" marL="0">
                        <a:buNone/>
                      </a:pPr>
                      <a:r>
                        <a:rPr lang="en-US" sz="900" u="none" dirty="0">
                          <a:solidFill>
                            <a:srgbClr val="000000"/>
                          </a:solidFill>
                          <a:latin typeface="Calibri" pitchFamily="34" charset="0"/>
                          <a:ea typeface="Calibri" pitchFamily="34" charset="-122"/>
                          <a:cs typeface="Calibri" pitchFamily="34" charset="-120"/>
                        </a:rPr>
                        <a:t>Tanada yallig'lanish jarayonlari mavjud</a:t>
                      </a:r>
                      <a:endParaRPr lang="en-US" sz="900" dirty="0">
                        <a:latin typeface="Calibri" charset="0"/>
                        <a:ea typeface="Calibri" charset="0"/>
                        <a:cs typeface="Calibri"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tcPr>
                </a:tc>
              </a:tr>
              <a:tr h="461913">
                <a:tc>
                  <a:txBody>
                    <a:bodyPr/>
                    <a:lstStyle/>
                    <a:p>
                      <a:pPr algn="l" indent="0" marL="0">
                        <a:buNone/>
                      </a:pPr>
                      <a:r>
                        <a:rPr lang="en-US" sz="900" u="none" dirty="0">
                          <a:solidFill>
                            <a:srgbClr val="000000"/>
                          </a:solidFill>
                          <a:latin typeface="Calibri" pitchFamily="34" charset="0"/>
                          <a:ea typeface="Calibri" pitchFamily="34" charset="-122"/>
                          <a:cs typeface="Calibri" pitchFamily="34" charset="-120"/>
                        </a:rPr>
                        <a:t>Teri o'zgarishlari</a:t>
                      </a:r>
                      <a:endParaRPr lang="en-US" sz="900" dirty="0">
                        <a:latin typeface="Calibri" charset="0"/>
                        <a:ea typeface="Calibri" charset="0"/>
                        <a:cs typeface="Calibri"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tcPr>
                </a:tc>
                <a:tc>
                  <a:txBody>
                    <a:bodyPr/>
                    <a:lstStyle/>
                    <a:p>
                      <a:pPr algn="l" indent="0" marL="0">
                        <a:buNone/>
                      </a:pPr>
                      <a:r>
                        <a:rPr lang="en-US" sz="900" u="none" dirty="0">
                          <a:solidFill>
                            <a:srgbClr val="000000"/>
                          </a:solidFill>
                          <a:latin typeface="Calibri" pitchFamily="34" charset="0"/>
                          <a:ea typeface="Calibri" pitchFamily="34" charset="-122"/>
                          <a:cs typeface="Calibri" pitchFamily="34" charset="-120"/>
                        </a:rPr>
                        <a:t>Teri rangining o'zgarishi yoki shishishi</a:t>
                      </a:r>
                      <a:endParaRPr lang="en-US" sz="900" dirty="0">
                        <a:latin typeface="Calibri" charset="0"/>
                        <a:ea typeface="Calibri" charset="0"/>
                        <a:cs typeface="Calibri"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tcPr>
                </a:tc>
              </a:tr>
              <a:tr h="461913">
                <a:tc>
                  <a:txBody>
                    <a:bodyPr/>
                    <a:lstStyle/>
                    <a:p>
                      <a:pPr algn="l" indent="0" marL="0">
                        <a:buNone/>
                      </a:pPr>
                      <a:r>
                        <a:rPr lang="en-US" sz="900" u="none" dirty="0">
                          <a:solidFill>
                            <a:srgbClr val="000000"/>
                          </a:solidFill>
                          <a:latin typeface="Calibri" pitchFamily="34" charset="0"/>
                          <a:ea typeface="Calibri" pitchFamily="34" charset="-122"/>
                          <a:cs typeface="Calibri" pitchFamily="34" charset="-120"/>
                        </a:rPr>
                        <a:t>Og'riq</a:t>
                      </a:r>
                      <a:endParaRPr lang="en-US" sz="900" dirty="0">
                        <a:latin typeface="Calibri" charset="0"/>
                        <a:ea typeface="Calibri" charset="0"/>
                        <a:cs typeface="Calibri"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tcPr>
                </a:tc>
                <a:tc>
                  <a:txBody>
                    <a:bodyPr/>
                    <a:lstStyle/>
                    <a:p>
                      <a:pPr algn="l" indent="0" marL="0">
                        <a:buNone/>
                      </a:pPr>
                      <a:r>
                        <a:rPr lang="en-US" sz="900" u="none" dirty="0">
                          <a:solidFill>
                            <a:srgbClr val="000000"/>
                          </a:solidFill>
                          <a:latin typeface="Calibri" pitchFamily="34" charset="0"/>
                          <a:ea typeface="Calibri" pitchFamily="34" charset="-122"/>
                          <a:cs typeface="Calibri" pitchFamily="34" charset="-120"/>
                        </a:rPr>
                        <a:t>O'zgacha og'riq hissi</a:t>
                      </a:r>
                      <a:endParaRPr lang="en-US" sz="900" dirty="0">
                        <a:latin typeface="Calibri" charset="0"/>
                        <a:ea typeface="Calibri" charset="0"/>
                        <a:cs typeface="Calibri"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tcPr>
                </a:tc>
              </a:tr>
              <a:tr h="461913">
                <a:tc>
                  <a:txBody>
                    <a:bodyPr/>
                    <a:lstStyle/>
                    <a:p>
                      <a:pPr algn="l" indent="0" marL="0">
                        <a:buNone/>
                      </a:pPr>
                      <a:r>
                        <a:rPr lang="en-US" sz="900" u="none" dirty="0">
                          <a:solidFill>
                            <a:srgbClr val="000000"/>
                          </a:solidFill>
                          <a:latin typeface="Calibri" pitchFamily="34" charset="0"/>
                          <a:ea typeface="Calibri" pitchFamily="34" charset="-122"/>
                          <a:cs typeface="Calibri" pitchFamily="34" charset="-120"/>
                        </a:rPr>
                        <a:t>Charchoq</a:t>
                      </a:r>
                      <a:endParaRPr lang="en-US" sz="900" dirty="0">
                        <a:latin typeface="Calibri" charset="0"/>
                        <a:ea typeface="Calibri" charset="0"/>
                        <a:cs typeface="Calibri"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tcPr>
                </a:tc>
                <a:tc>
                  <a:txBody>
                    <a:bodyPr/>
                    <a:lstStyle/>
                    <a:p>
                      <a:pPr algn="l" indent="0" marL="0">
                        <a:buNone/>
                      </a:pPr>
                      <a:r>
                        <a:rPr lang="en-US" sz="900" u="none" dirty="0">
                          <a:solidFill>
                            <a:srgbClr val="000000"/>
                          </a:solidFill>
                          <a:latin typeface="Calibri" pitchFamily="34" charset="0"/>
                          <a:ea typeface="Calibri" pitchFamily="34" charset="-122"/>
                          <a:cs typeface="Calibri" pitchFamily="34" charset="-120"/>
                        </a:rPr>
                        <a:t>Doimiy charchoq va energiya yetishmasligi</a:t>
                      </a:r>
                      <a:endParaRPr lang="en-US" sz="900" dirty="0">
                        <a:latin typeface="Calibri" charset="0"/>
                        <a:ea typeface="Calibri" charset="0"/>
                        <a:cs typeface="Calibri"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tcPr>
                </a:tc>
              </a:tr>
              <a:tr h="461913">
                <a:tc>
                  <a:txBody>
                    <a:bodyPr/>
                    <a:lstStyle/>
                    <a:p>
                      <a:pPr algn="l" indent="0" marL="0">
                        <a:buNone/>
                      </a:pPr>
                      <a:r>
                        <a:rPr lang="en-US" sz="900" u="none" dirty="0">
                          <a:solidFill>
                            <a:srgbClr val="000000"/>
                          </a:solidFill>
                          <a:latin typeface="Calibri" pitchFamily="34" charset="0"/>
                          <a:ea typeface="Calibri" pitchFamily="34" charset="-122"/>
                          <a:cs typeface="Calibri" pitchFamily="34" charset="-120"/>
                        </a:rPr>
                        <a:t>Quloqdan qon ketishi</a:t>
                      </a:r>
                      <a:endParaRPr lang="en-US" sz="900" dirty="0">
                        <a:latin typeface="Calibri" charset="0"/>
                        <a:ea typeface="Calibri" charset="0"/>
                        <a:cs typeface="Calibri"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tcPr>
                </a:tc>
                <a:tc>
                  <a:txBody>
                    <a:bodyPr/>
                    <a:lstStyle/>
                    <a:p>
                      <a:pPr algn="l" indent="0" marL="0">
                        <a:buNone/>
                      </a:pPr>
                      <a:r>
                        <a:rPr lang="en-US" sz="900" u="none" dirty="0">
                          <a:solidFill>
                            <a:srgbClr val="000000"/>
                          </a:solidFill>
                          <a:latin typeface="Calibri" pitchFamily="34" charset="0"/>
                          <a:ea typeface="Calibri" pitchFamily="34" charset="-122"/>
                          <a:cs typeface="Calibri" pitchFamily="34" charset="-120"/>
                        </a:rPr>
                        <a:t>Quloqdan qon yoki suyuqlik chiqishi</a:t>
                      </a:r>
                      <a:endParaRPr lang="en-US" sz="900" dirty="0">
                        <a:latin typeface="Calibri" charset="0"/>
                        <a:ea typeface="Calibri" charset="0"/>
                        <a:cs typeface="Calibri"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tcPr>
                </a:tc>
              </a:tr>
            </a:tbl>
          </a:graphicData>
        </a:graphic>
      </p:graphicFrame>
      <p:sp>
        <p:nvSpPr>
          <p:cNvPr id="4" name="Shape 0"/>
          <p:cNvSpPr/>
          <p:nvPr/>
        </p:nvSpPr>
        <p:spPr>
          <a:xfrm>
            <a:off x="874050" y="246298"/>
            <a:ext cx="7395900" cy="666750"/>
          </a:xfrm>
          <a:custGeom>
            <a:avLst/>
            <a:gdLst/>
            <a:ahLst/>
            <a:cxnLst/>
            <a:rect l="l" t="t" r="r" b="b"/>
            <a:pathLst>
              <a:path w="7395900" h="666750">
                <a:moveTo>
                  <a:pt x="0" y="0"/>
                </a:moveTo>
                <a:lnTo>
                  <a:pt x="7395900" y="0"/>
                </a:lnTo>
                <a:lnTo>
                  <a:pt x="7395900" y="666750"/>
                </a:lnTo>
                <a:lnTo>
                  <a:pt x="0" y="666750"/>
                </a:lnTo>
                <a:close/>
              </a:path>
            </a:pathLst>
          </a:custGeom>
          <a:solidFill>
            <a:srgbClr val="FFFFFF">
              <a:alpha val="0"/>
            </a:srgbClr>
          </a:solidFill>
          <a:ln/>
        </p:spPr>
      </p:sp>
      <p:sp>
        <p:nvSpPr>
          <p:cNvPr id="5" name="Text 1"/>
          <p:cNvSpPr/>
          <p:nvPr/>
        </p:nvSpPr>
        <p:spPr>
          <a:xfrm>
            <a:off x="874050" y="246298"/>
            <a:ext cx="7395900" cy="666750"/>
          </a:xfrm>
          <a:prstGeom prst="rect">
            <a:avLst/>
          </a:prstGeom>
          <a:noFill/>
          <a:ln/>
        </p:spPr>
        <p:txBody>
          <a:bodyPr wrap="square" rtlCol="0" anchor="t"/>
          <a:lstStyle/>
          <a:p>
            <a:pPr indent="0" marL="0">
              <a:spcBef>
                <a:spcPts val="375"/>
              </a:spcBef>
              <a:buNone/>
            </a:pPr>
            <a:endParaRPr lang="en-US" sz="1050" dirty="0"/>
          </a:p>
        </p:txBody>
      </p:sp>
      <p:sp>
        <p:nvSpPr>
          <p:cNvPr id="6" name="Shape 2"/>
          <p:cNvSpPr/>
          <p:nvPr/>
        </p:nvSpPr>
        <p:spPr>
          <a:xfrm>
            <a:off x="874050" y="246298"/>
            <a:ext cx="7395900" cy="666750"/>
          </a:xfrm>
          <a:custGeom>
            <a:avLst/>
            <a:gdLst/>
            <a:ahLst/>
            <a:cxnLst/>
            <a:rect l="l" t="t" r="r" b="b"/>
            <a:pathLst>
              <a:path w="7395900" h="666750">
                <a:moveTo>
                  <a:pt x="0" y="0"/>
                </a:moveTo>
                <a:lnTo>
                  <a:pt x="7395900" y="0"/>
                </a:lnTo>
                <a:lnTo>
                  <a:pt x="7395900" y="666750"/>
                </a:lnTo>
                <a:lnTo>
                  <a:pt x="0" y="666750"/>
                </a:lnTo>
                <a:close/>
              </a:path>
            </a:pathLst>
          </a:custGeom>
          <a:solidFill>
            <a:srgbClr val="000000">
              <a:alpha val="0"/>
            </a:srgbClr>
          </a:solidFill>
          <a:ln/>
        </p:spPr>
      </p:sp>
      <p:sp>
        <p:nvSpPr>
          <p:cNvPr id="7" name="Text 3"/>
          <p:cNvSpPr/>
          <p:nvPr/>
        </p:nvSpPr>
        <p:spPr>
          <a:xfrm>
            <a:off x="874050" y="246298"/>
            <a:ext cx="7395900" cy="666750"/>
          </a:xfrm>
          <a:prstGeom prst="rect">
            <a:avLst/>
          </a:prstGeom>
          <a:noFill/>
          <a:ln/>
        </p:spPr>
        <p:txBody>
          <a:bodyPr wrap="square" rtlCol="0" anchor="t"/>
          <a:lstStyle/>
          <a:p>
            <a:pPr algn="ctr" indent="0" marL="0">
              <a:spcBef>
                <a:spcPts val="375"/>
              </a:spcBef>
              <a:buNone/>
            </a:pPr>
            <a:r>
              <a:rPr lang="en-US" sz="3000" dirty="0">
                <a:solidFill>
                  <a:srgbClr val="45464D"/>
                </a:solidFill>
                <a:latin typeface="Caveat Brush" pitchFamily="34" charset="0"/>
                <a:ea typeface="Caveat Brush" pitchFamily="34" charset="-122"/>
                <a:cs typeface="Caveat Brush" pitchFamily="34" charset="-120"/>
              </a:rPr>
              <a:t>Belgilari haqida ma'lumotlar</a:t>
            </a:r>
            <a:endParaRPr lang="en-US" sz="1050" dirty="0"/>
          </a:p>
        </p:txBody>
      </p:sp>
      <p:pic>
        <p:nvPicPr>
          <p:cNvPr id="8" name="Image 1" descr="./images\slide4_img52.png">    </p:cNvPr>
          <p:cNvPicPr>
            <a:picLocks noChangeAspect="1"/>
          </p:cNvPicPr>
          <p:nvPr/>
        </p:nvPicPr>
        <p:blipFill>
          <a:blip r:embed="rId2"/>
          <a:stretch>
            <a:fillRect/>
          </a:stretch>
        </p:blipFill>
        <p:spPr>
          <a:xfrm rot="-1800000">
            <a:off x="7936523" y="1969549"/>
            <a:ext cx="1198261" cy="1707367"/>
          </a:xfrm>
          <a:prstGeom prst="rect">
            <a:avLst/>
          </a:prstGeom>
        </p:spPr>
      </p:pic>
      <p:sp>
        <p:nvSpPr>
          <p:cNvPr id="9" name="Shape 4"/>
          <p:cNvSpPr/>
          <p:nvPr/>
        </p:nvSpPr>
        <p:spPr>
          <a:xfrm rot="-1800000">
            <a:off x="7936523" y="1969549"/>
            <a:ext cx="1198261" cy="1707367"/>
          </a:xfrm>
          <a:custGeom>
            <a:avLst/>
            <a:gdLst/>
            <a:ahLst/>
            <a:cxnLst/>
            <a:rect l="l" t="t" r="r" b="b"/>
            <a:pathLst>
              <a:path w="1198261" h="1707367">
                <a:moveTo>
                  <a:pt x="0" y="0"/>
                </a:moveTo>
                <a:lnTo>
                  <a:pt x="1198261" y="0"/>
                </a:lnTo>
                <a:lnTo>
                  <a:pt x="1198261" y="1707367"/>
                </a:lnTo>
                <a:lnTo>
                  <a:pt x="0" y="1707367"/>
                </a:lnTo>
                <a:close/>
              </a:path>
            </a:pathLst>
          </a:custGeom>
          <a:solidFill>
            <a:srgbClr val="FFFFFF">
              <a:alpha val="0"/>
            </a:srgbClr>
          </a:solidFill>
          <a:ln/>
        </p:spPr>
      </p:sp>
      <p:sp>
        <p:nvSpPr>
          <p:cNvPr id="10" name="Text 5"/>
          <p:cNvSpPr/>
          <p:nvPr/>
        </p:nvSpPr>
        <p:spPr>
          <a:xfrm rot="-1800000">
            <a:off x="7936523" y="1969549"/>
            <a:ext cx="1198261" cy="1707367"/>
          </a:xfrm>
          <a:prstGeom prst="rect">
            <a:avLst/>
          </a:prstGeom>
          <a:noFill/>
          <a:ln/>
        </p:spPr>
        <p:txBody>
          <a:bodyPr wrap="square" rtlCol="0" anchor="t"/>
          <a:lstStyle/>
          <a:p>
            <a:pPr indent="0" marL="0">
              <a:spcBef>
                <a:spcPts val="375"/>
              </a:spcBef>
              <a:buNone/>
            </a:pPr>
            <a:endParaRPr lang="en-US" sz="1050" dirty="0"/>
          </a:p>
        </p:txBody>
      </p:sp>
      <p:sp>
        <p:nvSpPr>
          <p:cNvPr id="11" name="Shape 6"/>
          <p:cNvSpPr/>
          <p:nvPr/>
        </p:nvSpPr>
        <p:spPr>
          <a:xfrm rot="-1800000">
            <a:off x="7936523" y="1969549"/>
            <a:ext cx="1198261" cy="1707367"/>
          </a:xfrm>
          <a:custGeom>
            <a:avLst/>
            <a:gdLst/>
            <a:ahLst/>
            <a:cxnLst/>
            <a:rect l="l" t="t" r="r" b="b"/>
            <a:pathLst>
              <a:path w="1198261" h="1707367">
                <a:moveTo>
                  <a:pt x="0" y="0"/>
                </a:moveTo>
                <a:lnTo>
                  <a:pt x="1198261" y="0"/>
                </a:lnTo>
                <a:lnTo>
                  <a:pt x="1198261" y="1707367"/>
                </a:lnTo>
                <a:lnTo>
                  <a:pt x="0" y="1707367"/>
                </a:lnTo>
                <a:close/>
              </a:path>
            </a:pathLst>
          </a:custGeom>
          <a:solidFill>
            <a:srgbClr val="000000">
              <a:alpha val="0"/>
            </a:srgbClr>
          </a:solidFill>
          <a:ln/>
        </p:spPr>
      </p:sp>
      <p:sp>
        <p:nvSpPr>
          <p:cNvPr id="12" name="Text 7"/>
          <p:cNvSpPr/>
          <p:nvPr/>
        </p:nvSpPr>
        <p:spPr>
          <a:xfrm rot="-1800000">
            <a:off x="7936523" y="1969549"/>
            <a:ext cx="1198261" cy="1707367"/>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13" name="Image 2" descr="./images\slide4_img53.png">    </p:cNvPr>
          <p:cNvPicPr>
            <a:picLocks noChangeAspect="1"/>
          </p:cNvPicPr>
          <p:nvPr/>
        </p:nvPicPr>
        <p:blipFill>
          <a:blip r:embed="rId3"/>
          <a:stretch>
            <a:fillRect/>
          </a:stretch>
        </p:blipFill>
        <p:spPr>
          <a:xfrm rot="-1800000">
            <a:off x="7936523" y="1969549"/>
            <a:ext cx="1198261" cy="1707367"/>
          </a:xfrm>
          <a:prstGeom prst="rect">
            <a:avLst/>
          </a:prstGeom>
        </p:spPr>
      </p:pic>
      <p:pic>
        <p:nvPicPr>
          <p:cNvPr id="14" name="Image 3" descr="./images\slide4_img54.png">    </p:cNvPr>
          <p:cNvPicPr>
            <a:picLocks noChangeAspect="1"/>
          </p:cNvPicPr>
          <p:nvPr/>
        </p:nvPicPr>
        <p:blipFill>
          <a:blip r:embed="rId4"/>
          <a:stretch>
            <a:fillRect/>
          </a:stretch>
        </p:blipFill>
        <p:spPr>
          <a:xfrm rot="4620000">
            <a:off x="-282748" y="3452461"/>
            <a:ext cx="1086318" cy="1547864"/>
          </a:xfrm>
          <a:prstGeom prst="rect">
            <a:avLst/>
          </a:prstGeom>
        </p:spPr>
      </p:pic>
      <p:sp>
        <p:nvSpPr>
          <p:cNvPr id="15" name="Shape 8"/>
          <p:cNvSpPr/>
          <p:nvPr/>
        </p:nvSpPr>
        <p:spPr>
          <a:xfrm rot="4620000">
            <a:off x="-282748" y="3452461"/>
            <a:ext cx="1086318" cy="1547864"/>
          </a:xfrm>
          <a:custGeom>
            <a:avLst/>
            <a:gdLst/>
            <a:ahLst/>
            <a:cxnLst/>
            <a:rect l="l" t="t" r="r" b="b"/>
            <a:pathLst>
              <a:path w="1086318" h="1547864">
                <a:moveTo>
                  <a:pt x="0" y="0"/>
                </a:moveTo>
                <a:lnTo>
                  <a:pt x="1086318" y="0"/>
                </a:lnTo>
                <a:lnTo>
                  <a:pt x="1086318" y="1547864"/>
                </a:lnTo>
                <a:lnTo>
                  <a:pt x="0" y="1547864"/>
                </a:lnTo>
                <a:close/>
              </a:path>
            </a:pathLst>
          </a:custGeom>
          <a:solidFill>
            <a:srgbClr val="FFFFFF">
              <a:alpha val="0"/>
            </a:srgbClr>
          </a:solidFill>
          <a:ln/>
        </p:spPr>
      </p:sp>
      <p:sp>
        <p:nvSpPr>
          <p:cNvPr id="16" name="Text 9"/>
          <p:cNvSpPr/>
          <p:nvPr/>
        </p:nvSpPr>
        <p:spPr>
          <a:xfrm rot="4620000">
            <a:off x="-282748" y="3452461"/>
            <a:ext cx="1086318" cy="1547864"/>
          </a:xfrm>
          <a:prstGeom prst="rect">
            <a:avLst/>
          </a:prstGeom>
          <a:noFill/>
          <a:ln/>
        </p:spPr>
        <p:txBody>
          <a:bodyPr wrap="square" rtlCol="0" anchor="t"/>
          <a:lstStyle/>
          <a:p>
            <a:pPr indent="0" marL="0">
              <a:spcBef>
                <a:spcPts val="375"/>
              </a:spcBef>
              <a:buNone/>
            </a:pPr>
            <a:endParaRPr lang="en-US" sz="1050" dirty="0"/>
          </a:p>
        </p:txBody>
      </p:sp>
      <p:sp>
        <p:nvSpPr>
          <p:cNvPr id="17" name="Shape 10"/>
          <p:cNvSpPr/>
          <p:nvPr/>
        </p:nvSpPr>
        <p:spPr>
          <a:xfrm rot="4620000">
            <a:off x="-282748" y="3452461"/>
            <a:ext cx="1086318" cy="1547864"/>
          </a:xfrm>
          <a:custGeom>
            <a:avLst/>
            <a:gdLst/>
            <a:ahLst/>
            <a:cxnLst/>
            <a:rect l="l" t="t" r="r" b="b"/>
            <a:pathLst>
              <a:path w="1086318" h="1547864">
                <a:moveTo>
                  <a:pt x="0" y="0"/>
                </a:moveTo>
                <a:lnTo>
                  <a:pt x="1086318" y="0"/>
                </a:lnTo>
                <a:lnTo>
                  <a:pt x="1086318" y="1547864"/>
                </a:lnTo>
                <a:lnTo>
                  <a:pt x="0" y="1547864"/>
                </a:lnTo>
                <a:close/>
              </a:path>
            </a:pathLst>
          </a:custGeom>
          <a:solidFill>
            <a:srgbClr val="000000">
              <a:alpha val="0"/>
            </a:srgbClr>
          </a:solidFill>
          <a:ln/>
        </p:spPr>
      </p:sp>
      <p:sp>
        <p:nvSpPr>
          <p:cNvPr id="18" name="Text 11"/>
          <p:cNvSpPr/>
          <p:nvPr/>
        </p:nvSpPr>
        <p:spPr>
          <a:xfrm rot="4620000">
            <a:off x="-282748" y="3452461"/>
            <a:ext cx="1086318" cy="1547864"/>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19" name="Image 4" descr="./images\slide4_img55.png">    </p:cNvPr>
          <p:cNvPicPr>
            <a:picLocks noChangeAspect="1"/>
          </p:cNvPicPr>
          <p:nvPr/>
        </p:nvPicPr>
        <p:blipFill>
          <a:blip r:embed="rId5"/>
          <a:stretch>
            <a:fillRect/>
          </a:stretch>
        </p:blipFill>
        <p:spPr>
          <a:xfrm rot="4620000">
            <a:off x="-282748" y="3452461"/>
            <a:ext cx="1086318" cy="1547864"/>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1F1F1"/>
        </a:solidFill>
      </p:bgPr>
    </p:bg>
    <p:spTree>
      <p:nvGrpSpPr>
        <p:cNvPr id="1" name=""/>
        <p:cNvGrpSpPr/>
        <p:nvPr/>
      </p:nvGrpSpPr>
      <p:grpSpPr>
        <a:xfrm>
          <a:off x="0" y="0"/>
          <a:ext cx="0" cy="0"/>
          <a:chOff x="0" y="0"/>
          <a:chExt cx="0" cy="0"/>
        </a:xfrm>
      </p:grpSpPr>
      <p:pic>
        <p:nvPicPr>
          <p:cNvPr id="2" name="Image 0" descr="./images\slide5_img56.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images\slide5_img57.png">    </p:cNvPr>
          <p:cNvPicPr>
            <a:picLocks noChangeAspect="1"/>
          </p:cNvPicPr>
          <p:nvPr/>
        </p:nvPicPr>
        <p:blipFill>
          <a:blip r:embed="rId2"/>
          <a:stretch>
            <a:fillRect/>
          </a:stretch>
        </p:blipFill>
        <p:spPr>
          <a:xfrm>
            <a:off x="3385895" y="1452747"/>
            <a:ext cx="2299344" cy="2299344"/>
          </a:xfrm>
          <a:prstGeom prst="rect">
            <a:avLst/>
          </a:prstGeom>
        </p:spPr>
      </p:pic>
      <p:sp>
        <p:nvSpPr>
          <p:cNvPr id="4" name="Shape 0"/>
          <p:cNvSpPr/>
          <p:nvPr/>
        </p:nvSpPr>
        <p:spPr>
          <a:xfrm>
            <a:off x="3385895" y="1452747"/>
            <a:ext cx="2299344" cy="2299344"/>
          </a:xfrm>
          <a:custGeom>
            <a:avLst/>
            <a:gdLst/>
            <a:ahLst/>
            <a:cxnLst/>
            <a:rect l="l" t="t" r="r" b="b"/>
            <a:pathLst>
              <a:path w="2299344" h="2299344">
                <a:moveTo>
                  <a:pt x="0" y="0"/>
                </a:moveTo>
                <a:lnTo>
                  <a:pt x="2299344" y="0"/>
                </a:lnTo>
                <a:lnTo>
                  <a:pt x="2299344" y="2299344"/>
                </a:lnTo>
                <a:lnTo>
                  <a:pt x="0" y="2299344"/>
                </a:lnTo>
                <a:close/>
              </a:path>
            </a:pathLst>
          </a:custGeom>
          <a:solidFill>
            <a:srgbClr val="FFFFFF">
              <a:alpha val="0"/>
            </a:srgbClr>
          </a:solidFill>
          <a:ln/>
        </p:spPr>
      </p:sp>
      <p:sp>
        <p:nvSpPr>
          <p:cNvPr id="5" name="Text 1"/>
          <p:cNvSpPr/>
          <p:nvPr/>
        </p:nvSpPr>
        <p:spPr>
          <a:xfrm>
            <a:off x="3385895" y="1452747"/>
            <a:ext cx="2299344" cy="2299344"/>
          </a:xfrm>
          <a:prstGeom prst="rect">
            <a:avLst/>
          </a:prstGeom>
          <a:noFill/>
          <a:ln/>
        </p:spPr>
        <p:txBody>
          <a:bodyPr wrap="square" rtlCol="0" anchor="t"/>
          <a:lstStyle/>
          <a:p>
            <a:pPr indent="0" marL="0">
              <a:spcBef>
                <a:spcPts val="375"/>
              </a:spcBef>
              <a:buNone/>
            </a:pPr>
            <a:endParaRPr lang="en-US" sz="1050" dirty="0"/>
          </a:p>
        </p:txBody>
      </p:sp>
      <p:sp>
        <p:nvSpPr>
          <p:cNvPr id="6" name="Shape 2"/>
          <p:cNvSpPr/>
          <p:nvPr/>
        </p:nvSpPr>
        <p:spPr>
          <a:xfrm>
            <a:off x="3385895" y="1452747"/>
            <a:ext cx="2299344" cy="2299344"/>
          </a:xfrm>
          <a:custGeom>
            <a:avLst/>
            <a:gdLst/>
            <a:ahLst/>
            <a:cxnLst/>
            <a:rect l="l" t="t" r="r" b="b"/>
            <a:pathLst>
              <a:path w="2299344" h="2299344">
                <a:moveTo>
                  <a:pt x="0" y="0"/>
                </a:moveTo>
                <a:lnTo>
                  <a:pt x="2299344" y="0"/>
                </a:lnTo>
                <a:lnTo>
                  <a:pt x="2299344" y="2299344"/>
                </a:lnTo>
                <a:lnTo>
                  <a:pt x="0" y="2299344"/>
                </a:lnTo>
                <a:close/>
              </a:path>
            </a:pathLst>
          </a:custGeom>
          <a:solidFill>
            <a:srgbClr val="000000">
              <a:alpha val="0"/>
            </a:srgbClr>
          </a:solidFill>
          <a:ln/>
        </p:spPr>
      </p:sp>
      <p:sp>
        <p:nvSpPr>
          <p:cNvPr id="7" name="Text 3"/>
          <p:cNvSpPr/>
          <p:nvPr/>
        </p:nvSpPr>
        <p:spPr>
          <a:xfrm>
            <a:off x="3385895" y="1452747"/>
            <a:ext cx="2299344" cy="2299344"/>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8" name="Image 2" descr="./images\slide5_img58.png">    </p:cNvPr>
          <p:cNvPicPr>
            <a:picLocks noChangeAspect="1"/>
          </p:cNvPicPr>
          <p:nvPr/>
        </p:nvPicPr>
        <p:blipFill>
          <a:blip r:embed="rId3"/>
          <a:stretch>
            <a:fillRect/>
          </a:stretch>
        </p:blipFill>
        <p:spPr>
          <a:xfrm>
            <a:off x="3385895" y="1452747"/>
            <a:ext cx="2299344" cy="2299344"/>
          </a:xfrm>
          <a:prstGeom prst="rect">
            <a:avLst/>
          </a:prstGeom>
        </p:spPr>
      </p:pic>
      <p:pic>
        <p:nvPicPr>
          <p:cNvPr id="9" name="Image 3" descr="./images\slide5_img59.png">    </p:cNvPr>
          <p:cNvPicPr>
            <a:picLocks noChangeAspect="1"/>
          </p:cNvPicPr>
          <p:nvPr/>
        </p:nvPicPr>
        <p:blipFill>
          <a:blip r:embed="rId4"/>
          <a:stretch>
            <a:fillRect/>
          </a:stretch>
        </p:blipFill>
        <p:spPr>
          <a:xfrm>
            <a:off x="6193097" y="1452747"/>
            <a:ext cx="2299344" cy="2299344"/>
          </a:xfrm>
          <a:prstGeom prst="rect">
            <a:avLst/>
          </a:prstGeom>
        </p:spPr>
      </p:pic>
      <p:sp>
        <p:nvSpPr>
          <p:cNvPr id="10" name="Shape 4"/>
          <p:cNvSpPr/>
          <p:nvPr/>
        </p:nvSpPr>
        <p:spPr>
          <a:xfrm>
            <a:off x="6193097" y="1452747"/>
            <a:ext cx="2299344" cy="2299344"/>
          </a:xfrm>
          <a:custGeom>
            <a:avLst/>
            <a:gdLst/>
            <a:ahLst/>
            <a:cxnLst/>
            <a:rect l="l" t="t" r="r" b="b"/>
            <a:pathLst>
              <a:path w="2299344" h="2299344">
                <a:moveTo>
                  <a:pt x="0" y="0"/>
                </a:moveTo>
                <a:lnTo>
                  <a:pt x="2299344" y="0"/>
                </a:lnTo>
                <a:lnTo>
                  <a:pt x="2299344" y="2299344"/>
                </a:lnTo>
                <a:lnTo>
                  <a:pt x="0" y="2299344"/>
                </a:lnTo>
                <a:close/>
              </a:path>
            </a:pathLst>
          </a:custGeom>
          <a:solidFill>
            <a:srgbClr val="FFFFFF">
              <a:alpha val="0"/>
            </a:srgbClr>
          </a:solidFill>
          <a:ln/>
        </p:spPr>
      </p:sp>
      <p:sp>
        <p:nvSpPr>
          <p:cNvPr id="11" name="Text 5"/>
          <p:cNvSpPr/>
          <p:nvPr/>
        </p:nvSpPr>
        <p:spPr>
          <a:xfrm>
            <a:off x="6193097" y="1452747"/>
            <a:ext cx="2299344" cy="2299344"/>
          </a:xfrm>
          <a:prstGeom prst="rect">
            <a:avLst/>
          </a:prstGeom>
          <a:noFill/>
          <a:ln/>
        </p:spPr>
        <p:txBody>
          <a:bodyPr wrap="square" rtlCol="0" anchor="t"/>
          <a:lstStyle/>
          <a:p>
            <a:pPr indent="0" marL="0">
              <a:spcBef>
                <a:spcPts val="375"/>
              </a:spcBef>
              <a:buNone/>
            </a:pPr>
            <a:endParaRPr lang="en-US" sz="1050" dirty="0"/>
          </a:p>
        </p:txBody>
      </p:sp>
      <p:sp>
        <p:nvSpPr>
          <p:cNvPr id="12" name="Shape 6"/>
          <p:cNvSpPr/>
          <p:nvPr/>
        </p:nvSpPr>
        <p:spPr>
          <a:xfrm>
            <a:off x="6193097" y="1452747"/>
            <a:ext cx="2299344" cy="2299344"/>
          </a:xfrm>
          <a:custGeom>
            <a:avLst/>
            <a:gdLst/>
            <a:ahLst/>
            <a:cxnLst/>
            <a:rect l="l" t="t" r="r" b="b"/>
            <a:pathLst>
              <a:path w="2299344" h="2299344">
                <a:moveTo>
                  <a:pt x="0" y="0"/>
                </a:moveTo>
                <a:lnTo>
                  <a:pt x="2299344" y="0"/>
                </a:lnTo>
                <a:lnTo>
                  <a:pt x="2299344" y="2299344"/>
                </a:lnTo>
                <a:lnTo>
                  <a:pt x="0" y="2299344"/>
                </a:lnTo>
                <a:close/>
              </a:path>
            </a:pathLst>
          </a:custGeom>
          <a:solidFill>
            <a:srgbClr val="000000">
              <a:alpha val="0"/>
            </a:srgbClr>
          </a:solidFill>
          <a:ln/>
        </p:spPr>
      </p:sp>
      <p:sp>
        <p:nvSpPr>
          <p:cNvPr id="13" name="Text 7"/>
          <p:cNvSpPr/>
          <p:nvPr/>
        </p:nvSpPr>
        <p:spPr>
          <a:xfrm>
            <a:off x="6193097" y="1452747"/>
            <a:ext cx="2299344" cy="2299344"/>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14" name="Image 4" descr="./images\slide5_img60.png">    </p:cNvPr>
          <p:cNvPicPr>
            <a:picLocks noChangeAspect="1"/>
          </p:cNvPicPr>
          <p:nvPr/>
        </p:nvPicPr>
        <p:blipFill>
          <a:blip r:embed="rId5"/>
          <a:stretch>
            <a:fillRect/>
          </a:stretch>
        </p:blipFill>
        <p:spPr>
          <a:xfrm>
            <a:off x="6193097" y="1452747"/>
            <a:ext cx="2299344" cy="2299344"/>
          </a:xfrm>
          <a:prstGeom prst="rect">
            <a:avLst/>
          </a:prstGeom>
        </p:spPr>
      </p:pic>
      <p:pic>
        <p:nvPicPr>
          <p:cNvPr id="15" name="Image 5" descr="./images\slide5_img61.png">    </p:cNvPr>
          <p:cNvPicPr>
            <a:picLocks noChangeAspect="1"/>
          </p:cNvPicPr>
          <p:nvPr/>
        </p:nvPicPr>
        <p:blipFill>
          <a:blip r:embed="rId6"/>
          <a:stretch>
            <a:fillRect/>
          </a:stretch>
        </p:blipFill>
        <p:spPr>
          <a:xfrm>
            <a:off x="651178" y="1452747"/>
            <a:ext cx="2299344" cy="2299344"/>
          </a:xfrm>
          <a:prstGeom prst="rect">
            <a:avLst/>
          </a:prstGeom>
        </p:spPr>
      </p:pic>
      <p:sp>
        <p:nvSpPr>
          <p:cNvPr id="16" name="Shape 8"/>
          <p:cNvSpPr/>
          <p:nvPr/>
        </p:nvSpPr>
        <p:spPr>
          <a:xfrm>
            <a:off x="651178" y="1452747"/>
            <a:ext cx="2299344" cy="2299344"/>
          </a:xfrm>
          <a:custGeom>
            <a:avLst/>
            <a:gdLst/>
            <a:ahLst/>
            <a:cxnLst/>
            <a:rect l="l" t="t" r="r" b="b"/>
            <a:pathLst>
              <a:path w="2299344" h="2299344">
                <a:moveTo>
                  <a:pt x="0" y="0"/>
                </a:moveTo>
                <a:lnTo>
                  <a:pt x="2299344" y="0"/>
                </a:lnTo>
                <a:lnTo>
                  <a:pt x="2299344" y="2299344"/>
                </a:lnTo>
                <a:lnTo>
                  <a:pt x="0" y="2299344"/>
                </a:lnTo>
                <a:close/>
              </a:path>
            </a:pathLst>
          </a:custGeom>
          <a:solidFill>
            <a:srgbClr val="FFFFFF">
              <a:alpha val="0"/>
            </a:srgbClr>
          </a:solidFill>
          <a:ln/>
        </p:spPr>
      </p:sp>
      <p:sp>
        <p:nvSpPr>
          <p:cNvPr id="17" name="Text 9"/>
          <p:cNvSpPr/>
          <p:nvPr/>
        </p:nvSpPr>
        <p:spPr>
          <a:xfrm>
            <a:off x="651178" y="1452747"/>
            <a:ext cx="2299344" cy="2299344"/>
          </a:xfrm>
          <a:prstGeom prst="rect">
            <a:avLst/>
          </a:prstGeom>
          <a:noFill/>
          <a:ln/>
        </p:spPr>
        <p:txBody>
          <a:bodyPr wrap="square" rtlCol="0" anchor="t"/>
          <a:lstStyle/>
          <a:p>
            <a:pPr indent="0" marL="0">
              <a:spcBef>
                <a:spcPts val="375"/>
              </a:spcBef>
              <a:buNone/>
            </a:pPr>
            <a:endParaRPr lang="en-US" sz="1050" dirty="0"/>
          </a:p>
        </p:txBody>
      </p:sp>
      <p:sp>
        <p:nvSpPr>
          <p:cNvPr id="18" name="Shape 10"/>
          <p:cNvSpPr/>
          <p:nvPr/>
        </p:nvSpPr>
        <p:spPr>
          <a:xfrm>
            <a:off x="651178" y="1452747"/>
            <a:ext cx="2299344" cy="2299344"/>
          </a:xfrm>
          <a:custGeom>
            <a:avLst/>
            <a:gdLst/>
            <a:ahLst/>
            <a:cxnLst/>
            <a:rect l="l" t="t" r="r" b="b"/>
            <a:pathLst>
              <a:path w="2299344" h="2299344">
                <a:moveTo>
                  <a:pt x="0" y="0"/>
                </a:moveTo>
                <a:lnTo>
                  <a:pt x="2299344" y="0"/>
                </a:lnTo>
                <a:lnTo>
                  <a:pt x="2299344" y="2299344"/>
                </a:lnTo>
                <a:lnTo>
                  <a:pt x="0" y="2299344"/>
                </a:lnTo>
                <a:close/>
              </a:path>
            </a:pathLst>
          </a:custGeom>
          <a:solidFill>
            <a:srgbClr val="000000">
              <a:alpha val="0"/>
            </a:srgbClr>
          </a:solidFill>
          <a:ln/>
        </p:spPr>
      </p:sp>
      <p:sp>
        <p:nvSpPr>
          <p:cNvPr id="19" name="Text 11"/>
          <p:cNvSpPr/>
          <p:nvPr/>
        </p:nvSpPr>
        <p:spPr>
          <a:xfrm>
            <a:off x="651178" y="1452747"/>
            <a:ext cx="2299344" cy="2299344"/>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20" name="Image 6" descr="./images\slide5_img62.png">    </p:cNvPr>
          <p:cNvPicPr>
            <a:picLocks noChangeAspect="1"/>
          </p:cNvPicPr>
          <p:nvPr/>
        </p:nvPicPr>
        <p:blipFill>
          <a:blip r:embed="rId7"/>
          <a:stretch>
            <a:fillRect/>
          </a:stretch>
        </p:blipFill>
        <p:spPr>
          <a:xfrm>
            <a:off x="651178" y="1452747"/>
            <a:ext cx="2299344" cy="2299344"/>
          </a:xfrm>
          <a:prstGeom prst="rect">
            <a:avLst/>
          </a:prstGeom>
        </p:spPr>
      </p:pic>
      <p:pic>
        <p:nvPicPr>
          <p:cNvPr id="21" name="Image 7" descr="./images\slide5_img63.png">    </p:cNvPr>
          <p:cNvPicPr>
            <a:picLocks noChangeAspect="1"/>
          </p:cNvPicPr>
          <p:nvPr/>
        </p:nvPicPr>
        <p:blipFill>
          <a:blip r:embed="rId8"/>
          <a:stretch>
            <a:fillRect/>
          </a:stretch>
        </p:blipFill>
        <p:spPr>
          <a:xfrm>
            <a:off x="551228" y="1377789"/>
            <a:ext cx="2499245" cy="2449260"/>
          </a:xfrm>
          <a:prstGeom prst="rect">
            <a:avLst/>
          </a:prstGeom>
        </p:spPr>
      </p:pic>
      <p:sp>
        <p:nvSpPr>
          <p:cNvPr id="22" name="Shape 12"/>
          <p:cNvSpPr/>
          <p:nvPr/>
        </p:nvSpPr>
        <p:spPr>
          <a:xfrm>
            <a:off x="551228" y="1377789"/>
            <a:ext cx="2499245" cy="2449260"/>
          </a:xfrm>
          <a:custGeom>
            <a:avLst/>
            <a:gdLst/>
            <a:ahLst/>
            <a:cxnLst/>
            <a:rect l="l" t="t" r="r" b="b"/>
            <a:pathLst>
              <a:path w="2499245" h="2449260">
                <a:moveTo>
                  <a:pt x="0" y="0"/>
                </a:moveTo>
                <a:lnTo>
                  <a:pt x="2499245" y="0"/>
                </a:lnTo>
                <a:lnTo>
                  <a:pt x="2499245" y="2449260"/>
                </a:lnTo>
                <a:lnTo>
                  <a:pt x="0" y="2449260"/>
                </a:lnTo>
                <a:close/>
              </a:path>
            </a:pathLst>
          </a:custGeom>
          <a:solidFill>
            <a:srgbClr val="FFFFFF">
              <a:alpha val="0"/>
            </a:srgbClr>
          </a:solidFill>
          <a:ln/>
        </p:spPr>
      </p:sp>
      <p:sp>
        <p:nvSpPr>
          <p:cNvPr id="23" name="Text 13"/>
          <p:cNvSpPr/>
          <p:nvPr/>
        </p:nvSpPr>
        <p:spPr>
          <a:xfrm>
            <a:off x="551228" y="1377789"/>
            <a:ext cx="2499245" cy="2449260"/>
          </a:xfrm>
          <a:prstGeom prst="rect">
            <a:avLst/>
          </a:prstGeom>
          <a:noFill/>
          <a:ln/>
        </p:spPr>
        <p:txBody>
          <a:bodyPr wrap="square" rtlCol="0" anchor="t"/>
          <a:lstStyle/>
          <a:p>
            <a:pPr indent="0" marL="0">
              <a:spcBef>
                <a:spcPts val="375"/>
              </a:spcBef>
              <a:buNone/>
            </a:pPr>
            <a:endParaRPr lang="en-US" sz="1050" dirty="0"/>
          </a:p>
        </p:txBody>
      </p:sp>
      <p:sp>
        <p:nvSpPr>
          <p:cNvPr id="24" name="Shape 14"/>
          <p:cNvSpPr/>
          <p:nvPr/>
        </p:nvSpPr>
        <p:spPr>
          <a:xfrm>
            <a:off x="551228" y="1377789"/>
            <a:ext cx="2499245" cy="2449260"/>
          </a:xfrm>
          <a:custGeom>
            <a:avLst/>
            <a:gdLst/>
            <a:ahLst/>
            <a:cxnLst/>
            <a:rect l="l" t="t" r="r" b="b"/>
            <a:pathLst>
              <a:path w="2499245" h="2449260">
                <a:moveTo>
                  <a:pt x="0" y="0"/>
                </a:moveTo>
                <a:lnTo>
                  <a:pt x="2499245" y="0"/>
                </a:lnTo>
                <a:lnTo>
                  <a:pt x="2499245" y="2449260"/>
                </a:lnTo>
                <a:lnTo>
                  <a:pt x="0" y="2449260"/>
                </a:lnTo>
                <a:close/>
              </a:path>
            </a:pathLst>
          </a:custGeom>
          <a:solidFill>
            <a:srgbClr val="000000">
              <a:alpha val="0"/>
            </a:srgbClr>
          </a:solidFill>
          <a:ln/>
        </p:spPr>
      </p:sp>
      <p:sp>
        <p:nvSpPr>
          <p:cNvPr id="25" name="Text 15"/>
          <p:cNvSpPr/>
          <p:nvPr/>
        </p:nvSpPr>
        <p:spPr>
          <a:xfrm>
            <a:off x="551228" y="1377789"/>
            <a:ext cx="2499245" cy="2449260"/>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26" name="Image 8" descr="./images\slide5_img64.png">    </p:cNvPr>
          <p:cNvPicPr>
            <a:picLocks noChangeAspect="1"/>
          </p:cNvPicPr>
          <p:nvPr/>
        </p:nvPicPr>
        <p:blipFill>
          <a:blip r:embed="rId9"/>
          <a:stretch>
            <a:fillRect/>
          </a:stretch>
        </p:blipFill>
        <p:spPr>
          <a:xfrm>
            <a:off x="551228" y="1377789"/>
            <a:ext cx="2499245" cy="2449260"/>
          </a:xfrm>
          <a:prstGeom prst="rect">
            <a:avLst/>
          </a:prstGeom>
        </p:spPr>
      </p:pic>
      <p:pic>
        <p:nvPicPr>
          <p:cNvPr id="27" name="Image 9" descr="./images\slide5_img65.png">    </p:cNvPr>
          <p:cNvPicPr>
            <a:picLocks noChangeAspect="1"/>
          </p:cNvPicPr>
          <p:nvPr/>
        </p:nvPicPr>
        <p:blipFill>
          <a:blip r:embed="rId10"/>
          <a:stretch>
            <a:fillRect/>
          </a:stretch>
        </p:blipFill>
        <p:spPr>
          <a:xfrm>
            <a:off x="3322378" y="1377789"/>
            <a:ext cx="2499245" cy="2449260"/>
          </a:xfrm>
          <a:prstGeom prst="rect">
            <a:avLst/>
          </a:prstGeom>
        </p:spPr>
      </p:pic>
      <p:sp>
        <p:nvSpPr>
          <p:cNvPr id="28" name="Shape 16"/>
          <p:cNvSpPr/>
          <p:nvPr/>
        </p:nvSpPr>
        <p:spPr>
          <a:xfrm>
            <a:off x="3322378" y="1377789"/>
            <a:ext cx="2499245" cy="2449260"/>
          </a:xfrm>
          <a:custGeom>
            <a:avLst/>
            <a:gdLst/>
            <a:ahLst/>
            <a:cxnLst/>
            <a:rect l="l" t="t" r="r" b="b"/>
            <a:pathLst>
              <a:path w="2499245" h="2449260">
                <a:moveTo>
                  <a:pt x="0" y="0"/>
                </a:moveTo>
                <a:lnTo>
                  <a:pt x="2499245" y="0"/>
                </a:lnTo>
                <a:lnTo>
                  <a:pt x="2499245" y="2449260"/>
                </a:lnTo>
                <a:lnTo>
                  <a:pt x="0" y="2449260"/>
                </a:lnTo>
                <a:close/>
              </a:path>
            </a:pathLst>
          </a:custGeom>
          <a:solidFill>
            <a:srgbClr val="FFFFFF">
              <a:alpha val="0"/>
            </a:srgbClr>
          </a:solidFill>
          <a:ln/>
        </p:spPr>
      </p:sp>
      <p:sp>
        <p:nvSpPr>
          <p:cNvPr id="29" name="Text 17"/>
          <p:cNvSpPr/>
          <p:nvPr/>
        </p:nvSpPr>
        <p:spPr>
          <a:xfrm>
            <a:off x="3322378" y="1377789"/>
            <a:ext cx="2499245" cy="2449260"/>
          </a:xfrm>
          <a:prstGeom prst="rect">
            <a:avLst/>
          </a:prstGeom>
          <a:noFill/>
          <a:ln/>
        </p:spPr>
        <p:txBody>
          <a:bodyPr wrap="square" rtlCol="0" anchor="t"/>
          <a:lstStyle/>
          <a:p>
            <a:pPr indent="0" marL="0">
              <a:spcBef>
                <a:spcPts val="375"/>
              </a:spcBef>
              <a:buNone/>
            </a:pPr>
            <a:endParaRPr lang="en-US" sz="1050" dirty="0"/>
          </a:p>
        </p:txBody>
      </p:sp>
      <p:sp>
        <p:nvSpPr>
          <p:cNvPr id="30" name="Shape 18"/>
          <p:cNvSpPr/>
          <p:nvPr/>
        </p:nvSpPr>
        <p:spPr>
          <a:xfrm>
            <a:off x="3322378" y="1377789"/>
            <a:ext cx="2499245" cy="2449260"/>
          </a:xfrm>
          <a:custGeom>
            <a:avLst/>
            <a:gdLst/>
            <a:ahLst/>
            <a:cxnLst/>
            <a:rect l="l" t="t" r="r" b="b"/>
            <a:pathLst>
              <a:path w="2499245" h="2449260">
                <a:moveTo>
                  <a:pt x="0" y="0"/>
                </a:moveTo>
                <a:lnTo>
                  <a:pt x="2499245" y="0"/>
                </a:lnTo>
                <a:lnTo>
                  <a:pt x="2499245" y="2449260"/>
                </a:lnTo>
                <a:lnTo>
                  <a:pt x="0" y="2449260"/>
                </a:lnTo>
                <a:close/>
              </a:path>
            </a:pathLst>
          </a:custGeom>
          <a:solidFill>
            <a:srgbClr val="000000">
              <a:alpha val="0"/>
            </a:srgbClr>
          </a:solidFill>
          <a:ln/>
        </p:spPr>
      </p:sp>
      <p:sp>
        <p:nvSpPr>
          <p:cNvPr id="31" name="Text 19"/>
          <p:cNvSpPr/>
          <p:nvPr/>
        </p:nvSpPr>
        <p:spPr>
          <a:xfrm>
            <a:off x="3322378" y="1377789"/>
            <a:ext cx="2499245" cy="2449260"/>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32" name="Image 10" descr="./images\slide5_img66.png">    </p:cNvPr>
          <p:cNvPicPr>
            <a:picLocks noChangeAspect="1"/>
          </p:cNvPicPr>
          <p:nvPr/>
        </p:nvPicPr>
        <p:blipFill>
          <a:blip r:embed="rId11"/>
          <a:stretch>
            <a:fillRect/>
          </a:stretch>
        </p:blipFill>
        <p:spPr>
          <a:xfrm>
            <a:off x="3322378" y="1377789"/>
            <a:ext cx="2499245" cy="2449260"/>
          </a:xfrm>
          <a:prstGeom prst="rect">
            <a:avLst/>
          </a:prstGeom>
        </p:spPr>
      </p:pic>
      <p:pic>
        <p:nvPicPr>
          <p:cNvPr id="33" name="Image 11" descr="./images\slide5_img67.png">    </p:cNvPr>
          <p:cNvPicPr>
            <a:picLocks noChangeAspect="1"/>
          </p:cNvPicPr>
          <p:nvPr/>
        </p:nvPicPr>
        <p:blipFill>
          <a:blip r:embed="rId12"/>
          <a:stretch>
            <a:fillRect/>
          </a:stretch>
        </p:blipFill>
        <p:spPr>
          <a:xfrm>
            <a:off x="6093528" y="1377789"/>
            <a:ext cx="2499245" cy="2449260"/>
          </a:xfrm>
          <a:prstGeom prst="rect">
            <a:avLst/>
          </a:prstGeom>
        </p:spPr>
      </p:pic>
      <p:sp>
        <p:nvSpPr>
          <p:cNvPr id="34" name="Shape 20"/>
          <p:cNvSpPr/>
          <p:nvPr/>
        </p:nvSpPr>
        <p:spPr>
          <a:xfrm>
            <a:off x="6093528" y="1377789"/>
            <a:ext cx="2499245" cy="2449260"/>
          </a:xfrm>
          <a:custGeom>
            <a:avLst/>
            <a:gdLst/>
            <a:ahLst/>
            <a:cxnLst/>
            <a:rect l="l" t="t" r="r" b="b"/>
            <a:pathLst>
              <a:path w="2499245" h="2449260">
                <a:moveTo>
                  <a:pt x="0" y="0"/>
                </a:moveTo>
                <a:lnTo>
                  <a:pt x="2499245" y="0"/>
                </a:lnTo>
                <a:lnTo>
                  <a:pt x="2499245" y="2449260"/>
                </a:lnTo>
                <a:lnTo>
                  <a:pt x="0" y="2449260"/>
                </a:lnTo>
                <a:close/>
              </a:path>
            </a:pathLst>
          </a:custGeom>
          <a:solidFill>
            <a:srgbClr val="FFFFFF">
              <a:alpha val="0"/>
            </a:srgbClr>
          </a:solidFill>
          <a:ln/>
        </p:spPr>
      </p:sp>
      <p:sp>
        <p:nvSpPr>
          <p:cNvPr id="35" name="Text 21"/>
          <p:cNvSpPr/>
          <p:nvPr/>
        </p:nvSpPr>
        <p:spPr>
          <a:xfrm>
            <a:off x="6093528" y="1377789"/>
            <a:ext cx="2499245" cy="2449260"/>
          </a:xfrm>
          <a:prstGeom prst="rect">
            <a:avLst/>
          </a:prstGeom>
          <a:noFill/>
          <a:ln/>
        </p:spPr>
        <p:txBody>
          <a:bodyPr wrap="square" rtlCol="0" anchor="t"/>
          <a:lstStyle/>
          <a:p>
            <a:pPr indent="0" marL="0">
              <a:spcBef>
                <a:spcPts val="375"/>
              </a:spcBef>
              <a:buNone/>
            </a:pPr>
            <a:endParaRPr lang="en-US" sz="1050" dirty="0"/>
          </a:p>
        </p:txBody>
      </p:sp>
      <p:sp>
        <p:nvSpPr>
          <p:cNvPr id="36" name="Shape 22"/>
          <p:cNvSpPr/>
          <p:nvPr/>
        </p:nvSpPr>
        <p:spPr>
          <a:xfrm>
            <a:off x="6093528" y="1377789"/>
            <a:ext cx="2499245" cy="2449260"/>
          </a:xfrm>
          <a:custGeom>
            <a:avLst/>
            <a:gdLst/>
            <a:ahLst/>
            <a:cxnLst/>
            <a:rect l="l" t="t" r="r" b="b"/>
            <a:pathLst>
              <a:path w="2499245" h="2449260">
                <a:moveTo>
                  <a:pt x="0" y="0"/>
                </a:moveTo>
                <a:lnTo>
                  <a:pt x="2499245" y="0"/>
                </a:lnTo>
                <a:lnTo>
                  <a:pt x="2499245" y="2449260"/>
                </a:lnTo>
                <a:lnTo>
                  <a:pt x="0" y="2449260"/>
                </a:lnTo>
                <a:close/>
              </a:path>
            </a:pathLst>
          </a:custGeom>
          <a:solidFill>
            <a:srgbClr val="000000">
              <a:alpha val="0"/>
            </a:srgbClr>
          </a:solidFill>
          <a:ln/>
        </p:spPr>
      </p:sp>
      <p:sp>
        <p:nvSpPr>
          <p:cNvPr id="37" name="Text 23"/>
          <p:cNvSpPr/>
          <p:nvPr/>
        </p:nvSpPr>
        <p:spPr>
          <a:xfrm>
            <a:off x="6093528" y="1377789"/>
            <a:ext cx="2499245" cy="2449260"/>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38" name="Image 12" descr="./images\slide5_img68.png">    </p:cNvPr>
          <p:cNvPicPr>
            <a:picLocks noChangeAspect="1"/>
          </p:cNvPicPr>
          <p:nvPr/>
        </p:nvPicPr>
        <p:blipFill>
          <a:blip r:embed="rId13"/>
          <a:stretch>
            <a:fillRect/>
          </a:stretch>
        </p:blipFill>
        <p:spPr>
          <a:xfrm>
            <a:off x="6093528" y="1377789"/>
            <a:ext cx="2499245" cy="2449260"/>
          </a:xfrm>
          <a:prstGeom prst="rect">
            <a:avLst/>
          </a:prstGeom>
        </p:spPr>
      </p:pic>
      <p:sp>
        <p:nvSpPr>
          <p:cNvPr id="39" name="Shape 24"/>
          <p:cNvSpPr/>
          <p:nvPr/>
        </p:nvSpPr>
        <p:spPr>
          <a:xfrm>
            <a:off x="874042" y="197820"/>
            <a:ext cx="7395900" cy="552450"/>
          </a:xfrm>
          <a:custGeom>
            <a:avLst/>
            <a:gdLst/>
            <a:ahLst/>
            <a:cxnLst/>
            <a:rect l="l" t="t" r="r" b="b"/>
            <a:pathLst>
              <a:path w="7395900" h="552450">
                <a:moveTo>
                  <a:pt x="0" y="0"/>
                </a:moveTo>
                <a:lnTo>
                  <a:pt x="7395900" y="0"/>
                </a:lnTo>
                <a:lnTo>
                  <a:pt x="7395900" y="552450"/>
                </a:lnTo>
                <a:lnTo>
                  <a:pt x="0" y="552450"/>
                </a:lnTo>
                <a:close/>
              </a:path>
            </a:pathLst>
          </a:custGeom>
          <a:solidFill>
            <a:srgbClr val="FFFFFF">
              <a:alpha val="0"/>
            </a:srgbClr>
          </a:solidFill>
          <a:ln/>
        </p:spPr>
      </p:sp>
      <p:sp>
        <p:nvSpPr>
          <p:cNvPr id="40" name="Text 25"/>
          <p:cNvSpPr/>
          <p:nvPr/>
        </p:nvSpPr>
        <p:spPr>
          <a:xfrm>
            <a:off x="874042" y="197820"/>
            <a:ext cx="7395900" cy="552450"/>
          </a:xfrm>
          <a:prstGeom prst="rect">
            <a:avLst/>
          </a:prstGeom>
          <a:noFill/>
          <a:ln/>
        </p:spPr>
        <p:txBody>
          <a:bodyPr wrap="square" rtlCol="0" anchor="t"/>
          <a:lstStyle/>
          <a:p>
            <a:pPr indent="0" marL="0">
              <a:spcBef>
                <a:spcPts val="375"/>
              </a:spcBef>
              <a:buNone/>
            </a:pPr>
            <a:endParaRPr lang="en-US" sz="1050" dirty="0"/>
          </a:p>
        </p:txBody>
      </p:sp>
      <p:sp>
        <p:nvSpPr>
          <p:cNvPr id="41" name="Shape 26"/>
          <p:cNvSpPr/>
          <p:nvPr/>
        </p:nvSpPr>
        <p:spPr>
          <a:xfrm>
            <a:off x="874042" y="197820"/>
            <a:ext cx="7395900" cy="552450"/>
          </a:xfrm>
          <a:custGeom>
            <a:avLst/>
            <a:gdLst/>
            <a:ahLst/>
            <a:cxnLst/>
            <a:rect l="l" t="t" r="r" b="b"/>
            <a:pathLst>
              <a:path w="7395900" h="552450">
                <a:moveTo>
                  <a:pt x="0" y="0"/>
                </a:moveTo>
                <a:lnTo>
                  <a:pt x="7395900" y="0"/>
                </a:lnTo>
                <a:lnTo>
                  <a:pt x="7395900" y="552450"/>
                </a:lnTo>
                <a:lnTo>
                  <a:pt x="0" y="552450"/>
                </a:lnTo>
                <a:close/>
              </a:path>
            </a:pathLst>
          </a:custGeom>
          <a:solidFill>
            <a:srgbClr val="000000">
              <a:alpha val="0"/>
            </a:srgbClr>
          </a:solidFill>
          <a:ln/>
        </p:spPr>
      </p:sp>
      <p:sp>
        <p:nvSpPr>
          <p:cNvPr id="42" name="Text 27"/>
          <p:cNvSpPr/>
          <p:nvPr/>
        </p:nvSpPr>
        <p:spPr>
          <a:xfrm>
            <a:off x="874042" y="197820"/>
            <a:ext cx="7395900" cy="552450"/>
          </a:xfrm>
          <a:prstGeom prst="rect">
            <a:avLst/>
          </a:prstGeom>
          <a:noFill/>
          <a:ln/>
        </p:spPr>
        <p:txBody>
          <a:bodyPr wrap="square" rtlCol="0" anchor="t"/>
          <a:lstStyle/>
          <a:p>
            <a:pPr algn="ctr" indent="0" marL="0">
              <a:spcBef>
                <a:spcPts val="375"/>
              </a:spcBef>
              <a:buNone/>
            </a:pPr>
            <a:r>
              <a:rPr lang="en-US" sz="3000" dirty="0">
                <a:solidFill>
                  <a:srgbClr val="45464D"/>
                </a:solidFill>
                <a:latin typeface="Caveat Brush" pitchFamily="34" charset="0"/>
                <a:ea typeface="Caveat Brush" pitchFamily="34" charset="-122"/>
                <a:cs typeface="Caveat Brush" pitchFamily="34" charset="-120"/>
              </a:rPr>
              <a:t>Diagnostika Usullari</a:t>
            </a:r>
            <a:endParaRPr lang="en-US" sz="1050" dirty="0"/>
          </a:p>
        </p:txBody>
      </p:sp>
      <p:sp>
        <p:nvSpPr>
          <p:cNvPr id="43" name="Shape 28"/>
          <p:cNvSpPr/>
          <p:nvPr/>
        </p:nvSpPr>
        <p:spPr>
          <a:xfrm>
            <a:off x="651178" y="1478873"/>
            <a:ext cx="2269341" cy="603796"/>
          </a:xfrm>
          <a:custGeom>
            <a:avLst/>
            <a:gdLst/>
            <a:ahLst/>
            <a:cxnLst/>
            <a:rect l="l" t="t" r="r" b="b"/>
            <a:pathLst>
              <a:path w="2269341" h="603796">
                <a:moveTo>
                  <a:pt x="0" y="0"/>
                </a:moveTo>
                <a:lnTo>
                  <a:pt x="2269341" y="0"/>
                </a:lnTo>
                <a:lnTo>
                  <a:pt x="2269341" y="603796"/>
                </a:lnTo>
                <a:lnTo>
                  <a:pt x="0" y="603796"/>
                </a:lnTo>
                <a:close/>
              </a:path>
            </a:pathLst>
          </a:custGeom>
          <a:solidFill>
            <a:srgbClr val="FFFFFF">
              <a:alpha val="0"/>
            </a:srgbClr>
          </a:solidFill>
          <a:ln/>
        </p:spPr>
      </p:sp>
      <p:sp>
        <p:nvSpPr>
          <p:cNvPr id="44" name="Text 29"/>
          <p:cNvSpPr/>
          <p:nvPr/>
        </p:nvSpPr>
        <p:spPr>
          <a:xfrm>
            <a:off x="651178" y="1478873"/>
            <a:ext cx="2269341" cy="603796"/>
          </a:xfrm>
          <a:prstGeom prst="rect">
            <a:avLst/>
          </a:prstGeom>
          <a:noFill/>
          <a:ln/>
        </p:spPr>
        <p:txBody>
          <a:bodyPr wrap="square" rtlCol="0" anchor="t"/>
          <a:lstStyle/>
          <a:p>
            <a:pPr indent="0" marL="0">
              <a:spcBef>
                <a:spcPts val="375"/>
              </a:spcBef>
              <a:buNone/>
            </a:pPr>
            <a:endParaRPr lang="en-US" sz="1050" dirty="0"/>
          </a:p>
        </p:txBody>
      </p:sp>
      <p:sp>
        <p:nvSpPr>
          <p:cNvPr id="45" name="Shape 30"/>
          <p:cNvSpPr/>
          <p:nvPr/>
        </p:nvSpPr>
        <p:spPr>
          <a:xfrm>
            <a:off x="651178" y="1478873"/>
            <a:ext cx="2269341" cy="603796"/>
          </a:xfrm>
          <a:custGeom>
            <a:avLst/>
            <a:gdLst/>
            <a:ahLst/>
            <a:cxnLst/>
            <a:rect l="l" t="t" r="r" b="b"/>
            <a:pathLst>
              <a:path w="2269341" h="603796">
                <a:moveTo>
                  <a:pt x="0" y="0"/>
                </a:moveTo>
                <a:lnTo>
                  <a:pt x="2269341" y="0"/>
                </a:lnTo>
                <a:lnTo>
                  <a:pt x="2269341" y="603796"/>
                </a:lnTo>
                <a:lnTo>
                  <a:pt x="0" y="603796"/>
                </a:lnTo>
                <a:close/>
              </a:path>
            </a:pathLst>
          </a:custGeom>
          <a:solidFill>
            <a:srgbClr val="000000">
              <a:alpha val="0"/>
            </a:srgbClr>
          </a:solidFill>
          <a:ln/>
        </p:spPr>
      </p:sp>
      <p:sp>
        <p:nvSpPr>
          <p:cNvPr id="46" name="Text 31"/>
          <p:cNvSpPr/>
          <p:nvPr/>
        </p:nvSpPr>
        <p:spPr>
          <a:xfrm>
            <a:off x="651178" y="1478873"/>
            <a:ext cx="2269341" cy="603796"/>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Diagnostika usullari — sog'liqni saqlash sohasida muhim ahamiyatga ega. Ular kasalliklarni aniqlash va davolash jarayonida qo'llaniladi. Har bir usulning o'ziga xos afzalliklari va kamchiliklari mavjud.</a:t>
            </a:r>
            <a:endParaRPr lang="en-US" sz="1050" dirty="0"/>
          </a:p>
        </p:txBody>
      </p:sp>
      <p:sp>
        <p:nvSpPr>
          <p:cNvPr id="47" name="Shape 32"/>
          <p:cNvSpPr/>
          <p:nvPr/>
        </p:nvSpPr>
        <p:spPr>
          <a:xfrm>
            <a:off x="3385895" y="1537943"/>
            <a:ext cx="2216616" cy="603796"/>
          </a:xfrm>
          <a:custGeom>
            <a:avLst/>
            <a:gdLst/>
            <a:ahLst/>
            <a:cxnLst/>
            <a:rect l="l" t="t" r="r" b="b"/>
            <a:pathLst>
              <a:path w="2216616" h="603796">
                <a:moveTo>
                  <a:pt x="0" y="0"/>
                </a:moveTo>
                <a:lnTo>
                  <a:pt x="2216616" y="0"/>
                </a:lnTo>
                <a:lnTo>
                  <a:pt x="2216616" y="603796"/>
                </a:lnTo>
                <a:lnTo>
                  <a:pt x="0" y="603796"/>
                </a:lnTo>
                <a:close/>
              </a:path>
            </a:pathLst>
          </a:custGeom>
          <a:solidFill>
            <a:srgbClr val="FFFFFF">
              <a:alpha val="0"/>
            </a:srgbClr>
          </a:solidFill>
          <a:ln/>
        </p:spPr>
      </p:sp>
      <p:sp>
        <p:nvSpPr>
          <p:cNvPr id="48" name="Text 33"/>
          <p:cNvSpPr/>
          <p:nvPr/>
        </p:nvSpPr>
        <p:spPr>
          <a:xfrm>
            <a:off x="3385895" y="1537943"/>
            <a:ext cx="2216616" cy="603796"/>
          </a:xfrm>
          <a:prstGeom prst="rect">
            <a:avLst/>
          </a:prstGeom>
          <a:noFill/>
          <a:ln/>
        </p:spPr>
        <p:txBody>
          <a:bodyPr wrap="square" rtlCol="0" anchor="t"/>
          <a:lstStyle/>
          <a:p>
            <a:pPr indent="0" marL="0">
              <a:spcBef>
                <a:spcPts val="375"/>
              </a:spcBef>
              <a:buNone/>
            </a:pPr>
            <a:endParaRPr lang="en-US" sz="1050" dirty="0"/>
          </a:p>
        </p:txBody>
      </p:sp>
      <p:sp>
        <p:nvSpPr>
          <p:cNvPr id="49" name="Shape 34"/>
          <p:cNvSpPr/>
          <p:nvPr/>
        </p:nvSpPr>
        <p:spPr>
          <a:xfrm>
            <a:off x="3385895" y="1537943"/>
            <a:ext cx="2216616" cy="603796"/>
          </a:xfrm>
          <a:custGeom>
            <a:avLst/>
            <a:gdLst/>
            <a:ahLst/>
            <a:cxnLst/>
            <a:rect l="l" t="t" r="r" b="b"/>
            <a:pathLst>
              <a:path w="2216616" h="603796">
                <a:moveTo>
                  <a:pt x="0" y="0"/>
                </a:moveTo>
                <a:lnTo>
                  <a:pt x="2216616" y="0"/>
                </a:lnTo>
                <a:lnTo>
                  <a:pt x="2216616" y="603796"/>
                </a:lnTo>
                <a:lnTo>
                  <a:pt x="0" y="603796"/>
                </a:lnTo>
                <a:close/>
              </a:path>
            </a:pathLst>
          </a:custGeom>
          <a:solidFill>
            <a:srgbClr val="000000">
              <a:alpha val="0"/>
            </a:srgbClr>
          </a:solidFill>
          <a:ln/>
        </p:spPr>
      </p:sp>
      <p:sp>
        <p:nvSpPr>
          <p:cNvPr id="50" name="Text 35"/>
          <p:cNvSpPr/>
          <p:nvPr/>
        </p:nvSpPr>
        <p:spPr>
          <a:xfrm>
            <a:off x="3385895" y="1537943"/>
            <a:ext cx="2216616" cy="603796"/>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Asosiy diagnostika usullari quyidagilardan iborat:- Laboratoriya tahlillari- Tasviriy diagnostika (ultrasonografiya, rentgen)- Klinik tekshiruvlar</a:t>
            </a:r>
            <a:endParaRPr lang="en-US" sz="1050" dirty="0"/>
          </a:p>
        </p:txBody>
      </p:sp>
      <p:sp>
        <p:nvSpPr>
          <p:cNvPr id="51" name="Shape 36"/>
          <p:cNvSpPr/>
          <p:nvPr/>
        </p:nvSpPr>
        <p:spPr>
          <a:xfrm>
            <a:off x="6234269" y="1597013"/>
            <a:ext cx="2228813" cy="603796"/>
          </a:xfrm>
          <a:custGeom>
            <a:avLst/>
            <a:gdLst/>
            <a:ahLst/>
            <a:cxnLst/>
            <a:rect l="l" t="t" r="r" b="b"/>
            <a:pathLst>
              <a:path w="2228813" h="603796">
                <a:moveTo>
                  <a:pt x="0" y="0"/>
                </a:moveTo>
                <a:lnTo>
                  <a:pt x="2228813" y="0"/>
                </a:lnTo>
                <a:lnTo>
                  <a:pt x="2228813" y="603796"/>
                </a:lnTo>
                <a:lnTo>
                  <a:pt x="0" y="603796"/>
                </a:lnTo>
                <a:close/>
              </a:path>
            </a:pathLst>
          </a:custGeom>
          <a:solidFill>
            <a:srgbClr val="FFFFFF">
              <a:alpha val="0"/>
            </a:srgbClr>
          </a:solidFill>
          <a:ln/>
        </p:spPr>
      </p:sp>
      <p:sp>
        <p:nvSpPr>
          <p:cNvPr id="52" name="Text 37"/>
          <p:cNvSpPr/>
          <p:nvPr/>
        </p:nvSpPr>
        <p:spPr>
          <a:xfrm>
            <a:off x="6234269" y="1597013"/>
            <a:ext cx="2228813" cy="603796"/>
          </a:xfrm>
          <a:prstGeom prst="rect">
            <a:avLst/>
          </a:prstGeom>
          <a:noFill/>
          <a:ln/>
        </p:spPr>
        <p:txBody>
          <a:bodyPr wrap="square" rtlCol="0" anchor="t"/>
          <a:lstStyle/>
          <a:p>
            <a:pPr indent="0" marL="0">
              <a:spcBef>
                <a:spcPts val="375"/>
              </a:spcBef>
              <a:buNone/>
            </a:pPr>
            <a:endParaRPr lang="en-US" sz="1050" dirty="0"/>
          </a:p>
        </p:txBody>
      </p:sp>
      <p:sp>
        <p:nvSpPr>
          <p:cNvPr id="53" name="Shape 38"/>
          <p:cNvSpPr/>
          <p:nvPr/>
        </p:nvSpPr>
        <p:spPr>
          <a:xfrm>
            <a:off x="6234269" y="1597013"/>
            <a:ext cx="2228813" cy="603796"/>
          </a:xfrm>
          <a:custGeom>
            <a:avLst/>
            <a:gdLst/>
            <a:ahLst/>
            <a:cxnLst/>
            <a:rect l="l" t="t" r="r" b="b"/>
            <a:pathLst>
              <a:path w="2228813" h="603796">
                <a:moveTo>
                  <a:pt x="0" y="0"/>
                </a:moveTo>
                <a:lnTo>
                  <a:pt x="2228813" y="0"/>
                </a:lnTo>
                <a:lnTo>
                  <a:pt x="2228813" y="603796"/>
                </a:lnTo>
                <a:lnTo>
                  <a:pt x="0" y="603796"/>
                </a:lnTo>
                <a:close/>
              </a:path>
            </a:pathLst>
          </a:custGeom>
          <a:solidFill>
            <a:srgbClr val="000000">
              <a:alpha val="0"/>
            </a:srgbClr>
          </a:solidFill>
          <a:ln/>
        </p:spPr>
      </p:sp>
      <p:sp>
        <p:nvSpPr>
          <p:cNvPr id="54" name="Text 39"/>
          <p:cNvSpPr/>
          <p:nvPr/>
        </p:nvSpPr>
        <p:spPr>
          <a:xfrm>
            <a:off x="6234269" y="1597013"/>
            <a:ext cx="2228813" cy="603796"/>
          </a:xfrm>
          <a:prstGeom prst="rect">
            <a:avLst/>
          </a:prstGeom>
          <a:noFill/>
          <a:ln/>
        </p:spPr>
        <p:txBody>
          <a:bodyPr wrap="square" rtlCol="0" anchor="t"/>
          <a:lstStyle/>
          <a:p>
            <a:pPr algn="ctr" indent="0" marL="0">
              <a:spcBef>
                <a:spcPts val="375"/>
              </a:spcBef>
              <a:buNone/>
            </a:pPr>
            <a:r>
              <a:rPr lang="en-US" sz="975" dirty="0">
                <a:solidFill>
                  <a:srgbClr val="000000"/>
                </a:solidFill>
                <a:latin typeface="Nunito" pitchFamily="34" charset="0"/>
                <a:ea typeface="Nunito" pitchFamily="34" charset="-122"/>
                <a:cs typeface="Nunito" pitchFamily="34" charset="-120"/>
              </a:rPr>
              <a:t>Yana bir muhim jihati — to'g'ri diagnostika usulini tanlash. Bu bemorning holati va kasallikning tabiatiga bog'liq. Har bir usulning o'ziga xos shartlari bor.</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1F1F1"/>
        </a:solidFill>
      </p:bgPr>
    </p:bg>
    <p:spTree>
      <p:nvGrpSpPr>
        <p:cNvPr id="1" name=""/>
        <p:cNvGrpSpPr/>
        <p:nvPr/>
      </p:nvGrpSpPr>
      <p:grpSpPr>
        <a:xfrm>
          <a:off x="0" y="0"/>
          <a:ext cx="0" cy="0"/>
          <a:chOff x="0" y="0"/>
          <a:chExt cx="0" cy="0"/>
        </a:xfrm>
      </p:grpSpPr>
      <p:pic>
        <p:nvPicPr>
          <p:cNvPr id="2" name="Image 0" descr="./images\slide6_img69.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images\slide6_img70.png">    </p:cNvPr>
          <p:cNvPicPr>
            <a:picLocks noChangeAspect="1"/>
          </p:cNvPicPr>
          <p:nvPr/>
        </p:nvPicPr>
        <p:blipFill>
          <a:blip r:embed="rId2"/>
          <a:stretch>
            <a:fillRect/>
          </a:stretch>
        </p:blipFill>
        <p:spPr>
          <a:xfrm>
            <a:off x="3116890" y="1094737"/>
            <a:ext cx="2910220" cy="3713738"/>
          </a:xfrm>
          <a:prstGeom prst="rect">
            <a:avLst/>
          </a:prstGeom>
        </p:spPr>
      </p:pic>
      <p:sp>
        <p:nvSpPr>
          <p:cNvPr id="4" name="Shape 0"/>
          <p:cNvSpPr/>
          <p:nvPr/>
        </p:nvSpPr>
        <p:spPr>
          <a:xfrm>
            <a:off x="1401482" y="161274"/>
            <a:ext cx="6341100" cy="476250"/>
          </a:xfrm>
          <a:custGeom>
            <a:avLst/>
            <a:gdLst/>
            <a:ahLst/>
            <a:cxnLst/>
            <a:rect l="l" t="t" r="r" b="b"/>
            <a:pathLst>
              <a:path w="6341100" h="476250">
                <a:moveTo>
                  <a:pt x="0" y="0"/>
                </a:moveTo>
                <a:lnTo>
                  <a:pt x="6341100" y="0"/>
                </a:lnTo>
                <a:lnTo>
                  <a:pt x="6341100" y="476250"/>
                </a:lnTo>
                <a:lnTo>
                  <a:pt x="0" y="476250"/>
                </a:lnTo>
                <a:close/>
              </a:path>
            </a:pathLst>
          </a:custGeom>
          <a:solidFill>
            <a:srgbClr val="FFFFFF">
              <a:alpha val="0"/>
            </a:srgbClr>
          </a:solidFill>
          <a:ln/>
        </p:spPr>
      </p:sp>
      <p:sp>
        <p:nvSpPr>
          <p:cNvPr id="5" name="Text 1"/>
          <p:cNvSpPr/>
          <p:nvPr/>
        </p:nvSpPr>
        <p:spPr>
          <a:xfrm>
            <a:off x="1401482" y="161274"/>
            <a:ext cx="6341100" cy="476250"/>
          </a:xfrm>
          <a:prstGeom prst="rect">
            <a:avLst/>
          </a:prstGeom>
          <a:noFill/>
          <a:ln/>
        </p:spPr>
        <p:txBody>
          <a:bodyPr wrap="square" rtlCol="0" anchor="t"/>
          <a:lstStyle/>
          <a:p>
            <a:pPr indent="0" marL="0">
              <a:spcBef>
                <a:spcPts val="375"/>
              </a:spcBef>
              <a:buNone/>
            </a:pPr>
            <a:endParaRPr lang="en-US" sz="1050" dirty="0"/>
          </a:p>
        </p:txBody>
      </p:sp>
      <p:sp>
        <p:nvSpPr>
          <p:cNvPr id="6" name="Shape 2"/>
          <p:cNvSpPr/>
          <p:nvPr/>
        </p:nvSpPr>
        <p:spPr>
          <a:xfrm>
            <a:off x="1401482" y="161274"/>
            <a:ext cx="6341100" cy="476250"/>
          </a:xfrm>
          <a:custGeom>
            <a:avLst/>
            <a:gdLst/>
            <a:ahLst/>
            <a:cxnLst/>
            <a:rect l="l" t="t" r="r" b="b"/>
            <a:pathLst>
              <a:path w="6341100" h="476250">
                <a:moveTo>
                  <a:pt x="0" y="0"/>
                </a:moveTo>
                <a:lnTo>
                  <a:pt x="6341100" y="0"/>
                </a:lnTo>
                <a:lnTo>
                  <a:pt x="6341100" y="476250"/>
                </a:lnTo>
                <a:lnTo>
                  <a:pt x="0" y="476250"/>
                </a:lnTo>
                <a:close/>
              </a:path>
            </a:pathLst>
          </a:custGeom>
          <a:solidFill>
            <a:srgbClr val="000000">
              <a:alpha val="0"/>
            </a:srgbClr>
          </a:solidFill>
          <a:ln/>
        </p:spPr>
      </p:sp>
      <p:sp>
        <p:nvSpPr>
          <p:cNvPr id="7" name="Text 3"/>
          <p:cNvSpPr/>
          <p:nvPr/>
        </p:nvSpPr>
        <p:spPr>
          <a:xfrm>
            <a:off x="1401482" y="161274"/>
            <a:ext cx="6341100" cy="476250"/>
          </a:xfrm>
          <a:prstGeom prst="rect">
            <a:avLst/>
          </a:prstGeom>
          <a:noFill/>
          <a:ln/>
        </p:spPr>
        <p:txBody>
          <a:bodyPr wrap="square" rtlCol="0" anchor="t"/>
          <a:lstStyle/>
          <a:p>
            <a:pPr algn="ctr" indent="0" marL="0">
              <a:spcBef>
                <a:spcPts val="375"/>
              </a:spcBef>
              <a:buNone/>
            </a:pPr>
            <a:r>
              <a:rPr lang="en-US" sz="3000" dirty="0">
                <a:solidFill>
                  <a:srgbClr val="45464D"/>
                </a:solidFill>
                <a:latin typeface="Caveat Brush" pitchFamily="34" charset="0"/>
                <a:ea typeface="Caveat Brush" pitchFamily="34" charset="-122"/>
                <a:cs typeface="Caveat Brush" pitchFamily="34" charset="-120"/>
              </a:rPr>
              <a:t>Davolash usullari</a:t>
            </a:r>
            <a:endParaRPr lang="en-US" sz="1050" dirty="0"/>
          </a:p>
        </p:txBody>
      </p:sp>
      <p:sp>
        <p:nvSpPr>
          <p:cNvPr id="8" name="Shape 4"/>
          <p:cNvSpPr/>
          <p:nvPr/>
        </p:nvSpPr>
        <p:spPr>
          <a:xfrm>
            <a:off x="6517040" y="2139780"/>
            <a:ext cx="2026650" cy="349523"/>
          </a:xfrm>
          <a:custGeom>
            <a:avLst/>
            <a:gdLst/>
            <a:ahLst/>
            <a:cxnLst/>
            <a:rect l="l" t="t" r="r" b="b"/>
            <a:pathLst>
              <a:path w="2026650" h="349523">
                <a:moveTo>
                  <a:pt x="0" y="0"/>
                </a:moveTo>
                <a:lnTo>
                  <a:pt x="2026650" y="0"/>
                </a:lnTo>
                <a:lnTo>
                  <a:pt x="2026650" y="349523"/>
                </a:lnTo>
                <a:lnTo>
                  <a:pt x="0" y="349523"/>
                </a:lnTo>
                <a:close/>
              </a:path>
            </a:pathLst>
          </a:custGeom>
          <a:solidFill>
            <a:srgbClr val="FFFFFF">
              <a:alpha val="0"/>
            </a:srgbClr>
          </a:solidFill>
          <a:ln/>
        </p:spPr>
      </p:sp>
      <p:sp>
        <p:nvSpPr>
          <p:cNvPr id="9" name="Text 5"/>
          <p:cNvSpPr/>
          <p:nvPr/>
        </p:nvSpPr>
        <p:spPr>
          <a:xfrm>
            <a:off x="6517040" y="2139780"/>
            <a:ext cx="2026650" cy="349523"/>
          </a:xfrm>
          <a:prstGeom prst="rect">
            <a:avLst/>
          </a:prstGeom>
          <a:noFill/>
          <a:ln/>
        </p:spPr>
        <p:txBody>
          <a:bodyPr wrap="square" rtlCol="0" anchor="t"/>
          <a:lstStyle/>
          <a:p>
            <a:pPr indent="0" marL="0">
              <a:spcBef>
                <a:spcPts val="375"/>
              </a:spcBef>
              <a:buNone/>
            </a:pPr>
            <a:endParaRPr lang="en-US" sz="1050" dirty="0"/>
          </a:p>
        </p:txBody>
      </p:sp>
      <p:sp>
        <p:nvSpPr>
          <p:cNvPr id="10" name="Shape 6"/>
          <p:cNvSpPr/>
          <p:nvPr/>
        </p:nvSpPr>
        <p:spPr>
          <a:xfrm>
            <a:off x="6517040" y="2139780"/>
            <a:ext cx="2026650" cy="349523"/>
          </a:xfrm>
          <a:custGeom>
            <a:avLst/>
            <a:gdLst/>
            <a:ahLst/>
            <a:cxnLst/>
            <a:rect l="l" t="t" r="r" b="b"/>
            <a:pathLst>
              <a:path w="2026650" h="349523">
                <a:moveTo>
                  <a:pt x="0" y="0"/>
                </a:moveTo>
                <a:lnTo>
                  <a:pt x="2026650" y="0"/>
                </a:lnTo>
                <a:lnTo>
                  <a:pt x="2026650" y="349523"/>
                </a:lnTo>
                <a:lnTo>
                  <a:pt x="0" y="349523"/>
                </a:lnTo>
                <a:close/>
              </a:path>
            </a:pathLst>
          </a:custGeom>
          <a:solidFill>
            <a:srgbClr val="000000">
              <a:alpha val="0"/>
            </a:srgbClr>
          </a:solidFill>
          <a:ln/>
        </p:spPr>
      </p:sp>
      <p:sp>
        <p:nvSpPr>
          <p:cNvPr id="11" name="Text 7"/>
          <p:cNvSpPr/>
          <p:nvPr/>
        </p:nvSpPr>
        <p:spPr>
          <a:xfrm>
            <a:off x="6517040" y="2139780"/>
            <a:ext cx="2026650" cy="349523"/>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Davolash usullari, bemorlar sog'lig'ini tiklash va kasalliklarni oldini olish uchun turli xil texnologiyalar va usullarni o'z ichiga oladi. Ularning samaradorligi va qo'llanilishi kasallikning turiga, bemorning holatiga va boshqa omillarga bog'liq.</a:t>
            </a:r>
            <a:endParaRPr lang="en-US" sz="1050" dirty="0"/>
          </a:p>
        </p:txBody>
      </p:sp>
      <p:sp>
        <p:nvSpPr>
          <p:cNvPr id="12" name="Shape 8"/>
          <p:cNvSpPr/>
          <p:nvPr/>
        </p:nvSpPr>
        <p:spPr>
          <a:xfrm>
            <a:off x="6446157" y="1520039"/>
            <a:ext cx="2026650" cy="241399"/>
          </a:xfrm>
          <a:custGeom>
            <a:avLst/>
            <a:gdLst/>
            <a:ahLst/>
            <a:cxnLst/>
            <a:rect l="l" t="t" r="r" b="b"/>
            <a:pathLst>
              <a:path w="2026650" h="241399">
                <a:moveTo>
                  <a:pt x="0" y="0"/>
                </a:moveTo>
                <a:lnTo>
                  <a:pt x="2026650" y="0"/>
                </a:lnTo>
                <a:lnTo>
                  <a:pt x="2026650" y="241399"/>
                </a:lnTo>
                <a:lnTo>
                  <a:pt x="0" y="241399"/>
                </a:lnTo>
                <a:close/>
              </a:path>
            </a:pathLst>
          </a:custGeom>
          <a:solidFill>
            <a:srgbClr val="FFFFFF">
              <a:alpha val="0"/>
            </a:srgbClr>
          </a:solidFill>
          <a:ln/>
        </p:spPr>
      </p:sp>
      <p:sp>
        <p:nvSpPr>
          <p:cNvPr id="13" name="Text 9"/>
          <p:cNvSpPr/>
          <p:nvPr/>
        </p:nvSpPr>
        <p:spPr>
          <a:xfrm>
            <a:off x="6446157" y="1520039"/>
            <a:ext cx="2026650" cy="241399"/>
          </a:xfrm>
          <a:prstGeom prst="rect">
            <a:avLst/>
          </a:prstGeom>
          <a:noFill/>
          <a:ln/>
        </p:spPr>
        <p:txBody>
          <a:bodyPr wrap="square" rtlCol="0" anchor="t"/>
          <a:lstStyle/>
          <a:p>
            <a:pPr indent="0" marL="0">
              <a:spcBef>
                <a:spcPts val="375"/>
              </a:spcBef>
              <a:buNone/>
            </a:pPr>
            <a:endParaRPr lang="en-US" sz="1050" dirty="0"/>
          </a:p>
        </p:txBody>
      </p:sp>
      <p:sp>
        <p:nvSpPr>
          <p:cNvPr id="14" name="Shape 10"/>
          <p:cNvSpPr/>
          <p:nvPr/>
        </p:nvSpPr>
        <p:spPr>
          <a:xfrm>
            <a:off x="6446157" y="1520039"/>
            <a:ext cx="2026650" cy="241399"/>
          </a:xfrm>
          <a:custGeom>
            <a:avLst/>
            <a:gdLst/>
            <a:ahLst/>
            <a:cxnLst/>
            <a:rect l="l" t="t" r="r" b="b"/>
            <a:pathLst>
              <a:path w="2026650" h="241399">
                <a:moveTo>
                  <a:pt x="0" y="0"/>
                </a:moveTo>
                <a:lnTo>
                  <a:pt x="2026650" y="0"/>
                </a:lnTo>
                <a:lnTo>
                  <a:pt x="2026650" y="241399"/>
                </a:lnTo>
                <a:lnTo>
                  <a:pt x="0" y="241399"/>
                </a:lnTo>
                <a:close/>
              </a:path>
            </a:pathLst>
          </a:custGeom>
          <a:solidFill>
            <a:srgbClr val="000000">
              <a:alpha val="0"/>
            </a:srgbClr>
          </a:solidFill>
          <a:ln/>
        </p:spPr>
      </p:sp>
      <p:sp>
        <p:nvSpPr>
          <p:cNvPr id="15" name="Text 11"/>
          <p:cNvSpPr/>
          <p:nvPr/>
        </p:nvSpPr>
        <p:spPr>
          <a:xfrm>
            <a:off x="6446157" y="1520039"/>
            <a:ext cx="2026650" cy="241399"/>
          </a:xfrm>
          <a:prstGeom prst="rect">
            <a:avLst/>
          </a:prstGeom>
          <a:noFill/>
          <a:ln/>
        </p:spPr>
        <p:txBody>
          <a:bodyPr wrap="square" rtlCol="0" anchor="t"/>
          <a:lstStyle/>
          <a:p>
            <a:pPr algn="ctr" indent="0" marL="0">
              <a:spcBef>
                <a:spcPts val="375"/>
              </a:spcBef>
              <a:buNone/>
            </a:pPr>
            <a:r>
              <a:rPr lang="en-US" sz="1125" b="1" dirty="0">
                <a:solidFill>
                  <a:srgbClr val="000000"/>
                </a:solidFill>
                <a:latin typeface="Nunito" pitchFamily="34" charset="0"/>
                <a:ea typeface="Nunito" pitchFamily="34" charset="-122"/>
                <a:cs typeface="Nunito" pitchFamily="34" charset="-120"/>
              </a:rPr>
              <a:t>Dori-darmonlar</a:t>
            </a:r>
            <a:endParaRPr lang="en-US" sz="1050" dirty="0"/>
          </a:p>
        </p:txBody>
      </p:sp>
      <p:sp>
        <p:nvSpPr>
          <p:cNvPr id="16" name="Shape 12"/>
          <p:cNvSpPr/>
          <p:nvPr/>
        </p:nvSpPr>
        <p:spPr>
          <a:xfrm>
            <a:off x="6517040" y="3923708"/>
            <a:ext cx="2026650" cy="349523"/>
          </a:xfrm>
          <a:custGeom>
            <a:avLst/>
            <a:gdLst/>
            <a:ahLst/>
            <a:cxnLst/>
            <a:rect l="l" t="t" r="r" b="b"/>
            <a:pathLst>
              <a:path w="2026650" h="349523">
                <a:moveTo>
                  <a:pt x="0" y="0"/>
                </a:moveTo>
                <a:lnTo>
                  <a:pt x="2026650" y="0"/>
                </a:lnTo>
                <a:lnTo>
                  <a:pt x="2026650" y="349523"/>
                </a:lnTo>
                <a:lnTo>
                  <a:pt x="0" y="349523"/>
                </a:lnTo>
                <a:close/>
              </a:path>
            </a:pathLst>
          </a:custGeom>
          <a:solidFill>
            <a:srgbClr val="FFFFFF">
              <a:alpha val="0"/>
            </a:srgbClr>
          </a:solidFill>
          <a:ln/>
        </p:spPr>
      </p:sp>
      <p:sp>
        <p:nvSpPr>
          <p:cNvPr id="17" name="Text 13"/>
          <p:cNvSpPr/>
          <p:nvPr/>
        </p:nvSpPr>
        <p:spPr>
          <a:xfrm>
            <a:off x="6517040" y="3923708"/>
            <a:ext cx="2026650" cy="349523"/>
          </a:xfrm>
          <a:prstGeom prst="rect">
            <a:avLst/>
          </a:prstGeom>
          <a:noFill/>
          <a:ln/>
        </p:spPr>
        <p:txBody>
          <a:bodyPr wrap="square" rtlCol="0" anchor="t"/>
          <a:lstStyle/>
          <a:p>
            <a:pPr indent="0" marL="0">
              <a:spcBef>
                <a:spcPts val="375"/>
              </a:spcBef>
              <a:buNone/>
            </a:pPr>
            <a:endParaRPr lang="en-US" sz="1050" dirty="0"/>
          </a:p>
        </p:txBody>
      </p:sp>
      <p:sp>
        <p:nvSpPr>
          <p:cNvPr id="18" name="Shape 14"/>
          <p:cNvSpPr/>
          <p:nvPr/>
        </p:nvSpPr>
        <p:spPr>
          <a:xfrm>
            <a:off x="6517040" y="3923708"/>
            <a:ext cx="2026650" cy="349523"/>
          </a:xfrm>
          <a:custGeom>
            <a:avLst/>
            <a:gdLst/>
            <a:ahLst/>
            <a:cxnLst/>
            <a:rect l="l" t="t" r="r" b="b"/>
            <a:pathLst>
              <a:path w="2026650" h="349523">
                <a:moveTo>
                  <a:pt x="0" y="0"/>
                </a:moveTo>
                <a:lnTo>
                  <a:pt x="2026650" y="0"/>
                </a:lnTo>
                <a:lnTo>
                  <a:pt x="2026650" y="349523"/>
                </a:lnTo>
                <a:lnTo>
                  <a:pt x="0" y="349523"/>
                </a:lnTo>
                <a:close/>
              </a:path>
            </a:pathLst>
          </a:custGeom>
          <a:solidFill>
            <a:srgbClr val="000000">
              <a:alpha val="0"/>
            </a:srgbClr>
          </a:solidFill>
          <a:ln/>
        </p:spPr>
      </p:sp>
      <p:sp>
        <p:nvSpPr>
          <p:cNvPr id="19" name="Text 15"/>
          <p:cNvSpPr/>
          <p:nvPr/>
        </p:nvSpPr>
        <p:spPr>
          <a:xfrm>
            <a:off x="6517040" y="3923708"/>
            <a:ext cx="2026650" cy="349523"/>
          </a:xfrm>
          <a:prstGeom prst="rect">
            <a:avLst/>
          </a:prstGeom>
          <a:noFill/>
          <a:ln/>
        </p:spPr>
        <p:txBody>
          <a:bodyPr wrap="square" rtlCol="0" anchor="t"/>
          <a:lstStyle/>
          <a:p>
            <a:pPr algn="ctr" indent="0" marL="0">
              <a:spcBef>
                <a:spcPts val="375"/>
              </a:spcBef>
              <a:buNone/>
            </a:pPr>
            <a:r>
              <a:rPr lang="en-US" sz="975" dirty="0">
                <a:solidFill>
                  <a:srgbClr val="000000"/>
                </a:solidFill>
                <a:latin typeface="Nunito" pitchFamily="34" charset="0"/>
                <a:ea typeface="Nunito" pitchFamily="34" charset="-122"/>
                <a:cs typeface="Nunito" pitchFamily="34" charset="-120"/>
              </a:rPr>
              <a:t>Dori-darmonlar kasalliklarni davolashda asosiy vosita hisoblanadi. Ular bemorning holatini yaxshilash va belgilangan kasalliklarni yo'qotishga yordam beradi. Dori-darmonlarni qo'llashda doimo shifokor maslahatiga murojaat qilish zarur.</a:t>
            </a:r>
            <a:endParaRPr lang="en-US" sz="1050" dirty="0"/>
          </a:p>
        </p:txBody>
      </p:sp>
      <p:sp>
        <p:nvSpPr>
          <p:cNvPr id="20" name="Shape 16"/>
          <p:cNvSpPr/>
          <p:nvPr/>
        </p:nvSpPr>
        <p:spPr>
          <a:xfrm>
            <a:off x="6481599" y="3307470"/>
            <a:ext cx="2026650" cy="241399"/>
          </a:xfrm>
          <a:custGeom>
            <a:avLst/>
            <a:gdLst/>
            <a:ahLst/>
            <a:cxnLst/>
            <a:rect l="l" t="t" r="r" b="b"/>
            <a:pathLst>
              <a:path w="2026650" h="241399">
                <a:moveTo>
                  <a:pt x="0" y="0"/>
                </a:moveTo>
                <a:lnTo>
                  <a:pt x="2026650" y="0"/>
                </a:lnTo>
                <a:lnTo>
                  <a:pt x="2026650" y="241399"/>
                </a:lnTo>
                <a:lnTo>
                  <a:pt x="0" y="241399"/>
                </a:lnTo>
                <a:close/>
              </a:path>
            </a:pathLst>
          </a:custGeom>
          <a:solidFill>
            <a:srgbClr val="FFFFFF">
              <a:alpha val="0"/>
            </a:srgbClr>
          </a:solidFill>
          <a:ln/>
        </p:spPr>
      </p:sp>
      <p:sp>
        <p:nvSpPr>
          <p:cNvPr id="21" name="Text 17"/>
          <p:cNvSpPr/>
          <p:nvPr/>
        </p:nvSpPr>
        <p:spPr>
          <a:xfrm>
            <a:off x="6481599" y="3307470"/>
            <a:ext cx="2026650" cy="241399"/>
          </a:xfrm>
          <a:prstGeom prst="rect">
            <a:avLst/>
          </a:prstGeom>
          <a:noFill/>
          <a:ln/>
        </p:spPr>
        <p:txBody>
          <a:bodyPr wrap="square" rtlCol="0" anchor="t"/>
          <a:lstStyle/>
          <a:p>
            <a:pPr indent="0" marL="0">
              <a:spcBef>
                <a:spcPts val="375"/>
              </a:spcBef>
              <a:buNone/>
            </a:pPr>
            <a:endParaRPr lang="en-US" sz="1050" dirty="0"/>
          </a:p>
        </p:txBody>
      </p:sp>
      <p:sp>
        <p:nvSpPr>
          <p:cNvPr id="22" name="Shape 18"/>
          <p:cNvSpPr/>
          <p:nvPr/>
        </p:nvSpPr>
        <p:spPr>
          <a:xfrm>
            <a:off x="6481599" y="3307470"/>
            <a:ext cx="2026650" cy="241399"/>
          </a:xfrm>
          <a:custGeom>
            <a:avLst/>
            <a:gdLst/>
            <a:ahLst/>
            <a:cxnLst/>
            <a:rect l="l" t="t" r="r" b="b"/>
            <a:pathLst>
              <a:path w="2026650" h="241399">
                <a:moveTo>
                  <a:pt x="0" y="0"/>
                </a:moveTo>
                <a:lnTo>
                  <a:pt x="2026650" y="0"/>
                </a:lnTo>
                <a:lnTo>
                  <a:pt x="2026650" y="241399"/>
                </a:lnTo>
                <a:lnTo>
                  <a:pt x="0" y="241399"/>
                </a:lnTo>
                <a:close/>
              </a:path>
            </a:pathLst>
          </a:custGeom>
          <a:solidFill>
            <a:srgbClr val="000000">
              <a:alpha val="0"/>
            </a:srgbClr>
          </a:solidFill>
          <a:ln/>
        </p:spPr>
      </p:sp>
      <p:sp>
        <p:nvSpPr>
          <p:cNvPr id="23" name="Text 19"/>
          <p:cNvSpPr/>
          <p:nvPr/>
        </p:nvSpPr>
        <p:spPr>
          <a:xfrm>
            <a:off x="6481599" y="3307470"/>
            <a:ext cx="2026650" cy="241399"/>
          </a:xfrm>
          <a:prstGeom prst="rect">
            <a:avLst/>
          </a:prstGeom>
          <a:noFill/>
          <a:ln/>
        </p:spPr>
        <p:txBody>
          <a:bodyPr wrap="square" rtlCol="0" anchor="t"/>
          <a:lstStyle/>
          <a:p>
            <a:pPr algn="ctr" indent="0" marL="0">
              <a:spcBef>
                <a:spcPts val="375"/>
              </a:spcBef>
              <a:buNone/>
            </a:pPr>
            <a:r>
              <a:rPr lang="en-US" sz="1125" b="1" dirty="0">
                <a:solidFill>
                  <a:srgbClr val="000000"/>
                </a:solidFill>
                <a:latin typeface="Nunito" pitchFamily="34" charset="0"/>
                <a:ea typeface="Nunito" pitchFamily="34" charset="-122"/>
                <a:cs typeface="Nunito" pitchFamily="34" charset="-120"/>
              </a:rPr>
              <a:t>Jismoniy terapiya</a:t>
            </a:r>
            <a:endParaRPr lang="en-US" sz="1050" dirty="0"/>
          </a:p>
        </p:txBody>
      </p:sp>
      <p:sp>
        <p:nvSpPr>
          <p:cNvPr id="24" name="Shape 20"/>
          <p:cNvSpPr/>
          <p:nvPr/>
        </p:nvSpPr>
        <p:spPr>
          <a:xfrm>
            <a:off x="600373" y="2018613"/>
            <a:ext cx="2026650" cy="349523"/>
          </a:xfrm>
          <a:custGeom>
            <a:avLst/>
            <a:gdLst/>
            <a:ahLst/>
            <a:cxnLst/>
            <a:rect l="l" t="t" r="r" b="b"/>
            <a:pathLst>
              <a:path w="2026650" h="349523">
                <a:moveTo>
                  <a:pt x="0" y="0"/>
                </a:moveTo>
                <a:lnTo>
                  <a:pt x="2026650" y="0"/>
                </a:lnTo>
                <a:lnTo>
                  <a:pt x="2026650" y="349523"/>
                </a:lnTo>
                <a:lnTo>
                  <a:pt x="0" y="349523"/>
                </a:lnTo>
                <a:close/>
              </a:path>
            </a:pathLst>
          </a:custGeom>
          <a:solidFill>
            <a:srgbClr val="FFFFFF">
              <a:alpha val="0"/>
            </a:srgbClr>
          </a:solidFill>
          <a:ln/>
        </p:spPr>
      </p:sp>
      <p:sp>
        <p:nvSpPr>
          <p:cNvPr id="25" name="Text 21"/>
          <p:cNvSpPr/>
          <p:nvPr/>
        </p:nvSpPr>
        <p:spPr>
          <a:xfrm>
            <a:off x="600373" y="2018613"/>
            <a:ext cx="2026650" cy="349523"/>
          </a:xfrm>
          <a:prstGeom prst="rect">
            <a:avLst/>
          </a:prstGeom>
          <a:noFill/>
          <a:ln/>
        </p:spPr>
        <p:txBody>
          <a:bodyPr wrap="square" rtlCol="0" anchor="t"/>
          <a:lstStyle/>
          <a:p>
            <a:pPr indent="0" marL="0">
              <a:spcBef>
                <a:spcPts val="375"/>
              </a:spcBef>
              <a:buNone/>
            </a:pPr>
            <a:endParaRPr lang="en-US" sz="1050" dirty="0"/>
          </a:p>
        </p:txBody>
      </p:sp>
      <p:sp>
        <p:nvSpPr>
          <p:cNvPr id="26" name="Shape 22"/>
          <p:cNvSpPr/>
          <p:nvPr/>
        </p:nvSpPr>
        <p:spPr>
          <a:xfrm>
            <a:off x="600373" y="2018613"/>
            <a:ext cx="2026650" cy="349523"/>
          </a:xfrm>
          <a:custGeom>
            <a:avLst/>
            <a:gdLst/>
            <a:ahLst/>
            <a:cxnLst/>
            <a:rect l="l" t="t" r="r" b="b"/>
            <a:pathLst>
              <a:path w="2026650" h="349523">
                <a:moveTo>
                  <a:pt x="0" y="0"/>
                </a:moveTo>
                <a:lnTo>
                  <a:pt x="2026650" y="0"/>
                </a:lnTo>
                <a:lnTo>
                  <a:pt x="2026650" y="349523"/>
                </a:lnTo>
                <a:lnTo>
                  <a:pt x="0" y="349523"/>
                </a:lnTo>
                <a:close/>
              </a:path>
            </a:pathLst>
          </a:custGeom>
          <a:solidFill>
            <a:srgbClr val="000000">
              <a:alpha val="0"/>
            </a:srgbClr>
          </a:solidFill>
          <a:ln/>
        </p:spPr>
      </p:sp>
      <p:sp>
        <p:nvSpPr>
          <p:cNvPr id="27" name="Text 23"/>
          <p:cNvSpPr/>
          <p:nvPr/>
        </p:nvSpPr>
        <p:spPr>
          <a:xfrm>
            <a:off x="600373" y="2018613"/>
            <a:ext cx="2026650" cy="349523"/>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Jismoniy terapiya jarrohlikdan keyin tiklanishga yordam beradi va mushaklar kuchini oshiradi. Fizioterapevtlar tomonidan belgilangan mashqlar va davolash usullari muhimdir.</a:t>
            </a:r>
            <a:endParaRPr lang="en-US" sz="1050" dirty="0"/>
          </a:p>
        </p:txBody>
      </p:sp>
      <p:sp>
        <p:nvSpPr>
          <p:cNvPr id="28" name="Shape 24"/>
          <p:cNvSpPr/>
          <p:nvPr/>
        </p:nvSpPr>
        <p:spPr>
          <a:xfrm>
            <a:off x="600373" y="1456867"/>
            <a:ext cx="2026650" cy="241399"/>
          </a:xfrm>
          <a:custGeom>
            <a:avLst/>
            <a:gdLst/>
            <a:ahLst/>
            <a:cxnLst/>
            <a:rect l="l" t="t" r="r" b="b"/>
            <a:pathLst>
              <a:path w="2026650" h="241399">
                <a:moveTo>
                  <a:pt x="0" y="0"/>
                </a:moveTo>
                <a:lnTo>
                  <a:pt x="2026650" y="0"/>
                </a:lnTo>
                <a:lnTo>
                  <a:pt x="2026650" y="241399"/>
                </a:lnTo>
                <a:lnTo>
                  <a:pt x="0" y="241399"/>
                </a:lnTo>
                <a:close/>
              </a:path>
            </a:pathLst>
          </a:custGeom>
          <a:solidFill>
            <a:srgbClr val="FFFFFF">
              <a:alpha val="0"/>
            </a:srgbClr>
          </a:solidFill>
          <a:ln/>
        </p:spPr>
      </p:sp>
      <p:sp>
        <p:nvSpPr>
          <p:cNvPr id="29" name="Text 25"/>
          <p:cNvSpPr/>
          <p:nvPr/>
        </p:nvSpPr>
        <p:spPr>
          <a:xfrm>
            <a:off x="600373" y="1456867"/>
            <a:ext cx="2026650" cy="241399"/>
          </a:xfrm>
          <a:prstGeom prst="rect">
            <a:avLst/>
          </a:prstGeom>
          <a:noFill/>
          <a:ln/>
        </p:spPr>
        <p:txBody>
          <a:bodyPr wrap="square" rtlCol="0" anchor="t"/>
          <a:lstStyle/>
          <a:p>
            <a:pPr indent="0" marL="0">
              <a:spcBef>
                <a:spcPts val="375"/>
              </a:spcBef>
              <a:buNone/>
            </a:pPr>
            <a:endParaRPr lang="en-US" sz="1050" dirty="0"/>
          </a:p>
        </p:txBody>
      </p:sp>
      <p:sp>
        <p:nvSpPr>
          <p:cNvPr id="30" name="Shape 26"/>
          <p:cNvSpPr/>
          <p:nvPr/>
        </p:nvSpPr>
        <p:spPr>
          <a:xfrm>
            <a:off x="600373" y="1456867"/>
            <a:ext cx="2026650" cy="241399"/>
          </a:xfrm>
          <a:custGeom>
            <a:avLst/>
            <a:gdLst/>
            <a:ahLst/>
            <a:cxnLst/>
            <a:rect l="l" t="t" r="r" b="b"/>
            <a:pathLst>
              <a:path w="2026650" h="241399">
                <a:moveTo>
                  <a:pt x="0" y="0"/>
                </a:moveTo>
                <a:lnTo>
                  <a:pt x="2026650" y="0"/>
                </a:lnTo>
                <a:lnTo>
                  <a:pt x="2026650" y="241399"/>
                </a:lnTo>
                <a:lnTo>
                  <a:pt x="0" y="241399"/>
                </a:lnTo>
                <a:close/>
              </a:path>
            </a:pathLst>
          </a:custGeom>
          <a:solidFill>
            <a:srgbClr val="000000">
              <a:alpha val="0"/>
            </a:srgbClr>
          </a:solidFill>
          <a:ln/>
        </p:spPr>
      </p:sp>
      <p:sp>
        <p:nvSpPr>
          <p:cNvPr id="31" name="Text 27"/>
          <p:cNvSpPr/>
          <p:nvPr/>
        </p:nvSpPr>
        <p:spPr>
          <a:xfrm>
            <a:off x="600373" y="1456867"/>
            <a:ext cx="2026650" cy="241399"/>
          </a:xfrm>
          <a:prstGeom prst="rect">
            <a:avLst/>
          </a:prstGeom>
          <a:noFill/>
          <a:ln/>
        </p:spPr>
        <p:txBody>
          <a:bodyPr wrap="square" rtlCol="0" anchor="t"/>
          <a:lstStyle/>
          <a:p>
            <a:pPr algn="ctr" indent="0" marL="0">
              <a:spcBef>
                <a:spcPts val="375"/>
              </a:spcBef>
              <a:buNone/>
            </a:pPr>
            <a:r>
              <a:rPr lang="en-US" sz="1125" b="1" dirty="0">
                <a:solidFill>
                  <a:srgbClr val="000000"/>
                </a:solidFill>
                <a:latin typeface="Nunito" pitchFamily="34" charset="0"/>
                <a:ea typeface="Nunito" pitchFamily="34" charset="-122"/>
                <a:cs typeface="Nunito" pitchFamily="34" charset="-120"/>
              </a:rPr>
              <a:t>Psixologik yordam</a:t>
            </a:r>
            <a:endParaRPr lang="en-US" sz="1050" dirty="0"/>
          </a:p>
        </p:txBody>
      </p:sp>
      <p:sp>
        <p:nvSpPr>
          <p:cNvPr id="32" name="Shape 28"/>
          <p:cNvSpPr/>
          <p:nvPr/>
        </p:nvSpPr>
        <p:spPr>
          <a:xfrm>
            <a:off x="600373" y="3866558"/>
            <a:ext cx="2026650" cy="349523"/>
          </a:xfrm>
          <a:custGeom>
            <a:avLst/>
            <a:gdLst/>
            <a:ahLst/>
            <a:cxnLst/>
            <a:rect l="l" t="t" r="r" b="b"/>
            <a:pathLst>
              <a:path w="2026650" h="349523">
                <a:moveTo>
                  <a:pt x="0" y="0"/>
                </a:moveTo>
                <a:lnTo>
                  <a:pt x="2026650" y="0"/>
                </a:lnTo>
                <a:lnTo>
                  <a:pt x="2026650" y="349523"/>
                </a:lnTo>
                <a:lnTo>
                  <a:pt x="0" y="349523"/>
                </a:lnTo>
                <a:close/>
              </a:path>
            </a:pathLst>
          </a:custGeom>
          <a:solidFill>
            <a:srgbClr val="FFFFFF">
              <a:alpha val="0"/>
            </a:srgbClr>
          </a:solidFill>
          <a:ln/>
        </p:spPr>
      </p:sp>
      <p:sp>
        <p:nvSpPr>
          <p:cNvPr id="33" name="Text 29"/>
          <p:cNvSpPr/>
          <p:nvPr/>
        </p:nvSpPr>
        <p:spPr>
          <a:xfrm>
            <a:off x="600373" y="3866558"/>
            <a:ext cx="2026650" cy="349523"/>
          </a:xfrm>
          <a:prstGeom prst="rect">
            <a:avLst/>
          </a:prstGeom>
          <a:noFill/>
          <a:ln/>
        </p:spPr>
        <p:txBody>
          <a:bodyPr wrap="square" rtlCol="0" anchor="t"/>
          <a:lstStyle/>
          <a:p>
            <a:pPr indent="0" marL="0">
              <a:spcBef>
                <a:spcPts val="375"/>
              </a:spcBef>
              <a:buNone/>
            </a:pPr>
            <a:endParaRPr lang="en-US" sz="1050" dirty="0"/>
          </a:p>
        </p:txBody>
      </p:sp>
      <p:sp>
        <p:nvSpPr>
          <p:cNvPr id="34" name="Shape 30"/>
          <p:cNvSpPr/>
          <p:nvPr/>
        </p:nvSpPr>
        <p:spPr>
          <a:xfrm>
            <a:off x="600373" y="3866558"/>
            <a:ext cx="2026650" cy="349523"/>
          </a:xfrm>
          <a:custGeom>
            <a:avLst/>
            <a:gdLst/>
            <a:ahLst/>
            <a:cxnLst/>
            <a:rect l="l" t="t" r="r" b="b"/>
            <a:pathLst>
              <a:path w="2026650" h="349523">
                <a:moveTo>
                  <a:pt x="0" y="0"/>
                </a:moveTo>
                <a:lnTo>
                  <a:pt x="2026650" y="0"/>
                </a:lnTo>
                <a:lnTo>
                  <a:pt x="2026650" y="349523"/>
                </a:lnTo>
                <a:lnTo>
                  <a:pt x="0" y="349523"/>
                </a:lnTo>
                <a:close/>
              </a:path>
            </a:pathLst>
          </a:custGeom>
          <a:solidFill>
            <a:srgbClr val="000000">
              <a:alpha val="0"/>
            </a:srgbClr>
          </a:solidFill>
          <a:ln/>
        </p:spPr>
      </p:sp>
      <p:sp>
        <p:nvSpPr>
          <p:cNvPr id="35" name="Text 31"/>
          <p:cNvSpPr/>
          <p:nvPr/>
        </p:nvSpPr>
        <p:spPr>
          <a:xfrm>
            <a:off x="600373" y="3866558"/>
            <a:ext cx="2026650" cy="349523"/>
          </a:xfrm>
          <a:prstGeom prst="rect">
            <a:avLst/>
          </a:prstGeom>
          <a:noFill/>
          <a:ln/>
        </p:spPr>
        <p:txBody>
          <a:bodyPr wrap="square" rtlCol="0" anchor="t"/>
          <a:lstStyle/>
          <a:p>
            <a:pPr algn="ctr" indent="0" marL="0">
              <a:spcBef>
                <a:spcPts val="375"/>
              </a:spcBef>
              <a:buNone/>
            </a:pPr>
            <a:r>
              <a:rPr lang="en-US" sz="975" dirty="0">
                <a:solidFill>
                  <a:srgbClr val="000000"/>
                </a:solidFill>
                <a:latin typeface="Nunito" pitchFamily="34" charset="0"/>
                <a:ea typeface="Nunito" pitchFamily="34" charset="-122"/>
                <a:cs typeface="Nunito" pitchFamily="34" charset="-120"/>
              </a:rPr>
              <a:t>Psixologik yordam bemorlarning ruhiy holatini yaxshilashga qaratilgan. Stressni boshqarish va tashvishlarni kamaytirishga yordam beradigan turli xil usullar qo'llaniladi.</a:t>
            </a:r>
            <a:endParaRPr lang="en-US" sz="1050" dirty="0"/>
          </a:p>
        </p:txBody>
      </p:sp>
      <p:sp>
        <p:nvSpPr>
          <p:cNvPr id="36" name="Shape 32"/>
          <p:cNvSpPr/>
          <p:nvPr/>
        </p:nvSpPr>
        <p:spPr>
          <a:xfrm>
            <a:off x="482233" y="3307470"/>
            <a:ext cx="2026650" cy="241399"/>
          </a:xfrm>
          <a:custGeom>
            <a:avLst/>
            <a:gdLst/>
            <a:ahLst/>
            <a:cxnLst/>
            <a:rect l="l" t="t" r="r" b="b"/>
            <a:pathLst>
              <a:path w="2026650" h="241399">
                <a:moveTo>
                  <a:pt x="0" y="0"/>
                </a:moveTo>
                <a:lnTo>
                  <a:pt x="2026650" y="0"/>
                </a:lnTo>
                <a:lnTo>
                  <a:pt x="2026650" y="241399"/>
                </a:lnTo>
                <a:lnTo>
                  <a:pt x="0" y="241399"/>
                </a:lnTo>
                <a:close/>
              </a:path>
            </a:pathLst>
          </a:custGeom>
          <a:solidFill>
            <a:srgbClr val="FFFFFF">
              <a:alpha val="0"/>
            </a:srgbClr>
          </a:solidFill>
          <a:ln/>
        </p:spPr>
      </p:sp>
      <p:sp>
        <p:nvSpPr>
          <p:cNvPr id="37" name="Text 33"/>
          <p:cNvSpPr/>
          <p:nvPr/>
        </p:nvSpPr>
        <p:spPr>
          <a:xfrm>
            <a:off x="482233" y="3307470"/>
            <a:ext cx="2026650" cy="241399"/>
          </a:xfrm>
          <a:prstGeom prst="rect">
            <a:avLst/>
          </a:prstGeom>
          <a:noFill/>
          <a:ln/>
        </p:spPr>
        <p:txBody>
          <a:bodyPr wrap="square" rtlCol="0" anchor="t"/>
          <a:lstStyle/>
          <a:p>
            <a:pPr indent="0" marL="0">
              <a:spcBef>
                <a:spcPts val="375"/>
              </a:spcBef>
              <a:buNone/>
            </a:pPr>
            <a:endParaRPr lang="en-US" sz="1050" dirty="0"/>
          </a:p>
        </p:txBody>
      </p:sp>
      <p:sp>
        <p:nvSpPr>
          <p:cNvPr id="38" name="Shape 34"/>
          <p:cNvSpPr/>
          <p:nvPr/>
        </p:nvSpPr>
        <p:spPr>
          <a:xfrm>
            <a:off x="482233" y="3307470"/>
            <a:ext cx="2026650" cy="241399"/>
          </a:xfrm>
          <a:custGeom>
            <a:avLst/>
            <a:gdLst/>
            <a:ahLst/>
            <a:cxnLst/>
            <a:rect l="l" t="t" r="r" b="b"/>
            <a:pathLst>
              <a:path w="2026650" h="241399">
                <a:moveTo>
                  <a:pt x="0" y="0"/>
                </a:moveTo>
                <a:lnTo>
                  <a:pt x="2026650" y="0"/>
                </a:lnTo>
                <a:lnTo>
                  <a:pt x="2026650" y="241399"/>
                </a:lnTo>
                <a:lnTo>
                  <a:pt x="0" y="241399"/>
                </a:lnTo>
                <a:close/>
              </a:path>
            </a:pathLst>
          </a:custGeom>
          <a:solidFill>
            <a:srgbClr val="000000">
              <a:alpha val="0"/>
            </a:srgbClr>
          </a:solidFill>
          <a:ln/>
        </p:spPr>
      </p:sp>
      <p:sp>
        <p:nvSpPr>
          <p:cNvPr id="39" name="Text 35"/>
          <p:cNvSpPr/>
          <p:nvPr/>
        </p:nvSpPr>
        <p:spPr>
          <a:xfrm>
            <a:off x="482233" y="3307470"/>
            <a:ext cx="2026650" cy="241399"/>
          </a:xfrm>
          <a:prstGeom prst="rect">
            <a:avLst/>
          </a:prstGeom>
          <a:noFill/>
          <a:ln/>
        </p:spPr>
        <p:txBody>
          <a:bodyPr wrap="square" rtlCol="0" anchor="t"/>
          <a:lstStyle/>
          <a:p>
            <a:pPr algn="ctr" indent="0" marL="0">
              <a:spcBef>
                <a:spcPts val="375"/>
              </a:spcBef>
              <a:buNone/>
            </a:pPr>
            <a:r>
              <a:rPr lang="en-US" sz="1125" b="1" dirty="0">
                <a:solidFill>
                  <a:srgbClr val="000000"/>
                </a:solidFill>
                <a:latin typeface="Nunito" pitchFamily="34" charset="0"/>
                <a:ea typeface="Nunito" pitchFamily="34" charset="-122"/>
                <a:cs typeface="Nunito" pitchFamily="34" charset="-120"/>
              </a:rPr>
              <a:t>Alternativ tibbiyot</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2025-10-03T04:37:18Z</dcterms:created>
  <dcterms:modified xsi:type="dcterms:W3CDTF">2025-10-03T04:37:18Z</dcterms:modified>
</cp:coreProperties>
</file>