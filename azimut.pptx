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e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e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e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jpe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e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1F1"/>
        </a:solidFill>
      </p:bgPr>
    </p:bg>
    <p:spTree>
      <p:nvGrpSpPr>
        <p:cNvPr id="1" name=""/>
        <p:cNvGrpSpPr/>
        <p:nvPr/>
      </p:nvGrpSpPr>
      <p:grpSpPr>
        <a:xfrm>
          <a:off x="0" y="0"/>
          <a:ext cx="0" cy="0"/>
          <a:chOff x="0" y="0"/>
          <a:chExt cx="0" cy="0"/>
        </a:xfrm>
      </p:grpSpPr>
      <p:pic>
        <p:nvPicPr>
          <p:cNvPr id="2" name="Image 0" descr="./images\slide0_img1.png">    </p:cNvPr>
          <p:cNvPicPr>
            <a:picLocks noChangeAspect="1"/>
          </p:cNvPicPr>
          <p:nvPr/>
        </p:nvPicPr>
        <p:blipFill>
          <a:blip r:embed="rId1"/>
          <a:stretch>
            <a:fillRect/>
          </a:stretch>
        </p:blipFill>
        <p:spPr>
          <a:xfrm>
            <a:off x="-13825" y="0"/>
            <a:ext cx="9144000" cy="5143500"/>
          </a:xfrm>
          <a:prstGeom prst="rect">
            <a:avLst/>
          </a:prstGeom>
        </p:spPr>
      </p:pic>
      <p:pic>
        <p:nvPicPr>
          <p:cNvPr id="3" name="Image 1" descr="./images\slide0_img2.png">    </p:cNvPr>
          <p:cNvPicPr>
            <a:picLocks noChangeAspect="1"/>
          </p:cNvPicPr>
          <p:nvPr/>
        </p:nvPicPr>
        <p:blipFill>
          <a:blip r:embed="rId2"/>
          <a:srcRect l="0" r="54344" t="0" b="64852"/>
          <a:stretch/>
        </p:blipFill>
        <p:spPr>
          <a:xfrm>
            <a:off x="6811625" y="3366225"/>
            <a:ext cx="2239080" cy="1706184"/>
          </a:xfrm>
          <a:prstGeom prst="rect">
            <a:avLst/>
          </a:prstGeom>
        </p:spPr>
      </p:pic>
      <p:pic>
        <p:nvPicPr>
          <p:cNvPr id="4" name="Image 2" descr="./images\slide0_img3.png">    </p:cNvPr>
          <p:cNvPicPr>
            <a:picLocks noChangeAspect="1"/>
          </p:cNvPicPr>
          <p:nvPr/>
        </p:nvPicPr>
        <p:blipFill>
          <a:blip r:embed="rId3"/>
          <a:srcRect l="28690" r="44599" t="0" b="45747"/>
          <a:stretch/>
        </p:blipFill>
        <p:spPr>
          <a:xfrm>
            <a:off x="0" y="2383038"/>
            <a:ext cx="1519404" cy="2449260"/>
          </a:xfrm>
          <a:prstGeom prst="rect">
            <a:avLst/>
          </a:prstGeom>
        </p:spPr>
      </p:pic>
      <p:pic>
        <p:nvPicPr>
          <p:cNvPr id="5" name="Image 3" descr="./images\slide0_img4.png">    </p:cNvPr>
          <p:cNvPicPr>
            <a:picLocks noChangeAspect="1"/>
          </p:cNvPicPr>
          <p:nvPr/>
        </p:nvPicPr>
        <p:blipFill>
          <a:blip r:embed="rId4"/>
          <a:stretch>
            <a:fillRect/>
          </a:stretch>
        </p:blipFill>
        <p:spPr>
          <a:xfrm>
            <a:off x="1534262" y="1070510"/>
            <a:ext cx="6714398" cy="3340801"/>
          </a:xfrm>
          <a:prstGeom prst="rect">
            <a:avLst/>
          </a:prstGeom>
        </p:spPr>
      </p:pic>
      <p:sp>
        <p:nvSpPr>
          <p:cNvPr id="6" name="Shape 0"/>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FFFFFF">
              <a:alpha val="0"/>
            </a:srgbClr>
          </a:solidFill>
          <a:ln/>
        </p:spPr>
      </p:sp>
      <p:sp>
        <p:nvSpPr>
          <p:cNvPr id="7" name="Text 1"/>
          <p:cNvSpPr/>
          <p:nvPr/>
        </p:nvSpPr>
        <p:spPr>
          <a:xfrm>
            <a:off x="1601490" y="2144913"/>
            <a:ext cx="5913370" cy="381000"/>
          </a:xfrm>
          <a:prstGeom prst="rect">
            <a:avLst/>
          </a:prstGeom>
          <a:noFill/>
          <a:ln/>
        </p:spPr>
        <p:txBody>
          <a:bodyPr wrap="square" rtlCol="0" anchor="t"/>
          <a:lstStyle/>
          <a:p>
            <a:pPr indent="0" marL="0">
              <a:spcBef>
                <a:spcPts val="375"/>
              </a:spcBef>
              <a:buNone/>
            </a:pPr>
            <a:endParaRPr lang="en-US" sz="1050" dirty="0"/>
          </a:p>
        </p:txBody>
      </p:sp>
      <p:sp>
        <p:nvSpPr>
          <p:cNvPr id="8" name="Shape 2"/>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000000">
              <a:alpha val="0"/>
            </a:srgbClr>
          </a:solidFill>
          <a:ln/>
        </p:spPr>
      </p:sp>
      <p:sp>
        <p:nvSpPr>
          <p:cNvPr id="9" name="Text 3"/>
          <p:cNvSpPr/>
          <p:nvPr/>
        </p:nvSpPr>
        <p:spPr>
          <a:xfrm>
            <a:off x="1601490" y="2144913"/>
            <a:ext cx="5913370" cy="381000"/>
          </a:xfrm>
          <a:prstGeom prst="rect">
            <a:avLst/>
          </a:prstGeom>
          <a:noFill/>
          <a:ln/>
        </p:spPr>
        <p:txBody>
          <a:bodyPr wrap="square" rtlCol="0" anchor="t"/>
          <a:lstStyle/>
          <a:p>
            <a:pPr algn="ctr" indent="0" marL="0">
              <a:spcBef>
                <a:spcPts val="375"/>
              </a:spcBef>
              <a:buNone/>
            </a:pPr>
            <a:r>
              <a:rPr lang="en-US" sz="2250" dirty="0">
                <a:solidFill>
                  <a:srgbClr val="45464D"/>
                </a:solidFill>
                <a:latin typeface="Caveat Brush" pitchFamily="34" charset="0"/>
                <a:ea typeface="Caveat Brush" pitchFamily="34" charset="-122"/>
                <a:cs typeface="Caveat Brush" pitchFamily="34" charset="-120"/>
              </a:rPr>
              <a:t>Nerv tizimi o'smalari</a:t>
            </a:r>
            <a:endParaRPr lang="en-US" sz="1050" dirty="0"/>
          </a:p>
        </p:txBody>
      </p:sp>
      <p:pic>
        <p:nvPicPr>
          <p:cNvPr id="10" name="Image 4" descr="./images\slide0_img5.png">    </p:cNvPr>
          <p:cNvPicPr>
            <a:picLocks noChangeAspect="1"/>
          </p:cNvPicPr>
          <p:nvPr/>
        </p:nvPicPr>
        <p:blipFill>
          <a:blip r:embed="rId5"/>
          <a:stretch>
            <a:fillRect/>
          </a:stretch>
        </p:blipFill>
        <p:spPr>
          <a:xfrm rot="-840000">
            <a:off x="239914" y="146018"/>
            <a:ext cx="1415923" cy="1700345"/>
          </a:xfrm>
          <a:prstGeom prst="rect">
            <a:avLst/>
          </a:prstGeom>
        </p:spPr>
      </p:pic>
      <p:pic>
        <p:nvPicPr>
          <p:cNvPr id="11" name="Image 5" descr="./images\slide0_img6.png">    </p:cNvPr>
          <p:cNvPicPr>
            <a:picLocks noChangeAspect="1"/>
          </p:cNvPicPr>
          <p:nvPr/>
        </p:nvPicPr>
        <p:blipFill>
          <a:blip r:embed="rId6"/>
          <a:srcRect l="0" r="67462" t="16258" b="45097"/>
          <a:stretch/>
        </p:blipFill>
        <p:spPr>
          <a:xfrm>
            <a:off x="7047312" y="0"/>
            <a:ext cx="2012820" cy="2373276"/>
          </a:xfrm>
          <a:prstGeom prst="rect">
            <a:avLst/>
          </a:prstGeom>
        </p:spPr>
      </p:pic>
      <p:sp>
        <p:nvSpPr>
          <p:cNvPr id="12" name="Shape 4"/>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FFFFFF">
              <a:alpha val="0"/>
            </a:srgbClr>
          </a:solidFill>
          <a:ln/>
        </p:spPr>
      </p:sp>
      <p:sp>
        <p:nvSpPr>
          <p:cNvPr id="13" name="Text 5"/>
          <p:cNvSpPr/>
          <p:nvPr/>
        </p:nvSpPr>
        <p:spPr>
          <a:xfrm>
            <a:off x="3190352" y="3300000"/>
            <a:ext cx="4200347" cy="304800"/>
          </a:xfrm>
          <a:prstGeom prst="rect">
            <a:avLst/>
          </a:prstGeom>
          <a:noFill/>
          <a:ln/>
        </p:spPr>
        <p:txBody>
          <a:bodyPr wrap="square" rtlCol="0" anchor="t"/>
          <a:lstStyle/>
          <a:p>
            <a:pPr indent="0" marL="0">
              <a:spcBef>
                <a:spcPts val="375"/>
              </a:spcBef>
              <a:buNone/>
            </a:pPr>
            <a:endParaRPr lang="en-US" sz="1050" dirty="0"/>
          </a:p>
        </p:txBody>
      </p:sp>
      <p:sp>
        <p:nvSpPr>
          <p:cNvPr id="14" name="Shape 6"/>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000000">
              <a:alpha val="0"/>
            </a:srgbClr>
          </a:solidFill>
          <a:ln/>
        </p:spPr>
      </p:sp>
      <p:sp>
        <p:nvSpPr>
          <p:cNvPr id="15" name="Text 7"/>
          <p:cNvSpPr/>
          <p:nvPr/>
        </p:nvSpPr>
        <p:spPr>
          <a:xfrm>
            <a:off x="3190352" y="3300000"/>
            <a:ext cx="4200347" cy="304800"/>
          </a:xfrm>
          <a:prstGeom prst="rect">
            <a:avLst/>
          </a:prstGeom>
          <a:noFill/>
          <a:ln/>
        </p:spPr>
        <p:txBody>
          <a:bodyPr wrap="square" rtlCol="0" anchor="t"/>
          <a:lstStyle/>
          <a:p>
            <a:pPr algn="l" indent="0" marL="0">
              <a:spcBef>
                <a:spcPts val="375"/>
              </a:spcBef>
              <a:buNone/>
            </a:pPr>
            <a:r>
              <a:rPr lang="en-US" sz="1650" dirty="0">
                <a:solidFill>
                  <a:srgbClr val="333333"/>
                </a:solidFill>
                <a:latin typeface="微软雅黑" pitchFamily="34" charset="0"/>
                <a:ea typeface="微软雅黑" pitchFamily="34" charset="-122"/>
                <a:cs typeface="微软雅黑" pitchFamily="34" charset="-120"/>
              </a:rPr>
              <a:t>Azizjon Aliqulov</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1F1"/>
        </a:solidFill>
      </p:bgPr>
    </p:bg>
    <p:spTree>
      <p:nvGrpSpPr>
        <p:cNvPr id="1" name=""/>
        <p:cNvGrpSpPr/>
        <p:nvPr/>
      </p:nvGrpSpPr>
      <p:grpSpPr>
        <a:xfrm>
          <a:off x="0" y="0"/>
          <a:ext cx="0" cy="0"/>
          <a:chOff x="0" y="0"/>
          <a:chExt cx="0" cy="0"/>
        </a:xfrm>
      </p:grpSpPr>
      <p:pic>
        <p:nvPicPr>
          <p:cNvPr id="2" name="Image 0" descr="./images\slide1_img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_img8.png">    </p:cNvPr>
          <p:cNvPicPr>
            <a:picLocks noChangeAspect="1"/>
          </p:cNvPicPr>
          <p:nvPr/>
        </p:nvPicPr>
        <p:blipFill>
          <a:blip r:embed="rId2"/>
          <a:stretch>
            <a:fillRect/>
          </a:stretch>
        </p:blipFill>
        <p:spPr>
          <a:xfrm>
            <a:off x="5040496" y="2211757"/>
            <a:ext cx="3470826" cy="539010"/>
          </a:xfrm>
          <a:prstGeom prst="rect">
            <a:avLst/>
          </a:prstGeom>
        </p:spPr>
      </p:pic>
      <p:sp>
        <p:nvSpPr>
          <p:cNvPr id="4" name="Shape 0"/>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5" name="Text 1"/>
          <p:cNvSpPr/>
          <p:nvPr/>
        </p:nvSpPr>
        <p:spPr>
          <a:xfrm>
            <a:off x="5040496" y="2211757"/>
            <a:ext cx="3470826" cy="53901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7" name="Text 3"/>
          <p:cNvSpPr/>
          <p:nvPr/>
        </p:nvSpPr>
        <p:spPr>
          <a:xfrm>
            <a:off x="5040496" y="2211757"/>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_img9.png">    </p:cNvPr>
          <p:cNvPicPr>
            <a:picLocks noChangeAspect="1"/>
          </p:cNvPicPr>
          <p:nvPr/>
        </p:nvPicPr>
        <p:blipFill>
          <a:blip r:embed="rId3"/>
          <a:stretch>
            <a:fillRect/>
          </a:stretch>
        </p:blipFill>
        <p:spPr>
          <a:xfrm>
            <a:off x="5040496" y="2211757"/>
            <a:ext cx="3470826" cy="539010"/>
          </a:xfrm>
          <a:prstGeom prst="rect">
            <a:avLst/>
          </a:prstGeom>
        </p:spPr>
      </p:pic>
      <p:pic>
        <p:nvPicPr>
          <p:cNvPr id="9" name="Image 3" descr="./images\slide1_img10.png">    </p:cNvPr>
          <p:cNvPicPr>
            <a:picLocks noChangeAspect="1"/>
          </p:cNvPicPr>
          <p:nvPr/>
        </p:nvPicPr>
        <p:blipFill>
          <a:blip r:embed="rId4"/>
          <a:stretch>
            <a:fillRect/>
          </a:stretch>
        </p:blipFill>
        <p:spPr>
          <a:xfrm>
            <a:off x="5040496" y="3540760"/>
            <a:ext cx="3489254" cy="595655"/>
          </a:xfrm>
          <a:prstGeom prst="rect">
            <a:avLst/>
          </a:prstGeom>
        </p:spPr>
      </p:pic>
      <p:sp>
        <p:nvSpPr>
          <p:cNvPr id="10" name="Shape 4"/>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FFFFFF">
              <a:alpha val="0"/>
            </a:srgbClr>
          </a:solidFill>
          <a:ln/>
        </p:spPr>
      </p:sp>
      <p:sp>
        <p:nvSpPr>
          <p:cNvPr id="11" name="Text 5"/>
          <p:cNvSpPr/>
          <p:nvPr/>
        </p:nvSpPr>
        <p:spPr>
          <a:xfrm>
            <a:off x="5040496" y="3540760"/>
            <a:ext cx="3489254" cy="595655"/>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000000">
              <a:alpha val="0"/>
            </a:srgbClr>
          </a:solidFill>
          <a:ln/>
        </p:spPr>
      </p:sp>
      <p:sp>
        <p:nvSpPr>
          <p:cNvPr id="13" name="Text 7"/>
          <p:cNvSpPr/>
          <p:nvPr/>
        </p:nvSpPr>
        <p:spPr>
          <a:xfrm>
            <a:off x="5040496" y="3540760"/>
            <a:ext cx="3489254" cy="59565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_img11.png">    </p:cNvPr>
          <p:cNvPicPr>
            <a:picLocks noChangeAspect="1"/>
          </p:cNvPicPr>
          <p:nvPr/>
        </p:nvPicPr>
        <p:blipFill>
          <a:blip r:embed="rId5"/>
          <a:stretch>
            <a:fillRect/>
          </a:stretch>
        </p:blipFill>
        <p:spPr>
          <a:xfrm>
            <a:off x="5040496" y="3540760"/>
            <a:ext cx="3489254" cy="595655"/>
          </a:xfrm>
          <a:prstGeom prst="rect">
            <a:avLst/>
          </a:prstGeom>
        </p:spPr>
      </p:pic>
      <p:pic>
        <p:nvPicPr>
          <p:cNvPr id="15" name="Image 5" descr="./images\slide1_img12.png">    </p:cNvPr>
          <p:cNvPicPr>
            <a:picLocks noChangeAspect="1"/>
          </p:cNvPicPr>
          <p:nvPr/>
        </p:nvPicPr>
        <p:blipFill>
          <a:blip r:embed="rId6"/>
          <a:stretch>
            <a:fillRect/>
          </a:stretch>
        </p:blipFill>
        <p:spPr>
          <a:xfrm>
            <a:off x="5040496" y="895619"/>
            <a:ext cx="3470826" cy="539010"/>
          </a:xfrm>
          <a:prstGeom prst="rect">
            <a:avLst/>
          </a:prstGeom>
        </p:spPr>
      </p:pic>
      <p:sp>
        <p:nvSpPr>
          <p:cNvPr id="16" name="Shape 8"/>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17" name="Text 9"/>
          <p:cNvSpPr/>
          <p:nvPr/>
        </p:nvSpPr>
        <p:spPr>
          <a:xfrm>
            <a:off x="5040496" y="895619"/>
            <a:ext cx="3470826" cy="53901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19" name="Text 11"/>
          <p:cNvSpPr/>
          <p:nvPr/>
        </p:nvSpPr>
        <p:spPr>
          <a:xfrm>
            <a:off x="5040496" y="895619"/>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1_img13.png">    </p:cNvPr>
          <p:cNvPicPr>
            <a:picLocks noChangeAspect="1"/>
          </p:cNvPicPr>
          <p:nvPr/>
        </p:nvPicPr>
        <p:blipFill>
          <a:blip r:embed="rId7"/>
          <a:stretch>
            <a:fillRect/>
          </a:stretch>
        </p:blipFill>
        <p:spPr>
          <a:xfrm>
            <a:off x="5040496" y="895619"/>
            <a:ext cx="3470826" cy="539010"/>
          </a:xfrm>
          <a:prstGeom prst="rect">
            <a:avLst/>
          </a:prstGeom>
        </p:spPr>
      </p:pic>
      <p:pic>
        <p:nvPicPr>
          <p:cNvPr id="21" name="Image 7" descr="./images\slide1_img14.png">    </p:cNvPr>
          <p:cNvPicPr>
            <a:picLocks noChangeAspect="1"/>
          </p:cNvPicPr>
          <p:nvPr/>
        </p:nvPicPr>
        <p:blipFill>
          <a:blip r:embed="rId8"/>
          <a:stretch>
            <a:fillRect/>
          </a:stretch>
        </p:blipFill>
        <p:spPr>
          <a:xfrm>
            <a:off x="4972050" y="792000"/>
            <a:ext cx="3657600" cy="764771"/>
          </a:xfrm>
          <a:prstGeom prst="rect">
            <a:avLst/>
          </a:prstGeom>
        </p:spPr>
      </p:pic>
      <p:sp>
        <p:nvSpPr>
          <p:cNvPr id="22" name="Shape 12"/>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3" name="Text 13"/>
          <p:cNvSpPr/>
          <p:nvPr/>
        </p:nvSpPr>
        <p:spPr>
          <a:xfrm>
            <a:off x="4972050" y="792000"/>
            <a:ext cx="3657600" cy="764771"/>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25" name="Text 15"/>
          <p:cNvSpPr/>
          <p:nvPr/>
        </p:nvSpPr>
        <p:spPr>
          <a:xfrm>
            <a:off x="4972050" y="792000"/>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1_img15.png">    </p:cNvPr>
          <p:cNvPicPr>
            <a:picLocks noChangeAspect="1"/>
          </p:cNvPicPr>
          <p:nvPr/>
        </p:nvPicPr>
        <p:blipFill>
          <a:blip r:embed="rId9"/>
          <a:stretch>
            <a:fillRect/>
          </a:stretch>
        </p:blipFill>
        <p:spPr>
          <a:xfrm>
            <a:off x="4972050" y="792000"/>
            <a:ext cx="3657600" cy="764771"/>
          </a:xfrm>
          <a:prstGeom prst="rect">
            <a:avLst/>
          </a:prstGeom>
        </p:spPr>
      </p:pic>
      <p:pic>
        <p:nvPicPr>
          <p:cNvPr id="27" name="Image 9" descr="./images\slide1_img16.png">    </p:cNvPr>
          <p:cNvPicPr>
            <a:picLocks noChangeAspect="1"/>
          </p:cNvPicPr>
          <p:nvPr/>
        </p:nvPicPr>
        <p:blipFill>
          <a:blip r:embed="rId10"/>
          <a:stretch>
            <a:fillRect/>
          </a:stretch>
        </p:blipFill>
        <p:spPr>
          <a:xfrm>
            <a:off x="4972050" y="3456202"/>
            <a:ext cx="3657600" cy="764771"/>
          </a:xfrm>
          <a:prstGeom prst="rect">
            <a:avLst/>
          </a:prstGeom>
        </p:spPr>
      </p:pic>
      <p:sp>
        <p:nvSpPr>
          <p:cNvPr id="28" name="Shape 16"/>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9" name="Text 17"/>
          <p:cNvSpPr/>
          <p:nvPr/>
        </p:nvSpPr>
        <p:spPr>
          <a:xfrm>
            <a:off x="4972050" y="3456202"/>
            <a:ext cx="3657600" cy="764771"/>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1" name="Text 19"/>
          <p:cNvSpPr/>
          <p:nvPr/>
        </p:nvSpPr>
        <p:spPr>
          <a:xfrm>
            <a:off x="4972050" y="3456202"/>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1_img17.png">    </p:cNvPr>
          <p:cNvPicPr>
            <a:picLocks noChangeAspect="1"/>
          </p:cNvPicPr>
          <p:nvPr/>
        </p:nvPicPr>
        <p:blipFill>
          <a:blip r:embed="rId11"/>
          <a:stretch>
            <a:fillRect/>
          </a:stretch>
        </p:blipFill>
        <p:spPr>
          <a:xfrm>
            <a:off x="4972050" y="3456202"/>
            <a:ext cx="3657600" cy="764771"/>
          </a:xfrm>
          <a:prstGeom prst="rect">
            <a:avLst/>
          </a:prstGeom>
        </p:spPr>
      </p:pic>
      <p:pic>
        <p:nvPicPr>
          <p:cNvPr id="33" name="Image 11" descr="./images\slide1_img18.png">    </p:cNvPr>
          <p:cNvPicPr>
            <a:picLocks noChangeAspect="1"/>
          </p:cNvPicPr>
          <p:nvPr/>
        </p:nvPicPr>
        <p:blipFill>
          <a:blip r:embed="rId12"/>
          <a:stretch>
            <a:fillRect/>
          </a:stretch>
        </p:blipFill>
        <p:spPr>
          <a:xfrm>
            <a:off x="4972050" y="2098877"/>
            <a:ext cx="3657600" cy="764771"/>
          </a:xfrm>
          <a:prstGeom prst="rect">
            <a:avLst/>
          </a:prstGeom>
        </p:spPr>
      </p:pic>
      <p:sp>
        <p:nvSpPr>
          <p:cNvPr id="34" name="Shape 20"/>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35" name="Text 21"/>
          <p:cNvSpPr/>
          <p:nvPr/>
        </p:nvSpPr>
        <p:spPr>
          <a:xfrm>
            <a:off x="4972050" y="2098877"/>
            <a:ext cx="3657600" cy="764771"/>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7" name="Text 23"/>
          <p:cNvSpPr/>
          <p:nvPr/>
        </p:nvSpPr>
        <p:spPr>
          <a:xfrm>
            <a:off x="4972050" y="2098877"/>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1_img19.png">    </p:cNvPr>
          <p:cNvPicPr>
            <a:picLocks noChangeAspect="1"/>
          </p:cNvPicPr>
          <p:nvPr/>
        </p:nvPicPr>
        <p:blipFill>
          <a:blip r:embed="rId13"/>
          <a:stretch>
            <a:fillRect/>
          </a:stretch>
        </p:blipFill>
        <p:spPr>
          <a:xfrm>
            <a:off x="4972050" y="2098877"/>
            <a:ext cx="3657600" cy="764771"/>
          </a:xfrm>
          <a:prstGeom prst="rect">
            <a:avLst/>
          </a:prstGeom>
        </p:spPr>
      </p:pic>
      <p:sp>
        <p:nvSpPr>
          <p:cNvPr id="39" name="Shape 24"/>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FFFFFF">
              <a:alpha val="0"/>
            </a:srgbClr>
          </a:solidFill>
          <a:ln/>
        </p:spPr>
      </p:sp>
      <p:sp>
        <p:nvSpPr>
          <p:cNvPr id="40" name="Text 25"/>
          <p:cNvSpPr/>
          <p:nvPr/>
        </p:nvSpPr>
        <p:spPr>
          <a:xfrm>
            <a:off x="87167" y="744598"/>
            <a:ext cx="3918345" cy="5143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000000">
              <a:alpha val="0"/>
            </a:srgbClr>
          </a:solidFill>
          <a:ln/>
        </p:spPr>
      </p:sp>
      <p:sp>
        <p:nvSpPr>
          <p:cNvPr id="42" name="Text 27"/>
          <p:cNvSpPr/>
          <p:nvPr/>
        </p:nvSpPr>
        <p:spPr>
          <a:xfrm>
            <a:off x="87167" y="744598"/>
            <a:ext cx="3918345" cy="514350"/>
          </a:xfrm>
          <a:prstGeom prst="rect">
            <a:avLst/>
          </a:prstGeom>
          <a:noFill/>
          <a:ln/>
        </p:spPr>
        <p:txBody>
          <a:bodyPr wrap="square" rtlCol="0" anchor="t"/>
          <a:lstStyle/>
          <a:p>
            <a:pPr algn="l"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Reja: </a:t>
            </a:r>
            <a:endParaRPr lang="en-US" sz="1050" dirty="0"/>
          </a:p>
        </p:txBody>
      </p:sp>
      <p:sp>
        <p:nvSpPr>
          <p:cNvPr id="43" name="Shape 28"/>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4" name="Text 29"/>
          <p:cNvSpPr/>
          <p:nvPr/>
        </p:nvSpPr>
        <p:spPr>
          <a:xfrm>
            <a:off x="4339822" y="789952"/>
            <a:ext cx="519060" cy="828675"/>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46" name="Text 31"/>
          <p:cNvSpPr/>
          <p:nvPr/>
        </p:nvSpPr>
        <p:spPr>
          <a:xfrm>
            <a:off x="4339822" y="78995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47" name="Shape 32"/>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8" name="Text 33"/>
          <p:cNvSpPr/>
          <p:nvPr/>
        </p:nvSpPr>
        <p:spPr>
          <a:xfrm>
            <a:off x="4339822" y="2147277"/>
            <a:ext cx="519060" cy="828675"/>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0" name="Text 35"/>
          <p:cNvSpPr/>
          <p:nvPr/>
        </p:nvSpPr>
        <p:spPr>
          <a:xfrm>
            <a:off x="4339822" y="2147277"/>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51" name="Shape 36"/>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52" name="Text 37"/>
          <p:cNvSpPr/>
          <p:nvPr/>
        </p:nvSpPr>
        <p:spPr>
          <a:xfrm>
            <a:off x="4339822" y="3504602"/>
            <a:ext cx="519060" cy="828675"/>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4" name="Text 39"/>
          <p:cNvSpPr/>
          <p:nvPr/>
        </p:nvSpPr>
        <p:spPr>
          <a:xfrm>
            <a:off x="4339822" y="350460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55" name="Shape 40"/>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56" name="Text 41"/>
          <p:cNvSpPr/>
          <p:nvPr/>
        </p:nvSpPr>
        <p:spPr>
          <a:xfrm>
            <a:off x="5040496" y="901652"/>
            <a:ext cx="3470826" cy="285750"/>
          </a:xfrm>
          <a:prstGeom prst="rect">
            <a:avLst/>
          </a:prstGeom>
          <a:noFill/>
          <a:ln/>
        </p:spPr>
        <p:txBody>
          <a:bodyPr wrap="square" rtlCol="0" anchor="t"/>
          <a:lstStyle/>
          <a:p>
            <a:pPr indent="0" marL="0">
              <a:spcBef>
                <a:spcPts val="375"/>
              </a:spcBef>
              <a:buNone/>
            </a:pPr>
            <a:endParaRPr lang="en-US" sz="1050" dirty="0"/>
          </a:p>
        </p:txBody>
      </p:sp>
      <p:sp>
        <p:nvSpPr>
          <p:cNvPr id="57" name="Shape 42"/>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58" name="Text 43"/>
          <p:cNvSpPr/>
          <p:nvPr/>
        </p:nvSpPr>
        <p:spPr>
          <a:xfrm>
            <a:off x="5040496" y="901652"/>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1. Nerv tizimi o'smalari haqida umumiy ma'lumot</a:t>
            </a:r>
            <a:endParaRPr lang="en-US" sz="1050" dirty="0"/>
          </a:p>
        </p:txBody>
      </p:sp>
      <p:sp>
        <p:nvSpPr>
          <p:cNvPr id="59" name="Shape 44"/>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0" name="Text 45"/>
          <p:cNvSpPr/>
          <p:nvPr/>
        </p:nvSpPr>
        <p:spPr>
          <a:xfrm>
            <a:off x="5040496" y="2208530"/>
            <a:ext cx="3470826" cy="285750"/>
          </a:xfrm>
          <a:prstGeom prst="rect">
            <a:avLst/>
          </a:prstGeom>
          <a:noFill/>
          <a:ln/>
        </p:spPr>
        <p:txBody>
          <a:bodyPr wrap="square" rtlCol="0" anchor="t"/>
          <a:lstStyle/>
          <a:p>
            <a:pPr indent="0" marL="0">
              <a:spcBef>
                <a:spcPts val="375"/>
              </a:spcBef>
              <a:buNone/>
            </a:pPr>
            <a:endParaRPr lang="en-US" sz="1050" dirty="0"/>
          </a:p>
        </p:txBody>
      </p:sp>
      <p:sp>
        <p:nvSpPr>
          <p:cNvPr id="61" name="Shape 46"/>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2" name="Text 47"/>
          <p:cNvSpPr/>
          <p:nvPr/>
        </p:nvSpPr>
        <p:spPr>
          <a:xfrm>
            <a:off x="5040496" y="2208530"/>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2. Nerv tizimi o'smalari turlari va ularning simptomlari</a:t>
            </a:r>
            <a:endParaRPr lang="en-US" sz="1050" dirty="0"/>
          </a:p>
        </p:txBody>
      </p:sp>
      <p:sp>
        <p:nvSpPr>
          <p:cNvPr id="63" name="Shape 48"/>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4" name="Text 49"/>
          <p:cNvSpPr/>
          <p:nvPr/>
        </p:nvSpPr>
        <p:spPr>
          <a:xfrm>
            <a:off x="5040496" y="3567401"/>
            <a:ext cx="3470826" cy="285750"/>
          </a:xfrm>
          <a:prstGeom prst="rect">
            <a:avLst/>
          </a:prstGeom>
          <a:noFill/>
          <a:ln/>
        </p:spPr>
        <p:txBody>
          <a:bodyPr wrap="square" rtlCol="0" anchor="t"/>
          <a:lstStyle/>
          <a:p>
            <a:pPr indent="0" marL="0">
              <a:spcBef>
                <a:spcPts val="375"/>
              </a:spcBef>
              <a:buNone/>
            </a:pPr>
            <a:endParaRPr lang="en-US" sz="1050" dirty="0"/>
          </a:p>
        </p:txBody>
      </p:sp>
      <p:sp>
        <p:nvSpPr>
          <p:cNvPr id="65" name="Shape 50"/>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6" name="Text 51"/>
          <p:cNvSpPr/>
          <p:nvPr/>
        </p:nvSpPr>
        <p:spPr>
          <a:xfrm>
            <a:off x="5040496" y="3567401"/>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3. Nerv tizimi o'smalarini davolash usullari</a:t>
            </a:r>
            <a:endParaRPr lang="en-US" sz="1050" dirty="0"/>
          </a:p>
        </p:txBody>
      </p:sp>
      <p:pic>
        <p:nvPicPr>
          <p:cNvPr id="67" name="Image 13" descr="./images\slide1_img20.png">    </p:cNvPr>
          <p:cNvPicPr>
            <a:picLocks noChangeAspect="1"/>
          </p:cNvPicPr>
          <p:nvPr/>
        </p:nvPicPr>
        <p:blipFill>
          <a:blip r:embed="rId14"/>
          <a:stretch>
            <a:fillRect/>
          </a:stretch>
        </p:blipFill>
        <p:spPr>
          <a:xfrm>
            <a:off x="890516" y="2422794"/>
            <a:ext cx="1839121" cy="2072151"/>
          </a:xfrm>
          <a:prstGeom prst="rect">
            <a:avLst/>
          </a:prstGeom>
        </p:spPr>
      </p:pic>
      <p:sp>
        <p:nvSpPr>
          <p:cNvPr id="68" name="Shape 52"/>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69" name="Text 53"/>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70" name="Shape 54"/>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FFFFFF">
              <a:alpha val="0"/>
            </a:srgbClr>
          </a:solidFill>
          <a:ln/>
        </p:spPr>
      </p:sp>
      <p:sp>
        <p:nvSpPr>
          <p:cNvPr id="71" name="Text 55"/>
          <p:cNvSpPr/>
          <p:nvPr/>
        </p:nvSpPr>
        <p:spPr>
          <a:xfrm>
            <a:off x="890516" y="2422794"/>
            <a:ext cx="1839121" cy="2072151"/>
          </a:xfrm>
          <a:prstGeom prst="rect">
            <a:avLst/>
          </a:prstGeom>
          <a:noFill/>
          <a:ln/>
        </p:spPr>
        <p:txBody>
          <a:bodyPr wrap="square" rtlCol="0" anchor="t"/>
          <a:lstStyle/>
          <a:p>
            <a:pPr indent="0" marL="0">
              <a:spcBef>
                <a:spcPts val="375"/>
              </a:spcBef>
              <a:buNone/>
            </a:pPr>
            <a:endParaRPr lang="en-US" sz="1050" dirty="0"/>
          </a:p>
        </p:txBody>
      </p:sp>
      <p:sp>
        <p:nvSpPr>
          <p:cNvPr id="72" name="Shape 56"/>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73" name="Text 57"/>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74" name="Image 14" descr="./images\slide1_img21.png">    </p:cNvPr>
          <p:cNvPicPr>
            <a:picLocks noChangeAspect="1"/>
          </p:cNvPicPr>
          <p:nvPr/>
        </p:nvPicPr>
        <p:blipFill>
          <a:blip r:embed="rId15"/>
          <a:stretch>
            <a:fillRect/>
          </a:stretch>
        </p:blipFill>
        <p:spPr>
          <a:xfrm>
            <a:off x="890516" y="2422794"/>
            <a:ext cx="1839121" cy="2072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3573535"/>
                <a:gridCol w="3573535"/>
              </a:tblGrid>
              <a:tr h="554295">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O'sma Turi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Qisqacha Tavsif</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Astrositoma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Miya astrositlaridan kelib chiqadi.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Meningioma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Meningesdan kelib chiqadigan o'smalar.</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Neuroblastoma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Asosan bolalarda uchraydigan o'sma.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Glioblastoma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Eng agressiv nerv tizimi o'smasi.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haqida umumiy ma'lumot</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Umumiy ma'lumot</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miyada yoki orqa miya nervlarida paydo bo'ladi. Ular benign (yaxshi sifatli) yoki malign (yomon sifatli) bo'lishi mumkin. O'smalar nerv to'qimalaridan yoki boshqa to'qimalardan kelib chiqishi mumkin.</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Umumiy belgilari: bosh og'rig'i, muvozanatni yo'qotish, ko'rish qobiliyatining pasayishi. Shuningdek, o'smalar o'sishi davomida nerv tizimining boshqa qismlariga ta'sir ko'rsatishi mumkin.</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aniqlash uchun MRT, KT va boshqa tasviriy tekshiruvlar qo'llaniladi. Davolash usullari xirurgik aralashuv, radioterapiya va kimyoterapiyani o'z ichiga oladi.</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ikkiga bo'linadi: benign (yomon emas) va malign (yomon). Har bir tur o'ziga xos simptomlar va davolash usullariga ega.</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Benign o'smalar</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Benign nerv o'smalari ko'pincha sekin o'sadi va atrofdagi to'qimalarga zarar yetkazmaydi. Misollar: meningioma, neuroma.</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Malign o'smalar</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Malign nerv o'smalari tez o'sadi va atrofdagi to'qimalarga ta'sir qiladi. Misollar: glioblastoma, schwannoma.</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 simptomlari</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Umumiy simptomlar: bosh og'rig'i, muvozanatni yo'qotish, sezgi o'zgarishlari, mushaklar zaifligi. Har bir o'sma turiga qarab simptomlar farq qiladi.</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Davolash usullari</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F1"/>
        </a:solidFill>
      </p:bgPr>
    </p:bg>
    <p:spTree>
      <p:nvGrpSpPr>
        <p:cNvPr id="1" name=""/>
        <p:cNvGrpSpPr/>
        <p:nvPr/>
      </p:nvGrpSpPr>
      <p:grpSpPr>
        <a:xfrm>
          <a:off x="0" y="0"/>
          <a:ext cx="0" cy="0"/>
          <a:chOff x="0" y="0"/>
          <a:chExt cx="0" cy="0"/>
        </a:xfrm>
      </p:grpSpPr>
      <p:pic>
        <p:nvPicPr>
          <p:cNvPr id="2" name="Image 0" descr="./images\slide7_img71.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7_img72.png">    </p:cNvPr>
          <p:cNvPicPr>
            <a:picLocks noChangeAspect="1"/>
          </p:cNvPicPr>
          <p:nvPr/>
        </p:nvPicPr>
        <p:blipFill>
          <a:blip r:embed="rId2"/>
          <a:stretch>
            <a:fillRect/>
          </a:stretch>
        </p:blipFill>
        <p:spPr>
          <a:xfrm>
            <a:off x="998990" y="2046872"/>
            <a:ext cx="590056" cy="590056"/>
          </a:xfrm>
          <a:prstGeom prst="rect">
            <a:avLst/>
          </a:prstGeom>
        </p:spPr>
      </p:pic>
      <p:sp>
        <p:nvSpPr>
          <p:cNvPr id="4" name="Shape 0"/>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 name="Text 1"/>
          <p:cNvSpPr/>
          <p:nvPr/>
        </p:nvSpPr>
        <p:spPr>
          <a:xfrm>
            <a:off x="998990" y="2046872"/>
            <a:ext cx="590056" cy="5900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7" name="Text 3"/>
          <p:cNvSpPr/>
          <p:nvPr/>
        </p:nvSpPr>
        <p:spPr>
          <a:xfrm>
            <a:off x="998990" y="2046872"/>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8" name="Shape 4"/>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9" name="Text 5"/>
          <p:cNvSpPr/>
          <p:nvPr/>
        </p:nvSpPr>
        <p:spPr>
          <a:xfrm>
            <a:off x="1054308" y="2074531"/>
            <a:ext cx="479420" cy="215875"/>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11" name="Text 7"/>
          <p:cNvSpPr/>
          <p:nvPr/>
        </p:nvSpPr>
        <p:spPr>
          <a:xfrm>
            <a:off x="1054308" y="2074531"/>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2" name="Image 2" descr="./images\slide7_img73.png">    </p:cNvPr>
          <p:cNvPicPr>
            <a:picLocks noChangeAspect="1"/>
          </p:cNvPicPr>
          <p:nvPr/>
        </p:nvPicPr>
        <p:blipFill>
          <a:blip r:embed="rId3"/>
          <a:stretch>
            <a:fillRect/>
          </a:stretch>
        </p:blipFill>
        <p:spPr>
          <a:xfrm rot="-1020000">
            <a:off x="4361650" y="2004586"/>
            <a:ext cx="1018992" cy="1264684"/>
          </a:xfrm>
          <a:prstGeom prst="rect">
            <a:avLst/>
          </a:prstGeom>
        </p:spPr>
      </p:pic>
      <p:sp>
        <p:nvSpPr>
          <p:cNvPr id="13" name="Shape 8"/>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FFFFFF">
              <a:alpha val="0"/>
            </a:srgbClr>
          </a:solidFill>
          <a:ln/>
        </p:spPr>
      </p:sp>
      <p:sp>
        <p:nvSpPr>
          <p:cNvPr id="14" name="Text 9"/>
          <p:cNvSpPr/>
          <p:nvPr/>
        </p:nvSpPr>
        <p:spPr>
          <a:xfrm>
            <a:off x="998990" y="531999"/>
            <a:ext cx="7383349" cy="723900"/>
          </a:xfrm>
          <a:prstGeom prst="rect">
            <a:avLst/>
          </a:prstGeom>
          <a:noFill/>
          <a:ln/>
        </p:spPr>
        <p:txBody>
          <a:bodyPr wrap="square" rtlCol="0" anchor="t"/>
          <a:lstStyle/>
          <a:p>
            <a:pPr indent="0" marL="0">
              <a:spcBef>
                <a:spcPts val="375"/>
              </a:spcBef>
              <a:buNone/>
            </a:pPr>
            <a:endParaRPr lang="en-US" sz="1050" dirty="0"/>
          </a:p>
        </p:txBody>
      </p:sp>
      <p:sp>
        <p:nvSpPr>
          <p:cNvPr id="15" name="Shape 10"/>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000000">
              <a:alpha val="0"/>
            </a:srgbClr>
          </a:solidFill>
          <a:ln/>
        </p:spPr>
      </p:sp>
      <p:sp>
        <p:nvSpPr>
          <p:cNvPr id="16" name="Text 11"/>
          <p:cNvSpPr/>
          <p:nvPr/>
        </p:nvSpPr>
        <p:spPr>
          <a:xfrm>
            <a:off x="998990" y="531999"/>
            <a:ext cx="7383349" cy="723900"/>
          </a:xfrm>
          <a:prstGeom prst="rect">
            <a:avLst/>
          </a:prstGeom>
          <a:noFill/>
          <a:ln/>
        </p:spPr>
        <p:txBody>
          <a:bodyPr wrap="square" rtlCol="0" anchor="t"/>
          <a:lstStyle/>
          <a:p>
            <a:pPr algn="l" indent="0" marL="0">
              <a:spcBef>
                <a:spcPts val="375"/>
              </a:spcBef>
              <a:buNone/>
            </a:pPr>
            <a:r>
              <a:rPr lang="en-US" sz="4950" dirty="0">
                <a:solidFill>
                  <a:srgbClr val="45464D"/>
                </a:solidFill>
                <a:latin typeface="Caveat Brush" pitchFamily="34" charset="0"/>
                <a:ea typeface="Caveat Brush" pitchFamily="34" charset="-122"/>
                <a:cs typeface="Caveat Brush" pitchFamily="34" charset="-120"/>
              </a:rPr>
              <a:t>Nerv tizimi o'smalari: Turlari va simptomlari</a:t>
            </a:r>
            <a:endParaRPr lang="en-US" sz="1050" dirty="0"/>
          </a:p>
        </p:txBody>
      </p:sp>
      <p:sp>
        <p:nvSpPr>
          <p:cNvPr id="17" name="Shape 12"/>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FFFFFF">
              <a:alpha val="0"/>
            </a:srgbClr>
          </a:solidFill>
          <a:ln/>
        </p:spPr>
      </p:sp>
      <p:sp>
        <p:nvSpPr>
          <p:cNvPr id="18" name="Text 13"/>
          <p:cNvSpPr/>
          <p:nvPr/>
        </p:nvSpPr>
        <p:spPr>
          <a:xfrm>
            <a:off x="1804873" y="2571750"/>
            <a:ext cx="2026586" cy="1802559"/>
          </a:xfrm>
          <a:prstGeom prst="rect">
            <a:avLst/>
          </a:prstGeom>
          <a:noFill/>
          <a:ln/>
        </p:spPr>
        <p:txBody>
          <a:bodyPr wrap="square" rtlCol="0" anchor="t"/>
          <a:lstStyle/>
          <a:p>
            <a:pPr indent="0" marL="0">
              <a:spcBef>
                <a:spcPts val="375"/>
              </a:spcBef>
              <a:buNone/>
            </a:pPr>
            <a:endParaRPr lang="en-US" sz="1050" dirty="0"/>
          </a:p>
        </p:txBody>
      </p:sp>
      <p:sp>
        <p:nvSpPr>
          <p:cNvPr id="19" name="Shape 14"/>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000000">
              <a:alpha val="0"/>
            </a:srgbClr>
          </a:solidFill>
          <a:ln/>
        </p:spPr>
      </p:sp>
      <p:sp>
        <p:nvSpPr>
          <p:cNvPr id="20" name="Text 15"/>
          <p:cNvSpPr/>
          <p:nvPr/>
        </p:nvSpPr>
        <p:spPr>
          <a:xfrm>
            <a:off x="1804873" y="2571750"/>
            <a:ext cx="2026586" cy="180255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miya va umurtqa pog'onasida rivojlanadi. Ushbu o'smalar har xil simptomlarga sabab bo'lishi mumkin, bu esa bemorning hayot sifatiga ta'sir qiladi. O'smalar bening va malign bo'lishi mumkin, har bir turi turlicha davolash usullarini talab qiladi.</a:t>
            </a:r>
            <a:endParaRPr lang="en-US" sz="1050" dirty="0"/>
          </a:p>
        </p:txBody>
      </p:sp>
      <p:sp>
        <p:nvSpPr>
          <p:cNvPr id="21" name="Shape 16"/>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22" name="Text 17"/>
          <p:cNvSpPr/>
          <p:nvPr/>
        </p:nvSpPr>
        <p:spPr>
          <a:xfrm>
            <a:off x="1804873" y="2032584"/>
            <a:ext cx="2026586" cy="241399"/>
          </a:xfrm>
          <a:prstGeom prst="rect">
            <a:avLst/>
          </a:prstGeom>
          <a:noFill/>
          <a:ln/>
        </p:spPr>
        <p:txBody>
          <a:bodyPr wrap="square" rtlCol="0" anchor="t"/>
          <a:lstStyle/>
          <a:p>
            <a:pPr indent="0" marL="0">
              <a:spcBef>
                <a:spcPts val="375"/>
              </a:spcBef>
              <a:buNone/>
            </a:pPr>
            <a:endParaRPr lang="en-US" sz="1050" dirty="0"/>
          </a:p>
        </p:txBody>
      </p:sp>
      <p:sp>
        <p:nvSpPr>
          <p:cNvPr id="23" name="Shape 18"/>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24" name="Text 19"/>
          <p:cNvSpPr/>
          <p:nvPr/>
        </p:nvSpPr>
        <p:spPr>
          <a:xfrm>
            <a:off x="1804873" y="2032584"/>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 turlari</a:t>
            </a:r>
            <a:endParaRPr lang="en-US" sz="1050" dirty="0"/>
          </a:p>
        </p:txBody>
      </p:sp>
      <p:pic>
        <p:nvPicPr>
          <p:cNvPr id="25" name="Image 3" descr="./images\slide7_img74.png">    </p:cNvPr>
          <p:cNvPicPr>
            <a:picLocks noChangeAspect="1"/>
          </p:cNvPicPr>
          <p:nvPr/>
        </p:nvPicPr>
        <p:blipFill>
          <a:blip r:embed="rId4"/>
          <a:stretch>
            <a:fillRect/>
          </a:stretch>
        </p:blipFill>
        <p:spPr>
          <a:xfrm>
            <a:off x="1112106" y="2144560"/>
            <a:ext cx="363823" cy="394680"/>
          </a:xfrm>
          <a:prstGeom prst="rect">
            <a:avLst/>
          </a:prstGeom>
        </p:spPr>
      </p:pic>
      <p:sp>
        <p:nvSpPr>
          <p:cNvPr id="26" name="Shape 20"/>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FFFFFF">
              <a:alpha val="0"/>
            </a:srgbClr>
          </a:solidFill>
          <a:ln/>
        </p:spPr>
      </p:sp>
      <p:sp>
        <p:nvSpPr>
          <p:cNvPr id="27" name="Text 21"/>
          <p:cNvSpPr/>
          <p:nvPr/>
        </p:nvSpPr>
        <p:spPr>
          <a:xfrm>
            <a:off x="1294018" y="1488574"/>
            <a:ext cx="363823" cy="394680"/>
          </a:xfrm>
          <a:prstGeom prst="rect">
            <a:avLst/>
          </a:prstGeom>
          <a:noFill/>
          <a:ln/>
        </p:spPr>
        <p:txBody>
          <a:bodyPr wrap="square" rtlCol="0" anchor="t"/>
          <a:lstStyle/>
          <a:p>
            <a:pPr indent="0" marL="0">
              <a:spcBef>
                <a:spcPts val="375"/>
              </a:spcBef>
              <a:buNone/>
            </a:pPr>
            <a:endParaRPr lang="en-US" sz="1050" dirty="0"/>
          </a:p>
        </p:txBody>
      </p:sp>
      <p:sp>
        <p:nvSpPr>
          <p:cNvPr id="28" name="Shape 22"/>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000000">
              <a:alpha val="0"/>
            </a:srgbClr>
          </a:solidFill>
          <a:ln/>
        </p:spPr>
      </p:sp>
      <p:sp>
        <p:nvSpPr>
          <p:cNvPr id="29" name="Text 23"/>
          <p:cNvSpPr/>
          <p:nvPr/>
        </p:nvSpPr>
        <p:spPr>
          <a:xfrm>
            <a:off x="1294018" y="1488574"/>
            <a:ext cx="363823" cy="39468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0" name="Image 4" descr="./images\slide7_img75.png">    </p:cNvPr>
          <p:cNvPicPr>
            <a:picLocks noChangeAspect="1"/>
          </p:cNvPicPr>
          <p:nvPr/>
        </p:nvPicPr>
        <p:blipFill>
          <a:blip r:embed="rId5"/>
          <a:stretch>
            <a:fillRect/>
          </a:stretch>
        </p:blipFill>
        <p:spPr>
          <a:xfrm>
            <a:off x="5830897" y="2044376"/>
            <a:ext cx="590056" cy="590056"/>
          </a:xfrm>
          <a:prstGeom prst="rect">
            <a:avLst/>
          </a:prstGeom>
        </p:spPr>
      </p:pic>
      <p:sp>
        <p:nvSpPr>
          <p:cNvPr id="31" name="Shape 24"/>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32" name="Text 25"/>
          <p:cNvSpPr/>
          <p:nvPr/>
        </p:nvSpPr>
        <p:spPr>
          <a:xfrm>
            <a:off x="5830897" y="2044376"/>
            <a:ext cx="590056" cy="59005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34" name="Text 27"/>
          <p:cNvSpPr/>
          <p:nvPr/>
        </p:nvSpPr>
        <p:spPr>
          <a:xfrm>
            <a:off x="5830897" y="2044376"/>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5" name="Shape 28"/>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36" name="Text 29"/>
          <p:cNvSpPr/>
          <p:nvPr/>
        </p:nvSpPr>
        <p:spPr>
          <a:xfrm>
            <a:off x="5886215" y="2072035"/>
            <a:ext cx="479420" cy="215875"/>
          </a:xfrm>
          <a:prstGeom prst="rect">
            <a:avLst/>
          </a:prstGeom>
          <a:noFill/>
          <a:ln/>
        </p:spPr>
        <p:txBody>
          <a:bodyPr wrap="square" rtlCol="0" anchor="t"/>
          <a:lstStyle/>
          <a:p>
            <a:pPr indent="0" marL="0">
              <a:spcBef>
                <a:spcPts val="375"/>
              </a:spcBef>
              <a:buNone/>
            </a:pPr>
            <a:endParaRPr lang="en-US" sz="1050" dirty="0"/>
          </a:p>
        </p:txBody>
      </p:sp>
      <p:sp>
        <p:nvSpPr>
          <p:cNvPr id="37" name="Shape 30"/>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38" name="Text 31"/>
          <p:cNvSpPr/>
          <p:nvPr/>
        </p:nvSpPr>
        <p:spPr>
          <a:xfrm>
            <a:off x="5886215" y="2072035"/>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9" name="Shape 32"/>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FFFFFF">
              <a:alpha val="0"/>
            </a:srgbClr>
          </a:solidFill>
          <a:ln/>
        </p:spPr>
      </p:sp>
      <p:sp>
        <p:nvSpPr>
          <p:cNvPr id="40" name="Text 33"/>
          <p:cNvSpPr/>
          <p:nvPr/>
        </p:nvSpPr>
        <p:spPr>
          <a:xfrm>
            <a:off x="6636780" y="2396989"/>
            <a:ext cx="2026586" cy="1294639"/>
          </a:xfrm>
          <a:prstGeom prst="rect">
            <a:avLst/>
          </a:prstGeom>
          <a:noFill/>
          <a:ln/>
        </p:spPr>
        <p:txBody>
          <a:bodyPr wrap="square" rtlCol="0" anchor="t"/>
          <a:lstStyle/>
          <a:p>
            <a:pPr indent="0" marL="0">
              <a:spcBef>
                <a:spcPts val="375"/>
              </a:spcBef>
              <a:buNone/>
            </a:pPr>
            <a:endParaRPr lang="en-US" sz="1050" dirty="0"/>
          </a:p>
        </p:txBody>
      </p:sp>
      <p:sp>
        <p:nvSpPr>
          <p:cNvPr id="41" name="Shape 34"/>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000000">
              <a:alpha val="0"/>
            </a:srgbClr>
          </a:solidFill>
          <a:ln/>
        </p:spPr>
      </p:sp>
      <p:sp>
        <p:nvSpPr>
          <p:cNvPr id="42" name="Text 35"/>
          <p:cNvSpPr/>
          <p:nvPr/>
        </p:nvSpPr>
        <p:spPr>
          <a:xfrm>
            <a:off x="6636780" y="2396989"/>
            <a:ext cx="2026586" cy="12946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1. Meningioma: Bosh miya o'smasi, asosan, bening.2. Astrositoma: Miya to'qimasida paydo bo'ladi, malign bo'lishi mumkin.3. Neuroblastoma: Asosan, bolalarda uchraydi, malign xarakterga ega.4. Ependimoma: Umurtqa pog'onasi va miyaning ichki qismida paydo bo'ladi.</a:t>
            </a:r>
            <a:endParaRPr lang="en-US" sz="1050" dirty="0"/>
          </a:p>
        </p:txBody>
      </p:sp>
      <p:sp>
        <p:nvSpPr>
          <p:cNvPr id="43" name="Shape 36"/>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44" name="Text 37"/>
          <p:cNvSpPr/>
          <p:nvPr/>
        </p:nvSpPr>
        <p:spPr>
          <a:xfrm>
            <a:off x="6636780" y="2030089"/>
            <a:ext cx="2026586" cy="241399"/>
          </a:xfrm>
          <a:prstGeom prst="rect">
            <a:avLst/>
          </a:prstGeom>
          <a:noFill/>
          <a:ln/>
        </p:spPr>
        <p:txBody>
          <a:bodyPr wrap="square" rtlCol="0" anchor="t"/>
          <a:lstStyle/>
          <a:p>
            <a:pPr indent="0" marL="0">
              <a:spcBef>
                <a:spcPts val="375"/>
              </a:spcBef>
              <a:buNone/>
            </a:pPr>
            <a:endParaRPr lang="en-US" sz="1050" dirty="0"/>
          </a:p>
        </p:txBody>
      </p:sp>
      <p:sp>
        <p:nvSpPr>
          <p:cNvPr id="45" name="Shape 38"/>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46" name="Text 39"/>
          <p:cNvSpPr/>
          <p:nvPr/>
        </p:nvSpPr>
        <p:spPr>
          <a:xfrm>
            <a:off x="6636780" y="2030089"/>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Simptomlar</a:t>
            </a:r>
            <a:endParaRPr lang="en-US" sz="1050" dirty="0"/>
          </a:p>
        </p:txBody>
      </p:sp>
      <p:pic>
        <p:nvPicPr>
          <p:cNvPr id="47" name="Image 5" descr="./images\slide7_img76.png">    </p:cNvPr>
          <p:cNvPicPr>
            <a:picLocks noChangeAspect="1"/>
          </p:cNvPicPr>
          <p:nvPr/>
        </p:nvPicPr>
        <p:blipFill>
          <a:blip r:embed="rId6"/>
          <a:stretch>
            <a:fillRect/>
          </a:stretch>
        </p:blipFill>
        <p:spPr>
          <a:xfrm>
            <a:off x="5953101" y="2164353"/>
            <a:ext cx="345646" cy="350102"/>
          </a:xfrm>
          <a:prstGeom prst="rect">
            <a:avLst/>
          </a:prstGeom>
        </p:spPr>
      </p:pic>
      <p:pic>
        <p:nvPicPr>
          <p:cNvPr id="48" name="Image 6" descr="./images\slide7_img77.png">    </p:cNvPr>
          <p:cNvPicPr>
            <a:picLocks noChangeAspect="1"/>
          </p:cNvPicPr>
          <p:nvPr/>
        </p:nvPicPr>
        <p:blipFill>
          <a:blip r:embed="rId7"/>
          <a:stretch>
            <a:fillRect/>
          </a:stretch>
        </p:blipFill>
        <p:spPr>
          <a:xfrm>
            <a:off x="3274429" y="4092459"/>
            <a:ext cx="590056" cy="590056"/>
          </a:xfrm>
          <a:prstGeom prst="rect">
            <a:avLst/>
          </a:prstGeom>
        </p:spPr>
      </p:pic>
      <p:sp>
        <p:nvSpPr>
          <p:cNvPr id="49" name="Shape 40"/>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0" name="Text 41"/>
          <p:cNvSpPr/>
          <p:nvPr/>
        </p:nvSpPr>
        <p:spPr>
          <a:xfrm>
            <a:off x="3274429" y="4092459"/>
            <a:ext cx="590056" cy="590056"/>
          </a:xfrm>
          <a:prstGeom prst="rect">
            <a:avLst/>
          </a:prstGeom>
          <a:noFill/>
          <a:ln/>
        </p:spPr>
        <p:txBody>
          <a:bodyPr wrap="square" rtlCol="0" anchor="t"/>
          <a:lstStyle/>
          <a:p>
            <a:pPr indent="0" marL="0">
              <a:spcBef>
                <a:spcPts val="375"/>
              </a:spcBef>
              <a:buNone/>
            </a:pPr>
            <a:endParaRPr lang="en-US" sz="1050" dirty="0"/>
          </a:p>
        </p:txBody>
      </p:sp>
      <p:sp>
        <p:nvSpPr>
          <p:cNvPr id="51" name="Shape 42"/>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52" name="Text 43"/>
          <p:cNvSpPr/>
          <p:nvPr/>
        </p:nvSpPr>
        <p:spPr>
          <a:xfrm>
            <a:off x="3274429" y="4092459"/>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3" name="Shape 44"/>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54" name="Text 45"/>
          <p:cNvSpPr/>
          <p:nvPr/>
        </p:nvSpPr>
        <p:spPr>
          <a:xfrm>
            <a:off x="3329747" y="4120118"/>
            <a:ext cx="479420" cy="215875"/>
          </a:xfrm>
          <a:prstGeom prst="rect">
            <a:avLst/>
          </a:prstGeom>
          <a:noFill/>
          <a:ln/>
        </p:spPr>
        <p:txBody>
          <a:bodyPr wrap="square" rtlCol="0" anchor="t"/>
          <a:lstStyle/>
          <a:p>
            <a:pPr indent="0" marL="0">
              <a:spcBef>
                <a:spcPts val="375"/>
              </a:spcBef>
              <a:buNone/>
            </a:pPr>
            <a:endParaRPr lang="en-US" sz="1050" dirty="0"/>
          </a:p>
        </p:txBody>
      </p:sp>
      <p:sp>
        <p:nvSpPr>
          <p:cNvPr id="55" name="Shape 46"/>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56" name="Text 47"/>
          <p:cNvSpPr/>
          <p:nvPr/>
        </p:nvSpPr>
        <p:spPr>
          <a:xfrm>
            <a:off x="3329747" y="4120118"/>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7" name="Shape 48"/>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FFFFFF">
              <a:alpha val="0"/>
            </a:srgbClr>
          </a:solidFill>
          <a:ln/>
        </p:spPr>
      </p:sp>
      <p:sp>
        <p:nvSpPr>
          <p:cNvPr id="58" name="Text 49"/>
          <p:cNvSpPr/>
          <p:nvPr/>
        </p:nvSpPr>
        <p:spPr>
          <a:xfrm>
            <a:off x="4080313" y="4335487"/>
            <a:ext cx="3243423" cy="857523"/>
          </a:xfrm>
          <a:prstGeom prst="rect">
            <a:avLst/>
          </a:prstGeom>
          <a:noFill/>
          <a:ln/>
        </p:spPr>
        <p:txBody>
          <a:bodyPr wrap="square" rtlCol="0" anchor="t"/>
          <a:lstStyle/>
          <a:p>
            <a:pPr indent="0" marL="0">
              <a:spcBef>
                <a:spcPts val="375"/>
              </a:spcBef>
              <a:buNone/>
            </a:pPr>
            <a:endParaRPr lang="en-US" sz="1050" dirty="0"/>
          </a:p>
        </p:txBody>
      </p:sp>
      <p:sp>
        <p:nvSpPr>
          <p:cNvPr id="59" name="Shape 50"/>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000000">
              <a:alpha val="0"/>
            </a:srgbClr>
          </a:solidFill>
          <a:ln/>
        </p:spPr>
      </p:sp>
      <p:sp>
        <p:nvSpPr>
          <p:cNvPr id="60" name="Text 51"/>
          <p:cNvSpPr/>
          <p:nvPr/>
        </p:nvSpPr>
        <p:spPr>
          <a:xfrm>
            <a:off x="4080313" y="4335487"/>
            <a:ext cx="3243423" cy="857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 Bosh og'rig'i- Ko'rish yoki eshitishdagi o'zgarishlar- Nerv tizimining boshqa faoliyatlarida buzilishlar- O'z-o'zidan kelib chiqadigan tutqanoqlar</a:t>
            </a:r>
            <a:endParaRPr lang="en-US" sz="1050" dirty="0"/>
          </a:p>
        </p:txBody>
      </p:sp>
      <p:sp>
        <p:nvSpPr>
          <p:cNvPr id="61" name="Shape 52"/>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FFFFFF">
              <a:alpha val="0"/>
            </a:srgbClr>
          </a:solidFill>
          <a:ln/>
        </p:spPr>
      </p:sp>
      <p:sp>
        <p:nvSpPr>
          <p:cNvPr id="62" name="Text 53"/>
          <p:cNvSpPr/>
          <p:nvPr/>
        </p:nvSpPr>
        <p:spPr>
          <a:xfrm>
            <a:off x="4080313" y="4078171"/>
            <a:ext cx="3042586" cy="241399"/>
          </a:xfrm>
          <a:prstGeom prst="rect">
            <a:avLst/>
          </a:prstGeom>
          <a:noFill/>
          <a:ln/>
        </p:spPr>
        <p:txBody>
          <a:bodyPr wrap="square" rtlCol="0" anchor="t"/>
          <a:lstStyle/>
          <a:p>
            <a:pPr indent="0" marL="0">
              <a:spcBef>
                <a:spcPts val="375"/>
              </a:spcBef>
              <a:buNone/>
            </a:pPr>
            <a:endParaRPr lang="en-US" sz="1050" dirty="0"/>
          </a:p>
        </p:txBody>
      </p:sp>
      <p:sp>
        <p:nvSpPr>
          <p:cNvPr id="63" name="Shape 54"/>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000000">
              <a:alpha val="0"/>
            </a:srgbClr>
          </a:solidFill>
          <a:ln/>
        </p:spPr>
      </p:sp>
      <p:sp>
        <p:nvSpPr>
          <p:cNvPr id="64" name="Text 55"/>
          <p:cNvSpPr/>
          <p:nvPr/>
        </p:nvSpPr>
        <p:spPr>
          <a:xfrm>
            <a:off x="4080313" y="4078171"/>
            <a:ext cx="3042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Davolash usullari</a:t>
            </a:r>
            <a:endParaRPr lang="en-US" sz="1050" dirty="0"/>
          </a:p>
        </p:txBody>
      </p:sp>
      <p:pic>
        <p:nvPicPr>
          <p:cNvPr id="65" name="Image 7" descr="./images\slide7_img78.png">    </p:cNvPr>
          <p:cNvPicPr>
            <a:picLocks noChangeAspect="1"/>
          </p:cNvPicPr>
          <p:nvPr/>
        </p:nvPicPr>
        <p:blipFill>
          <a:blip r:embed="rId8"/>
          <a:stretch>
            <a:fillRect/>
          </a:stretch>
        </p:blipFill>
        <p:spPr>
          <a:xfrm>
            <a:off x="3442299" y="4191607"/>
            <a:ext cx="254316" cy="36712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1F1"/>
        </a:solidFill>
      </p:bgPr>
    </p:bg>
    <p:spTree>
      <p:nvGrpSpPr>
        <p:cNvPr id="1" name=""/>
        <p:cNvGrpSpPr/>
        <p:nvPr/>
      </p:nvGrpSpPr>
      <p:grpSpPr>
        <a:xfrm>
          <a:off x="0" y="0"/>
          <a:ext cx="0" cy="0"/>
          <a:chOff x="0" y="0"/>
          <a:chExt cx="0" cy="0"/>
        </a:xfrm>
      </p:grpSpPr>
      <p:pic>
        <p:nvPicPr>
          <p:cNvPr id="2" name="Image 0" descr="./images\slide8_img7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8_img80.png">    </p:cNvPr>
          <p:cNvPicPr>
            <a:picLocks noChangeAspect="1"/>
          </p:cNvPicPr>
          <p:nvPr/>
        </p:nvPicPr>
        <p:blipFill>
          <a:blip r:embed="rId2"/>
          <a:stretch>
            <a:fillRect/>
          </a:stretch>
        </p:blipFill>
        <p:spPr>
          <a:xfrm>
            <a:off x="413364" y="1606860"/>
            <a:ext cx="2817893" cy="2510487"/>
          </a:xfrm>
          <a:prstGeom prst="rect">
            <a:avLst/>
          </a:prstGeom>
        </p:spPr>
      </p:pic>
      <p:pic>
        <p:nvPicPr>
          <p:cNvPr id="4" name="Image 2" descr="./images\slide8_img81.png">    </p:cNvPr>
          <p:cNvPicPr>
            <a:picLocks noChangeAspect="1"/>
          </p:cNvPicPr>
          <p:nvPr/>
        </p:nvPicPr>
        <p:blipFill>
          <a:blip r:embed="rId3"/>
          <a:stretch>
            <a:fillRect/>
          </a:stretch>
        </p:blipFill>
        <p:spPr>
          <a:xfrm>
            <a:off x="3382151" y="1860298"/>
            <a:ext cx="548816" cy="594191"/>
          </a:xfrm>
          <a:prstGeom prst="rect">
            <a:avLst/>
          </a:prstGeom>
        </p:spPr>
      </p:pic>
      <p:sp>
        <p:nvSpPr>
          <p:cNvPr id="5" name="Shape 0"/>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6" name="Text 1"/>
          <p:cNvSpPr/>
          <p:nvPr/>
        </p:nvSpPr>
        <p:spPr>
          <a:xfrm>
            <a:off x="3382151"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8" name="Text 3"/>
          <p:cNvSpPr/>
          <p:nvPr/>
        </p:nvSpPr>
        <p:spPr>
          <a:xfrm>
            <a:off x="3382151"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8_img82.png">    </p:cNvPr>
          <p:cNvPicPr>
            <a:picLocks noChangeAspect="1"/>
          </p:cNvPicPr>
          <p:nvPr/>
        </p:nvPicPr>
        <p:blipFill>
          <a:blip r:embed="rId4"/>
          <a:stretch>
            <a:fillRect/>
          </a:stretch>
        </p:blipFill>
        <p:spPr>
          <a:xfrm>
            <a:off x="6233995" y="1860298"/>
            <a:ext cx="548816" cy="594191"/>
          </a:xfrm>
          <a:prstGeom prst="rect">
            <a:avLst/>
          </a:prstGeom>
        </p:spPr>
      </p:pic>
      <p:sp>
        <p:nvSpPr>
          <p:cNvPr id="10" name="Shape 4"/>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1" name="Text 5"/>
          <p:cNvSpPr/>
          <p:nvPr/>
        </p:nvSpPr>
        <p:spPr>
          <a:xfrm>
            <a:off x="6233995"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3" name="Text 7"/>
          <p:cNvSpPr/>
          <p:nvPr/>
        </p:nvSpPr>
        <p:spPr>
          <a:xfrm>
            <a:off x="6233995"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8_img83.png">    </p:cNvPr>
          <p:cNvPicPr>
            <a:picLocks noChangeAspect="1"/>
          </p:cNvPicPr>
          <p:nvPr/>
        </p:nvPicPr>
        <p:blipFill>
          <a:blip r:embed="rId5"/>
          <a:stretch>
            <a:fillRect/>
          </a:stretch>
        </p:blipFill>
        <p:spPr>
          <a:xfrm>
            <a:off x="3529788" y="3523156"/>
            <a:ext cx="548816" cy="594191"/>
          </a:xfrm>
          <a:prstGeom prst="rect">
            <a:avLst/>
          </a:prstGeom>
        </p:spPr>
      </p:pic>
      <p:sp>
        <p:nvSpPr>
          <p:cNvPr id="15" name="Shape 8"/>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6" name="Text 9"/>
          <p:cNvSpPr/>
          <p:nvPr/>
        </p:nvSpPr>
        <p:spPr>
          <a:xfrm>
            <a:off x="3529788"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8" name="Text 11"/>
          <p:cNvSpPr/>
          <p:nvPr/>
        </p:nvSpPr>
        <p:spPr>
          <a:xfrm>
            <a:off x="3529788"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5" descr="./images\slide8_img84.png">    </p:cNvPr>
          <p:cNvPicPr>
            <a:picLocks noChangeAspect="1"/>
          </p:cNvPicPr>
          <p:nvPr/>
        </p:nvPicPr>
        <p:blipFill>
          <a:blip r:embed="rId6"/>
          <a:stretch>
            <a:fillRect/>
          </a:stretch>
        </p:blipFill>
        <p:spPr>
          <a:xfrm>
            <a:off x="6233995" y="3523156"/>
            <a:ext cx="548816" cy="594191"/>
          </a:xfrm>
          <a:prstGeom prst="rect">
            <a:avLst/>
          </a:prstGeom>
        </p:spPr>
      </p:pic>
      <p:sp>
        <p:nvSpPr>
          <p:cNvPr id="20" name="Shape 12"/>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21" name="Text 13"/>
          <p:cNvSpPr/>
          <p:nvPr/>
        </p:nvSpPr>
        <p:spPr>
          <a:xfrm>
            <a:off x="6233995"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23" name="Text 15"/>
          <p:cNvSpPr/>
          <p:nvPr/>
        </p:nvSpPr>
        <p:spPr>
          <a:xfrm>
            <a:off x="6233995"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24" name="Shape 16"/>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FFFFFF">
              <a:alpha val="0"/>
            </a:srgbClr>
          </a:solidFill>
          <a:ln/>
        </p:spPr>
      </p:sp>
      <p:sp>
        <p:nvSpPr>
          <p:cNvPr id="25" name="Text 17"/>
          <p:cNvSpPr/>
          <p:nvPr/>
        </p:nvSpPr>
        <p:spPr>
          <a:xfrm>
            <a:off x="874042" y="328068"/>
            <a:ext cx="8269958" cy="5524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000000">
              <a:alpha val="0"/>
            </a:srgbClr>
          </a:solidFill>
          <a:ln/>
        </p:spPr>
      </p:sp>
      <p:sp>
        <p:nvSpPr>
          <p:cNvPr id="27" name="Text 19"/>
          <p:cNvSpPr/>
          <p:nvPr/>
        </p:nvSpPr>
        <p:spPr>
          <a:xfrm>
            <a:off x="874042" y="328068"/>
            <a:ext cx="8269958"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Nerv tizimi o'smalarini davolash usullari</a:t>
            </a:r>
            <a:endParaRPr lang="en-US" sz="1050" dirty="0"/>
          </a:p>
        </p:txBody>
      </p:sp>
      <p:sp>
        <p:nvSpPr>
          <p:cNvPr id="28" name="Shape 20"/>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FFFFFF">
              <a:alpha val="0"/>
            </a:srgbClr>
          </a:solidFill>
          <a:ln/>
        </p:spPr>
      </p:sp>
      <p:sp>
        <p:nvSpPr>
          <p:cNvPr id="29" name="Text 21"/>
          <p:cNvSpPr/>
          <p:nvPr/>
        </p:nvSpPr>
        <p:spPr>
          <a:xfrm>
            <a:off x="4141256" y="2454489"/>
            <a:ext cx="1783062" cy="1011869"/>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000000">
              <a:alpha val="0"/>
            </a:srgbClr>
          </a:solidFill>
          <a:ln/>
        </p:spPr>
      </p:sp>
      <p:sp>
        <p:nvSpPr>
          <p:cNvPr id="31" name="Text 23"/>
          <p:cNvSpPr/>
          <p:nvPr/>
        </p:nvSpPr>
        <p:spPr>
          <a:xfrm>
            <a:off x="4141256" y="2454489"/>
            <a:ext cx="1783062" cy="101186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ikkiga bo'linadi: benign (yaxshi) va malign (yomon). Har bir tur uchun alohida davolash usullari mavjud.</a:t>
            </a:r>
            <a:endParaRPr lang="en-US" sz="1050" dirty="0"/>
          </a:p>
        </p:txBody>
      </p:sp>
      <p:sp>
        <p:nvSpPr>
          <p:cNvPr id="32" name="Shape 24"/>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FFFFFF">
              <a:alpha val="0"/>
            </a:srgbClr>
          </a:solidFill>
          <a:ln/>
        </p:spPr>
      </p:sp>
      <p:sp>
        <p:nvSpPr>
          <p:cNvPr id="33" name="Text 25"/>
          <p:cNvSpPr/>
          <p:nvPr/>
        </p:nvSpPr>
        <p:spPr>
          <a:xfrm>
            <a:off x="4116705" y="1836485"/>
            <a:ext cx="1924858" cy="253826"/>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000000">
              <a:alpha val="0"/>
            </a:srgbClr>
          </a:solidFill>
          <a:ln/>
        </p:spPr>
      </p:sp>
      <p:sp>
        <p:nvSpPr>
          <p:cNvPr id="35" name="Text 27"/>
          <p:cNvSpPr/>
          <p:nvPr/>
        </p:nvSpPr>
        <p:spPr>
          <a:xfrm>
            <a:off x="4116705" y="1836485"/>
            <a:ext cx="1924858"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Jarrohlik aralashuvi</a:t>
            </a:r>
            <a:endParaRPr lang="en-US" sz="1050" dirty="0"/>
          </a:p>
        </p:txBody>
      </p:sp>
      <p:sp>
        <p:nvSpPr>
          <p:cNvPr id="36" name="Shape 28"/>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FFFFFF">
              <a:alpha val="0"/>
            </a:srgbClr>
          </a:solidFill>
          <a:ln/>
        </p:spPr>
      </p:sp>
      <p:sp>
        <p:nvSpPr>
          <p:cNvPr id="37" name="Text 29"/>
          <p:cNvSpPr/>
          <p:nvPr/>
        </p:nvSpPr>
        <p:spPr>
          <a:xfrm>
            <a:off x="6941071" y="2507763"/>
            <a:ext cx="1688550" cy="1015393"/>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000000">
              <a:alpha val="0"/>
            </a:srgbClr>
          </a:solidFill>
          <a:ln/>
        </p:spPr>
      </p:sp>
      <p:sp>
        <p:nvSpPr>
          <p:cNvPr id="39" name="Text 31"/>
          <p:cNvSpPr/>
          <p:nvPr/>
        </p:nvSpPr>
        <p:spPr>
          <a:xfrm>
            <a:off x="6941071" y="2507763"/>
            <a:ext cx="1688550" cy="101539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tizimida joylashgan o'smalarni olib tashlash uchun jarrohlik ko'rsatmalari bo'lishi mumkin. Bu usul, odatda, o'sma o'sishining oldini olish va simptomlarni kamaytirish uchun qo'llaniladi.</a:t>
            </a:r>
            <a:endParaRPr lang="en-US" sz="1050" dirty="0"/>
          </a:p>
        </p:txBody>
      </p:sp>
      <p:sp>
        <p:nvSpPr>
          <p:cNvPr id="40" name="Shape 32"/>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FFFFFF">
              <a:alpha val="0"/>
            </a:srgbClr>
          </a:solidFill>
          <a:ln/>
        </p:spPr>
      </p:sp>
      <p:sp>
        <p:nvSpPr>
          <p:cNvPr id="41" name="Text 33"/>
          <p:cNvSpPr/>
          <p:nvPr/>
        </p:nvSpPr>
        <p:spPr>
          <a:xfrm>
            <a:off x="6941071" y="1836485"/>
            <a:ext cx="2019370" cy="537361"/>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000000">
              <a:alpha val="0"/>
            </a:srgbClr>
          </a:solidFill>
          <a:ln/>
        </p:spPr>
      </p:sp>
      <p:sp>
        <p:nvSpPr>
          <p:cNvPr id="43" name="Text 35"/>
          <p:cNvSpPr/>
          <p:nvPr/>
        </p:nvSpPr>
        <p:spPr>
          <a:xfrm>
            <a:off x="6941071" y="1836485"/>
            <a:ext cx="2019370" cy="537361"/>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Radiatsion terapiya</a:t>
            </a:r>
            <a:endParaRPr lang="en-US" sz="1050" dirty="0"/>
          </a:p>
        </p:txBody>
      </p:sp>
      <p:sp>
        <p:nvSpPr>
          <p:cNvPr id="44" name="Shape 36"/>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FFFFFF">
              <a:alpha val="0"/>
            </a:srgbClr>
          </a:solidFill>
          <a:ln/>
        </p:spPr>
      </p:sp>
      <p:sp>
        <p:nvSpPr>
          <p:cNvPr id="45" name="Text 37"/>
          <p:cNvSpPr/>
          <p:nvPr/>
        </p:nvSpPr>
        <p:spPr>
          <a:xfrm>
            <a:off x="4235768" y="4117347"/>
            <a:ext cx="1688550" cy="1803595"/>
          </a:xfrm>
          <a:prstGeom prst="rect">
            <a:avLst/>
          </a:prstGeom>
          <a:noFill/>
          <a:ln/>
        </p:spPr>
        <p:txBody>
          <a:bodyPr wrap="square" rtlCol="0" anchor="t"/>
          <a:lstStyle/>
          <a:p>
            <a:pPr indent="0" marL="0">
              <a:spcBef>
                <a:spcPts val="375"/>
              </a:spcBef>
              <a:buNone/>
            </a:pPr>
            <a:endParaRPr lang="en-US" sz="1050" dirty="0"/>
          </a:p>
        </p:txBody>
      </p:sp>
      <p:sp>
        <p:nvSpPr>
          <p:cNvPr id="46" name="Shape 38"/>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000000">
              <a:alpha val="0"/>
            </a:srgbClr>
          </a:solidFill>
          <a:ln/>
        </p:spPr>
      </p:sp>
      <p:sp>
        <p:nvSpPr>
          <p:cNvPr id="47" name="Text 39"/>
          <p:cNvSpPr/>
          <p:nvPr/>
        </p:nvSpPr>
        <p:spPr>
          <a:xfrm>
            <a:off x="4235768" y="4117347"/>
            <a:ext cx="1688550" cy="1803595"/>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Radiatsion terapiya, o'smalarni kamaytirish yoki yo'q qilish maqsadida, o'sma joylashgan joyga radiatsiya yuborish orqali amalga oshiriladi.</a:t>
            </a:r>
            <a:endParaRPr lang="en-US" sz="1050" dirty="0"/>
          </a:p>
        </p:txBody>
      </p:sp>
      <p:sp>
        <p:nvSpPr>
          <p:cNvPr id="48" name="Shape 40"/>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FFFFFF">
              <a:alpha val="0"/>
            </a:srgbClr>
          </a:solidFill>
          <a:ln/>
        </p:spPr>
      </p:sp>
      <p:sp>
        <p:nvSpPr>
          <p:cNvPr id="49" name="Text 41"/>
          <p:cNvSpPr/>
          <p:nvPr/>
        </p:nvSpPr>
        <p:spPr>
          <a:xfrm>
            <a:off x="4078605" y="3525267"/>
            <a:ext cx="1845741" cy="247650"/>
          </a:xfrm>
          <a:prstGeom prst="rect">
            <a:avLst/>
          </a:prstGeom>
          <a:noFill/>
          <a:ln/>
        </p:spPr>
        <p:txBody>
          <a:bodyPr wrap="square" rtlCol="0" anchor="t"/>
          <a:lstStyle/>
          <a:p>
            <a:pPr indent="0" marL="0">
              <a:spcBef>
                <a:spcPts val="375"/>
              </a:spcBef>
              <a:buNone/>
            </a:pPr>
            <a:endParaRPr lang="en-US" sz="1050" dirty="0"/>
          </a:p>
        </p:txBody>
      </p:sp>
      <p:sp>
        <p:nvSpPr>
          <p:cNvPr id="50" name="Shape 42"/>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000000">
              <a:alpha val="0"/>
            </a:srgbClr>
          </a:solidFill>
          <a:ln/>
        </p:spPr>
      </p:sp>
      <p:sp>
        <p:nvSpPr>
          <p:cNvPr id="51" name="Text 43"/>
          <p:cNvSpPr/>
          <p:nvPr/>
        </p:nvSpPr>
        <p:spPr>
          <a:xfrm>
            <a:off x="4078605" y="3525267"/>
            <a:ext cx="1845741" cy="247650"/>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Kimyoviy terapiya</a:t>
            </a:r>
            <a:endParaRPr lang="en-US" sz="1050" dirty="0"/>
          </a:p>
        </p:txBody>
      </p:sp>
      <p:sp>
        <p:nvSpPr>
          <p:cNvPr id="52" name="Shape 44"/>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FFFFFF">
              <a:alpha val="0"/>
            </a:srgbClr>
          </a:solidFill>
          <a:ln/>
        </p:spPr>
      </p:sp>
      <p:sp>
        <p:nvSpPr>
          <p:cNvPr id="53" name="Text 45"/>
          <p:cNvSpPr/>
          <p:nvPr/>
        </p:nvSpPr>
        <p:spPr>
          <a:xfrm>
            <a:off x="6941071" y="4117347"/>
            <a:ext cx="1688550" cy="1026153"/>
          </a:xfrm>
          <a:prstGeom prst="rect">
            <a:avLst/>
          </a:prstGeom>
          <a:noFill/>
          <a:ln/>
        </p:spPr>
        <p:txBody>
          <a:bodyPr wrap="square" rtlCol="0" anchor="t"/>
          <a:lstStyle/>
          <a:p>
            <a:pPr indent="0" marL="0">
              <a:spcBef>
                <a:spcPts val="375"/>
              </a:spcBef>
              <a:buNone/>
            </a:pPr>
            <a:endParaRPr lang="en-US" sz="1050" dirty="0"/>
          </a:p>
        </p:txBody>
      </p:sp>
      <p:sp>
        <p:nvSpPr>
          <p:cNvPr id="54" name="Shape 46"/>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000000">
              <a:alpha val="0"/>
            </a:srgbClr>
          </a:solidFill>
          <a:ln/>
        </p:spPr>
      </p:sp>
      <p:sp>
        <p:nvSpPr>
          <p:cNvPr id="55" name="Text 47"/>
          <p:cNvSpPr/>
          <p:nvPr/>
        </p:nvSpPr>
        <p:spPr>
          <a:xfrm>
            <a:off x="6941071" y="4117347"/>
            <a:ext cx="1688550" cy="102615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Kimyoviy terapiya, o'smalarni yo'q qilish uchun maxsus dori vositalaridan foydalanishni o'z ichiga oladi, bu esa malign o'smalarni davolashda keng qo'llaniladi.</a:t>
            </a:r>
            <a:endParaRPr lang="en-US" sz="1050" dirty="0"/>
          </a:p>
        </p:txBody>
      </p:sp>
      <p:sp>
        <p:nvSpPr>
          <p:cNvPr id="56" name="Shape 48"/>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FFFFFF">
              <a:alpha val="0"/>
            </a:srgbClr>
          </a:solidFill>
          <a:ln/>
        </p:spPr>
      </p:sp>
      <p:sp>
        <p:nvSpPr>
          <p:cNvPr id="57" name="Text 49"/>
          <p:cNvSpPr/>
          <p:nvPr/>
        </p:nvSpPr>
        <p:spPr>
          <a:xfrm>
            <a:off x="6941071" y="3525267"/>
            <a:ext cx="1960300" cy="253826"/>
          </a:xfrm>
          <a:prstGeom prst="rect">
            <a:avLst/>
          </a:prstGeom>
          <a:noFill/>
          <a:ln/>
        </p:spPr>
        <p:txBody>
          <a:bodyPr wrap="square" rtlCol="0" anchor="t"/>
          <a:lstStyle/>
          <a:p>
            <a:pPr indent="0" marL="0">
              <a:spcBef>
                <a:spcPts val="375"/>
              </a:spcBef>
              <a:buNone/>
            </a:pPr>
            <a:endParaRPr lang="en-US" sz="1050" dirty="0"/>
          </a:p>
        </p:txBody>
      </p:sp>
      <p:sp>
        <p:nvSpPr>
          <p:cNvPr id="58" name="Shape 50"/>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000000">
              <a:alpha val="0"/>
            </a:srgbClr>
          </a:solidFill>
          <a:ln/>
        </p:spPr>
      </p:sp>
      <p:sp>
        <p:nvSpPr>
          <p:cNvPr id="59" name="Text 51"/>
          <p:cNvSpPr/>
          <p:nvPr/>
        </p:nvSpPr>
        <p:spPr>
          <a:xfrm>
            <a:off x="6941071" y="3525267"/>
            <a:ext cx="1960300"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Maqsadli terapiya</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1F1"/>
        </a:solidFill>
      </p:bgPr>
    </p:bg>
    <p:spTree>
      <p:nvGrpSpPr>
        <p:cNvPr id="1" name=""/>
        <p:cNvGrpSpPr/>
        <p:nvPr/>
      </p:nvGrpSpPr>
      <p:grpSpPr>
        <a:xfrm>
          <a:off x="0" y="0"/>
          <a:ext cx="0" cy="0"/>
          <a:chOff x="0" y="0"/>
          <a:chExt cx="0" cy="0"/>
        </a:xfrm>
      </p:grpSpPr>
      <p:pic>
        <p:nvPicPr>
          <p:cNvPr id="2" name="Image 0" descr="./images\slide9_img85.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9_img86.png">    </p:cNvPr>
          <p:cNvPicPr>
            <a:picLocks noChangeAspect="1"/>
          </p:cNvPicPr>
          <p:nvPr/>
        </p:nvPicPr>
        <p:blipFill>
          <a:blip r:embed="rId2"/>
          <a:stretch>
            <a:fillRect/>
          </a:stretch>
        </p:blipFill>
        <p:spPr>
          <a:xfrm>
            <a:off x="-251991" y="1147736"/>
            <a:ext cx="9647983" cy="210502"/>
          </a:xfrm>
          <a:prstGeom prst="rect">
            <a:avLst/>
          </a:prstGeom>
        </p:spPr>
      </p:pic>
      <p:sp>
        <p:nvSpPr>
          <p:cNvPr id="4" name="Shape 0"/>
          <p:cNvSpPr/>
          <p:nvPr/>
        </p:nvSpPr>
        <p:spPr>
          <a:xfrm>
            <a:off x="-251991" y="1147736"/>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FFFFFF">
              <a:alpha val="0"/>
            </a:srgbClr>
          </a:solidFill>
          <a:ln/>
        </p:spPr>
      </p:sp>
      <p:sp>
        <p:nvSpPr>
          <p:cNvPr id="5" name="Text 1"/>
          <p:cNvSpPr/>
          <p:nvPr/>
        </p:nvSpPr>
        <p:spPr>
          <a:xfrm>
            <a:off x="-251991" y="1147736"/>
            <a:ext cx="9647983" cy="210502"/>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251991" y="1147736"/>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000000">
              <a:alpha val="0"/>
            </a:srgbClr>
          </a:solidFill>
          <a:ln/>
        </p:spPr>
      </p:sp>
      <p:sp>
        <p:nvSpPr>
          <p:cNvPr id="7" name="Text 3"/>
          <p:cNvSpPr/>
          <p:nvPr/>
        </p:nvSpPr>
        <p:spPr>
          <a:xfrm>
            <a:off x="-251991" y="1147736"/>
            <a:ext cx="9647983" cy="2105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9_img87.png">    </p:cNvPr>
          <p:cNvPicPr>
            <a:picLocks noChangeAspect="1"/>
          </p:cNvPicPr>
          <p:nvPr/>
        </p:nvPicPr>
        <p:blipFill>
          <a:blip r:embed="rId3"/>
          <a:stretch>
            <a:fillRect/>
          </a:stretch>
        </p:blipFill>
        <p:spPr>
          <a:xfrm>
            <a:off x="-251991" y="1147736"/>
            <a:ext cx="9647983" cy="210502"/>
          </a:xfrm>
          <a:prstGeom prst="rect">
            <a:avLst/>
          </a:prstGeom>
        </p:spPr>
      </p:pic>
      <p:pic>
        <p:nvPicPr>
          <p:cNvPr id="9" name="Image 3" descr="./images\slide9_img88.png">    </p:cNvPr>
          <p:cNvPicPr>
            <a:picLocks noChangeAspect="1"/>
          </p:cNvPicPr>
          <p:nvPr/>
        </p:nvPicPr>
        <p:blipFill>
          <a:blip r:embed="rId4"/>
          <a:stretch>
            <a:fillRect/>
          </a:stretch>
        </p:blipFill>
        <p:spPr>
          <a:xfrm rot="10800000">
            <a:off x="-251991" y="3490437"/>
            <a:ext cx="9647983" cy="210502"/>
          </a:xfrm>
          <a:prstGeom prst="rect">
            <a:avLst/>
          </a:prstGeom>
        </p:spPr>
      </p:pic>
      <p:sp>
        <p:nvSpPr>
          <p:cNvPr id="10" name="Shape 4"/>
          <p:cNvSpPr/>
          <p:nvPr/>
        </p:nvSpPr>
        <p:spPr>
          <a:xfrm rot="10800000">
            <a:off x="-251991" y="3490437"/>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FFFFFF">
              <a:alpha val="0"/>
            </a:srgbClr>
          </a:solidFill>
          <a:ln/>
        </p:spPr>
      </p:sp>
      <p:sp>
        <p:nvSpPr>
          <p:cNvPr id="11" name="Text 5"/>
          <p:cNvSpPr/>
          <p:nvPr/>
        </p:nvSpPr>
        <p:spPr>
          <a:xfrm rot="10800000">
            <a:off x="-251991" y="3490437"/>
            <a:ext cx="9647983" cy="210502"/>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10800000">
            <a:off x="-251991" y="3490437"/>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000000">
              <a:alpha val="0"/>
            </a:srgbClr>
          </a:solidFill>
          <a:ln/>
        </p:spPr>
      </p:sp>
      <p:sp>
        <p:nvSpPr>
          <p:cNvPr id="13" name="Text 7"/>
          <p:cNvSpPr/>
          <p:nvPr/>
        </p:nvSpPr>
        <p:spPr>
          <a:xfrm rot="10800000">
            <a:off x="-251991" y="3490437"/>
            <a:ext cx="9647983" cy="2105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9_img89.png">    </p:cNvPr>
          <p:cNvPicPr>
            <a:picLocks noChangeAspect="1"/>
          </p:cNvPicPr>
          <p:nvPr/>
        </p:nvPicPr>
        <p:blipFill>
          <a:blip r:embed="rId5"/>
          <a:stretch>
            <a:fillRect/>
          </a:stretch>
        </p:blipFill>
        <p:spPr>
          <a:xfrm rot="10800000">
            <a:off x="-251991" y="3490437"/>
            <a:ext cx="9647983" cy="210502"/>
          </a:xfrm>
          <a:prstGeom prst="rect">
            <a:avLst/>
          </a:prstGeom>
        </p:spPr>
      </p:pic>
      <p:pic>
        <p:nvPicPr>
          <p:cNvPr id="15" name="Image 5" descr="./images\slide9_img90.jpeg">    </p:cNvPr>
          <p:cNvPicPr>
            <a:picLocks noChangeAspect="1"/>
          </p:cNvPicPr>
          <p:nvPr/>
        </p:nvPicPr>
        <p:blipFill>
          <a:blip r:embed="rId6"/>
          <a:srcRect l="0" r="45747" t="17465" b="61812"/>
          <a:stretch/>
        </p:blipFill>
        <p:spPr>
          <a:xfrm>
            <a:off x="0" y="1252986"/>
            <a:ext cx="8778240" cy="2235277"/>
          </a:xfrm>
          <a:prstGeom prst="rect">
            <a:avLst/>
          </a:prstGeom>
        </p:spPr>
      </p:pic>
      <p:sp>
        <p:nvSpPr>
          <p:cNvPr id="16" name="Shape 8"/>
          <p:cNvSpPr/>
          <p:nvPr/>
        </p:nvSpPr>
        <p:spPr>
          <a:xfrm>
            <a:off x="874042" y="113254"/>
            <a:ext cx="7395900" cy="514350"/>
          </a:xfrm>
          <a:custGeom>
            <a:avLst/>
            <a:gdLst/>
            <a:ahLst/>
            <a:cxnLst/>
            <a:rect l="l" t="t" r="r" b="b"/>
            <a:pathLst>
              <a:path w="7395900" h="514350">
                <a:moveTo>
                  <a:pt x="0" y="0"/>
                </a:moveTo>
                <a:lnTo>
                  <a:pt x="7395900" y="0"/>
                </a:lnTo>
                <a:lnTo>
                  <a:pt x="7395900" y="514350"/>
                </a:lnTo>
                <a:lnTo>
                  <a:pt x="0" y="514350"/>
                </a:lnTo>
                <a:close/>
              </a:path>
            </a:pathLst>
          </a:custGeom>
          <a:solidFill>
            <a:srgbClr val="FFFFFF">
              <a:alpha val="0"/>
            </a:srgbClr>
          </a:solidFill>
          <a:ln/>
        </p:spPr>
      </p:sp>
      <p:sp>
        <p:nvSpPr>
          <p:cNvPr id="17" name="Text 9"/>
          <p:cNvSpPr/>
          <p:nvPr/>
        </p:nvSpPr>
        <p:spPr>
          <a:xfrm>
            <a:off x="874042" y="113254"/>
            <a:ext cx="7395900" cy="5143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113254"/>
            <a:ext cx="7395900" cy="514350"/>
          </a:xfrm>
          <a:custGeom>
            <a:avLst/>
            <a:gdLst/>
            <a:ahLst/>
            <a:cxnLst/>
            <a:rect l="l" t="t" r="r" b="b"/>
            <a:pathLst>
              <a:path w="7395900" h="514350">
                <a:moveTo>
                  <a:pt x="0" y="0"/>
                </a:moveTo>
                <a:lnTo>
                  <a:pt x="7395900" y="0"/>
                </a:lnTo>
                <a:lnTo>
                  <a:pt x="7395900" y="514350"/>
                </a:lnTo>
                <a:lnTo>
                  <a:pt x="0" y="514350"/>
                </a:lnTo>
                <a:close/>
              </a:path>
            </a:pathLst>
          </a:custGeom>
          <a:solidFill>
            <a:srgbClr val="000000">
              <a:alpha val="0"/>
            </a:srgbClr>
          </a:solidFill>
          <a:ln/>
        </p:spPr>
      </p:sp>
      <p:sp>
        <p:nvSpPr>
          <p:cNvPr id="19" name="Text 11"/>
          <p:cNvSpPr/>
          <p:nvPr/>
        </p:nvSpPr>
        <p:spPr>
          <a:xfrm>
            <a:off x="874042" y="113254"/>
            <a:ext cx="7395900" cy="514350"/>
          </a:xfrm>
          <a:prstGeom prst="rect">
            <a:avLst/>
          </a:prstGeom>
          <a:noFill/>
          <a:ln/>
        </p:spPr>
        <p:txBody>
          <a:bodyPr wrap="square" rtlCol="0" anchor="t"/>
          <a:lstStyle/>
          <a:p>
            <a:pPr algn="ctr"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Nerv tizimi o'smalarini davolash usullari</a:t>
            </a:r>
            <a:endParaRPr lang="en-US" sz="1050" dirty="0"/>
          </a:p>
        </p:txBody>
      </p:sp>
      <p:pic>
        <p:nvPicPr>
          <p:cNvPr id="20" name="Image 6" descr="./images\slide9_img91.png">    </p:cNvPr>
          <p:cNvPicPr>
            <a:picLocks noChangeAspect="1"/>
          </p:cNvPicPr>
          <p:nvPr/>
        </p:nvPicPr>
        <p:blipFill>
          <a:blip r:embed="rId7"/>
          <a:stretch>
            <a:fillRect/>
          </a:stretch>
        </p:blipFill>
        <p:spPr>
          <a:xfrm>
            <a:off x="7876431" y="113254"/>
            <a:ext cx="1129834" cy="1549648"/>
          </a:xfrm>
          <a:prstGeom prst="rect">
            <a:avLst/>
          </a:prstGeom>
        </p:spPr>
      </p:pic>
      <p:sp>
        <p:nvSpPr>
          <p:cNvPr id="21" name="Shape 12"/>
          <p:cNvSpPr/>
          <p:nvPr/>
        </p:nvSpPr>
        <p:spPr>
          <a:xfrm>
            <a:off x="2611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22" name="Text 13"/>
          <p:cNvSpPr/>
          <p:nvPr/>
        </p:nvSpPr>
        <p:spPr>
          <a:xfrm>
            <a:off x="26111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23" name="Shape 14"/>
          <p:cNvSpPr/>
          <p:nvPr/>
        </p:nvSpPr>
        <p:spPr>
          <a:xfrm>
            <a:off x="2611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24" name="Text 15"/>
          <p:cNvSpPr/>
          <p:nvPr/>
        </p:nvSpPr>
        <p:spPr>
          <a:xfrm>
            <a:off x="26111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tizimida o'smalarni davolashda bir nechta usullar mavjud. Ushbu usullar jarrohlik, radiatsiya terapiyasi va kimyoviy terapiyani o'z ichiga oladi. Har bir usulning o'ziga xos afzalliklari va kamchiliklari bor.</a:t>
            </a:r>
            <a:endParaRPr lang="en-US" sz="1050" dirty="0"/>
          </a:p>
        </p:txBody>
      </p:sp>
      <p:sp>
        <p:nvSpPr>
          <p:cNvPr id="25" name="Shape 16"/>
          <p:cNvSpPr/>
          <p:nvPr/>
        </p:nvSpPr>
        <p:spPr>
          <a:xfrm>
            <a:off x="61962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26" name="Text 17"/>
          <p:cNvSpPr/>
          <p:nvPr/>
        </p:nvSpPr>
        <p:spPr>
          <a:xfrm>
            <a:off x="619621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27" name="Shape 18"/>
          <p:cNvSpPr/>
          <p:nvPr/>
        </p:nvSpPr>
        <p:spPr>
          <a:xfrm>
            <a:off x="61962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28" name="Text 19"/>
          <p:cNvSpPr/>
          <p:nvPr/>
        </p:nvSpPr>
        <p:spPr>
          <a:xfrm>
            <a:off x="619621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davolashda individual yondashuv muhimdir. Bemorning yoshi, umumiy salomatligi va o'sma turi kabi omillarni hisobga olish zarur. Muvaffaqiyatli davolash uchun multidisiplinar jamoa bilan ishlash kerak.</a:t>
            </a:r>
            <a:endParaRPr lang="en-US" sz="1050" dirty="0"/>
          </a:p>
        </p:txBody>
      </p:sp>
      <p:sp>
        <p:nvSpPr>
          <p:cNvPr id="29" name="Shape 20"/>
          <p:cNvSpPr/>
          <p:nvPr/>
        </p:nvSpPr>
        <p:spPr>
          <a:xfrm>
            <a:off x="322866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30" name="Text 21"/>
          <p:cNvSpPr/>
          <p:nvPr/>
        </p:nvSpPr>
        <p:spPr>
          <a:xfrm>
            <a:off x="322866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31" name="Shape 22"/>
          <p:cNvSpPr/>
          <p:nvPr/>
        </p:nvSpPr>
        <p:spPr>
          <a:xfrm>
            <a:off x="322866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32" name="Text 23"/>
          <p:cNvSpPr/>
          <p:nvPr/>
        </p:nvSpPr>
        <p:spPr>
          <a:xfrm>
            <a:off x="322866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Jarrohlik- Radiatsiya terapiyasi- Kimyoviy terapiya- ImunoterapiyaHar bir usulning samaradorligi bemorlarning holatiga qarab farq qiladi.</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1F1"/>
        </a:solidFill>
      </p:bgPr>
    </p:bg>
    <p:spTree>
      <p:nvGrpSpPr>
        <p:cNvPr id="1" name=""/>
        <p:cNvGrpSpPr/>
        <p:nvPr/>
      </p:nvGrpSpPr>
      <p:grpSpPr>
        <a:xfrm>
          <a:off x="0" y="0"/>
          <a:ext cx="0" cy="0"/>
          <a:chOff x="0" y="0"/>
          <a:chExt cx="0" cy="0"/>
        </a:xfrm>
      </p:grpSpPr>
      <p:pic>
        <p:nvPicPr>
          <p:cNvPr id="2" name="Image 0" descr="./images\slide10_img9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0_img93.png">    </p:cNvPr>
          <p:cNvPicPr>
            <a:picLocks noChangeAspect="1"/>
          </p:cNvPicPr>
          <p:nvPr/>
        </p:nvPicPr>
        <p:blipFill>
          <a:blip r:embed="rId2"/>
          <a:stretch>
            <a:fillRect/>
          </a:stretch>
        </p:blipFill>
        <p:spPr>
          <a:xfrm>
            <a:off x="261790" y="359765"/>
            <a:ext cx="948272" cy="1498705"/>
          </a:xfrm>
          <a:prstGeom prst="rect">
            <a:avLst/>
          </a:prstGeom>
        </p:spPr>
      </p:pic>
      <p:pic>
        <p:nvPicPr>
          <p:cNvPr id="4" name="Image 2" descr="./images\slide10_img94.png">    </p:cNvPr>
          <p:cNvPicPr>
            <a:picLocks noChangeAspect="1"/>
          </p:cNvPicPr>
          <p:nvPr/>
        </p:nvPicPr>
        <p:blipFill>
          <a:blip r:embed="rId3"/>
          <a:stretch>
            <a:fillRect/>
          </a:stretch>
        </p:blipFill>
        <p:spPr>
          <a:xfrm>
            <a:off x="735926" y="1743752"/>
            <a:ext cx="2035939" cy="2035939"/>
          </a:xfrm>
          <a:prstGeom prst="rect">
            <a:avLst/>
          </a:prstGeom>
        </p:spPr>
      </p:pic>
      <p:sp>
        <p:nvSpPr>
          <p:cNvPr id="5" name="Shape 0"/>
          <p:cNvSpPr/>
          <p:nvPr/>
        </p:nvSpPr>
        <p:spPr>
          <a:xfrm>
            <a:off x="735926"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6" name="Text 1"/>
          <p:cNvSpPr/>
          <p:nvPr/>
        </p:nvSpPr>
        <p:spPr>
          <a:xfrm>
            <a:off x="735926"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735926"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8" name="Text 3"/>
          <p:cNvSpPr/>
          <p:nvPr/>
        </p:nvSpPr>
        <p:spPr>
          <a:xfrm>
            <a:off x="735926"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0_img95.png">    </p:cNvPr>
          <p:cNvPicPr>
            <a:picLocks noChangeAspect="1"/>
          </p:cNvPicPr>
          <p:nvPr/>
        </p:nvPicPr>
        <p:blipFill>
          <a:blip r:embed="rId4"/>
          <a:stretch>
            <a:fillRect/>
          </a:stretch>
        </p:blipFill>
        <p:spPr>
          <a:xfrm>
            <a:off x="735926" y="1743752"/>
            <a:ext cx="2035939" cy="2035939"/>
          </a:xfrm>
          <a:prstGeom prst="rect">
            <a:avLst/>
          </a:prstGeom>
        </p:spPr>
      </p:pic>
      <p:pic>
        <p:nvPicPr>
          <p:cNvPr id="10" name="Image 4" descr="./images\slide10_img96.png">    </p:cNvPr>
          <p:cNvPicPr>
            <a:picLocks noChangeAspect="1"/>
          </p:cNvPicPr>
          <p:nvPr/>
        </p:nvPicPr>
        <p:blipFill>
          <a:blip r:embed="rId5"/>
          <a:stretch>
            <a:fillRect/>
          </a:stretch>
        </p:blipFill>
        <p:spPr>
          <a:xfrm>
            <a:off x="3554031" y="1743752"/>
            <a:ext cx="2035939" cy="2035939"/>
          </a:xfrm>
          <a:prstGeom prst="rect">
            <a:avLst/>
          </a:prstGeom>
        </p:spPr>
      </p:pic>
      <p:sp>
        <p:nvSpPr>
          <p:cNvPr id="11" name="Shape 4"/>
          <p:cNvSpPr/>
          <p:nvPr/>
        </p:nvSpPr>
        <p:spPr>
          <a:xfrm>
            <a:off x="3554031"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12" name="Text 5"/>
          <p:cNvSpPr/>
          <p:nvPr/>
        </p:nvSpPr>
        <p:spPr>
          <a:xfrm>
            <a:off x="3554031"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13" name="Shape 6"/>
          <p:cNvSpPr/>
          <p:nvPr/>
        </p:nvSpPr>
        <p:spPr>
          <a:xfrm>
            <a:off x="3554031"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14" name="Text 7"/>
          <p:cNvSpPr/>
          <p:nvPr/>
        </p:nvSpPr>
        <p:spPr>
          <a:xfrm>
            <a:off x="3554031"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5" name="Image 5" descr="./images\slide10_img97.png">    </p:cNvPr>
          <p:cNvPicPr>
            <a:picLocks noChangeAspect="1"/>
          </p:cNvPicPr>
          <p:nvPr/>
        </p:nvPicPr>
        <p:blipFill>
          <a:blip r:embed="rId6"/>
          <a:stretch>
            <a:fillRect/>
          </a:stretch>
        </p:blipFill>
        <p:spPr>
          <a:xfrm>
            <a:off x="3554031" y="1743752"/>
            <a:ext cx="2035939" cy="2035939"/>
          </a:xfrm>
          <a:prstGeom prst="rect">
            <a:avLst/>
          </a:prstGeom>
        </p:spPr>
      </p:pic>
      <p:pic>
        <p:nvPicPr>
          <p:cNvPr id="16" name="Image 6" descr="./images\slide10_img98.png">    </p:cNvPr>
          <p:cNvPicPr>
            <a:picLocks noChangeAspect="1"/>
          </p:cNvPicPr>
          <p:nvPr/>
        </p:nvPicPr>
        <p:blipFill>
          <a:blip r:embed="rId7"/>
          <a:stretch>
            <a:fillRect/>
          </a:stretch>
        </p:blipFill>
        <p:spPr>
          <a:xfrm>
            <a:off x="6299267" y="1743752"/>
            <a:ext cx="2035939" cy="2035939"/>
          </a:xfrm>
          <a:prstGeom prst="rect">
            <a:avLst/>
          </a:prstGeom>
        </p:spPr>
      </p:pic>
      <p:sp>
        <p:nvSpPr>
          <p:cNvPr id="17" name="Shape 8"/>
          <p:cNvSpPr/>
          <p:nvPr/>
        </p:nvSpPr>
        <p:spPr>
          <a:xfrm>
            <a:off x="6299267"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18" name="Text 9"/>
          <p:cNvSpPr/>
          <p:nvPr/>
        </p:nvSpPr>
        <p:spPr>
          <a:xfrm>
            <a:off x="6299267"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19" name="Shape 10"/>
          <p:cNvSpPr/>
          <p:nvPr/>
        </p:nvSpPr>
        <p:spPr>
          <a:xfrm>
            <a:off x="6299267"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20" name="Text 11"/>
          <p:cNvSpPr/>
          <p:nvPr/>
        </p:nvSpPr>
        <p:spPr>
          <a:xfrm>
            <a:off x="6299267"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1" name="Image 7" descr="./images\slide10_img99.png">    </p:cNvPr>
          <p:cNvPicPr>
            <a:picLocks noChangeAspect="1"/>
          </p:cNvPicPr>
          <p:nvPr/>
        </p:nvPicPr>
        <p:blipFill>
          <a:blip r:embed="rId8"/>
          <a:stretch>
            <a:fillRect/>
          </a:stretch>
        </p:blipFill>
        <p:spPr>
          <a:xfrm>
            <a:off x="6299267" y="1743752"/>
            <a:ext cx="2035939" cy="2035939"/>
          </a:xfrm>
          <a:prstGeom prst="rect">
            <a:avLst/>
          </a:prstGeom>
        </p:spPr>
      </p:pic>
      <p:sp>
        <p:nvSpPr>
          <p:cNvPr id="22" name="Shape 12"/>
          <p:cNvSpPr/>
          <p:nvPr/>
        </p:nvSpPr>
        <p:spPr>
          <a:xfrm>
            <a:off x="874042" y="518568"/>
            <a:ext cx="7395915" cy="590550"/>
          </a:xfrm>
          <a:custGeom>
            <a:avLst/>
            <a:gdLst/>
            <a:ahLst/>
            <a:cxnLst/>
            <a:rect l="l" t="t" r="r" b="b"/>
            <a:pathLst>
              <a:path w="7395915" h="590550">
                <a:moveTo>
                  <a:pt x="0" y="0"/>
                </a:moveTo>
                <a:lnTo>
                  <a:pt x="7395915" y="0"/>
                </a:lnTo>
                <a:lnTo>
                  <a:pt x="7395915" y="590550"/>
                </a:lnTo>
                <a:lnTo>
                  <a:pt x="0" y="590550"/>
                </a:lnTo>
                <a:close/>
              </a:path>
            </a:pathLst>
          </a:custGeom>
          <a:solidFill>
            <a:srgbClr val="FFFFFF">
              <a:alpha val="0"/>
            </a:srgbClr>
          </a:solidFill>
          <a:ln/>
        </p:spPr>
      </p:sp>
      <p:sp>
        <p:nvSpPr>
          <p:cNvPr id="23" name="Text 13"/>
          <p:cNvSpPr/>
          <p:nvPr/>
        </p:nvSpPr>
        <p:spPr>
          <a:xfrm>
            <a:off x="874042" y="518568"/>
            <a:ext cx="7395915" cy="59055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874042" y="518568"/>
            <a:ext cx="7395915" cy="590550"/>
          </a:xfrm>
          <a:custGeom>
            <a:avLst/>
            <a:gdLst/>
            <a:ahLst/>
            <a:cxnLst/>
            <a:rect l="l" t="t" r="r" b="b"/>
            <a:pathLst>
              <a:path w="7395915" h="590550">
                <a:moveTo>
                  <a:pt x="0" y="0"/>
                </a:moveTo>
                <a:lnTo>
                  <a:pt x="7395915" y="0"/>
                </a:lnTo>
                <a:lnTo>
                  <a:pt x="7395915" y="590550"/>
                </a:lnTo>
                <a:lnTo>
                  <a:pt x="0" y="590550"/>
                </a:lnTo>
                <a:close/>
              </a:path>
            </a:pathLst>
          </a:custGeom>
          <a:solidFill>
            <a:srgbClr val="000000">
              <a:alpha val="0"/>
            </a:srgbClr>
          </a:solidFill>
          <a:ln/>
        </p:spPr>
      </p:sp>
      <p:sp>
        <p:nvSpPr>
          <p:cNvPr id="25" name="Text 15"/>
          <p:cNvSpPr/>
          <p:nvPr/>
        </p:nvSpPr>
        <p:spPr>
          <a:xfrm>
            <a:off x="874042" y="518568"/>
            <a:ext cx="7395915"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Nerv Tizimi O'smalari: Umumiy Ma'lumotlar</a:t>
            </a:r>
            <a:endParaRPr lang="en-US" sz="1050" dirty="0"/>
          </a:p>
        </p:txBody>
      </p:sp>
      <p:pic>
        <p:nvPicPr>
          <p:cNvPr id="26" name="Image 8" descr="./images\slide10_img100.png">    </p:cNvPr>
          <p:cNvPicPr>
            <a:picLocks noChangeAspect="1"/>
          </p:cNvPicPr>
          <p:nvPr/>
        </p:nvPicPr>
        <p:blipFill>
          <a:blip r:embed="rId9"/>
          <a:stretch>
            <a:fillRect/>
          </a:stretch>
        </p:blipFill>
        <p:spPr>
          <a:xfrm>
            <a:off x="890801" y="1893864"/>
            <a:ext cx="1745239" cy="1745239"/>
          </a:xfrm>
          <a:prstGeom prst="rect">
            <a:avLst/>
          </a:prstGeom>
        </p:spPr>
      </p:pic>
      <p:sp>
        <p:nvSpPr>
          <p:cNvPr id="27" name="Shape 16"/>
          <p:cNvSpPr/>
          <p:nvPr/>
        </p:nvSpPr>
        <p:spPr>
          <a:xfrm>
            <a:off x="890801"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28" name="Text 17"/>
          <p:cNvSpPr/>
          <p:nvPr/>
        </p:nvSpPr>
        <p:spPr>
          <a:xfrm>
            <a:off x="890801"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29" name="Shape 18"/>
          <p:cNvSpPr/>
          <p:nvPr/>
        </p:nvSpPr>
        <p:spPr>
          <a:xfrm>
            <a:off x="890801"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30" name="Text 19"/>
          <p:cNvSpPr/>
          <p:nvPr/>
        </p:nvSpPr>
        <p:spPr>
          <a:xfrm>
            <a:off x="890801"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1" name="Image 9" descr="./images\slide10_img101.png">    </p:cNvPr>
          <p:cNvPicPr>
            <a:picLocks noChangeAspect="1"/>
          </p:cNvPicPr>
          <p:nvPr/>
        </p:nvPicPr>
        <p:blipFill>
          <a:blip r:embed="rId10"/>
          <a:stretch>
            <a:fillRect/>
          </a:stretch>
        </p:blipFill>
        <p:spPr>
          <a:xfrm>
            <a:off x="890801" y="1893864"/>
            <a:ext cx="1745239" cy="1745239"/>
          </a:xfrm>
          <a:prstGeom prst="rect">
            <a:avLst/>
          </a:prstGeom>
        </p:spPr>
      </p:pic>
      <p:pic>
        <p:nvPicPr>
          <p:cNvPr id="32" name="Image 10" descr="./images\slide10_img102.png">    </p:cNvPr>
          <p:cNvPicPr>
            <a:picLocks noChangeAspect="1"/>
          </p:cNvPicPr>
          <p:nvPr/>
        </p:nvPicPr>
        <p:blipFill>
          <a:blip r:embed="rId11"/>
          <a:stretch>
            <a:fillRect/>
          </a:stretch>
        </p:blipFill>
        <p:spPr>
          <a:xfrm>
            <a:off x="3708905" y="1893864"/>
            <a:ext cx="1745239" cy="1745239"/>
          </a:xfrm>
          <a:prstGeom prst="rect">
            <a:avLst/>
          </a:prstGeom>
        </p:spPr>
      </p:pic>
      <p:sp>
        <p:nvSpPr>
          <p:cNvPr id="33" name="Shape 20"/>
          <p:cNvSpPr/>
          <p:nvPr/>
        </p:nvSpPr>
        <p:spPr>
          <a:xfrm>
            <a:off x="3708905"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34" name="Text 21"/>
          <p:cNvSpPr/>
          <p:nvPr/>
        </p:nvSpPr>
        <p:spPr>
          <a:xfrm>
            <a:off x="3708905"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35" name="Shape 22"/>
          <p:cNvSpPr/>
          <p:nvPr/>
        </p:nvSpPr>
        <p:spPr>
          <a:xfrm>
            <a:off x="3708905"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36" name="Text 23"/>
          <p:cNvSpPr/>
          <p:nvPr/>
        </p:nvSpPr>
        <p:spPr>
          <a:xfrm>
            <a:off x="3708905"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7" name="Image 11" descr="./images\slide10_img103.png">    </p:cNvPr>
          <p:cNvPicPr>
            <a:picLocks noChangeAspect="1"/>
          </p:cNvPicPr>
          <p:nvPr/>
        </p:nvPicPr>
        <p:blipFill>
          <a:blip r:embed="rId12"/>
          <a:stretch>
            <a:fillRect/>
          </a:stretch>
        </p:blipFill>
        <p:spPr>
          <a:xfrm>
            <a:off x="3708905" y="1893864"/>
            <a:ext cx="1745239" cy="1745239"/>
          </a:xfrm>
          <a:prstGeom prst="rect">
            <a:avLst/>
          </a:prstGeom>
        </p:spPr>
      </p:pic>
      <p:pic>
        <p:nvPicPr>
          <p:cNvPr id="38" name="Image 12" descr="./images\slide10_img104.png">    </p:cNvPr>
          <p:cNvPicPr>
            <a:picLocks noChangeAspect="1"/>
          </p:cNvPicPr>
          <p:nvPr/>
        </p:nvPicPr>
        <p:blipFill>
          <a:blip r:embed="rId13"/>
          <a:stretch>
            <a:fillRect/>
          </a:stretch>
        </p:blipFill>
        <p:spPr>
          <a:xfrm>
            <a:off x="6454142" y="1893864"/>
            <a:ext cx="1745239" cy="1745239"/>
          </a:xfrm>
          <a:prstGeom prst="rect">
            <a:avLst/>
          </a:prstGeom>
        </p:spPr>
      </p:pic>
      <p:sp>
        <p:nvSpPr>
          <p:cNvPr id="39" name="Shape 24"/>
          <p:cNvSpPr/>
          <p:nvPr/>
        </p:nvSpPr>
        <p:spPr>
          <a:xfrm>
            <a:off x="6454142"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40" name="Text 25"/>
          <p:cNvSpPr/>
          <p:nvPr/>
        </p:nvSpPr>
        <p:spPr>
          <a:xfrm>
            <a:off x="6454142"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6454142"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42" name="Text 27"/>
          <p:cNvSpPr/>
          <p:nvPr/>
        </p:nvSpPr>
        <p:spPr>
          <a:xfrm>
            <a:off x="6454142"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43" name="Image 13" descr="./images\slide10_img105.png">    </p:cNvPr>
          <p:cNvPicPr>
            <a:picLocks noChangeAspect="1"/>
          </p:cNvPicPr>
          <p:nvPr/>
        </p:nvPicPr>
        <p:blipFill>
          <a:blip r:embed="rId14"/>
          <a:stretch>
            <a:fillRect/>
          </a:stretch>
        </p:blipFill>
        <p:spPr>
          <a:xfrm>
            <a:off x="6454142" y="1893864"/>
            <a:ext cx="1745239" cy="1745239"/>
          </a:xfrm>
          <a:prstGeom prst="rect">
            <a:avLst/>
          </a:prstGeom>
        </p:spPr>
      </p:pic>
      <p:sp>
        <p:nvSpPr>
          <p:cNvPr id="44" name="Shape 28"/>
          <p:cNvSpPr/>
          <p:nvPr/>
        </p:nvSpPr>
        <p:spPr>
          <a:xfrm>
            <a:off x="3766921" y="2442710"/>
            <a:ext cx="1716484" cy="590550"/>
          </a:xfrm>
          <a:custGeom>
            <a:avLst/>
            <a:gdLst/>
            <a:ahLst/>
            <a:cxnLst/>
            <a:rect l="l" t="t" r="r" b="b"/>
            <a:pathLst>
              <a:path w="1716484" h="590550">
                <a:moveTo>
                  <a:pt x="0" y="0"/>
                </a:moveTo>
                <a:lnTo>
                  <a:pt x="1716484" y="0"/>
                </a:lnTo>
                <a:lnTo>
                  <a:pt x="1716484" y="590550"/>
                </a:lnTo>
                <a:lnTo>
                  <a:pt x="0" y="590550"/>
                </a:lnTo>
                <a:close/>
              </a:path>
            </a:pathLst>
          </a:custGeom>
          <a:solidFill>
            <a:srgbClr val="FFFFFF">
              <a:alpha val="0"/>
            </a:srgbClr>
          </a:solidFill>
          <a:ln/>
        </p:spPr>
      </p:sp>
      <p:sp>
        <p:nvSpPr>
          <p:cNvPr id="45" name="Text 29"/>
          <p:cNvSpPr/>
          <p:nvPr/>
        </p:nvSpPr>
        <p:spPr>
          <a:xfrm>
            <a:off x="3766921" y="2442710"/>
            <a:ext cx="1716484" cy="590550"/>
          </a:xfrm>
          <a:prstGeom prst="rect">
            <a:avLst/>
          </a:prstGeom>
          <a:noFill/>
          <a:ln/>
        </p:spPr>
        <p:txBody>
          <a:bodyPr wrap="square" rtlCol="0" anchor="t"/>
          <a:lstStyle/>
          <a:p>
            <a:pPr indent="0" marL="0">
              <a:spcBef>
                <a:spcPts val="375"/>
              </a:spcBef>
              <a:buNone/>
            </a:pPr>
            <a:endParaRPr lang="en-US" sz="1050" dirty="0"/>
          </a:p>
        </p:txBody>
      </p:sp>
      <p:sp>
        <p:nvSpPr>
          <p:cNvPr id="46" name="Shape 30"/>
          <p:cNvSpPr/>
          <p:nvPr/>
        </p:nvSpPr>
        <p:spPr>
          <a:xfrm>
            <a:off x="3766921" y="2442710"/>
            <a:ext cx="1716484" cy="590550"/>
          </a:xfrm>
          <a:custGeom>
            <a:avLst/>
            <a:gdLst/>
            <a:ahLst/>
            <a:cxnLst/>
            <a:rect l="l" t="t" r="r" b="b"/>
            <a:pathLst>
              <a:path w="1716484" h="590550">
                <a:moveTo>
                  <a:pt x="0" y="0"/>
                </a:moveTo>
                <a:lnTo>
                  <a:pt x="1716484" y="0"/>
                </a:lnTo>
                <a:lnTo>
                  <a:pt x="1716484" y="590550"/>
                </a:lnTo>
                <a:lnTo>
                  <a:pt x="0" y="590550"/>
                </a:lnTo>
                <a:close/>
              </a:path>
            </a:pathLst>
          </a:custGeom>
          <a:solidFill>
            <a:srgbClr val="000000">
              <a:alpha val="0"/>
            </a:srgbClr>
          </a:solidFill>
          <a:ln/>
        </p:spPr>
      </p:sp>
      <p:sp>
        <p:nvSpPr>
          <p:cNvPr id="47" name="Text 31"/>
          <p:cNvSpPr/>
          <p:nvPr/>
        </p:nvSpPr>
        <p:spPr>
          <a:xfrm>
            <a:off x="3766921" y="2442710"/>
            <a:ext cx="1716484"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O'smalarning 87%</a:t>
            </a:r>
            <a:endParaRPr lang="en-US" sz="1050" dirty="0"/>
          </a:p>
        </p:txBody>
      </p:sp>
      <p:sp>
        <p:nvSpPr>
          <p:cNvPr id="48" name="Shape 32"/>
          <p:cNvSpPr/>
          <p:nvPr/>
        </p:nvSpPr>
        <p:spPr>
          <a:xfrm>
            <a:off x="6382204" y="2442710"/>
            <a:ext cx="1788847" cy="552450"/>
          </a:xfrm>
          <a:custGeom>
            <a:avLst/>
            <a:gdLst/>
            <a:ahLst/>
            <a:cxnLst/>
            <a:rect l="l" t="t" r="r" b="b"/>
            <a:pathLst>
              <a:path w="1788847" h="552450">
                <a:moveTo>
                  <a:pt x="0" y="0"/>
                </a:moveTo>
                <a:lnTo>
                  <a:pt x="1788847" y="0"/>
                </a:lnTo>
                <a:lnTo>
                  <a:pt x="1788847" y="552450"/>
                </a:lnTo>
                <a:lnTo>
                  <a:pt x="0" y="552450"/>
                </a:lnTo>
                <a:close/>
              </a:path>
            </a:pathLst>
          </a:custGeom>
          <a:solidFill>
            <a:srgbClr val="FFFFFF">
              <a:alpha val="0"/>
            </a:srgbClr>
          </a:solidFill>
          <a:ln/>
        </p:spPr>
      </p:sp>
      <p:sp>
        <p:nvSpPr>
          <p:cNvPr id="49" name="Text 33"/>
          <p:cNvSpPr/>
          <p:nvPr/>
        </p:nvSpPr>
        <p:spPr>
          <a:xfrm>
            <a:off x="6382204" y="2442710"/>
            <a:ext cx="1788847" cy="552450"/>
          </a:xfrm>
          <a:prstGeom prst="rect">
            <a:avLst/>
          </a:prstGeom>
          <a:noFill/>
          <a:ln/>
        </p:spPr>
        <p:txBody>
          <a:bodyPr wrap="square" rtlCol="0" anchor="t"/>
          <a:lstStyle/>
          <a:p>
            <a:pPr indent="0" marL="0">
              <a:spcBef>
                <a:spcPts val="375"/>
              </a:spcBef>
              <a:buNone/>
            </a:pPr>
            <a:endParaRPr lang="en-US" sz="1050" dirty="0"/>
          </a:p>
        </p:txBody>
      </p:sp>
      <p:sp>
        <p:nvSpPr>
          <p:cNvPr id="50" name="Shape 34"/>
          <p:cNvSpPr/>
          <p:nvPr/>
        </p:nvSpPr>
        <p:spPr>
          <a:xfrm>
            <a:off x="6382204" y="2442710"/>
            <a:ext cx="1788847" cy="552450"/>
          </a:xfrm>
          <a:custGeom>
            <a:avLst/>
            <a:gdLst/>
            <a:ahLst/>
            <a:cxnLst/>
            <a:rect l="l" t="t" r="r" b="b"/>
            <a:pathLst>
              <a:path w="1788847" h="552450">
                <a:moveTo>
                  <a:pt x="0" y="0"/>
                </a:moveTo>
                <a:lnTo>
                  <a:pt x="1788847" y="0"/>
                </a:lnTo>
                <a:lnTo>
                  <a:pt x="1788847" y="552450"/>
                </a:lnTo>
                <a:lnTo>
                  <a:pt x="0" y="552450"/>
                </a:lnTo>
                <a:close/>
              </a:path>
            </a:pathLst>
          </a:custGeom>
          <a:solidFill>
            <a:srgbClr val="000000">
              <a:alpha val="0"/>
            </a:srgbClr>
          </a:solidFill>
          <a:ln/>
        </p:spPr>
      </p:sp>
      <p:sp>
        <p:nvSpPr>
          <p:cNvPr id="51" name="Text 35"/>
          <p:cNvSpPr/>
          <p:nvPr/>
        </p:nvSpPr>
        <p:spPr>
          <a:xfrm>
            <a:off x="6382204" y="2442710"/>
            <a:ext cx="1788847"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Samarali davolash 36%</a:t>
            </a:r>
            <a:endParaRPr lang="en-US" sz="1050" dirty="0"/>
          </a:p>
        </p:txBody>
      </p:sp>
      <p:sp>
        <p:nvSpPr>
          <p:cNvPr id="52" name="Shape 36"/>
          <p:cNvSpPr/>
          <p:nvPr/>
        </p:nvSpPr>
        <p:spPr>
          <a:xfrm>
            <a:off x="874042" y="2442710"/>
            <a:ext cx="1684933" cy="590550"/>
          </a:xfrm>
          <a:custGeom>
            <a:avLst/>
            <a:gdLst/>
            <a:ahLst/>
            <a:cxnLst/>
            <a:rect l="l" t="t" r="r" b="b"/>
            <a:pathLst>
              <a:path w="1684933" h="590550">
                <a:moveTo>
                  <a:pt x="0" y="0"/>
                </a:moveTo>
                <a:lnTo>
                  <a:pt x="1684933" y="0"/>
                </a:lnTo>
                <a:lnTo>
                  <a:pt x="1684933" y="590550"/>
                </a:lnTo>
                <a:lnTo>
                  <a:pt x="0" y="590550"/>
                </a:lnTo>
                <a:close/>
              </a:path>
            </a:pathLst>
          </a:custGeom>
          <a:solidFill>
            <a:srgbClr val="FFFFFF">
              <a:alpha val="0"/>
            </a:srgbClr>
          </a:solidFill>
          <a:ln/>
        </p:spPr>
      </p:sp>
      <p:sp>
        <p:nvSpPr>
          <p:cNvPr id="53" name="Text 37"/>
          <p:cNvSpPr/>
          <p:nvPr/>
        </p:nvSpPr>
        <p:spPr>
          <a:xfrm>
            <a:off x="874042" y="2442710"/>
            <a:ext cx="1684933" cy="590550"/>
          </a:xfrm>
          <a:prstGeom prst="rect">
            <a:avLst/>
          </a:prstGeom>
          <a:noFill/>
          <a:ln/>
        </p:spPr>
        <p:txBody>
          <a:bodyPr wrap="square" rtlCol="0" anchor="t"/>
          <a:lstStyle/>
          <a:p>
            <a:pPr indent="0" marL="0">
              <a:spcBef>
                <a:spcPts val="375"/>
              </a:spcBef>
              <a:buNone/>
            </a:pPr>
            <a:endParaRPr lang="en-US" sz="1050" dirty="0"/>
          </a:p>
        </p:txBody>
      </p:sp>
      <p:sp>
        <p:nvSpPr>
          <p:cNvPr id="54" name="Shape 38"/>
          <p:cNvSpPr/>
          <p:nvPr/>
        </p:nvSpPr>
        <p:spPr>
          <a:xfrm>
            <a:off x="874042" y="2442710"/>
            <a:ext cx="1684933" cy="590550"/>
          </a:xfrm>
          <a:custGeom>
            <a:avLst/>
            <a:gdLst/>
            <a:ahLst/>
            <a:cxnLst/>
            <a:rect l="l" t="t" r="r" b="b"/>
            <a:pathLst>
              <a:path w="1684933" h="590550">
                <a:moveTo>
                  <a:pt x="0" y="0"/>
                </a:moveTo>
                <a:lnTo>
                  <a:pt x="1684933" y="0"/>
                </a:lnTo>
                <a:lnTo>
                  <a:pt x="1684933" y="590550"/>
                </a:lnTo>
                <a:lnTo>
                  <a:pt x="0" y="590550"/>
                </a:lnTo>
                <a:close/>
              </a:path>
            </a:pathLst>
          </a:custGeom>
          <a:solidFill>
            <a:srgbClr val="000000">
              <a:alpha val="0"/>
            </a:srgbClr>
          </a:solidFill>
          <a:ln/>
        </p:spPr>
      </p:sp>
      <p:sp>
        <p:nvSpPr>
          <p:cNvPr id="55" name="Text 39"/>
          <p:cNvSpPr/>
          <p:nvPr/>
        </p:nvSpPr>
        <p:spPr>
          <a:xfrm>
            <a:off x="874042" y="2442710"/>
            <a:ext cx="1684933"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Yoshlar orasida 67%</a:t>
            </a:r>
            <a:endParaRPr lang="en-US" sz="1050" dirty="0"/>
          </a:p>
        </p:txBody>
      </p:sp>
      <p:sp>
        <p:nvSpPr>
          <p:cNvPr id="56" name="Shape 40"/>
          <p:cNvSpPr/>
          <p:nvPr/>
        </p:nvSpPr>
        <p:spPr>
          <a:xfrm>
            <a:off x="3727710" y="4418448"/>
            <a:ext cx="1862259" cy="725052"/>
          </a:xfrm>
          <a:custGeom>
            <a:avLst/>
            <a:gdLst/>
            <a:ahLst/>
            <a:cxnLst/>
            <a:rect l="l" t="t" r="r" b="b"/>
            <a:pathLst>
              <a:path w="1862259" h="725052">
                <a:moveTo>
                  <a:pt x="0" y="0"/>
                </a:moveTo>
                <a:lnTo>
                  <a:pt x="1862259" y="0"/>
                </a:lnTo>
                <a:lnTo>
                  <a:pt x="1862259" y="725052"/>
                </a:lnTo>
                <a:lnTo>
                  <a:pt x="0" y="725052"/>
                </a:lnTo>
                <a:close/>
              </a:path>
            </a:pathLst>
          </a:custGeom>
          <a:solidFill>
            <a:srgbClr val="FFFFFF">
              <a:alpha val="0"/>
            </a:srgbClr>
          </a:solidFill>
          <a:ln/>
        </p:spPr>
      </p:sp>
      <p:sp>
        <p:nvSpPr>
          <p:cNvPr id="57" name="Text 41"/>
          <p:cNvSpPr/>
          <p:nvPr/>
        </p:nvSpPr>
        <p:spPr>
          <a:xfrm>
            <a:off x="3727710" y="4418448"/>
            <a:ext cx="1862259" cy="725052"/>
          </a:xfrm>
          <a:prstGeom prst="rect">
            <a:avLst/>
          </a:prstGeom>
          <a:noFill/>
          <a:ln/>
        </p:spPr>
        <p:txBody>
          <a:bodyPr wrap="square" rtlCol="0" anchor="t"/>
          <a:lstStyle/>
          <a:p>
            <a:pPr indent="0" marL="0">
              <a:spcBef>
                <a:spcPts val="375"/>
              </a:spcBef>
              <a:buNone/>
            </a:pPr>
            <a:endParaRPr lang="en-US" sz="1050" dirty="0"/>
          </a:p>
        </p:txBody>
      </p:sp>
      <p:sp>
        <p:nvSpPr>
          <p:cNvPr id="58" name="Shape 42"/>
          <p:cNvSpPr/>
          <p:nvPr/>
        </p:nvSpPr>
        <p:spPr>
          <a:xfrm>
            <a:off x="3727710" y="4418448"/>
            <a:ext cx="1862259" cy="725052"/>
          </a:xfrm>
          <a:custGeom>
            <a:avLst/>
            <a:gdLst/>
            <a:ahLst/>
            <a:cxnLst/>
            <a:rect l="l" t="t" r="r" b="b"/>
            <a:pathLst>
              <a:path w="1862259" h="725052">
                <a:moveTo>
                  <a:pt x="0" y="0"/>
                </a:moveTo>
                <a:lnTo>
                  <a:pt x="1862259" y="0"/>
                </a:lnTo>
                <a:lnTo>
                  <a:pt x="1862259" y="725052"/>
                </a:lnTo>
                <a:lnTo>
                  <a:pt x="0" y="725052"/>
                </a:lnTo>
                <a:close/>
              </a:path>
            </a:pathLst>
          </a:custGeom>
          <a:solidFill>
            <a:srgbClr val="000000">
              <a:alpha val="0"/>
            </a:srgbClr>
          </a:solidFill>
          <a:ln/>
        </p:spPr>
      </p:sp>
      <p:sp>
        <p:nvSpPr>
          <p:cNvPr id="59" name="Text 43"/>
          <p:cNvSpPr/>
          <p:nvPr/>
        </p:nvSpPr>
        <p:spPr>
          <a:xfrm>
            <a:off x="3727710" y="4418448"/>
            <a:ext cx="1862259" cy="725052"/>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nerv to'qimalaridan kelib chiqadigan o'smalardir. Ular miya va orqa miya kabi markaziy nerv tizimida paydo bo'lishi mumkin.</a:t>
            </a:r>
            <a:endParaRPr lang="en-US" sz="1050" dirty="0"/>
          </a:p>
        </p:txBody>
      </p:sp>
      <p:sp>
        <p:nvSpPr>
          <p:cNvPr id="60" name="Shape 44"/>
          <p:cNvSpPr/>
          <p:nvPr/>
        </p:nvSpPr>
        <p:spPr>
          <a:xfrm>
            <a:off x="824620" y="4312123"/>
            <a:ext cx="1811421" cy="739383"/>
          </a:xfrm>
          <a:custGeom>
            <a:avLst/>
            <a:gdLst/>
            <a:ahLst/>
            <a:cxnLst/>
            <a:rect l="l" t="t" r="r" b="b"/>
            <a:pathLst>
              <a:path w="1811421" h="739383">
                <a:moveTo>
                  <a:pt x="0" y="0"/>
                </a:moveTo>
                <a:lnTo>
                  <a:pt x="1811421" y="0"/>
                </a:lnTo>
                <a:lnTo>
                  <a:pt x="1811421" y="739383"/>
                </a:lnTo>
                <a:lnTo>
                  <a:pt x="0" y="739383"/>
                </a:lnTo>
                <a:close/>
              </a:path>
            </a:pathLst>
          </a:custGeom>
          <a:solidFill>
            <a:srgbClr val="FFFFFF">
              <a:alpha val="0"/>
            </a:srgbClr>
          </a:solidFill>
          <a:ln/>
        </p:spPr>
      </p:sp>
      <p:sp>
        <p:nvSpPr>
          <p:cNvPr id="61" name="Text 45"/>
          <p:cNvSpPr/>
          <p:nvPr/>
        </p:nvSpPr>
        <p:spPr>
          <a:xfrm>
            <a:off x="824620" y="4312123"/>
            <a:ext cx="1811421" cy="739383"/>
          </a:xfrm>
          <a:prstGeom prst="rect">
            <a:avLst/>
          </a:prstGeom>
          <a:noFill/>
          <a:ln/>
        </p:spPr>
        <p:txBody>
          <a:bodyPr wrap="square" rtlCol="0" anchor="t"/>
          <a:lstStyle/>
          <a:p>
            <a:pPr indent="0" marL="0">
              <a:spcBef>
                <a:spcPts val="375"/>
              </a:spcBef>
              <a:buNone/>
            </a:pPr>
            <a:endParaRPr lang="en-US" sz="1050" dirty="0"/>
          </a:p>
        </p:txBody>
      </p:sp>
      <p:sp>
        <p:nvSpPr>
          <p:cNvPr id="62" name="Shape 46"/>
          <p:cNvSpPr/>
          <p:nvPr/>
        </p:nvSpPr>
        <p:spPr>
          <a:xfrm>
            <a:off x="824620" y="4312123"/>
            <a:ext cx="1811421" cy="739383"/>
          </a:xfrm>
          <a:custGeom>
            <a:avLst/>
            <a:gdLst/>
            <a:ahLst/>
            <a:cxnLst/>
            <a:rect l="l" t="t" r="r" b="b"/>
            <a:pathLst>
              <a:path w="1811421" h="739383">
                <a:moveTo>
                  <a:pt x="0" y="0"/>
                </a:moveTo>
                <a:lnTo>
                  <a:pt x="1811421" y="0"/>
                </a:lnTo>
                <a:lnTo>
                  <a:pt x="1811421" y="739383"/>
                </a:lnTo>
                <a:lnTo>
                  <a:pt x="0" y="739383"/>
                </a:lnTo>
                <a:close/>
              </a:path>
            </a:pathLst>
          </a:custGeom>
          <a:solidFill>
            <a:srgbClr val="000000">
              <a:alpha val="0"/>
            </a:srgbClr>
          </a:solidFill>
          <a:ln/>
        </p:spPr>
      </p:sp>
      <p:sp>
        <p:nvSpPr>
          <p:cNvPr id="63" name="Text 47"/>
          <p:cNvSpPr/>
          <p:nvPr/>
        </p:nvSpPr>
        <p:spPr>
          <a:xfrm>
            <a:off x="824620" y="4312123"/>
            <a:ext cx="1811421" cy="73938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 benign (yaxshi sifatli) yoki malign (yomon sifatli) bo'lishi mumkin. Malign o'smalar tezda tarqalishi va muammolar keltirib chiqarishi mumkin.</a:t>
            </a:r>
            <a:endParaRPr lang="en-US" sz="1050" dirty="0"/>
          </a:p>
        </p:txBody>
      </p:sp>
      <p:sp>
        <p:nvSpPr>
          <p:cNvPr id="64" name="Shape 48"/>
          <p:cNvSpPr/>
          <p:nvPr/>
        </p:nvSpPr>
        <p:spPr>
          <a:xfrm>
            <a:off x="6482472" y="4418448"/>
            <a:ext cx="1688579" cy="725052"/>
          </a:xfrm>
          <a:custGeom>
            <a:avLst/>
            <a:gdLst/>
            <a:ahLst/>
            <a:cxnLst/>
            <a:rect l="l" t="t" r="r" b="b"/>
            <a:pathLst>
              <a:path w="1688579" h="725052">
                <a:moveTo>
                  <a:pt x="0" y="0"/>
                </a:moveTo>
                <a:lnTo>
                  <a:pt x="1688579" y="0"/>
                </a:lnTo>
                <a:lnTo>
                  <a:pt x="1688579" y="725052"/>
                </a:lnTo>
                <a:lnTo>
                  <a:pt x="0" y="725052"/>
                </a:lnTo>
                <a:close/>
              </a:path>
            </a:pathLst>
          </a:custGeom>
          <a:solidFill>
            <a:srgbClr val="FFFFFF">
              <a:alpha val="0"/>
            </a:srgbClr>
          </a:solidFill>
          <a:ln/>
        </p:spPr>
      </p:sp>
      <p:sp>
        <p:nvSpPr>
          <p:cNvPr id="65" name="Text 49"/>
          <p:cNvSpPr/>
          <p:nvPr/>
        </p:nvSpPr>
        <p:spPr>
          <a:xfrm>
            <a:off x="6482472" y="4418448"/>
            <a:ext cx="1688579" cy="725052"/>
          </a:xfrm>
          <a:prstGeom prst="rect">
            <a:avLst/>
          </a:prstGeom>
          <a:noFill/>
          <a:ln/>
        </p:spPr>
        <p:txBody>
          <a:bodyPr wrap="square" rtlCol="0" anchor="t"/>
          <a:lstStyle/>
          <a:p>
            <a:pPr indent="0" marL="0">
              <a:spcBef>
                <a:spcPts val="375"/>
              </a:spcBef>
              <a:buNone/>
            </a:pPr>
            <a:endParaRPr lang="en-US" sz="1050" dirty="0"/>
          </a:p>
        </p:txBody>
      </p:sp>
      <p:sp>
        <p:nvSpPr>
          <p:cNvPr id="66" name="Shape 50"/>
          <p:cNvSpPr/>
          <p:nvPr/>
        </p:nvSpPr>
        <p:spPr>
          <a:xfrm>
            <a:off x="6482472" y="4418448"/>
            <a:ext cx="1688579" cy="725052"/>
          </a:xfrm>
          <a:custGeom>
            <a:avLst/>
            <a:gdLst/>
            <a:ahLst/>
            <a:cxnLst/>
            <a:rect l="l" t="t" r="r" b="b"/>
            <a:pathLst>
              <a:path w="1688579" h="725052">
                <a:moveTo>
                  <a:pt x="0" y="0"/>
                </a:moveTo>
                <a:lnTo>
                  <a:pt x="1688579" y="0"/>
                </a:lnTo>
                <a:lnTo>
                  <a:pt x="1688579" y="725052"/>
                </a:lnTo>
                <a:lnTo>
                  <a:pt x="0" y="725052"/>
                </a:lnTo>
                <a:close/>
              </a:path>
            </a:pathLst>
          </a:custGeom>
          <a:solidFill>
            <a:srgbClr val="000000">
              <a:alpha val="0"/>
            </a:srgbClr>
          </a:solidFill>
          <a:ln/>
        </p:spPr>
      </p:sp>
      <p:sp>
        <p:nvSpPr>
          <p:cNvPr id="67" name="Text 51"/>
          <p:cNvSpPr/>
          <p:nvPr/>
        </p:nvSpPr>
        <p:spPr>
          <a:xfrm>
            <a:off x="6482472" y="4418448"/>
            <a:ext cx="1688579" cy="725052"/>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O'smalarning belgilari ko'pincha ularning joylashuvi va o'lchamiga bog'liq. Bular bosh og'rig'i, asabiylashish, harakat buzilishlari kabi belgilarni o'z ichiga olishi mumkin.</a:t>
            </a:r>
            <a:endParaRPr lang="en-US" sz="1050" dirty="0"/>
          </a:p>
        </p:txBody>
      </p:sp>
      <p:sp>
        <p:nvSpPr>
          <p:cNvPr id="68" name="Shape 52"/>
          <p:cNvSpPr/>
          <p:nvPr/>
        </p:nvSpPr>
        <p:spPr>
          <a:xfrm>
            <a:off x="3597757" y="3922645"/>
            <a:ext cx="2172951" cy="253826"/>
          </a:xfrm>
          <a:custGeom>
            <a:avLst/>
            <a:gdLst/>
            <a:ahLst/>
            <a:cxnLst/>
            <a:rect l="l" t="t" r="r" b="b"/>
            <a:pathLst>
              <a:path w="2172951" h="253826">
                <a:moveTo>
                  <a:pt x="0" y="0"/>
                </a:moveTo>
                <a:lnTo>
                  <a:pt x="2172951" y="0"/>
                </a:lnTo>
                <a:lnTo>
                  <a:pt x="2172951" y="253826"/>
                </a:lnTo>
                <a:lnTo>
                  <a:pt x="0" y="253826"/>
                </a:lnTo>
                <a:close/>
              </a:path>
            </a:pathLst>
          </a:custGeom>
          <a:solidFill>
            <a:srgbClr val="FFFFFF">
              <a:alpha val="0"/>
            </a:srgbClr>
          </a:solidFill>
          <a:ln/>
        </p:spPr>
      </p:sp>
      <p:sp>
        <p:nvSpPr>
          <p:cNvPr id="69" name="Text 53"/>
          <p:cNvSpPr/>
          <p:nvPr/>
        </p:nvSpPr>
        <p:spPr>
          <a:xfrm>
            <a:off x="3597757" y="3922645"/>
            <a:ext cx="2172951" cy="253826"/>
          </a:xfrm>
          <a:prstGeom prst="rect">
            <a:avLst/>
          </a:prstGeom>
          <a:noFill/>
          <a:ln/>
        </p:spPr>
        <p:txBody>
          <a:bodyPr wrap="square" rtlCol="0" anchor="t"/>
          <a:lstStyle/>
          <a:p>
            <a:pPr indent="0" marL="0">
              <a:spcBef>
                <a:spcPts val="375"/>
              </a:spcBef>
              <a:buNone/>
            </a:pPr>
            <a:endParaRPr lang="en-US" sz="1050" dirty="0"/>
          </a:p>
        </p:txBody>
      </p:sp>
      <p:sp>
        <p:nvSpPr>
          <p:cNvPr id="70" name="Shape 54"/>
          <p:cNvSpPr/>
          <p:nvPr/>
        </p:nvSpPr>
        <p:spPr>
          <a:xfrm>
            <a:off x="3597757" y="3922645"/>
            <a:ext cx="2172951" cy="253826"/>
          </a:xfrm>
          <a:custGeom>
            <a:avLst/>
            <a:gdLst/>
            <a:ahLst/>
            <a:cxnLst/>
            <a:rect l="l" t="t" r="r" b="b"/>
            <a:pathLst>
              <a:path w="2172951" h="253826">
                <a:moveTo>
                  <a:pt x="0" y="0"/>
                </a:moveTo>
                <a:lnTo>
                  <a:pt x="2172951" y="0"/>
                </a:lnTo>
                <a:lnTo>
                  <a:pt x="2172951" y="253826"/>
                </a:lnTo>
                <a:lnTo>
                  <a:pt x="0" y="253826"/>
                </a:lnTo>
                <a:close/>
              </a:path>
            </a:pathLst>
          </a:custGeom>
          <a:solidFill>
            <a:srgbClr val="000000">
              <a:alpha val="0"/>
            </a:srgbClr>
          </a:solidFill>
          <a:ln/>
        </p:spPr>
      </p:sp>
      <p:sp>
        <p:nvSpPr>
          <p:cNvPr id="71" name="Text 55"/>
          <p:cNvSpPr/>
          <p:nvPr/>
        </p:nvSpPr>
        <p:spPr>
          <a:xfrm>
            <a:off x="3597757" y="3922645"/>
            <a:ext cx="2172951"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Davolash usullari:</a:t>
            </a:r>
            <a:endParaRPr lang="en-US" sz="1050" dirty="0"/>
          </a:p>
        </p:txBody>
      </p:sp>
      <p:sp>
        <p:nvSpPr>
          <p:cNvPr id="72" name="Shape 56"/>
          <p:cNvSpPr/>
          <p:nvPr/>
        </p:nvSpPr>
        <p:spPr>
          <a:xfrm>
            <a:off x="681612" y="3920410"/>
            <a:ext cx="2090253" cy="253826"/>
          </a:xfrm>
          <a:custGeom>
            <a:avLst/>
            <a:gdLst/>
            <a:ahLst/>
            <a:cxnLst/>
            <a:rect l="l" t="t" r="r" b="b"/>
            <a:pathLst>
              <a:path w="2090253" h="253826">
                <a:moveTo>
                  <a:pt x="0" y="0"/>
                </a:moveTo>
                <a:lnTo>
                  <a:pt x="2090253" y="0"/>
                </a:lnTo>
                <a:lnTo>
                  <a:pt x="2090253" y="253826"/>
                </a:lnTo>
                <a:lnTo>
                  <a:pt x="0" y="253826"/>
                </a:lnTo>
                <a:close/>
              </a:path>
            </a:pathLst>
          </a:custGeom>
          <a:solidFill>
            <a:srgbClr val="FFFFFF">
              <a:alpha val="0"/>
            </a:srgbClr>
          </a:solidFill>
          <a:ln/>
        </p:spPr>
      </p:sp>
      <p:sp>
        <p:nvSpPr>
          <p:cNvPr id="73" name="Text 57"/>
          <p:cNvSpPr/>
          <p:nvPr/>
        </p:nvSpPr>
        <p:spPr>
          <a:xfrm>
            <a:off x="681612" y="3920410"/>
            <a:ext cx="2090253" cy="253826"/>
          </a:xfrm>
          <a:prstGeom prst="rect">
            <a:avLst/>
          </a:prstGeom>
          <a:noFill/>
          <a:ln/>
        </p:spPr>
        <p:txBody>
          <a:bodyPr wrap="square" rtlCol="0" anchor="t"/>
          <a:lstStyle/>
          <a:p>
            <a:pPr indent="0" marL="0">
              <a:spcBef>
                <a:spcPts val="375"/>
              </a:spcBef>
              <a:buNone/>
            </a:pPr>
            <a:endParaRPr lang="en-US" sz="1050" dirty="0"/>
          </a:p>
        </p:txBody>
      </p:sp>
      <p:sp>
        <p:nvSpPr>
          <p:cNvPr id="74" name="Shape 58"/>
          <p:cNvSpPr/>
          <p:nvPr/>
        </p:nvSpPr>
        <p:spPr>
          <a:xfrm>
            <a:off x="681612" y="3920410"/>
            <a:ext cx="2090253" cy="253826"/>
          </a:xfrm>
          <a:custGeom>
            <a:avLst/>
            <a:gdLst/>
            <a:ahLst/>
            <a:cxnLst/>
            <a:rect l="l" t="t" r="r" b="b"/>
            <a:pathLst>
              <a:path w="2090253" h="253826">
                <a:moveTo>
                  <a:pt x="0" y="0"/>
                </a:moveTo>
                <a:lnTo>
                  <a:pt x="2090253" y="0"/>
                </a:lnTo>
                <a:lnTo>
                  <a:pt x="2090253" y="253826"/>
                </a:lnTo>
                <a:lnTo>
                  <a:pt x="0" y="253826"/>
                </a:lnTo>
                <a:close/>
              </a:path>
            </a:pathLst>
          </a:custGeom>
          <a:solidFill>
            <a:srgbClr val="000000">
              <a:alpha val="0"/>
            </a:srgbClr>
          </a:solidFill>
          <a:ln/>
        </p:spPr>
      </p:sp>
      <p:sp>
        <p:nvSpPr>
          <p:cNvPr id="75" name="Text 59"/>
          <p:cNvSpPr/>
          <p:nvPr/>
        </p:nvSpPr>
        <p:spPr>
          <a:xfrm>
            <a:off x="681612" y="3920410"/>
            <a:ext cx="2090253"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1. Xirurgik aralashuv2. Kimyoterapiya3. Radioterapiya</a:t>
            </a:r>
            <a:endParaRPr lang="en-US" sz="1050" dirty="0"/>
          </a:p>
        </p:txBody>
      </p:sp>
      <p:sp>
        <p:nvSpPr>
          <p:cNvPr id="76" name="Shape 60"/>
          <p:cNvSpPr/>
          <p:nvPr/>
        </p:nvSpPr>
        <p:spPr>
          <a:xfrm>
            <a:off x="6210752" y="3922645"/>
            <a:ext cx="2124455" cy="253826"/>
          </a:xfrm>
          <a:custGeom>
            <a:avLst/>
            <a:gdLst/>
            <a:ahLst/>
            <a:cxnLst/>
            <a:rect l="l" t="t" r="r" b="b"/>
            <a:pathLst>
              <a:path w="2124455" h="253826">
                <a:moveTo>
                  <a:pt x="0" y="0"/>
                </a:moveTo>
                <a:lnTo>
                  <a:pt x="2124455" y="0"/>
                </a:lnTo>
                <a:lnTo>
                  <a:pt x="2124455" y="253826"/>
                </a:lnTo>
                <a:lnTo>
                  <a:pt x="0" y="253826"/>
                </a:lnTo>
                <a:close/>
              </a:path>
            </a:pathLst>
          </a:custGeom>
          <a:solidFill>
            <a:srgbClr val="FFFFFF">
              <a:alpha val="0"/>
            </a:srgbClr>
          </a:solidFill>
          <a:ln/>
        </p:spPr>
      </p:sp>
      <p:sp>
        <p:nvSpPr>
          <p:cNvPr id="77" name="Text 61"/>
          <p:cNvSpPr/>
          <p:nvPr/>
        </p:nvSpPr>
        <p:spPr>
          <a:xfrm>
            <a:off x="6210752" y="3922645"/>
            <a:ext cx="2124455" cy="253826"/>
          </a:xfrm>
          <a:prstGeom prst="rect">
            <a:avLst/>
          </a:prstGeom>
          <a:noFill/>
          <a:ln/>
        </p:spPr>
        <p:txBody>
          <a:bodyPr wrap="square" rtlCol="0" anchor="t"/>
          <a:lstStyle/>
          <a:p>
            <a:pPr indent="0" marL="0">
              <a:spcBef>
                <a:spcPts val="375"/>
              </a:spcBef>
              <a:buNone/>
            </a:pPr>
            <a:endParaRPr lang="en-US" sz="1050" dirty="0"/>
          </a:p>
        </p:txBody>
      </p:sp>
      <p:sp>
        <p:nvSpPr>
          <p:cNvPr id="78" name="Shape 62"/>
          <p:cNvSpPr/>
          <p:nvPr/>
        </p:nvSpPr>
        <p:spPr>
          <a:xfrm>
            <a:off x="6210752" y="3922645"/>
            <a:ext cx="2124455" cy="253826"/>
          </a:xfrm>
          <a:custGeom>
            <a:avLst/>
            <a:gdLst/>
            <a:ahLst/>
            <a:cxnLst/>
            <a:rect l="l" t="t" r="r" b="b"/>
            <a:pathLst>
              <a:path w="2124455" h="253826">
                <a:moveTo>
                  <a:pt x="0" y="0"/>
                </a:moveTo>
                <a:lnTo>
                  <a:pt x="2124455" y="0"/>
                </a:lnTo>
                <a:lnTo>
                  <a:pt x="2124455" y="253826"/>
                </a:lnTo>
                <a:lnTo>
                  <a:pt x="0" y="253826"/>
                </a:lnTo>
                <a:close/>
              </a:path>
            </a:pathLst>
          </a:custGeom>
          <a:solidFill>
            <a:srgbClr val="000000">
              <a:alpha val="0"/>
            </a:srgbClr>
          </a:solidFill>
          <a:ln/>
        </p:spPr>
      </p:sp>
      <p:sp>
        <p:nvSpPr>
          <p:cNvPr id="79" name="Text 63"/>
          <p:cNvSpPr/>
          <p:nvPr/>
        </p:nvSpPr>
        <p:spPr>
          <a:xfrm>
            <a:off x="6210752" y="3922645"/>
            <a:ext cx="2124455"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O'smalarni erta aniqlash muhimdir, chunki bu davolanish imkoniyatlarini oshiradi.</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1F1"/>
        </a:solidFill>
      </p:bgPr>
    </p:bg>
    <p:spTree>
      <p:nvGrpSpPr>
        <p:cNvPr id="1" name=""/>
        <p:cNvGrpSpPr/>
        <p:nvPr/>
      </p:nvGrpSpPr>
      <p:grpSpPr>
        <a:xfrm>
          <a:off x="0" y="0"/>
          <a:ext cx="0" cy="0"/>
          <a:chOff x="0" y="0"/>
          <a:chExt cx="0" cy="0"/>
        </a:xfrm>
      </p:grpSpPr>
      <p:pic>
        <p:nvPicPr>
          <p:cNvPr id="2" name="Image 0" descr="./images\slide11_img10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1_img107.png">    </p:cNvPr>
          <p:cNvPicPr>
            <a:picLocks noChangeAspect="1"/>
          </p:cNvPicPr>
          <p:nvPr/>
        </p:nvPicPr>
        <p:blipFill>
          <a:blip r:embed="rId2"/>
          <a:stretch>
            <a:fillRect/>
          </a:stretch>
        </p:blipFill>
        <p:spPr>
          <a:xfrm>
            <a:off x="6087098" y="1683097"/>
            <a:ext cx="2542552" cy="3046631"/>
          </a:xfrm>
          <a:prstGeom prst="rect">
            <a:avLst/>
          </a:prstGeom>
        </p:spPr>
      </p:pic>
      <p:sp>
        <p:nvSpPr>
          <p:cNvPr id="4" name="Shape 0"/>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5" name="Text 1"/>
          <p:cNvSpPr/>
          <p:nvPr/>
        </p:nvSpPr>
        <p:spPr>
          <a:xfrm>
            <a:off x="874042" y="518568"/>
            <a:ext cx="7395915"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7" name="Text 3"/>
          <p:cNvSpPr/>
          <p:nvPr/>
        </p:nvSpPr>
        <p:spPr>
          <a:xfrm>
            <a:off x="874042" y="51856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 va ularning simptomlari</a:t>
            </a:r>
            <a:endParaRPr lang="en-US" sz="1050" dirty="0"/>
          </a:p>
        </p:txBody>
      </p:sp>
      <p:sp>
        <p:nvSpPr>
          <p:cNvPr id="8" name="Shape 4"/>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FFFFFF">
              <a:alpha val="0"/>
            </a:srgbClr>
          </a:solidFill>
          <a:ln/>
        </p:spPr>
      </p:sp>
      <p:sp>
        <p:nvSpPr>
          <p:cNvPr id="9" name="Text 5"/>
          <p:cNvSpPr/>
          <p:nvPr/>
        </p:nvSpPr>
        <p:spPr>
          <a:xfrm>
            <a:off x="705902" y="1623611"/>
            <a:ext cx="1713750" cy="552450"/>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000000">
              <a:alpha val="0"/>
            </a:srgbClr>
          </a:solidFill>
          <a:ln/>
        </p:spPr>
      </p:sp>
      <p:sp>
        <p:nvSpPr>
          <p:cNvPr id="11" name="Text 7"/>
          <p:cNvSpPr/>
          <p:nvPr/>
        </p:nvSpPr>
        <p:spPr>
          <a:xfrm>
            <a:off x="705902" y="1623611"/>
            <a:ext cx="17137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12" name="Shape 8"/>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FFFFFF">
              <a:alpha val="0"/>
            </a:srgbClr>
          </a:solidFill>
          <a:ln/>
        </p:spPr>
      </p:sp>
      <p:sp>
        <p:nvSpPr>
          <p:cNvPr id="13" name="Text 9"/>
          <p:cNvSpPr/>
          <p:nvPr/>
        </p:nvSpPr>
        <p:spPr>
          <a:xfrm>
            <a:off x="640191" y="3311188"/>
            <a:ext cx="1998818" cy="552450"/>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000000">
              <a:alpha val="0"/>
            </a:srgbClr>
          </a:solidFill>
          <a:ln/>
        </p:spPr>
      </p:sp>
      <p:sp>
        <p:nvSpPr>
          <p:cNvPr id="15" name="Text 11"/>
          <p:cNvSpPr/>
          <p:nvPr/>
        </p:nvSpPr>
        <p:spPr>
          <a:xfrm>
            <a:off x="640191" y="3311188"/>
            <a:ext cx="1998818"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16" name="Shape 12"/>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FFFFFF">
              <a:alpha val="0"/>
            </a:srgbClr>
          </a:solidFill>
          <a:ln/>
        </p:spPr>
      </p:sp>
      <p:sp>
        <p:nvSpPr>
          <p:cNvPr id="17" name="Text 13"/>
          <p:cNvSpPr/>
          <p:nvPr/>
        </p:nvSpPr>
        <p:spPr>
          <a:xfrm>
            <a:off x="3848551" y="1623612"/>
            <a:ext cx="1082550" cy="552450"/>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000000">
              <a:alpha val="0"/>
            </a:srgbClr>
          </a:solidFill>
          <a:ln/>
        </p:spPr>
      </p:sp>
      <p:sp>
        <p:nvSpPr>
          <p:cNvPr id="19" name="Text 15"/>
          <p:cNvSpPr/>
          <p:nvPr/>
        </p:nvSpPr>
        <p:spPr>
          <a:xfrm>
            <a:off x="3848551" y="1623612"/>
            <a:ext cx="10825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20" name="Shape 16"/>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FFFFFF">
              <a:alpha val="0"/>
            </a:srgbClr>
          </a:solidFill>
          <a:ln/>
        </p:spPr>
      </p:sp>
      <p:sp>
        <p:nvSpPr>
          <p:cNvPr id="21" name="Text 17"/>
          <p:cNvSpPr/>
          <p:nvPr/>
        </p:nvSpPr>
        <p:spPr>
          <a:xfrm>
            <a:off x="2875893" y="3311188"/>
            <a:ext cx="2968866" cy="552450"/>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000000">
              <a:alpha val="0"/>
            </a:srgbClr>
          </a:solidFill>
          <a:ln/>
        </p:spPr>
      </p:sp>
      <p:sp>
        <p:nvSpPr>
          <p:cNvPr id="23" name="Text 19"/>
          <p:cNvSpPr/>
          <p:nvPr/>
        </p:nvSpPr>
        <p:spPr>
          <a:xfrm>
            <a:off x="2875893" y="3311188"/>
            <a:ext cx="2968866"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Nerv tizimining o'smalari asosan miya va umurtqa pog'onasida paydo bo'ladi. Ular turli xil simptomlarni keltirib chiqarishi mumkin.</a:t>
            </a:r>
            <a:endParaRPr lang="en-US" sz="1050" dirty="0"/>
          </a:p>
        </p:txBody>
      </p:sp>
      <p:sp>
        <p:nvSpPr>
          <p:cNvPr id="24" name="Shape 20"/>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FFFFFF">
              <a:alpha val="0"/>
            </a:srgbClr>
          </a:solidFill>
          <a:ln/>
        </p:spPr>
      </p:sp>
      <p:sp>
        <p:nvSpPr>
          <p:cNvPr id="25" name="Text 21"/>
          <p:cNvSpPr/>
          <p:nvPr/>
        </p:nvSpPr>
        <p:spPr>
          <a:xfrm>
            <a:off x="705902" y="2176061"/>
            <a:ext cx="1890959" cy="932710"/>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000000">
              <a:alpha val="0"/>
            </a:srgbClr>
          </a:solidFill>
          <a:ln/>
        </p:spPr>
      </p:sp>
      <p:sp>
        <p:nvSpPr>
          <p:cNvPr id="27" name="Text 23"/>
          <p:cNvSpPr/>
          <p:nvPr/>
        </p:nvSpPr>
        <p:spPr>
          <a:xfrm>
            <a:off x="705902" y="2176061"/>
            <a:ext cx="1890959" cy="932710"/>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umumiy simptomlari: bosh og'rig'i, ko'rish va eshitish qobiliyatining pasayishi, muvozanatni yo'qotish.</a:t>
            </a:r>
            <a:endParaRPr lang="en-US" sz="1050" dirty="0"/>
          </a:p>
        </p:txBody>
      </p:sp>
      <p:sp>
        <p:nvSpPr>
          <p:cNvPr id="28" name="Shape 24"/>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FFFFFF">
              <a:alpha val="0"/>
            </a:srgbClr>
          </a:solidFill>
          <a:ln/>
        </p:spPr>
      </p:sp>
      <p:sp>
        <p:nvSpPr>
          <p:cNvPr id="29" name="Text 25"/>
          <p:cNvSpPr/>
          <p:nvPr/>
        </p:nvSpPr>
        <p:spPr>
          <a:xfrm>
            <a:off x="705902" y="3917979"/>
            <a:ext cx="1713750" cy="1225521"/>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000000">
              <a:alpha val="0"/>
            </a:srgbClr>
          </a:solidFill>
          <a:ln/>
        </p:spPr>
      </p:sp>
      <p:sp>
        <p:nvSpPr>
          <p:cNvPr id="31" name="Text 27"/>
          <p:cNvSpPr/>
          <p:nvPr/>
        </p:nvSpPr>
        <p:spPr>
          <a:xfrm>
            <a:off x="705902" y="3917979"/>
            <a:ext cx="1713750"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Maxsus simptomlar: yodda saqlash qobiliyatining pasayishi, mantiqiy fikrlashda qiyinchilik. Ular o'sma joylashuvi va turiga bog'liq.</a:t>
            </a:r>
            <a:endParaRPr lang="en-US" sz="1050" dirty="0"/>
          </a:p>
        </p:txBody>
      </p:sp>
      <p:sp>
        <p:nvSpPr>
          <p:cNvPr id="32" name="Shape 28"/>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FFFFFF">
              <a:alpha val="0"/>
            </a:srgbClr>
          </a:solidFill>
          <a:ln/>
        </p:spPr>
      </p:sp>
      <p:sp>
        <p:nvSpPr>
          <p:cNvPr id="33" name="Text 29"/>
          <p:cNvSpPr/>
          <p:nvPr/>
        </p:nvSpPr>
        <p:spPr>
          <a:xfrm>
            <a:off x="3532953" y="3917979"/>
            <a:ext cx="1926401" cy="1225521"/>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000000">
              <a:alpha val="0"/>
            </a:srgbClr>
          </a:solidFill>
          <a:ln/>
        </p:spPr>
      </p:sp>
      <p:sp>
        <p:nvSpPr>
          <p:cNvPr id="35" name="Text 31"/>
          <p:cNvSpPr/>
          <p:nvPr/>
        </p:nvSpPr>
        <p:spPr>
          <a:xfrm>
            <a:off x="3532953" y="3917979"/>
            <a:ext cx="1926401"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O'smalarning turlari: benign (yaxshi sifatli) va malign (yomon sifatli). Har biri o'ziga xos simptomlarga ega.</a:t>
            </a:r>
            <a:endParaRPr lang="en-US" sz="1050" dirty="0"/>
          </a:p>
        </p:txBody>
      </p:sp>
      <p:sp>
        <p:nvSpPr>
          <p:cNvPr id="36" name="Shape 32"/>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FFFFFF">
              <a:alpha val="0"/>
            </a:srgbClr>
          </a:solidFill>
          <a:ln/>
        </p:spPr>
      </p:sp>
      <p:sp>
        <p:nvSpPr>
          <p:cNvPr id="37" name="Text 33"/>
          <p:cNvSpPr/>
          <p:nvPr/>
        </p:nvSpPr>
        <p:spPr>
          <a:xfrm>
            <a:off x="3473884" y="2053192"/>
            <a:ext cx="2079983" cy="866556"/>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000000">
              <a:alpha val="0"/>
            </a:srgbClr>
          </a:solidFill>
          <a:ln/>
        </p:spPr>
      </p:sp>
      <p:sp>
        <p:nvSpPr>
          <p:cNvPr id="39" name="Text 35"/>
          <p:cNvSpPr/>
          <p:nvPr/>
        </p:nvSpPr>
        <p:spPr>
          <a:xfrm>
            <a:off x="3473884" y="2053192"/>
            <a:ext cx="2079983" cy="86655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4</a:t>
            </a:r>
            <a:endParaRPr lang="en-US" sz="1050" dirty="0"/>
          </a:p>
        </p:txBody>
      </p:sp>
      <p:sp>
        <p:nvSpPr>
          <p:cNvPr id="40" name="Shape 36"/>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FFFFFF">
              <a:alpha val="0"/>
            </a:srgbClr>
          </a:solidFill>
          <a:ln/>
        </p:spPr>
      </p:sp>
      <p:sp>
        <p:nvSpPr>
          <p:cNvPr id="41" name="Text 37"/>
          <p:cNvSpPr/>
          <p:nvPr/>
        </p:nvSpPr>
        <p:spPr>
          <a:xfrm>
            <a:off x="0" y="0"/>
            <a:ext cx="2857500" cy="238125"/>
          </a:xfrm>
          <a:prstGeom prst="rect">
            <a:avLst/>
          </a:prstGeom>
          <a:noFill/>
          <a:ln/>
        </p:spPr>
        <p:txBody>
          <a:bodyPr wrap="square" rtlCol="0" anchor="t"/>
          <a:lstStyle/>
          <a:p>
            <a:pPr indent="0" marL="0">
              <a:spcBef>
                <a:spcPts val="375"/>
              </a:spcBef>
              <a:buNone/>
            </a:pPr>
            <a:endParaRPr lang="en-US" sz="1050" dirty="0"/>
          </a:p>
        </p:txBody>
      </p:sp>
      <p:sp>
        <p:nvSpPr>
          <p:cNvPr id="42" name="Shape 38"/>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000000">
              <a:alpha val="0"/>
            </a:srgbClr>
          </a:solidFill>
          <a:ln/>
        </p:spPr>
      </p:sp>
      <p:sp>
        <p:nvSpPr>
          <p:cNvPr id="43" name="Text 39"/>
          <p:cNvSpPr/>
          <p:nvPr/>
        </p:nvSpPr>
        <p:spPr>
          <a:xfrm>
            <a:off x="0" y="0"/>
            <a:ext cx="2857500" cy="238125"/>
          </a:xfrm>
          <a:prstGeom prst="rect">
            <a:avLst/>
          </a:prstGeom>
          <a:noFill/>
          <a:ln/>
        </p:spPr>
        <p:txBody>
          <a:bodyPr wrap="square" rtlCol="0" anchor="t"/>
          <a:lstStyle/>
          <a:p>
            <a:pPr algn="l" indent="0" marL="0">
              <a:spcBef>
                <a:spcPts val="375"/>
              </a:spcBef>
              <a:buNone/>
            </a:pPr>
            <a:r>
              <a:rPr lang="en-US" sz="600" dirty="0">
                <a:solidFill>
                  <a:srgbClr val="333333"/>
                </a:solidFill>
                <a:latin typeface="微软雅黑" pitchFamily="34" charset="0"/>
                <a:ea typeface="微软雅黑" pitchFamily="34" charset="-122"/>
                <a:cs typeface="微软雅黑" pitchFamily="34" charset="-120"/>
              </a:rPr>
              <a:t>2</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1F1"/>
        </a:solidFill>
      </p:bgPr>
    </p:bg>
    <p:spTree>
      <p:nvGrpSpPr>
        <p:cNvPr id="1" name=""/>
        <p:cNvGrpSpPr/>
        <p:nvPr/>
      </p:nvGrpSpPr>
      <p:grpSpPr>
        <a:xfrm>
          <a:off x="0" y="0"/>
          <a:ext cx="0" cy="0"/>
          <a:chOff x="0" y="0"/>
          <a:chExt cx="0" cy="0"/>
        </a:xfrm>
      </p:grpSpPr>
      <p:pic>
        <p:nvPicPr>
          <p:cNvPr id="2" name="Image 0" descr="./images\slide12_img108.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2_img109.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FFFFFF">
              <a:alpha val="0"/>
            </a:srgbClr>
          </a:solidFill>
          <a:ln/>
        </p:spPr>
      </p:sp>
      <p:sp>
        <p:nvSpPr>
          <p:cNvPr id="5" name="Text 1"/>
          <p:cNvSpPr/>
          <p:nvPr/>
        </p:nvSpPr>
        <p:spPr>
          <a:xfrm>
            <a:off x="614136" y="1912706"/>
            <a:ext cx="7826859"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000000">
              <a:alpha val="0"/>
            </a:srgbClr>
          </a:solidFill>
          <a:ln/>
        </p:spPr>
      </p:sp>
      <p:sp>
        <p:nvSpPr>
          <p:cNvPr id="7" name="Text 3"/>
          <p:cNvSpPr/>
          <p:nvPr/>
        </p:nvSpPr>
        <p:spPr>
          <a:xfrm>
            <a:off x="614136" y="1912706"/>
            <a:ext cx="7826859"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o'smalarini davolashning asosiy usullari</a:t>
            </a:r>
            <a:endParaRPr lang="en-US" sz="1050" dirty="0"/>
          </a:p>
        </p:txBody>
      </p:sp>
      <p:sp>
        <p:nvSpPr>
          <p:cNvPr id="8" name="Shape 4"/>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FFFFFF">
              <a:alpha val="0"/>
            </a:srgbClr>
          </a:solidFill>
          <a:ln/>
        </p:spPr>
      </p:sp>
      <p:sp>
        <p:nvSpPr>
          <p:cNvPr id="9" name="Text 5"/>
          <p:cNvSpPr/>
          <p:nvPr/>
        </p:nvSpPr>
        <p:spPr>
          <a:xfrm>
            <a:off x="661391" y="2388956"/>
            <a:ext cx="7779603" cy="245447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000000">
              <a:alpha val="0"/>
            </a:srgbClr>
          </a:solidFill>
          <a:ln/>
        </p:spPr>
      </p:sp>
      <p:sp>
        <p:nvSpPr>
          <p:cNvPr id="11" name="Text 7"/>
          <p:cNvSpPr/>
          <p:nvPr/>
        </p:nvSpPr>
        <p:spPr>
          <a:xfrm>
            <a:off x="661391" y="2388956"/>
            <a:ext cx="7779603" cy="245447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o'smalarini davolashda bir nechta usullar mavjud, jumladan: jarrohlik, radioterapiya, kimyoterapiya va immunoterapiya. Har bir usulning o'ziga xos afzalliklari va kamchiliklari bor. Davolash strategiyasi bemorning holatiga, o'smaning joylashuvi va boshqa omillarga qarab tanlanadi. Klinik tadqiqotlar va yangi texnologiyalar yordamida davolash usullari doimiy ravishda takomillashmoqda.</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1F1"/>
        </a:solidFill>
      </p:bgPr>
    </p:bg>
    <p:spTree>
      <p:nvGrpSpPr>
        <p:cNvPr id="1" name=""/>
        <p:cNvGrpSpPr/>
        <p:nvPr/>
      </p:nvGrpSpPr>
      <p:grpSpPr>
        <a:xfrm>
          <a:off x="0" y="0"/>
          <a:ext cx="0" cy="0"/>
          <a:chOff x="0" y="0"/>
          <a:chExt cx="0" cy="0"/>
        </a:xfrm>
      </p:grpSpPr>
      <p:pic>
        <p:nvPicPr>
          <p:cNvPr id="2" name="Image 0" descr="./images\slide13_img110.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3_img111.png">    </p:cNvPr>
          <p:cNvPicPr>
            <a:picLocks noChangeAspect="1"/>
          </p:cNvPicPr>
          <p:nvPr/>
        </p:nvPicPr>
        <p:blipFill>
          <a:blip r:embed="rId2"/>
          <a:stretch>
            <a:fillRect/>
          </a:stretch>
        </p:blipFill>
        <p:spPr>
          <a:xfrm rot="5400000">
            <a:off x="1448898" y="701944"/>
            <a:ext cx="2176332" cy="3520538"/>
          </a:xfrm>
          <a:prstGeom prst="rect">
            <a:avLst/>
          </a:prstGeom>
        </p:spPr>
      </p:pic>
      <p:sp>
        <p:nvSpPr>
          <p:cNvPr id="4" name="Shape 0"/>
          <p:cNvSpPr/>
          <p:nvPr/>
        </p:nvSpPr>
        <p:spPr>
          <a:xfrm rot="5400000">
            <a:off x="1448898"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FFFFFF">
              <a:alpha val="0"/>
            </a:srgbClr>
          </a:solidFill>
          <a:ln/>
        </p:spPr>
      </p:sp>
      <p:sp>
        <p:nvSpPr>
          <p:cNvPr id="5" name="Text 1"/>
          <p:cNvSpPr/>
          <p:nvPr/>
        </p:nvSpPr>
        <p:spPr>
          <a:xfrm rot="5400000">
            <a:off x="1448898" y="701944"/>
            <a:ext cx="2176332" cy="3520538"/>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rot="5400000">
            <a:off x="1448898"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000000">
              <a:alpha val="0"/>
            </a:srgbClr>
          </a:solidFill>
          <a:ln/>
        </p:spPr>
      </p:sp>
      <p:sp>
        <p:nvSpPr>
          <p:cNvPr id="7" name="Text 3"/>
          <p:cNvSpPr/>
          <p:nvPr/>
        </p:nvSpPr>
        <p:spPr>
          <a:xfrm rot="5400000">
            <a:off x="1448898" y="701944"/>
            <a:ext cx="2176332" cy="352053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3_img112.png">    </p:cNvPr>
          <p:cNvPicPr>
            <a:picLocks noChangeAspect="1"/>
          </p:cNvPicPr>
          <p:nvPr/>
        </p:nvPicPr>
        <p:blipFill>
          <a:blip r:embed="rId3"/>
          <a:stretch>
            <a:fillRect/>
          </a:stretch>
        </p:blipFill>
        <p:spPr>
          <a:xfrm rot="5400000">
            <a:off x="1448898" y="701944"/>
            <a:ext cx="2176332" cy="3520538"/>
          </a:xfrm>
          <a:prstGeom prst="rect">
            <a:avLst/>
          </a:prstGeom>
        </p:spPr>
      </p:pic>
      <p:pic>
        <p:nvPicPr>
          <p:cNvPr id="9" name="Image 3" descr="./images\slide13_img113.png">    </p:cNvPr>
          <p:cNvPicPr>
            <a:picLocks noChangeAspect="1"/>
          </p:cNvPicPr>
          <p:nvPr/>
        </p:nvPicPr>
        <p:blipFill>
          <a:blip r:embed="rId4"/>
          <a:stretch>
            <a:fillRect/>
          </a:stretch>
        </p:blipFill>
        <p:spPr>
          <a:xfrm rot="5400000">
            <a:off x="5445903" y="701944"/>
            <a:ext cx="2176332" cy="3520538"/>
          </a:xfrm>
          <a:prstGeom prst="rect">
            <a:avLst/>
          </a:prstGeom>
        </p:spPr>
      </p:pic>
      <p:sp>
        <p:nvSpPr>
          <p:cNvPr id="10" name="Shape 4"/>
          <p:cNvSpPr/>
          <p:nvPr/>
        </p:nvSpPr>
        <p:spPr>
          <a:xfrm rot="5400000">
            <a:off x="5445903"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FFFFFF">
              <a:alpha val="0"/>
            </a:srgbClr>
          </a:solidFill>
          <a:ln/>
        </p:spPr>
      </p:sp>
      <p:sp>
        <p:nvSpPr>
          <p:cNvPr id="11" name="Text 5"/>
          <p:cNvSpPr/>
          <p:nvPr/>
        </p:nvSpPr>
        <p:spPr>
          <a:xfrm rot="5400000">
            <a:off x="5445903" y="701944"/>
            <a:ext cx="2176332" cy="3520538"/>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5400000">
            <a:off x="5445903"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000000">
              <a:alpha val="0"/>
            </a:srgbClr>
          </a:solidFill>
          <a:ln/>
        </p:spPr>
      </p:sp>
      <p:sp>
        <p:nvSpPr>
          <p:cNvPr id="13" name="Text 7"/>
          <p:cNvSpPr/>
          <p:nvPr/>
        </p:nvSpPr>
        <p:spPr>
          <a:xfrm rot="5400000">
            <a:off x="5445903" y="701944"/>
            <a:ext cx="2176332" cy="352053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3_img114.png">    </p:cNvPr>
          <p:cNvPicPr>
            <a:picLocks noChangeAspect="1"/>
          </p:cNvPicPr>
          <p:nvPr/>
        </p:nvPicPr>
        <p:blipFill>
          <a:blip r:embed="rId5"/>
          <a:stretch>
            <a:fillRect/>
          </a:stretch>
        </p:blipFill>
        <p:spPr>
          <a:xfrm rot="5400000">
            <a:off x="5445903" y="701944"/>
            <a:ext cx="2176332" cy="3520538"/>
          </a:xfrm>
          <a:prstGeom prst="rect">
            <a:avLst/>
          </a:prstGeom>
        </p:spPr>
      </p:pic>
      <p:sp>
        <p:nvSpPr>
          <p:cNvPr id="15" name="Shape 8"/>
          <p:cNvSpPr/>
          <p:nvPr/>
        </p:nvSpPr>
        <p:spPr>
          <a:xfrm>
            <a:off x="874042" y="42508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16" name="Text 9"/>
          <p:cNvSpPr/>
          <p:nvPr/>
        </p:nvSpPr>
        <p:spPr>
          <a:xfrm>
            <a:off x="874042" y="425088"/>
            <a:ext cx="7395915" cy="476250"/>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874042" y="42508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18" name="Text 11"/>
          <p:cNvSpPr/>
          <p:nvPr/>
        </p:nvSpPr>
        <p:spPr>
          <a:xfrm>
            <a:off x="874042" y="42508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a:t>
            </a:r>
            <a:endParaRPr lang="en-US" sz="1050" dirty="0"/>
          </a:p>
        </p:txBody>
      </p:sp>
      <p:sp>
        <p:nvSpPr>
          <p:cNvPr id="19" name="Shape 12"/>
          <p:cNvSpPr/>
          <p:nvPr/>
        </p:nvSpPr>
        <p:spPr>
          <a:xfrm>
            <a:off x="1291100" y="3646366"/>
            <a:ext cx="2521072" cy="348338"/>
          </a:xfrm>
          <a:custGeom>
            <a:avLst/>
            <a:gdLst/>
            <a:ahLst/>
            <a:cxnLst/>
            <a:rect l="l" t="t" r="r" b="b"/>
            <a:pathLst>
              <a:path w="2521072" h="348338">
                <a:moveTo>
                  <a:pt x="0" y="0"/>
                </a:moveTo>
                <a:lnTo>
                  <a:pt x="2521072" y="0"/>
                </a:lnTo>
                <a:lnTo>
                  <a:pt x="2521072" y="348338"/>
                </a:lnTo>
                <a:lnTo>
                  <a:pt x="0" y="348338"/>
                </a:lnTo>
                <a:close/>
              </a:path>
            </a:pathLst>
          </a:custGeom>
          <a:solidFill>
            <a:srgbClr val="FFFFFF">
              <a:alpha val="0"/>
            </a:srgbClr>
          </a:solidFill>
          <a:ln/>
        </p:spPr>
      </p:sp>
      <p:sp>
        <p:nvSpPr>
          <p:cNvPr id="20" name="Text 13"/>
          <p:cNvSpPr/>
          <p:nvPr/>
        </p:nvSpPr>
        <p:spPr>
          <a:xfrm>
            <a:off x="1291100" y="3646366"/>
            <a:ext cx="2521072" cy="348338"/>
          </a:xfrm>
          <a:prstGeom prst="rect">
            <a:avLst/>
          </a:prstGeom>
          <a:noFill/>
          <a:ln/>
        </p:spPr>
        <p:txBody>
          <a:bodyPr wrap="square" rtlCol="0" anchor="t"/>
          <a:lstStyle/>
          <a:p>
            <a:pPr indent="0" marL="0">
              <a:spcBef>
                <a:spcPts val="375"/>
              </a:spcBef>
              <a:buNone/>
            </a:pPr>
            <a:endParaRPr lang="en-US" sz="1050" dirty="0"/>
          </a:p>
        </p:txBody>
      </p:sp>
      <p:sp>
        <p:nvSpPr>
          <p:cNvPr id="21" name="Shape 14"/>
          <p:cNvSpPr/>
          <p:nvPr/>
        </p:nvSpPr>
        <p:spPr>
          <a:xfrm>
            <a:off x="1291100" y="3646366"/>
            <a:ext cx="2521072" cy="348338"/>
          </a:xfrm>
          <a:custGeom>
            <a:avLst/>
            <a:gdLst/>
            <a:ahLst/>
            <a:cxnLst/>
            <a:rect l="l" t="t" r="r" b="b"/>
            <a:pathLst>
              <a:path w="2521072" h="348338">
                <a:moveTo>
                  <a:pt x="0" y="0"/>
                </a:moveTo>
                <a:lnTo>
                  <a:pt x="2521072" y="0"/>
                </a:lnTo>
                <a:lnTo>
                  <a:pt x="2521072" y="348338"/>
                </a:lnTo>
                <a:lnTo>
                  <a:pt x="0" y="348338"/>
                </a:lnTo>
                <a:close/>
              </a:path>
            </a:pathLst>
          </a:custGeom>
          <a:solidFill>
            <a:srgbClr val="000000">
              <a:alpha val="0"/>
            </a:srgbClr>
          </a:solidFill>
          <a:ln/>
        </p:spPr>
      </p:sp>
      <p:sp>
        <p:nvSpPr>
          <p:cNvPr id="22" name="Text 15"/>
          <p:cNvSpPr/>
          <p:nvPr/>
        </p:nvSpPr>
        <p:spPr>
          <a:xfrm>
            <a:off x="1291100" y="3646366"/>
            <a:ext cx="2521072" cy="348338"/>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Nerv tizimining o'smalari va ularning simptomlari</a:t>
            </a:r>
            <a:endParaRPr lang="en-US" sz="1050" dirty="0"/>
          </a:p>
        </p:txBody>
      </p:sp>
      <p:sp>
        <p:nvSpPr>
          <p:cNvPr id="23" name="Shape 16"/>
          <p:cNvSpPr/>
          <p:nvPr/>
        </p:nvSpPr>
        <p:spPr>
          <a:xfrm>
            <a:off x="5132203" y="3551855"/>
            <a:ext cx="2610067" cy="336524"/>
          </a:xfrm>
          <a:custGeom>
            <a:avLst/>
            <a:gdLst/>
            <a:ahLst/>
            <a:cxnLst/>
            <a:rect l="l" t="t" r="r" b="b"/>
            <a:pathLst>
              <a:path w="2610067" h="336524">
                <a:moveTo>
                  <a:pt x="0" y="0"/>
                </a:moveTo>
                <a:lnTo>
                  <a:pt x="2610067" y="0"/>
                </a:lnTo>
                <a:lnTo>
                  <a:pt x="2610067" y="336524"/>
                </a:lnTo>
                <a:lnTo>
                  <a:pt x="0" y="336524"/>
                </a:lnTo>
                <a:close/>
              </a:path>
            </a:pathLst>
          </a:custGeom>
          <a:solidFill>
            <a:srgbClr val="FFFFFF">
              <a:alpha val="0"/>
            </a:srgbClr>
          </a:solidFill>
          <a:ln/>
        </p:spPr>
      </p:sp>
      <p:sp>
        <p:nvSpPr>
          <p:cNvPr id="24" name="Text 17"/>
          <p:cNvSpPr/>
          <p:nvPr/>
        </p:nvSpPr>
        <p:spPr>
          <a:xfrm>
            <a:off x="5132203" y="3551855"/>
            <a:ext cx="2610067" cy="336524"/>
          </a:xfrm>
          <a:prstGeom prst="rect">
            <a:avLst/>
          </a:prstGeom>
          <a:noFill/>
          <a:ln/>
        </p:spPr>
        <p:txBody>
          <a:bodyPr wrap="square" rtlCol="0" anchor="t"/>
          <a:lstStyle/>
          <a:p>
            <a:pPr indent="0" marL="0">
              <a:spcBef>
                <a:spcPts val="375"/>
              </a:spcBef>
              <a:buNone/>
            </a:pPr>
            <a:endParaRPr lang="en-US" sz="1050" dirty="0"/>
          </a:p>
        </p:txBody>
      </p:sp>
      <p:sp>
        <p:nvSpPr>
          <p:cNvPr id="25" name="Shape 18"/>
          <p:cNvSpPr/>
          <p:nvPr/>
        </p:nvSpPr>
        <p:spPr>
          <a:xfrm>
            <a:off x="5132203" y="3551855"/>
            <a:ext cx="2610067" cy="336524"/>
          </a:xfrm>
          <a:custGeom>
            <a:avLst/>
            <a:gdLst/>
            <a:ahLst/>
            <a:cxnLst/>
            <a:rect l="l" t="t" r="r" b="b"/>
            <a:pathLst>
              <a:path w="2610067" h="336524">
                <a:moveTo>
                  <a:pt x="0" y="0"/>
                </a:moveTo>
                <a:lnTo>
                  <a:pt x="2610067" y="0"/>
                </a:lnTo>
                <a:lnTo>
                  <a:pt x="2610067" y="336524"/>
                </a:lnTo>
                <a:lnTo>
                  <a:pt x="0" y="336524"/>
                </a:lnTo>
                <a:close/>
              </a:path>
            </a:pathLst>
          </a:custGeom>
          <a:solidFill>
            <a:srgbClr val="000000">
              <a:alpha val="0"/>
            </a:srgbClr>
          </a:solidFill>
          <a:ln/>
        </p:spPr>
      </p:sp>
      <p:sp>
        <p:nvSpPr>
          <p:cNvPr id="26" name="Text 19"/>
          <p:cNvSpPr/>
          <p:nvPr/>
        </p:nvSpPr>
        <p:spPr>
          <a:xfrm>
            <a:off x="5132203" y="3551855"/>
            <a:ext cx="2610067" cy="336524"/>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 turlari va belgilari</a:t>
            </a:r>
            <a:endParaRPr lang="en-US" sz="1050" dirty="0"/>
          </a:p>
        </p:txBody>
      </p:sp>
      <p:sp>
        <p:nvSpPr>
          <p:cNvPr id="27" name="Shape 20"/>
          <p:cNvSpPr/>
          <p:nvPr/>
        </p:nvSpPr>
        <p:spPr>
          <a:xfrm>
            <a:off x="1261955" y="4037922"/>
            <a:ext cx="3310045" cy="603796"/>
          </a:xfrm>
          <a:custGeom>
            <a:avLst/>
            <a:gdLst/>
            <a:ahLst/>
            <a:cxnLst/>
            <a:rect l="l" t="t" r="r" b="b"/>
            <a:pathLst>
              <a:path w="3310045" h="603796">
                <a:moveTo>
                  <a:pt x="0" y="0"/>
                </a:moveTo>
                <a:lnTo>
                  <a:pt x="3310045" y="0"/>
                </a:lnTo>
                <a:lnTo>
                  <a:pt x="3310045" y="603796"/>
                </a:lnTo>
                <a:lnTo>
                  <a:pt x="0" y="603796"/>
                </a:lnTo>
                <a:close/>
              </a:path>
            </a:pathLst>
          </a:custGeom>
          <a:solidFill>
            <a:srgbClr val="FFFFFF">
              <a:alpha val="0"/>
            </a:srgbClr>
          </a:solidFill>
          <a:ln/>
        </p:spPr>
      </p:sp>
      <p:sp>
        <p:nvSpPr>
          <p:cNvPr id="28" name="Text 21"/>
          <p:cNvSpPr/>
          <p:nvPr/>
        </p:nvSpPr>
        <p:spPr>
          <a:xfrm>
            <a:off x="1261955" y="4037922"/>
            <a:ext cx="3310045" cy="603796"/>
          </a:xfrm>
          <a:prstGeom prst="rect">
            <a:avLst/>
          </a:prstGeom>
          <a:noFill/>
          <a:ln/>
        </p:spPr>
        <p:txBody>
          <a:bodyPr wrap="square" rtlCol="0" anchor="t"/>
          <a:lstStyle/>
          <a:p>
            <a:pPr indent="0" marL="0">
              <a:spcBef>
                <a:spcPts val="375"/>
              </a:spcBef>
              <a:buNone/>
            </a:pPr>
            <a:endParaRPr lang="en-US" sz="1050" dirty="0"/>
          </a:p>
        </p:txBody>
      </p:sp>
      <p:sp>
        <p:nvSpPr>
          <p:cNvPr id="29" name="Shape 22"/>
          <p:cNvSpPr/>
          <p:nvPr/>
        </p:nvSpPr>
        <p:spPr>
          <a:xfrm>
            <a:off x="1261955" y="4037922"/>
            <a:ext cx="3310045" cy="603796"/>
          </a:xfrm>
          <a:custGeom>
            <a:avLst/>
            <a:gdLst/>
            <a:ahLst/>
            <a:cxnLst/>
            <a:rect l="l" t="t" r="r" b="b"/>
            <a:pathLst>
              <a:path w="3310045" h="603796">
                <a:moveTo>
                  <a:pt x="0" y="0"/>
                </a:moveTo>
                <a:lnTo>
                  <a:pt x="3310045" y="0"/>
                </a:lnTo>
                <a:lnTo>
                  <a:pt x="3310045" y="603796"/>
                </a:lnTo>
                <a:lnTo>
                  <a:pt x="0" y="603796"/>
                </a:lnTo>
                <a:close/>
              </a:path>
            </a:pathLst>
          </a:custGeom>
          <a:solidFill>
            <a:srgbClr val="000000">
              <a:alpha val="0"/>
            </a:srgbClr>
          </a:solidFill>
          <a:ln/>
        </p:spPr>
      </p:sp>
      <p:sp>
        <p:nvSpPr>
          <p:cNvPr id="30" name="Text 23"/>
          <p:cNvSpPr/>
          <p:nvPr/>
        </p:nvSpPr>
        <p:spPr>
          <a:xfrm>
            <a:off x="1261955" y="4037922"/>
            <a:ext cx="3310045"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1. Glioma: Bosh miya va orqa miya o'smalari. Simptomlar: bosh og'rig'i, ko'rish muammolari, muvofiqlik yo'qotish.2. Meningioma: Meninges o'smasi. Simptomlar: bosh og'rig'i, xotira muammolari.3. Neiroblastoma: Bolalarda uchraydigan o'sma. Simptomlar: qorin og'rig'i, vazn yo'qotish.</a:t>
            </a:r>
            <a:endParaRPr lang="en-US" sz="1050" dirty="0"/>
          </a:p>
        </p:txBody>
      </p:sp>
      <p:sp>
        <p:nvSpPr>
          <p:cNvPr id="31" name="Shape 24"/>
          <p:cNvSpPr/>
          <p:nvPr/>
        </p:nvSpPr>
        <p:spPr>
          <a:xfrm>
            <a:off x="5233011" y="4037922"/>
            <a:ext cx="3660728" cy="603796"/>
          </a:xfrm>
          <a:custGeom>
            <a:avLst/>
            <a:gdLst/>
            <a:ahLst/>
            <a:cxnLst/>
            <a:rect l="l" t="t" r="r" b="b"/>
            <a:pathLst>
              <a:path w="3660728" h="603796">
                <a:moveTo>
                  <a:pt x="0" y="0"/>
                </a:moveTo>
                <a:lnTo>
                  <a:pt x="3660728" y="0"/>
                </a:lnTo>
                <a:lnTo>
                  <a:pt x="3660728" y="603796"/>
                </a:lnTo>
                <a:lnTo>
                  <a:pt x="0" y="603796"/>
                </a:lnTo>
                <a:close/>
              </a:path>
            </a:pathLst>
          </a:custGeom>
          <a:solidFill>
            <a:srgbClr val="FFFFFF">
              <a:alpha val="0"/>
            </a:srgbClr>
          </a:solidFill>
          <a:ln/>
        </p:spPr>
      </p:sp>
      <p:sp>
        <p:nvSpPr>
          <p:cNvPr id="32" name="Text 25"/>
          <p:cNvSpPr/>
          <p:nvPr/>
        </p:nvSpPr>
        <p:spPr>
          <a:xfrm>
            <a:off x="5233011" y="4037922"/>
            <a:ext cx="3660728" cy="60379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233011" y="4037922"/>
            <a:ext cx="3660728" cy="603796"/>
          </a:xfrm>
          <a:custGeom>
            <a:avLst/>
            <a:gdLst/>
            <a:ahLst/>
            <a:cxnLst/>
            <a:rect l="l" t="t" r="r" b="b"/>
            <a:pathLst>
              <a:path w="3660728" h="603796">
                <a:moveTo>
                  <a:pt x="0" y="0"/>
                </a:moveTo>
                <a:lnTo>
                  <a:pt x="3660728" y="0"/>
                </a:lnTo>
                <a:lnTo>
                  <a:pt x="3660728" y="603796"/>
                </a:lnTo>
                <a:lnTo>
                  <a:pt x="0" y="603796"/>
                </a:lnTo>
                <a:close/>
              </a:path>
            </a:pathLst>
          </a:custGeom>
          <a:solidFill>
            <a:srgbClr val="000000">
              <a:alpha val="0"/>
            </a:srgbClr>
          </a:solidFill>
          <a:ln/>
        </p:spPr>
      </p:sp>
      <p:sp>
        <p:nvSpPr>
          <p:cNvPr id="34" name="Text 27"/>
          <p:cNvSpPr/>
          <p:nvPr/>
        </p:nvSpPr>
        <p:spPr>
          <a:xfrm>
            <a:off x="5233011" y="4037922"/>
            <a:ext cx="3660728"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1. O'sma turi: Glioma   Simptomlar: Bosh og'rig'i, ko'rish muammolari2. O'sma turi: Meningioma   Simptomlar: Bosh og'rig'i, xotira muammolari3. O'sma turi: Neiroblastoma   Simptomlar: Qorin og'rig'i, vazn yo'qotish</a:t>
            </a:r>
            <a:endParaRPr lang="en-US" sz="1050" dirty="0"/>
          </a:p>
        </p:txBody>
      </p:sp>
      <p:pic>
        <p:nvPicPr>
          <p:cNvPr id="35" name="Image 5" descr="./images\slide13_img115.png">    </p:cNvPr>
          <p:cNvPicPr>
            <a:picLocks noChangeAspect="1"/>
          </p:cNvPicPr>
          <p:nvPr/>
        </p:nvPicPr>
        <p:blipFill>
          <a:blip r:embed="rId6"/>
          <a:srcRect l="0" r="45747" t="0" b="45747"/>
          <a:stretch/>
        </p:blipFill>
        <p:spPr>
          <a:xfrm>
            <a:off x="891015" y="1521186"/>
            <a:ext cx="3103200" cy="1858320"/>
          </a:xfrm>
          <a:prstGeom prst="ellipse">
            <a:avLst/>
          </a:prstGeom>
        </p:spPr>
      </p:pic>
      <p:pic>
        <p:nvPicPr>
          <p:cNvPr id="36" name="Image 6" descr="./images\slide13_img116.png">    </p:cNvPr>
          <p:cNvPicPr>
            <a:picLocks noChangeAspect="1"/>
          </p:cNvPicPr>
          <p:nvPr/>
        </p:nvPicPr>
        <p:blipFill>
          <a:blip r:embed="rId7"/>
          <a:srcRect l="0" r="45747" t="0" b="45747"/>
          <a:stretch/>
        </p:blipFill>
        <p:spPr>
          <a:xfrm>
            <a:off x="4914519" y="1499500"/>
            <a:ext cx="3109536" cy="1858320"/>
          </a:xfrm>
          <a:prstGeom prst="ellipse">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1F1"/>
        </a:solidFill>
      </p:bgPr>
    </p:bg>
    <p:spTree>
      <p:nvGrpSpPr>
        <p:cNvPr id="1" name=""/>
        <p:cNvGrpSpPr/>
        <p:nvPr/>
      </p:nvGrpSpPr>
      <p:grpSpPr>
        <a:xfrm>
          <a:off x="0" y="0"/>
          <a:ext cx="0" cy="0"/>
          <a:chOff x="0" y="0"/>
          <a:chExt cx="0" cy="0"/>
        </a:xfrm>
      </p:grpSpPr>
      <p:pic>
        <p:nvPicPr>
          <p:cNvPr id="2" name="Image 0" descr="./images\slide14_img11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4_img118.png">    </p:cNvPr>
          <p:cNvPicPr>
            <a:picLocks noChangeAspect="1"/>
          </p:cNvPicPr>
          <p:nvPr/>
        </p:nvPicPr>
        <p:blipFill>
          <a:blip r:embed="rId2"/>
          <a:stretch>
            <a:fillRect/>
          </a:stretch>
        </p:blipFill>
        <p:spPr>
          <a:xfrm>
            <a:off x="419387" y="1645896"/>
            <a:ext cx="2957551" cy="3098256"/>
          </a:xfrm>
          <a:prstGeom prst="rect">
            <a:avLst/>
          </a:prstGeom>
        </p:spPr>
      </p:pic>
      <p:sp>
        <p:nvSpPr>
          <p:cNvPr id="4" name="Shape 0"/>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5" name="Text 1"/>
          <p:cNvSpPr/>
          <p:nvPr/>
        </p:nvSpPr>
        <p:spPr>
          <a:xfrm>
            <a:off x="419387"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7" name="Text 3"/>
          <p:cNvSpPr/>
          <p:nvPr/>
        </p:nvSpPr>
        <p:spPr>
          <a:xfrm>
            <a:off x="419387"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4_img119.png">    </p:cNvPr>
          <p:cNvPicPr>
            <a:picLocks noChangeAspect="1"/>
          </p:cNvPicPr>
          <p:nvPr/>
        </p:nvPicPr>
        <p:blipFill>
          <a:blip r:embed="rId3"/>
          <a:stretch>
            <a:fillRect/>
          </a:stretch>
        </p:blipFill>
        <p:spPr>
          <a:xfrm>
            <a:off x="419387" y="1645896"/>
            <a:ext cx="2957551" cy="3098256"/>
          </a:xfrm>
          <a:prstGeom prst="rect">
            <a:avLst/>
          </a:prstGeom>
        </p:spPr>
      </p:pic>
      <p:pic>
        <p:nvPicPr>
          <p:cNvPr id="9" name="Image 3" descr="./images\slide14_img120.png">    </p:cNvPr>
          <p:cNvPicPr>
            <a:picLocks noChangeAspect="1"/>
          </p:cNvPicPr>
          <p:nvPr/>
        </p:nvPicPr>
        <p:blipFill>
          <a:blip r:embed="rId4"/>
          <a:stretch>
            <a:fillRect/>
          </a:stretch>
        </p:blipFill>
        <p:spPr>
          <a:xfrm>
            <a:off x="1614449" y="1645896"/>
            <a:ext cx="2957551" cy="3098256"/>
          </a:xfrm>
          <a:prstGeom prst="rect">
            <a:avLst/>
          </a:prstGeom>
        </p:spPr>
      </p:pic>
      <p:sp>
        <p:nvSpPr>
          <p:cNvPr id="10" name="Shape 4"/>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11" name="Text 5"/>
          <p:cNvSpPr/>
          <p:nvPr/>
        </p:nvSpPr>
        <p:spPr>
          <a:xfrm>
            <a:off x="1614449"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13" name="Text 7"/>
          <p:cNvSpPr/>
          <p:nvPr/>
        </p:nvSpPr>
        <p:spPr>
          <a:xfrm>
            <a:off x="1614449"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4_img121.png">    </p:cNvPr>
          <p:cNvPicPr>
            <a:picLocks noChangeAspect="1"/>
          </p:cNvPicPr>
          <p:nvPr/>
        </p:nvPicPr>
        <p:blipFill>
          <a:blip r:embed="rId5"/>
          <a:stretch>
            <a:fillRect/>
          </a:stretch>
        </p:blipFill>
        <p:spPr>
          <a:xfrm>
            <a:off x="1614449" y="1645896"/>
            <a:ext cx="2957551" cy="3098256"/>
          </a:xfrm>
          <a:prstGeom prst="rect">
            <a:avLst/>
          </a:prstGeom>
        </p:spPr>
      </p:pic>
      <p:pic>
        <p:nvPicPr>
          <p:cNvPr id="15" name="Image 5" descr="./images\slide14_img122.jpeg">    </p:cNvPr>
          <p:cNvPicPr>
            <a:picLocks noChangeAspect="1"/>
          </p:cNvPicPr>
          <p:nvPr/>
        </p:nvPicPr>
        <p:blipFill>
          <a:blip r:embed="rId6"/>
          <a:srcRect l="2217" r="47786" t="0" b="45747"/>
          <a:stretch/>
        </p:blipFill>
        <p:spPr>
          <a:xfrm>
            <a:off x="534644" y="1797247"/>
            <a:ext cx="3699955" cy="2676661"/>
          </a:xfrm>
          <a:prstGeom prst="rect">
            <a:avLst/>
          </a:prstGeom>
        </p:spPr>
      </p:pic>
      <p:sp>
        <p:nvSpPr>
          <p:cNvPr id="16" name="Shape 8"/>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FFFFFF">
              <a:alpha val="0"/>
            </a:srgbClr>
          </a:solidFill>
          <a:ln/>
        </p:spPr>
      </p:sp>
      <p:sp>
        <p:nvSpPr>
          <p:cNvPr id="17" name="Text 9"/>
          <p:cNvSpPr/>
          <p:nvPr/>
        </p:nvSpPr>
        <p:spPr>
          <a:xfrm>
            <a:off x="874042" y="289968"/>
            <a:ext cx="7395900" cy="4762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000000">
              <a:alpha val="0"/>
            </a:srgbClr>
          </a:solidFill>
          <a:ln/>
        </p:spPr>
      </p:sp>
      <p:sp>
        <p:nvSpPr>
          <p:cNvPr id="19" name="Text 11"/>
          <p:cNvSpPr/>
          <p:nvPr/>
        </p:nvSpPr>
        <p:spPr>
          <a:xfrm>
            <a:off x="874042" y="289968"/>
            <a:ext cx="73959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O'smalarini Davolash Usullari</a:t>
            </a:r>
            <a:endParaRPr lang="en-US" sz="1050" dirty="0"/>
          </a:p>
        </p:txBody>
      </p:sp>
      <p:sp>
        <p:nvSpPr>
          <p:cNvPr id="20" name="Shape 12"/>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FFFFFF">
              <a:alpha val="0"/>
            </a:srgbClr>
          </a:solidFill>
          <a:ln/>
        </p:spPr>
      </p:sp>
      <p:sp>
        <p:nvSpPr>
          <p:cNvPr id="21" name="Text 13"/>
          <p:cNvSpPr/>
          <p:nvPr/>
        </p:nvSpPr>
        <p:spPr>
          <a:xfrm>
            <a:off x="4572000" y="1768209"/>
            <a:ext cx="1448190" cy="476250"/>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000000">
              <a:alpha val="0"/>
            </a:srgbClr>
          </a:solidFill>
          <a:ln/>
        </p:spPr>
      </p:sp>
      <p:sp>
        <p:nvSpPr>
          <p:cNvPr id="23" name="Text 15"/>
          <p:cNvSpPr/>
          <p:nvPr/>
        </p:nvSpPr>
        <p:spPr>
          <a:xfrm>
            <a:off x="4572000" y="1768209"/>
            <a:ext cx="1448190"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24" name="Shape 16"/>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5" name="Text 17"/>
          <p:cNvSpPr/>
          <p:nvPr/>
        </p:nvSpPr>
        <p:spPr>
          <a:xfrm>
            <a:off x="4572000" y="2582210"/>
            <a:ext cx="1319049" cy="4762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27" name="Text 19"/>
          <p:cNvSpPr/>
          <p:nvPr/>
        </p:nvSpPr>
        <p:spPr>
          <a:xfrm>
            <a:off x="4572000" y="2582210"/>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28" name="Shape 20"/>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9" name="Text 21"/>
          <p:cNvSpPr/>
          <p:nvPr/>
        </p:nvSpPr>
        <p:spPr>
          <a:xfrm>
            <a:off x="4572000" y="3663928"/>
            <a:ext cx="1319049" cy="476250"/>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31" name="Text 23"/>
          <p:cNvSpPr/>
          <p:nvPr/>
        </p:nvSpPr>
        <p:spPr>
          <a:xfrm>
            <a:off x="4572000" y="3663928"/>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32" name="Shape 24"/>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FFFFFF">
              <a:alpha val="0"/>
            </a:srgbClr>
          </a:solidFill>
          <a:ln/>
        </p:spPr>
      </p:sp>
      <p:sp>
        <p:nvSpPr>
          <p:cNvPr id="33" name="Text 25"/>
          <p:cNvSpPr/>
          <p:nvPr/>
        </p:nvSpPr>
        <p:spPr>
          <a:xfrm>
            <a:off x="6052785" y="1736990"/>
            <a:ext cx="3091215" cy="1016499"/>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000000">
              <a:alpha val="0"/>
            </a:srgbClr>
          </a:solidFill>
          <a:ln/>
        </p:spPr>
      </p:sp>
      <p:sp>
        <p:nvSpPr>
          <p:cNvPr id="35" name="Text 27"/>
          <p:cNvSpPr/>
          <p:nvPr/>
        </p:nvSpPr>
        <p:spPr>
          <a:xfrm>
            <a:off x="6052785" y="1736990"/>
            <a:ext cx="3091215" cy="101649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o'smalarini davolash bir nechta usullarni o'z ichiga oladi, jumladan, jarrohlik, radioterapiya va kimyoterapiya. Har bir usulning o'ziga xos afzalliklari va kamchiliklari bor. Bunday davolash usullari keng qamrovli tibbiy baholash va individual yondashuvni talab qiladi.</a:t>
            </a:r>
            <a:endParaRPr lang="en-US" sz="1050" dirty="0"/>
          </a:p>
        </p:txBody>
      </p:sp>
      <p:sp>
        <p:nvSpPr>
          <p:cNvPr id="36" name="Shape 28"/>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FFFFFF">
              <a:alpha val="0"/>
            </a:srgbClr>
          </a:solidFill>
          <a:ln/>
        </p:spPr>
      </p:sp>
      <p:sp>
        <p:nvSpPr>
          <p:cNvPr id="37" name="Text 29"/>
          <p:cNvSpPr/>
          <p:nvPr/>
        </p:nvSpPr>
        <p:spPr>
          <a:xfrm>
            <a:off x="6052785" y="2753489"/>
            <a:ext cx="3091215" cy="910439"/>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000000">
              <a:alpha val="0"/>
            </a:srgbClr>
          </a:solidFill>
          <a:ln/>
        </p:spPr>
      </p:sp>
      <p:sp>
        <p:nvSpPr>
          <p:cNvPr id="39" name="Text 31"/>
          <p:cNvSpPr/>
          <p:nvPr/>
        </p:nvSpPr>
        <p:spPr>
          <a:xfrm>
            <a:off x="6052785" y="2753489"/>
            <a:ext cx="3091215" cy="9104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davolash uchun eng yaxshi usulni tanlashda bemorning umumiy salomatligi, o'smaning turi va rivojlanish bosqichi muhim ahamiyatga ega. Tegishli davolash rejasi individual ravishda ishlab chiqilishi kerak.</a:t>
            </a:r>
            <a:endParaRPr lang="en-US" sz="1050" dirty="0"/>
          </a:p>
        </p:txBody>
      </p:sp>
      <p:sp>
        <p:nvSpPr>
          <p:cNvPr id="40" name="Shape 32"/>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FFFFFF">
              <a:alpha val="0"/>
            </a:srgbClr>
          </a:solidFill>
          <a:ln/>
        </p:spPr>
      </p:sp>
      <p:sp>
        <p:nvSpPr>
          <p:cNvPr id="41" name="Text 33"/>
          <p:cNvSpPr/>
          <p:nvPr/>
        </p:nvSpPr>
        <p:spPr>
          <a:xfrm>
            <a:off x="6052785" y="3847022"/>
            <a:ext cx="3091215" cy="981843"/>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000000">
              <a:alpha val="0"/>
            </a:srgbClr>
          </a:solidFill>
          <a:ln/>
        </p:spPr>
      </p:sp>
      <p:sp>
        <p:nvSpPr>
          <p:cNvPr id="43" name="Text 35"/>
          <p:cNvSpPr/>
          <p:nvPr/>
        </p:nvSpPr>
        <p:spPr>
          <a:xfrm>
            <a:off x="6052785" y="3847022"/>
            <a:ext cx="3091215" cy="98184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o'smalarini davolashda zamonaviy texnologiyalar, masalan, stereotaktik radioterapiya va immunoterapiya, samarali bo'lishi mumkin. Bu usullar bemorlarga yanada qulay va samarali davolash imkoniyatini taqdim etadi.</a:t>
            </a:r>
            <a:endParaRPr lang="en-US" sz="1050" dirty="0"/>
          </a:p>
        </p:txBody>
      </p:sp>
      <p:pic>
        <p:nvPicPr>
          <p:cNvPr id="44" name="Image 6" descr="./images\slide14_img123.png">    </p:cNvPr>
          <p:cNvPicPr>
            <a:picLocks noChangeAspect="1"/>
          </p:cNvPicPr>
          <p:nvPr/>
        </p:nvPicPr>
        <p:blipFill>
          <a:blip r:embed="rId7"/>
          <a:stretch>
            <a:fillRect/>
          </a:stretch>
        </p:blipFill>
        <p:spPr>
          <a:xfrm rot="-780000">
            <a:off x="-308256" y="617196"/>
            <a:ext cx="1713253" cy="2057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2382357"/>
                <a:gridCol w="2382357"/>
                <a:gridCol w="2382357"/>
              </a:tblGrid>
              <a:tr h="692869">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Nerv tizimi o'smalari turi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Tavsif</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Belgilari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Astrositoma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Miya nerv hujayralaridan kelib chiqadi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Bosh og'rig'i, o'zgaruvchan ruhiy holat</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Meningioma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Meningeal hujayralardan rivojlanadi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Ko'pincha asimptomatik, lekin bosh og'rig'i keltirib chiqarishi mumkin</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Neuroblastoma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Nerv tizimining embrional o'smasi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Qon aylanishi buzilishi, og'riq</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haqida umumiy ma'lumot</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haqida umumiy ma'lumot</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nerv to'qimalaridan hosil bo'ladigan o'smalardir. Ular benign (yaxshi sifatli) yoki malign (yomon sifatli) bo'lishi mumkin. Ushbu o'smalar asosan bosh miya, orqa miya va periferal nervlarda uchraydi.</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simptomlari orasida bosh og'rig'i, muvofiqlikning yo'qolishi, his-tuyg'u o'zgarishlari va harakat qobiliyatida muammolar kiradi. Katta o'smalar atrofdagi to'qimalarga bosim o'tkazishi mumkin.</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o'smaning turiga, joylashuviga va bemorning umumiy holatiga bog'liq. Jarrohlik, radiatsiya terapiyasi va kimyoviy terapiya keng tarqalgan usullardir.</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 va simptomlari</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beyning, orqa miyaning va nerv tolalarining o'smalari hisoblanadi. Ular turli xil turlarga ega bo'lib, har birining o'ziga xos simptomlari mavjud.</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O'smalarning simptomlari ko'pincha bemorning umumiy holatiga ta'sir qiladi. Bosh og'rig'i, qusish, ko'rish qobiliyatining pasayishi kabi belgilar kuzatilishi mumkin.</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O'smalarning sabablari</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aniqlash usullari</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 davolash usullari</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Mavzuni muhokama qilish</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Bizning maqsadimiz nerv tizimi o'smalarini erta aniqlash va davolash usullarini yaxshilashdir.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1F1"/>
        </a:solidFill>
      </p:bgPr>
    </p:bg>
    <p:spTree>
      <p:nvGrpSpPr>
        <p:cNvPr id="1" name=""/>
        <p:cNvGrpSpPr/>
        <p:nvPr/>
      </p:nvGrpSpPr>
      <p:grpSpPr>
        <a:xfrm>
          <a:off x="0" y="0"/>
          <a:ext cx="0" cy="0"/>
          <a:chOff x="0" y="0"/>
          <a:chExt cx="0" cy="0"/>
        </a:xfrm>
      </p:grpSpPr>
      <p:pic>
        <p:nvPicPr>
          <p:cNvPr id="2" name="Image 0" descr="./images\slide7_img71.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7_img72.png">    </p:cNvPr>
          <p:cNvPicPr>
            <a:picLocks noChangeAspect="1"/>
          </p:cNvPicPr>
          <p:nvPr/>
        </p:nvPicPr>
        <p:blipFill>
          <a:blip r:embed="rId2"/>
          <a:stretch>
            <a:fillRect/>
          </a:stretch>
        </p:blipFill>
        <p:spPr>
          <a:xfrm>
            <a:off x="998990" y="2046872"/>
            <a:ext cx="590056" cy="590056"/>
          </a:xfrm>
          <a:prstGeom prst="rect">
            <a:avLst/>
          </a:prstGeom>
        </p:spPr>
      </p:pic>
      <p:sp>
        <p:nvSpPr>
          <p:cNvPr id="4" name="Shape 0"/>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 name="Text 1"/>
          <p:cNvSpPr/>
          <p:nvPr/>
        </p:nvSpPr>
        <p:spPr>
          <a:xfrm>
            <a:off x="998990" y="2046872"/>
            <a:ext cx="590056" cy="5900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7" name="Text 3"/>
          <p:cNvSpPr/>
          <p:nvPr/>
        </p:nvSpPr>
        <p:spPr>
          <a:xfrm>
            <a:off x="998990" y="2046872"/>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8" name="Shape 4"/>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9" name="Text 5"/>
          <p:cNvSpPr/>
          <p:nvPr/>
        </p:nvSpPr>
        <p:spPr>
          <a:xfrm>
            <a:off x="1054308" y="2074531"/>
            <a:ext cx="479420" cy="215875"/>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11" name="Text 7"/>
          <p:cNvSpPr/>
          <p:nvPr/>
        </p:nvSpPr>
        <p:spPr>
          <a:xfrm>
            <a:off x="1054308" y="2074531"/>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2" name="Image 2" descr="./images\slide7_img73.png">    </p:cNvPr>
          <p:cNvPicPr>
            <a:picLocks noChangeAspect="1"/>
          </p:cNvPicPr>
          <p:nvPr/>
        </p:nvPicPr>
        <p:blipFill>
          <a:blip r:embed="rId3"/>
          <a:stretch>
            <a:fillRect/>
          </a:stretch>
        </p:blipFill>
        <p:spPr>
          <a:xfrm rot="-1020000">
            <a:off x="4361650" y="2004586"/>
            <a:ext cx="1018992" cy="1264684"/>
          </a:xfrm>
          <a:prstGeom prst="rect">
            <a:avLst/>
          </a:prstGeom>
        </p:spPr>
      </p:pic>
      <p:sp>
        <p:nvSpPr>
          <p:cNvPr id="13" name="Shape 8"/>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FFFFFF">
              <a:alpha val="0"/>
            </a:srgbClr>
          </a:solidFill>
          <a:ln/>
        </p:spPr>
      </p:sp>
      <p:sp>
        <p:nvSpPr>
          <p:cNvPr id="14" name="Text 9"/>
          <p:cNvSpPr/>
          <p:nvPr/>
        </p:nvSpPr>
        <p:spPr>
          <a:xfrm>
            <a:off x="998990" y="531999"/>
            <a:ext cx="7383349" cy="723900"/>
          </a:xfrm>
          <a:prstGeom prst="rect">
            <a:avLst/>
          </a:prstGeom>
          <a:noFill/>
          <a:ln/>
        </p:spPr>
        <p:txBody>
          <a:bodyPr wrap="square" rtlCol="0" anchor="t"/>
          <a:lstStyle/>
          <a:p>
            <a:pPr indent="0" marL="0">
              <a:spcBef>
                <a:spcPts val="375"/>
              </a:spcBef>
              <a:buNone/>
            </a:pPr>
            <a:endParaRPr lang="en-US" sz="1050" dirty="0"/>
          </a:p>
        </p:txBody>
      </p:sp>
      <p:sp>
        <p:nvSpPr>
          <p:cNvPr id="15" name="Shape 10"/>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000000">
              <a:alpha val="0"/>
            </a:srgbClr>
          </a:solidFill>
          <a:ln/>
        </p:spPr>
      </p:sp>
      <p:sp>
        <p:nvSpPr>
          <p:cNvPr id="16" name="Text 11"/>
          <p:cNvSpPr/>
          <p:nvPr/>
        </p:nvSpPr>
        <p:spPr>
          <a:xfrm>
            <a:off x="998990" y="531999"/>
            <a:ext cx="7383349" cy="723900"/>
          </a:xfrm>
          <a:prstGeom prst="rect">
            <a:avLst/>
          </a:prstGeom>
          <a:noFill/>
          <a:ln/>
        </p:spPr>
        <p:txBody>
          <a:bodyPr wrap="square" rtlCol="0" anchor="t"/>
          <a:lstStyle/>
          <a:p>
            <a:pPr algn="l" indent="0" marL="0">
              <a:spcBef>
                <a:spcPts val="375"/>
              </a:spcBef>
              <a:buNone/>
            </a:pPr>
            <a:r>
              <a:rPr lang="en-US" sz="4950" dirty="0">
                <a:solidFill>
                  <a:srgbClr val="45464D"/>
                </a:solidFill>
                <a:latin typeface="Caveat Brush" pitchFamily="34" charset="0"/>
                <a:ea typeface="Caveat Brush" pitchFamily="34" charset="-122"/>
                <a:cs typeface="Caveat Brush" pitchFamily="34" charset="-120"/>
              </a:rPr>
              <a:t>Nerv tizimi o'smalari turlari</a:t>
            </a:r>
            <a:endParaRPr lang="en-US" sz="1050" dirty="0"/>
          </a:p>
        </p:txBody>
      </p:sp>
      <p:sp>
        <p:nvSpPr>
          <p:cNvPr id="17" name="Shape 12"/>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FFFFFF">
              <a:alpha val="0"/>
            </a:srgbClr>
          </a:solidFill>
          <a:ln/>
        </p:spPr>
      </p:sp>
      <p:sp>
        <p:nvSpPr>
          <p:cNvPr id="18" name="Text 13"/>
          <p:cNvSpPr/>
          <p:nvPr/>
        </p:nvSpPr>
        <p:spPr>
          <a:xfrm>
            <a:off x="1804873" y="2571750"/>
            <a:ext cx="2026586" cy="1802559"/>
          </a:xfrm>
          <a:prstGeom prst="rect">
            <a:avLst/>
          </a:prstGeom>
          <a:noFill/>
          <a:ln/>
        </p:spPr>
        <p:txBody>
          <a:bodyPr wrap="square" rtlCol="0" anchor="t"/>
          <a:lstStyle/>
          <a:p>
            <a:pPr indent="0" marL="0">
              <a:spcBef>
                <a:spcPts val="375"/>
              </a:spcBef>
              <a:buNone/>
            </a:pPr>
            <a:endParaRPr lang="en-US" sz="1050" dirty="0"/>
          </a:p>
        </p:txBody>
      </p:sp>
      <p:sp>
        <p:nvSpPr>
          <p:cNvPr id="19" name="Shape 14"/>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000000">
              <a:alpha val="0"/>
            </a:srgbClr>
          </a:solidFill>
          <a:ln/>
        </p:spPr>
      </p:sp>
      <p:sp>
        <p:nvSpPr>
          <p:cNvPr id="20" name="Text 15"/>
          <p:cNvSpPr/>
          <p:nvPr/>
        </p:nvSpPr>
        <p:spPr>
          <a:xfrm>
            <a:off x="1804873" y="2571750"/>
            <a:ext cx="2026586" cy="180255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ikki turga bo'linadi: benign (yaxshi) va malign (yomon). Har bir tur o'ziga xos simptomlar va davolash usullariga ega.</a:t>
            </a:r>
            <a:endParaRPr lang="en-US" sz="1050" dirty="0"/>
          </a:p>
        </p:txBody>
      </p:sp>
      <p:sp>
        <p:nvSpPr>
          <p:cNvPr id="21" name="Shape 16"/>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22" name="Text 17"/>
          <p:cNvSpPr/>
          <p:nvPr/>
        </p:nvSpPr>
        <p:spPr>
          <a:xfrm>
            <a:off x="1804873" y="2032584"/>
            <a:ext cx="2026586" cy="241399"/>
          </a:xfrm>
          <a:prstGeom prst="rect">
            <a:avLst/>
          </a:prstGeom>
          <a:noFill/>
          <a:ln/>
        </p:spPr>
        <p:txBody>
          <a:bodyPr wrap="square" rtlCol="0" anchor="t"/>
          <a:lstStyle/>
          <a:p>
            <a:pPr indent="0" marL="0">
              <a:spcBef>
                <a:spcPts val="375"/>
              </a:spcBef>
              <a:buNone/>
            </a:pPr>
            <a:endParaRPr lang="en-US" sz="1050" dirty="0"/>
          </a:p>
        </p:txBody>
      </p:sp>
      <p:sp>
        <p:nvSpPr>
          <p:cNvPr id="23" name="Shape 18"/>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24" name="Text 19"/>
          <p:cNvSpPr/>
          <p:nvPr/>
        </p:nvSpPr>
        <p:spPr>
          <a:xfrm>
            <a:off x="1804873" y="2032584"/>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Benign nerv tizimi o'smalari</a:t>
            </a:r>
            <a:endParaRPr lang="en-US" sz="1050" dirty="0"/>
          </a:p>
        </p:txBody>
      </p:sp>
      <p:pic>
        <p:nvPicPr>
          <p:cNvPr id="25" name="Image 3" descr="./images\slide7_img74.png">    </p:cNvPr>
          <p:cNvPicPr>
            <a:picLocks noChangeAspect="1"/>
          </p:cNvPicPr>
          <p:nvPr/>
        </p:nvPicPr>
        <p:blipFill>
          <a:blip r:embed="rId4"/>
          <a:stretch>
            <a:fillRect/>
          </a:stretch>
        </p:blipFill>
        <p:spPr>
          <a:xfrm>
            <a:off x="1112106" y="2144560"/>
            <a:ext cx="363823" cy="394680"/>
          </a:xfrm>
          <a:prstGeom prst="rect">
            <a:avLst/>
          </a:prstGeom>
        </p:spPr>
      </p:pic>
      <p:sp>
        <p:nvSpPr>
          <p:cNvPr id="26" name="Shape 20"/>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FFFFFF">
              <a:alpha val="0"/>
            </a:srgbClr>
          </a:solidFill>
          <a:ln/>
        </p:spPr>
      </p:sp>
      <p:sp>
        <p:nvSpPr>
          <p:cNvPr id="27" name="Text 21"/>
          <p:cNvSpPr/>
          <p:nvPr/>
        </p:nvSpPr>
        <p:spPr>
          <a:xfrm>
            <a:off x="1294018" y="1488574"/>
            <a:ext cx="363823" cy="394680"/>
          </a:xfrm>
          <a:prstGeom prst="rect">
            <a:avLst/>
          </a:prstGeom>
          <a:noFill/>
          <a:ln/>
        </p:spPr>
        <p:txBody>
          <a:bodyPr wrap="square" rtlCol="0" anchor="t"/>
          <a:lstStyle/>
          <a:p>
            <a:pPr indent="0" marL="0">
              <a:spcBef>
                <a:spcPts val="375"/>
              </a:spcBef>
              <a:buNone/>
            </a:pPr>
            <a:endParaRPr lang="en-US" sz="1050" dirty="0"/>
          </a:p>
        </p:txBody>
      </p:sp>
      <p:sp>
        <p:nvSpPr>
          <p:cNvPr id="28" name="Shape 22"/>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000000">
              <a:alpha val="0"/>
            </a:srgbClr>
          </a:solidFill>
          <a:ln/>
        </p:spPr>
      </p:sp>
      <p:sp>
        <p:nvSpPr>
          <p:cNvPr id="29" name="Text 23"/>
          <p:cNvSpPr/>
          <p:nvPr/>
        </p:nvSpPr>
        <p:spPr>
          <a:xfrm>
            <a:off x="1294018" y="1488574"/>
            <a:ext cx="363823" cy="39468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0" name="Image 4" descr="./images\slide7_img75.png">    </p:cNvPr>
          <p:cNvPicPr>
            <a:picLocks noChangeAspect="1"/>
          </p:cNvPicPr>
          <p:nvPr/>
        </p:nvPicPr>
        <p:blipFill>
          <a:blip r:embed="rId5"/>
          <a:stretch>
            <a:fillRect/>
          </a:stretch>
        </p:blipFill>
        <p:spPr>
          <a:xfrm>
            <a:off x="5830897" y="2044376"/>
            <a:ext cx="590056" cy="590056"/>
          </a:xfrm>
          <a:prstGeom prst="rect">
            <a:avLst/>
          </a:prstGeom>
        </p:spPr>
      </p:pic>
      <p:sp>
        <p:nvSpPr>
          <p:cNvPr id="31" name="Shape 24"/>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32" name="Text 25"/>
          <p:cNvSpPr/>
          <p:nvPr/>
        </p:nvSpPr>
        <p:spPr>
          <a:xfrm>
            <a:off x="5830897" y="2044376"/>
            <a:ext cx="590056" cy="59005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34" name="Text 27"/>
          <p:cNvSpPr/>
          <p:nvPr/>
        </p:nvSpPr>
        <p:spPr>
          <a:xfrm>
            <a:off x="5830897" y="2044376"/>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5" name="Shape 28"/>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36" name="Text 29"/>
          <p:cNvSpPr/>
          <p:nvPr/>
        </p:nvSpPr>
        <p:spPr>
          <a:xfrm>
            <a:off x="5886215" y="2072035"/>
            <a:ext cx="479420" cy="215875"/>
          </a:xfrm>
          <a:prstGeom prst="rect">
            <a:avLst/>
          </a:prstGeom>
          <a:noFill/>
          <a:ln/>
        </p:spPr>
        <p:txBody>
          <a:bodyPr wrap="square" rtlCol="0" anchor="t"/>
          <a:lstStyle/>
          <a:p>
            <a:pPr indent="0" marL="0">
              <a:spcBef>
                <a:spcPts val="375"/>
              </a:spcBef>
              <a:buNone/>
            </a:pPr>
            <a:endParaRPr lang="en-US" sz="1050" dirty="0"/>
          </a:p>
        </p:txBody>
      </p:sp>
      <p:sp>
        <p:nvSpPr>
          <p:cNvPr id="37" name="Shape 30"/>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38" name="Text 31"/>
          <p:cNvSpPr/>
          <p:nvPr/>
        </p:nvSpPr>
        <p:spPr>
          <a:xfrm>
            <a:off x="5886215" y="2072035"/>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9" name="Shape 32"/>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FFFFFF">
              <a:alpha val="0"/>
            </a:srgbClr>
          </a:solidFill>
          <a:ln/>
        </p:spPr>
      </p:sp>
      <p:sp>
        <p:nvSpPr>
          <p:cNvPr id="40" name="Text 33"/>
          <p:cNvSpPr/>
          <p:nvPr/>
        </p:nvSpPr>
        <p:spPr>
          <a:xfrm>
            <a:off x="6636780" y="2396989"/>
            <a:ext cx="2026586" cy="1294639"/>
          </a:xfrm>
          <a:prstGeom prst="rect">
            <a:avLst/>
          </a:prstGeom>
          <a:noFill/>
          <a:ln/>
        </p:spPr>
        <p:txBody>
          <a:bodyPr wrap="square" rtlCol="0" anchor="t"/>
          <a:lstStyle/>
          <a:p>
            <a:pPr indent="0" marL="0">
              <a:spcBef>
                <a:spcPts val="375"/>
              </a:spcBef>
              <a:buNone/>
            </a:pPr>
            <a:endParaRPr lang="en-US" sz="1050" dirty="0"/>
          </a:p>
        </p:txBody>
      </p:sp>
      <p:sp>
        <p:nvSpPr>
          <p:cNvPr id="41" name="Shape 34"/>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000000">
              <a:alpha val="0"/>
            </a:srgbClr>
          </a:solidFill>
          <a:ln/>
        </p:spPr>
      </p:sp>
      <p:sp>
        <p:nvSpPr>
          <p:cNvPr id="42" name="Text 35"/>
          <p:cNvSpPr/>
          <p:nvPr/>
        </p:nvSpPr>
        <p:spPr>
          <a:xfrm>
            <a:off x="6636780" y="2396989"/>
            <a:ext cx="2026586" cy="12946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Ular asta-sekin o'sadi va atrofdagi to'qimalarga zarar yetkazmaydi, bu esa bemorlarning umidini yaxshilaydi. Misol: meningioma.</a:t>
            </a:r>
            <a:endParaRPr lang="en-US" sz="1050" dirty="0"/>
          </a:p>
        </p:txBody>
      </p:sp>
      <p:sp>
        <p:nvSpPr>
          <p:cNvPr id="43" name="Shape 36"/>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44" name="Text 37"/>
          <p:cNvSpPr/>
          <p:nvPr/>
        </p:nvSpPr>
        <p:spPr>
          <a:xfrm>
            <a:off x="6636780" y="2030089"/>
            <a:ext cx="2026586" cy="241399"/>
          </a:xfrm>
          <a:prstGeom prst="rect">
            <a:avLst/>
          </a:prstGeom>
          <a:noFill/>
          <a:ln/>
        </p:spPr>
        <p:txBody>
          <a:bodyPr wrap="square" rtlCol="0" anchor="t"/>
          <a:lstStyle/>
          <a:p>
            <a:pPr indent="0" marL="0">
              <a:spcBef>
                <a:spcPts val="375"/>
              </a:spcBef>
              <a:buNone/>
            </a:pPr>
            <a:endParaRPr lang="en-US" sz="1050" dirty="0"/>
          </a:p>
        </p:txBody>
      </p:sp>
      <p:sp>
        <p:nvSpPr>
          <p:cNvPr id="45" name="Shape 38"/>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46" name="Text 39"/>
          <p:cNvSpPr/>
          <p:nvPr/>
        </p:nvSpPr>
        <p:spPr>
          <a:xfrm>
            <a:off x="6636780" y="2030089"/>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Malign nerv tizimi o'smalari</a:t>
            </a:r>
            <a:endParaRPr lang="en-US" sz="1050" dirty="0"/>
          </a:p>
        </p:txBody>
      </p:sp>
      <p:pic>
        <p:nvPicPr>
          <p:cNvPr id="47" name="Image 5" descr="./images\slide7_img76.png">    </p:cNvPr>
          <p:cNvPicPr>
            <a:picLocks noChangeAspect="1"/>
          </p:cNvPicPr>
          <p:nvPr/>
        </p:nvPicPr>
        <p:blipFill>
          <a:blip r:embed="rId6"/>
          <a:stretch>
            <a:fillRect/>
          </a:stretch>
        </p:blipFill>
        <p:spPr>
          <a:xfrm>
            <a:off x="5953101" y="2164353"/>
            <a:ext cx="345646" cy="350102"/>
          </a:xfrm>
          <a:prstGeom prst="rect">
            <a:avLst/>
          </a:prstGeom>
        </p:spPr>
      </p:pic>
      <p:pic>
        <p:nvPicPr>
          <p:cNvPr id="48" name="Image 6" descr="./images\slide7_img77.png">    </p:cNvPr>
          <p:cNvPicPr>
            <a:picLocks noChangeAspect="1"/>
          </p:cNvPicPr>
          <p:nvPr/>
        </p:nvPicPr>
        <p:blipFill>
          <a:blip r:embed="rId7"/>
          <a:stretch>
            <a:fillRect/>
          </a:stretch>
        </p:blipFill>
        <p:spPr>
          <a:xfrm>
            <a:off x="3274429" y="4092459"/>
            <a:ext cx="590056" cy="590056"/>
          </a:xfrm>
          <a:prstGeom prst="rect">
            <a:avLst/>
          </a:prstGeom>
        </p:spPr>
      </p:pic>
      <p:sp>
        <p:nvSpPr>
          <p:cNvPr id="49" name="Shape 40"/>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0" name="Text 41"/>
          <p:cNvSpPr/>
          <p:nvPr/>
        </p:nvSpPr>
        <p:spPr>
          <a:xfrm>
            <a:off x="3274429" y="4092459"/>
            <a:ext cx="590056" cy="590056"/>
          </a:xfrm>
          <a:prstGeom prst="rect">
            <a:avLst/>
          </a:prstGeom>
          <a:noFill/>
          <a:ln/>
        </p:spPr>
        <p:txBody>
          <a:bodyPr wrap="square" rtlCol="0" anchor="t"/>
          <a:lstStyle/>
          <a:p>
            <a:pPr indent="0" marL="0">
              <a:spcBef>
                <a:spcPts val="375"/>
              </a:spcBef>
              <a:buNone/>
            </a:pPr>
            <a:endParaRPr lang="en-US" sz="1050" dirty="0"/>
          </a:p>
        </p:txBody>
      </p:sp>
      <p:sp>
        <p:nvSpPr>
          <p:cNvPr id="51" name="Shape 42"/>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52" name="Text 43"/>
          <p:cNvSpPr/>
          <p:nvPr/>
        </p:nvSpPr>
        <p:spPr>
          <a:xfrm>
            <a:off x="3274429" y="4092459"/>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3" name="Shape 44"/>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54" name="Text 45"/>
          <p:cNvSpPr/>
          <p:nvPr/>
        </p:nvSpPr>
        <p:spPr>
          <a:xfrm>
            <a:off x="3329747" y="4120118"/>
            <a:ext cx="479420" cy="215875"/>
          </a:xfrm>
          <a:prstGeom prst="rect">
            <a:avLst/>
          </a:prstGeom>
          <a:noFill/>
          <a:ln/>
        </p:spPr>
        <p:txBody>
          <a:bodyPr wrap="square" rtlCol="0" anchor="t"/>
          <a:lstStyle/>
          <a:p>
            <a:pPr indent="0" marL="0">
              <a:spcBef>
                <a:spcPts val="375"/>
              </a:spcBef>
              <a:buNone/>
            </a:pPr>
            <a:endParaRPr lang="en-US" sz="1050" dirty="0"/>
          </a:p>
        </p:txBody>
      </p:sp>
      <p:sp>
        <p:nvSpPr>
          <p:cNvPr id="55" name="Shape 46"/>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56" name="Text 47"/>
          <p:cNvSpPr/>
          <p:nvPr/>
        </p:nvSpPr>
        <p:spPr>
          <a:xfrm>
            <a:off x="3329747" y="4120118"/>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7" name="Shape 48"/>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FFFFFF">
              <a:alpha val="0"/>
            </a:srgbClr>
          </a:solidFill>
          <a:ln/>
        </p:spPr>
      </p:sp>
      <p:sp>
        <p:nvSpPr>
          <p:cNvPr id="58" name="Text 49"/>
          <p:cNvSpPr/>
          <p:nvPr/>
        </p:nvSpPr>
        <p:spPr>
          <a:xfrm>
            <a:off x="4080313" y="4335487"/>
            <a:ext cx="3243423" cy="857523"/>
          </a:xfrm>
          <a:prstGeom prst="rect">
            <a:avLst/>
          </a:prstGeom>
          <a:noFill/>
          <a:ln/>
        </p:spPr>
        <p:txBody>
          <a:bodyPr wrap="square" rtlCol="0" anchor="t"/>
          <a:lstStyle/>
          <a:p>
            <a:pPr indent="0" marL="0">
              <a:spcBef>
                <a:spcPts val="375"/>
              </a:spcBef>
              <a:buNone/>
            </a:pPr>
            <a:endParaRPr lang="en-US" sz="1050" dirty="0"/>
          </a:p>
        </p:txBody>
      </p:sp>
      <p:sp>
        <p:nvSpPr>
          <p:cNvPr id="59" name="Shape 50"/>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000000">
              <a:alpha val="0"/>
            </a:srgbClr>
          </a:solidFill>
          <a:ln/>
        </p:spPr>
      </p:sp>
      <p:sp>
        <p:nvSpPr>
          <p:cNvPr id="60" name="Text 51"/>
          <p:cNvSpPr/>
          <p:nvPr/>
        </p:nvSpPr>
        <p:spPr>
          <a:xfrm>
            <a:off x="4080313" y="4335487"/>
            <a:ext cx="3243423" cy="857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Bu o'smalar tez o'sadi va atrofdagi to'qimalarga tarqalishi mumkin. Misol: glioblastoma, neuroblastoma.</a:t>
            </a:r>
            <a:endParaRPr lang="en-US" sz="1050" dirty="0"/>
          </a:p>
        </p:txBody>
      </p:sp>
      <p:sp>
        <p:nvSpPr>
          <p:cNvPr id="61" name="Shape 52"/>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FFFFFF">
              <a:alpha val="0"/>
            </a:srgbClr>
          </a:solidFill>
          <a:ln/>
        </p:spPr>
      </p:sp>
      <p:sp>
        <p:nvSpPr>
          <p:cNvPr id="62" name="Text 53"/>
          <p:cNvSpPr/>
          <p:nvPr/>
        </p:nvSpPr>
        <p:spPr>
          <a:xfrm>
            <a:off x="4080313" y="4078171"/>
            <a:ext cx="3042586" cy="241399"/>
          </a:xfrm>
          <a:prstGeom prst="rect">
            <a:avLst/>
          </a:prstGeom>
          <a:noFill/>
          <a:ln/>
        </p:spPr>
        <p:txBody>
          <a:bodyPr wrap="square" rtlCol="0" anchor="t"/>
          <a:lstStyle/>
          <a:p>
            <a:pPr indent="0" marL="0">
              <a:spcBef>
                <a:spcPts val="375"/>
              </a:spcBef>
              <a:buNone/>
            </a:pPr>
            <a:endParaRPr lang="en-US" sz="1050" dirty="0"/>
          </a:p>
        </p:txBody>
      </p:sp>
      <p:sp>
        <p:nvSpPr>
          <p:cNvPr id="63" name="Shape 54"/>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000000">
              <a:alpha val="0"/>
            </a:srgbClr>
          </a:solidFill>
          <a:ln/>
        </p:spPr>
      </p:sp>
      <p:sp>
        <p:nvSpPr>
          <p:cNvPr id="64" name="Text 55"/>
          <p:cNvSpPr/>
          <p:nvPr/>
        </p:nvSpPr>
        <p:spPr>
          <a:xfrm>
            <a:off x="4080313" y="4078171"/>
            <a:ext cx="3042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Simptomlar va belgilari</a:t>
            </a:r>
            <a:endParaRPr lang="en-US" sz="1050" dirty="0"/>
          </a:p>
        </p:txBody>
      </p:sp>
      <p:pic>
        <p:nvPicPr>
          <p:cNvPr id="65" name="Image 7" descr="./images\slide7_img78.png">    </p:cNvPr>
          <p:cNvPicPr>
            <a:picLocks noChangeAspect="1"/>
          </p:cNvPicPr>
          <p:nvPr/>
        </p:nvPicPr>
        <p:blipFill>
          <a:blip r:embed="rId8"/>
          <a:stretch>
            <a:fillRect/>
          </a:stretch>
        </p:blipFill>
        <p:spPr>
          <a:xfrm>
            <a:off x="3442299" y="4191607"/>
            <a:ext cx="254316" cy="36712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1F1"/>
        </a:solidFill>
      </p:bgPr>
    </p:bg>
    <p:spTree>
      <p:nvGrpSpPr>
        <p:cNvPr id="1" name=""/>
        <p:cNvGrpSpPr/>
        <p:nvPr/>
      </p:nvGrpSpPr>
      <p:grpSpPr>
        <a:xfrm>
          <a:off x="0" y="0"/>
          <a:ext cx="0" cy="0"/>
          <a:chOff x="0" y="0"/>
          <a:chExt cx="0" cy="0"/>
        </a:xfrm>
      </p:grpSpPr>
      <p:pic>
        <p:nvPicPr>
          <p:cNvPr id="2" name="Image 0" descr="./images\slide8_img7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8_img80.png">    </p:cNvPr>
          <p:cNvPicPr>
            <a:picLocks noChangeAspect="1"/>
          </p:cNvPicPr>
          <p:nvPr/>
        </p:nvPicPr>
        <p:blipFill>
          <a:blip r:embed="rId2"/>
          <a:stretch>
            <a:fillRect/>
          </a:stretch>
        </p:blipFill>
        <p:spPr>
          <a:xfrm>
            <a:off x="413364" y="1606860"/>
            <a:ext cx="2817893" cy="2510487"/>
          </a:xfrm>
          <a:prstGeom prst="rect">
            <a:avLst/>
          </a:prstGeom>
        </p:spPr>
      </p:pic>
      <p:pic>
        <p:nvPicPr>
          <p:cNvPr id="4" name="Image 2" descr="./images\slide8_img81.png">    </p:cNvPr>
          <p:cNvPicPr>
            <a:picLocks noChangeAspect="1"/>
          </p:cNvPicPr>
          <p:nvPr/>
        </p:nvPicPr>
        <p:blipFill>
          <a:blip r:embed="rId3"/>
          <a:stretch>
            <a:fillRect/>
          </a:stretch>
        </p:blipFill>
        <p:spPr>
          <a:xfrm>
            <a:off x="3382151" y="1860298"/>
            <a:ext cx="548816" cy="594191"/>
          </a:xfrm>
          <a:prstGeom prst="rect">
            <a:avLst/>
          </a:prstGeom>
        </p:spPr>
      </p:pic>
      <p:sp>
        <p:nvSpPr>
          <p:cNvPr id="5" name="Shape 0"/>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6" name="Text 1"/>
          <p:cNvSpPr/>
          <p:nvPr/>
        </p:nvSpPr>
        <p:spPr>
          <a:xfrm>
            <a:off x="3382151"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8" name="Text 3"/>
          <p:cNvSpPr/>
          <p:nvPr/>
        </p:nvSpPr>
        <p:spPr>
          <a:xfrm>
            <a:off x="3382151"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8_img82.png">    </p:cNvPr>
          <p:cNvPicPr>
            <a:picLocks noChangeAspect="1"/>
          </p:cNvPicPr>
          <p:nvPr/>
        </p:nvPicPr>
        <p:blipFill>
          <a:blip r:embed="rId4"/>
          <a:stretch>
            <a:fillRect/>
          </a:stretch>
        </p:blipFill>
        <p:spPr>
          <a:xfrm>
            <a:off x="6233995" y="1860298"/>
            <a:ext cx="548816" cy="594191"/>
          </a:xfrm>
          <a:prstGeom prst="rect">
            <a:avLst/>
          </a:prstGeom>
        </p:spPr>
      </p:pic>
      <p:sp>
        <p:nvSpPr>
          <p:cNvPr id="10" name="Shape 4"/>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1" name="Text 5"/>
          <p:cNvSpPr/>
          <p:nvPr/>
        </p:nvSpPr>
        <p:spPr>
          <a:xfrm>
            <a:off x="6233995"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3" name="Text 7"/>
          <p:cNvSpPr/>
          <p:nvPr/>
        </p:nvSpPr>
        <p:spPr>
          <a:xfrm>
            <a:off x="6233995"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8_img83.png">    </p:cNvPr>
          <p:cNvPicPr>
            <a:picLocks noChangeAspect="1"/>
          </p:cNvPicPr>
          <p:nvPr/>
        </p:nvPicPr>
        <p:blipFill>
          <a:blip r:embed="rId5"/>
          <a:stretch>
            <a:fillRect/>
          </a:stretch>
        </p:blipFill>
        <p:spPr>
          <a:xfrm>
            <a:off x="3529788" y="3523156"/>
            <a:ext cx="548816" cy="594191"/>
          </a:xfrm>
          <a:prstGeom prst="rect">
            <a:avLst/>
          </a:prstGeom>
        </p:spPr>
      </p:pic>
      <p:sp>
        <p:nvSpPr>
          <p:cNvPr id="15" name="Shape 8"/>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6" name="Text 9"/>
          <p:cNvSpPr/>
          <p:nvPr/>
        </p:nvSpPr>
        <p:spPr>
          <a:xfrm>
            <a:off x="3529788"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8" name="Text 11"/>
          <p:cNvSpPr/>
          <p:nvPr/>
        </p:nvSpPr>
        <p:spPr>
          <a:xfrm>
            <a:off x="3529788"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5" descr="./images\slide8_img84.png">    </p:cNvPr>
          <p:cNvPicPr>
            <a:picLocks noChangeAspect="1"/>
          </p:cNvPicPr>
          <p:nvPr/>
        </p:nvPicPr>
        <p:blipFill>
          <a:blip r:embed="rId6"/>
          <a:stretch>
            <a:fillRect/>
          </a:stretch>
        </p:blipFill>
        <p:spPr>
          <a:xfrm>
            <a:off x="6233995" y="3523156"/>
            <a:ext cx="548816" cy="594191"/>
          </a:xfrm>
          <a:prstGeom prst="rect">
            <a:avLst/>
          </a:prstGeom>
        </p:spPr>
      </p:pic>
      <p:sp>
        <p:nvSpPr>
          <p:cNvPr id="20" name="Shape 12"/>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21" name="Text 13"/>
          <p:cNvSpPr/>
          <p:nvPr/>
        </p:nvSpPr>
        <p:spPr>
          <a:xfrm>
            <a:off x="6233995"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23" name="Text 15"/>
          <p:cNvSpPr/>
          <p:nvPr/>
        </p:nvSpPr>
        <p:spPr>
          <a:xfrm>
            <a:off x="6233995"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24" name="Shape 16"/>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FFFFFF">
              <a:alpha val="0"/>
            </a:srgbClr>
          </a:solidFill>
          <a:ln/>
        </p:spPr>
      </p:sp>
      <p:sp>
        <p:nvSpPr>
          <p:cNvPr id="25" name="Text 17"/>
          <p:cNvSpPr/>
          <p:nvPr/>
        </p:nvSpPr>
        <p:spPr>
          <a:xfrm>
            <a:off x="874042" y="328068"/>
            <a:ext cx="8269958" cy="5524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000000">
              <a:alpha val="0"/>
            </a:srgbClr>
          </a:solidFill>
          <a:ln/>
        </p:spPr>
      </p:sp>
      <p:sp>
        <p:nvSpPr>
          <p:cNvPr id="27" name="Text 19"/>
          <p:cNvSpPr/>
          <p:nvPr/>
        </p:nvSpPr>
        <p:spPr>
          <a:xfrm>
            <a:off x="874042" y="328068"/>
            <a:ext cx="8269958"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Nerv tizimi o'smalarini davolash usullari</a:t>
            </a:r>
            <a:endParaRPr lang="en-US" sz="1050" dirty="0"/>
          </a:p>
        </p:txBody>
      </p:sp>
      <p:sp>
        <p:nvSpPr>
          <p:cNvPr id="28" name="Shape 20"/>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FFFFFF">
              <a:alpha val="0"/>
            </a:srgbClr>
          </a:solidFill>
          <a:ln/>
        </p:spPr>
      </p:sp>
      <p:sp>
        <p:nvSpPr>
          <p:cNvPr id="29" name="Text 21"/>
          <p:cNvSpPr/>
          <p:nvPr/>
        </p:nvSpPr>
        <p:spPr>
          <a:xfrm>
            <a:off x="4141256" y="2454489"/>
            <a:ext cx="1783062" cy="1011869"/>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000000">
              <a:alpha val="0"/>
            </a:srgbClr>
          </a:solidFill>
          <a:ln/>
        </p:spPr>
      </p:sp>
      <p:sp>
        <p:nvSpPr>
          <p:cNvPr id="31" name="Text 23"/>
          <p:cNvSpPr/>
          <p:nvPr/>
        </p:nvSpPr>
        <p:spPr>
          <a:xfrm>
            <a:off x="4141256" y="2454489"/>
            <a:ext cx="1783062" cy="101186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tizimida o'smalarni davolash murakkab jarayon bo'lib, bir qancha usullarni o'z ichiga oladi. Ushbu usullar orasida jarrohlik, radioterapiya va kimyoterapiya mavjud.</a:t>
            </a:r>
            <a:endParaRPr lang="en-US" sz="1050" dirty="0"/>
          </a:p>
        </p:txBody>
      </p:sp>
      <p:sp>
        <p:nvSpPr>
          <p:cNvPr id="32" name="Shape 24"/>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FFFFFF">
              <a:alpha val="0"/>
            </a:srgbClr>
          </a:solidFill>
          <a:ln/>
        </p:spPr>
      </p:sp>
      <p:sp>
        <p:nvSpPr>
          <p:cNvPr id="33" name="Text 25"/>
          <p:cNvSpPr/>
          <p:nvPr/>
        </p:nvSpPr>
        <p:spPr>
          <a:xfrm>
            <a:off x="4116705" y="1836485"/>
            <a:ext cx="1924858" cy="253826"/>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000000">
              <a:alpha val="0"/>
            </a:srgbClr>
          </a:solidFill>
          <a:ln/>
        </p:spPr>
      </p:sp>
      <p:sp>
        <p:nvSpPr>
          <p:cNvPr id="35" name="Text 27"/>
          <p:cNvSpPr/>
          <p:nvPr/>
        </p:nvSpPr>
        <p:spPr>
          <a:xfrm>
            <a:off x="4116705" y="1836485"/>
            <a:ext cx="1924858"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Jarrohlik usuli</a:t>
            </a:r>
            <a:endParaRPr lang="en-US" sz="1050" dirty="0"/>
          </a:p>
        </p:txBody>
      </p:sp>
      <p:sp>
        <p:nvSpPr>
          <p:cNvPr id="36" name="Shape 28"/>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FFFFFF">
              <a:alpha val="0"/>
            </a:srgbClr>
          </a:solidFill>
          <a:ln/>
        </p:spPr>
      </p:sp>
      <p:sp>
        <p:nvSpPr>
          <p:cNvPr id="37" name="Text 29"/>
          <p:cNvSpPr/>
          <p:nvPr/>
        </p:nvSpPr>
        <p:spPr>
          <a:xfrm>
            <a:off x="6941071" y="2507763"/>
            <a:ext cx="1688550" cy="1015393"/>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000000">
              <a:alpha val="0"/>
            </a:srgbClr>
          </a:solidFill>
          <a:ln/>
        </p:spPr>
      </p:sp>
      <p:sp>
        <p:nvSpPr>
          <p:cNvPr id="39" name="Text 31"/>
          <p:cNvSpPr/>
          <p:nvPr/>
        </p:nvSpPr>
        <p:spPr>
          <a:xfrm>
            <a:off x="6941071" y="2507763"/>
            <a:ext cx="1688550" cy="101539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Jarrohlik usuli nerv tizimidagi o'smalarni olib tashlashda eng samarali usullardan biridir. O'sma joylashuvi va o'lchamiga qarab, turli xil jarrohlik usullari qo'llanilishi mumkin.</a:t>
            </a:r>
            <a:endParaRPr lang="en-US" sz="1050" dirty="0"/>
          </a:p>
        </p:txBody>
      </p:sp>
      <p:sp>
        <p:nvSpPr>
          <p:cNvPr id="40" name="Shape 32"/>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FFFFFF">
              <a:alpha val="0"/>
            </a:srgbClr>
          </a:solidFill>
          <a:ln/>
        </p:spPr>
      </p:sp>
      <p:sp>
        <p:nvSpPr>
          <p:cNvPr id="41" name="Text 33"/>
          <p:cNvSpPr/>
          <p:nvPr/>
        </p:nvSpPr>
        <p:spPr>
          <a:xfrm>
            <a:off x="6941071" y="1836485"/>
            <a:ext cx="2019370" cy="537361"/>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000000">
              <a:alpha val="0"/>
            </a:srgbClr>
          </a:solidFill>
          <a:ln/>
        </p:spPr>
      </p:sp>
      <p:sp>
        <p:nvSpPr>
          <p:cNvPr id="43" name="Text 35"/>
          <p:cNvSpPr/>
          <p:nvPr/>
        </p:nvSpPr>
        <p:spPr>
          <a:xfrm>
            <a:off x="6941071" y="1836485"/>
            <a:ext cx="2019370" cy="537361"/>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Radioterapiya</a:t>
            </a:r>
            <a:endParaRPr lang="en-US" sz="1050" dirty="0"/>
          </a:p>
        </p:txBody>
      </p:sp>
      <p:sp>
        <p:nvSpPr>
          <p:cNvPr id="44" name="Shape 36"/>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FFFFFF">
              <a:alpha val="0"/>
            </a:srgbClr>
          </a:solidFill>
          <a:ln/>
        </p:spPr>
      </p:sp>
      <p:sp>
        <p:nvSpPr>
          <p:cNvPr id="45" name="Text 37"/>
          <p:cNvSpPr/>
          <p:nvPr/>
        </p:nvSpPr>
        <p:spPr>
          <a:xfrm>
            <a:off x="4235768" y="4117347"/>
            <a:ext cx="1688550" cy="1803595"/>
          </a:xfrm>
          <a:prstGeom prst="rect">
            <a:avLst/>
          </a:prstGeom>
          <a:noFill/>
          <a:ln/>
        </p:spPr>
        <p:txBody>
          <a:bodyPr wrap="square" rtlCol="0" anchor="t"/>
          <a:lstStyle/>
          <a:p>
            <a:pPr indent="0" marL="0">
              <a:spcBef>
                <a:spcPts val="375"/>
              </a:spcBef>
              <a:buNone/>
            </a:pPr>
            <a:endParaRPr lang="en-US" sz="1050" dirty="0"/>
          </a:p>
        </p:txBody>
      </p:sp>
      <p:sp>
        <p:nvSpPr>
          <p:cNvPr id="46" name="Shape 38"/>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000000">
              <a:alpha val="0"/>
            </a:srgbClr>
          </a:solidFill>
          <a:ln/>
        </p:spPr>
      </p:sp>
      <p:sp>
        <p:nvSpPr>
          <p:cNvPr id="47" name="Text 39"/>
          <p:cNvSpPr/>
          <p:nvPr/>
        </p:nvSpPr>
        <p:spPr>
          <a:xfrm>
            <a:off x="4235768" y="4117347"/>
            <a:ext cx="1688550" cy="1803595"/>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Radioterapiya o'smalarni yo'q qilish uchun yuqori energiyali nurlardan foydalanadi. Bu usul asosan jarrohlikdan keyin qo'llaniladi yoki o'sma operatsiya qilish mumkin bo'lmagan joylarda ishlatiladi.</a:t>
            </a:r>
            <a:endParaRPr lang="en-US" sz="1050" dirty="0"/>
          </a:p>
        </p:txBody>
      </p:sp>
      <p:sp>
        <p:nvSpPr>
          <p:cNvPr id="48" name="Shape 40"/>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FFFFFF">
              <a:alpha val="0"/>
            </a:srgbClr>
          </a:solidFill>
          <a:ln/>
        </p:spPr>
      </p:sp>
      <p:sp>
        <p:nvSpPr>
          <p:cNvPr id="49" name="Text 41"/>
          <p:cNvSpPr/>
          <p:nvPr/>
        </p:nvSpPr>
        <p:spPr>
          <a:xfrm>
            <a:off x="4078605" y="3525267"/>
            <a:ext cx="1845741" cy="247650"/>
          </a:xfrm>
          <a:prstGeom prst="rect">
            <a:avLst/>
          </a:prstGeom>
          <a:noFill/>
          <a:ln/>
        </p:spPr>
        <p:txBody>
          <a:bodyPr wrap="square" rtlCol="0" anchor="t"/>
          <a:lstStyle/>
          <a:p>
            <a:pPr indent="0" marL="0">
              <a:spcBef>
                <a:spcPts val="375"/>
              </a:spcBef>
              <a:buNone/>
            </a:pPr>
            <a:endParaRPr lang="en-US" sz="1050" dirty="0"/>
          </a:p>
        </p:txBody>
      </p:sp>
      <p:sp>
        <p:nvSpPr>
          <p:cNvPr id="50" name="Shape 42"/>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000000">
              <a:alpha val="0"/>
            </a:srgbClr>
          </a:solidFill>
          <a:ln/>
        </p:spPr>
      </p:sp>
      <p:sp>
        <p:nvSpPr>
          <p:cNvPr id="51" name="Text 43"/>
          <p:cNvSpPr/>
          <p:nvPr/>
        </p:nvSpPr>
        <p:spPr>
          <a:xfrm>
            <a:off x="4078605" y="3525267"/>
            <a:ext cx="1845741" cy="247650"/>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Kimyoterapiya</a:t>
            </a:r>
            <a:endParaRPr lang="en-US" sz="1050" dirty="0"/>
          </a:p>
        </p:txBody>
      </p:sp>
      <p:sp>
        <p:nvSpPr>
          <p:cNvPr id="52" name="Shape 44"/>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FFFFFF">
              <a:alpha val="0"/>
            </a:srgbClr>
          </a:solidFill>
          <a:ln/>
        </p:spPr>
      </p:sp>
      <p:sp>
        <p:nvSpPr>
          <p:cNvPr id="53" name="Text 45"/>
          <p:cNvSpPr/>
          <p:nvPr/>
        </p:nvSpPr>
        <p:spPr>
          <a:xfrm>
            <a:off x="6941071" y="4117347"/>
            <a:ext cx="1688550" cy="1026153"/>
          </a:xfrm>
          <a:prstGeom prst="rect">
            <a:avLst/>
          </a:prstGeom>
          <a:noFill/>
          <a:ln/>
        </p:spPr>
        <p:txBody>
          <a:bodyPr wrap="square" rtlCol="0" anchor="t"/>
          <a:lstStyle/>
          <a:p>
            <a:pPr indent="0" marL="0">
              <a:spcBef>
                <a:spcPts val="375"/>
              </a:spcBef>
              <a:buNone/>
            </a:pPr>
            <a:endParaRPr lang="en-US" sz="1050" dirty="0"/>
          </a:p>
        </p:txBody>
      </p:sp>
      <p:sp>
        <p:nvSpPr>
          <p:cNvPr id="54" name="Shape 46"/>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000000">
              <a:alpha val="0"/>
            </a:srgbClr>
          </a:solidFill>
          <a:ln/>
        </p:spPr>
      </p:sp>
      <p:sp>
        <p:nvSpPr>
          <p:cNvPr id="55" name="Text 47"/>
          <p:cNvSpPr/>
          <p:nvPr/>
        </p:nvSpPr>
        <p:spPr>
          <a:xfrm>
            <a:off x="6941071" y="4117347"/>
            <a:ext cx="1688550" cy="102615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Kimyoterapiya o'sma hujayralarini yo'q qilish uchun dori-darmonlardan foydalanadi. Bu usul o'sma tarqalgan hollarda qo'llaniladi.</a:t>
            </a:r>
            <a:endParaRPr lang="en-US" sz="1050" dirty="0"/>
          </a:p>
        </p:txBody>
      </p:sp>
      <p:sp>
        <p:nvSpPr>
          <p:cNvPr id="56" name="Shape 48"/>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FFFFFF">
              <a:alpha val="0"/>
            </a:srgbClr>
          </a:solidFill>
          <a:ln/>
        </p:spPr>
      </p:sp>
      <p:sp>
        <p:nvSpPr>
          <p:cNvPr id="57" name="Text 49"/>
          <p:cNvSpPr/>
          <p:nvPr/>
        </p:nvSpPr>
        <p:spPr>
          <a:xfrm>
            <a:off x="6941071" y="3525267"/>
            <a:ext cx="1960300" cy="253826"/>
          </a:xfrm>
          <a:prstGeom prst="rect">
            <a:avLst/>
          </a:prstGeom>
          <a:noFill/>
          <a:ln/>
        </p:spPr>
        <p:txBody>
          <a:bodyPr wrap="square" rtlCol="0" anchor="t"/>
          <a:lstStyle/>
          <a:p>
            <a:pPr indent="0" marL="0">
              <a:spcBef>
                <a:spcPts val="375"/>
              </a:spcBef>
              <a:buNone/>
            </a:pPr>
            <a:endParaRPr lang="en-US" sz="1050" dirty="0"/>
          </a:p>
        </p:txBody>
      </p:sp>
      <p:sp>
        <p:nvSpPr>
          <p:cNvPr id="58" name="Shape 50"/>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000000">
              <a:alpha val="0"/>
            </a:srgbClr>
          </a:solidFill>
          <a:ln/>
        </p:spPr>
      </p:sp>
      <p:sp>
        <p:nvSpPr>
          <p:cNvPr id="59" name="Text 51"/>
          <p:cNvSpPr/>
          <p:nvPr/>
        </p:nvSpPr>
        <p:spPr>
          <a:xfrm>
            <a:off x="6941071" y="3525267"/>
            <a:ext cx="1960300"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Reabilitatsiya va qo'shimcha usullar</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1F1"/>
        </a:solidFill>
      </p:bgPr>
    </p:bg>
    <p:spTree>
      <p:nvGrpSpPr>
        <p:cNvPr id="1" name=""/>
        <p:cNvGrpSpPr/>
        <p:nvPr/>
      </p:nvGrpSpPr>
      <p:grpSpPr>
        <a:xfrm>
          <a:off x="0" y="0"/>
          <a:ext cx="0" cy="0"/>
          <a:chOff x="0" y="0"/>
          <a:chExt cx="0" cy="0"/>
        </a:xfrm>
      </p:grpSpPr>
      <p:pic>
        <p:nvPicPr>
          <p:cNvPr id="2" name="Image 0" descr="./images\slide9_img85.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9_img86.png">    </p:cNvPr>
          <p:cNvPicPr>
            <a:picLocks noChangeAspect="1"/>
          </p:cNvPicPr>
          <p:nvPr/>
        </p:nvPicPr>
        <p:blipFill>
          <a:blip r:embed="rId2"/>
          <a:stretch>
            <a:fillRect/>
          </a:stretch>
        </p:blipFill>
        <p:spPr>
          <a:xfrm>
            <a:off x="-251991" y="1147736"/>
            <a:ext cx="9647983" cy="210502"/>
          </a:xfrm>
          <a:prstGeom prst="rect">
            <a:avLst/>
          </a:prstGeom>
        </p:spPr>
      </p:pic>
      <p:sp>
        <p:nvSpPr>
          <p:cNvPr id="4" name="Shape 0"/>
          <p:cNvSpPr/>
          <p:nvPr/>
        </p:nvSpPr>
        <p:spPr>
          <a:xfrm>
            <a:off x="-251991" y="1147736"/>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FFFFFF">
              <a:alpha val="0"/>
            </a:srgbClr>
          </a:solidFill>
          <a:ln/>
        </p:spPr>
      </p:sp>
      <p:sp>
        <p:nvSpPr>
          <p:cNvPr id="5" name="Text 1"/>
          <p:cNvSpPr/>
          <p:nvPr/>
        </p:nvSpPr>
        <p:spPr>
          <a:xfrm>
            <a:off x="-251991" y="1147736"/>
            <a:ext cx="9647983" cy="210502"/>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251991" y="1147736"/>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000000">
              <a:alpha val="0"/>
            </a:srgbClr>
          </a:solidFill>
          <a:ln/>
        </p:spPr>
      </p:sp>
      <p:sp>
        <p:nvSpPr>
          <p:cNvPr id="7" name="Text 3"/>
          <p:cNvSpPr/>
          <p:nvPr/>
        </p:nvSpPr>
        <p:spPr>
          <a:xfrm>
            <a:off x="-251991" y="1147736"/>
            <a:ext cx="9647983" cy="2105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9_img87.png">    </p:cNvPr>
          <p:cNvPicPr>
            <a:picLocks noChangeAspect="1"/>
          </p:cNvPicPr>
          <p:nvPr/>
        </p:nvPicPr>
        <p:blipFill>
          <a:blip r:embed="rId3"/>
          <a:stretch>
            <a:fillRect/>
          </a:stretch>
        </p:blipFill>
        <p:spPr>
          <a:xfrm>
            <a:off x="-251991" y="1147736"/>
            <a:ext cx="9647983" cy="210502"/>
          </a:xfrm>
          <a:prstGeom prst="rect">
            <a:avLst/>
          </a:prstGeom>
        </p:spPr>
      </p:pic>
      <p:pic>
        <p:nvPicPr>
          <p:cNvPr id="9" name="Image 3" descr="./images\slide9_img88.png">    </p:cNvPr>
          <p:cNvPicPr>
            <a:picLocks noChangeAspect="1"/>
          </p:cNvPicPr>
          <p:nvPr/>
        </p:nvPicPr>
        <p:blipFill>
          <a:blip r:embed="rId4"/>
          <a:stretch>
            <a:fillRect/>
          </a:stretch>
        </p:blipFill>
        <p:spPr>
          <a:xfrm rot="10800000">
            <a:off x="-251991" y="3490437"/>
            <a:ext cx="9647983" cy="210502"/>
          </a:xfrm>
          <a:prstGeom prst="rect">
            <a:avLst/>
          </a:prstGeom>
        </p:spPr>
      </p:pic>
      <p:sp>
        <p:nvSpPr>
          <p:cNvPr id="10" name="Shape 4"/>
          <p:cNvSpPr/>
          <p:nvPr/>
        </p:nvSpPr>
        <p:spPr>
          <a:xfrm rot="10800000">
            <a:off x="-251991" y="3490437"/>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FFFFFF">
              <a:alpha val="0"/>
            </a:srgbClr>
          </a:solidFill>
          <a:ln/>
        </p:spPr>
      </p:sp>
      <p:sp>
        <p:nvSpPr>
          <p:cNvPr id="11" name="Text 5"/>
          <p:cNvSpPr/>
          <p:nvPr/>
        </p:nvSpPr>
        <p:spPr>
          <a:xfrm rot="10800000">
            <a:off x="-251991" y="3490437"/>
            <a:ext cx="9647983" cy="210502"/>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10800000">
            <a:off x="-251991" y="3490437"/>
            <a:ext cx="9647983" cy="210502"/>
          </a:xfrm>
          <a:custGeom>
            <a:avLst/>
            <a:gdLst/>
            <a:ahLst/>
            <a:cxnLst/>
            <a:rect l="l" t="t" r="r" b="b"/>
            <a:pathLst>
              <a:path w="9647983" h="210502">
                <a:moveTo>
                  <a:pt x="0" y="0"/>
                </a:moveTo>
                <a:lnTo>
                  <a:pt x="9647983" y="0"/>
                </a:lnTo>
                <a:lnTo>
                  <a:pt x="9647983" y="210502"/>
                </a:lnTo>
                <a:lnTo>
                  <a:pt x="0" y="210502"/>
                </a:lnTo>
                <a:close/>
              </a:path>
            </a:pathLst>
          </a:custGeom>
          <a:solidFill>
            <a:srgbClr val="000000">
              <a:alpha val="0"/>
            </a:srgbClr>
          </a:solidFill>
          <a:ln/>
        </p:spPr>
      </p:sp>
      <p:sp>
        <p:nvSpPr>
          <p:cNvPr id="13" name="Text 7"/>
          <p:cNvSpPr/>
          <p:nvPr/>
        </p:nvSpPr>
        <p:spPr>
          <a:xfrm rot="10800000">
            <a:off x="-251991" y="3490437"/>
            <a:ext cx="9647983" cy="2105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9_img89.png">    </p:cNvPr>
          <p:cNvPicPr>
            <a:picLocks noChangeAspect="1"/>
          </p:cNvPicPr>
          <p:nvPr/>
        </p:nvPicPr>
        <p:blipFill>
          <a:blip r:embed="rId5"/>
          <a:stretch>
            <a:fillRect/>
          </a:stretch>
        </p:blipFill>
        <p:spPr>
          <a:xfrm rot="10800000">
            <a:off x="-251991" y="3490437"/>
            <a:ext cx="9647983" cy="210502"/>
          </a:xfrm>
          <a:prstGeom prst="rect">
            <a:avLst/>
          </a:prstGeom>
        </p:spPr>
      </p:pic>
      <p:pic>
        <p:nvPicPr>
          <p:cNvPr id="15" name="Image 5" descr="./images\slide9_img90.jpeg">    </p:cNvPr>
          <p:cNvPicPr>
            <a:picLocks noChangeAspect="1"/>
          </p:cNvPicPr>
          <p:nvPr/>
        </p:nvPicPr>
        <p:blipFill>
          <a:blip r:embed="rId6"/>
          <a:srcRect l="0" r="45747" t="17465" b="61812"/>
          <a:stretch/>
        </p:blipFill>
        <p:spPr>
          <a:xfrm>
            <a:off x="0" y="1252986"/>
            <a:ext cx="8778240" cy="2235277"/>
          </a:xfrm>
          <a:prstGeom prst="rect">
            <a:avLst/>
          </a:prstGeom>
        </p:spPr>
      </p:pic>
      <p:sp>
        <p:nvSpPr>
          <p:cNvPr id="16" name="Shape 8"/>
          <p:cNvSpPr/>
          <p:nvPr/>
        </p:nvSpPr>
        <p:spPr>
          <a:xfrm>
            <a:off x="874042" y="113254"/>
            <a:ext cx="7395900" cy="514350"/>
          </a:xfrm>
          <a:custGeom>
            <a:avLst/>
            <a:gdLst/>
            <a:ahLst/>
            <a:cxnLst/>
            <a:rect l="l" t="t" r="r" b="b"/>
            <a:pathLst>
              <a:path w="7395900" h="514350">
                <a:moveTo>
                  <a:pt x="0" y="0"/>
                </a:moveTo>
                <a:lnTo>
                  <a:pt x="7395900" y="0"/>
                </a:lnTo>
                <a:lnTo>
                  <a:pt x="7395900" y="514350"/>
                </a:lnTo>
                <a:lnTo>
                  <a:pt x="0" y="514350"/>
                </a:lnTo>
                <a:close/>
              </a:path>
            </a:pathLst>
          </a:custGeom>
          <a:solidFill>
            <a:srgbClr val="FFFFFF">
              <a:alpha val="0"/>
            </a:srgbClr>
          </a:solidFill>
          <a:ln/>
        </p:spPr>
      </p:sp>
      <p:sp>
        <p:nvSpPr>
          <p:cNvPr id="17" name="Text 9"/>
          <p:cNvSpPr/>
          <p:nvPr/>
        </p:nvSpPr>
        <p:spPr>
          <a:xfrm>
            <a:off x="874042" y="113254"/>
            <a:ext cx="7395900" cy="5143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113254"/>
            <a:ext cx="7395900" cy="514350"/>
          </a:xfrm>
          <a:custGeom>
            <a:avLst/>
            <a:gdLst/>
            <a:ahLst/>
            <a:cxnLst/>
            <a:rect l="l" t="t" r="r" b="b"/>
            <a:pathLst>
              <a:path w="7395900" h="514350">
                <a:moveTo>
                  <a:pt x="0" y="0"/>
                </a:moveTo>
                <a:lnTo>
                  <a:pt x="7395900" y="0"/>
                </a:lnTo>
                <a:lnTo>
                  <a:pt x="7395900" y="514350"/>
                </a:lnTo>
                <a:lnTo>
                  <a:pt x="0" y="514350"/>
                </a:lnTo>
                <a:close/>
              </a:path>
            </a:pathLst>
          </a:custGeom>
          <a:solidFill>
            <a:srgbClr val="000000">
              <a:alpha val="0"/>
            </a:srgbClr>
          </a:solidFill>
          <a:ln/>
        </p:spPr>
      </p:sp>
      <p:sp>
        <p:nvSpPr>
          <p:cNvPr id="19" name="Text 11"/>
          <p:cNvSpPr/>
          <p:nvPr/>
        </p:nvSpPr>
        <p:spPr>
          <a:xfrm>
            <a:off x="874042" y="113254"/>
            <a:ext cx="7395900" cy="514350"/>
          </a:xfrm>
          <a:prstGeom prst="rect">
            <a:avLst/>
          </a:prstGeom>
          <a:noFill/>
          <a:ln/>
        </p:spPr>
        <p:txBody>
          <a:bodyPr wrap="square" rtlCol="0" anchor="t"/>
          <a:lstStyle/>
          <a:p>
            <a:pPr algn="ctr"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Nerv tizimi o'smalarini davolash usullari</a:t>
            </a:r>
            <a:endParaRPr lang="en-US" sz="1050" dirty="0"/>
          </a:p>
        </p:txBody>
      </p:sp>
      <p:pic>
        <p:nvPicPr>
          <p:cNvPr id="20" name="Image 6" descr="./images\slide9_img91.png">    </p:cNvPr>
          <p:cNvPicPr>
            <a:picLocks noChangeAspect="1"/>
          </p:cNvPicPr>
          <p:nvPr/>
        </p:nvPicPr>
        <p:blipFill>
          <a:blip r:embed="rId7"/>
          <a:stretch>
            <a:fillRect/>
          </a:stretch>
        </p:blipFill>
        <p:spPr>
          <a:xfrm>
            <a:off x="7876431" y="113254"/>
            <a:ext cx="1129834" cy="1549648"/>
          </a:xfrm>
          <a:prstGeom prst="rect">
            <a:avLst/>
          </a:prstGeom>
        </p:spPr>
      </p:pic>
      <p:sp>
        <p:nvSpPr>
          <p:cNvPr id="21" name="Shape 12"/>
          <p:cNvSpPr/>
          <p:nvPr/>
        </p:nvSpPr>
        <p:spPr>
          <a:xfrm>
            <a:off x="2611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22" name="Text 13"/>
          <p:cNvSpPr/>
          <p:nvPr/>
        </p:nvSpPr>
        <p:spPr>
          <a:xfrm>
            <a:off x="26111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23" name="Shape 14"/>
          <p:cNvSpPr/>
          <p:nvPr/>
        </p:nvSpPr>
        <p:spPr>
          <a:xfrm>
            <a:off x="2611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24" name="Text 15"/>
          <p:cNvSpPr/>
          <p:nvPr/>
        </p:nvSpPr>
        <p:spPr>
          <a:xfrm>
            <a:off x="26111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o'smalarini davolash usullari bir nechta usullar orqali amalga oshiriladi. Asosiy usullar quyidagilardan iborat: jarrohlik, radioterapiya, kimyoterapiya va immunoterapiya. Har bir usul o'ziga xos ko'rsatmalarga ega va bemorning holatiga qarab tanlanadi.</a:t>
            </a:r>
            <a:endParaRPr lang="en-US" sz="1050" dirty="0"/>
          </a:p>
        </p:txBody>
      </p:sp>
      <p:sp>
        <p:nvSpPr>
          <p:cNvPr id="25" name="Shape 16"/>
          <p:cNvSpPr/>
          <p:nvPr/>
        </p:nvSpPr>
        <p:spPr>
          <a:xfrm>
            <a:off x="61962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26" name="Text 17"/>
          <p:cNvSpPr/>
          <p:nvPr/>
        </p:nvSpPr>
        <p:spPr>
          <a:xfrm>
            <a:off x="619621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27" name="Shape 18"/>
          <p:cNvSpPr/>
          <p:nvPr/>
        </p:nvSpPr>
        <p:spPr>
          <a:xfrm>
            <a:off x="619621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28" name="Text 19"/>
          <p:cNvSpPr/>
          <p:nvPr/>
        </p:nvSpPr>
        <p:spPr>
          <a:xfrm>
            <a:off x="619621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Jarrohlik usuli: O'smani olib tashlash uchun amalga oshiriladi. Bu usul, o'sma joylashgan joy va uning o'lchamiga qarab rejalashtiriladi. O'sma jarrohlik orqali to'liq olib tashlanganda bemor uchun eng yaxshi natijalar ko'rsatiladi.</a:t>
            </a:r>
            <a:endParaRPr lang="en-US" sz="1050" dirty="0"/>
          </a:p>
        </p:txBody>
      </p:sp>
      <p:sp>
        <p:nvSpPr>
          <p:cNvPr id="29" name="Shape 20"/>
          <p:cNvSpPr/>
          <p:nvPr/>
        </p:nvSpPr>
        <p:spPr>
          <a:xfrm>
            <a:off x="322866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FFFFFF">
              <a:alpha val="0"/>
            </a:srgbClr>
          </a:solidFill>
          <a:ln/>
        </p:spPr>
      </p:sp>
      <p:sp>
        <p:nvSpPr>
          <p:cNvPr id="30" name="Text 21"/>
          <p:cNvSpPr/>
          <p:nvPr/>
        </p:nvSpPr>
        <p:spPr>
          <a:xfrm>
            <a:off x="3228665" y="3980180"/>
            <a:ext cx="2686650" cy="476696"/>
          </a:xfrm>
          <a:prstGeom prst="rect">
            <a:avLst/>
          </a:prstGeom>
          <a:noFill/>
          <a:ln/>
        </p:spPr>
        <p:txBody>
          <a:bodyPr wrap="square" rtlCol="0" anchor="t"/>
          <a:lstStyle/>
          <a:p>
            <a:pPr indent="0" marL="0">
              <a:spcBef>
                <a:spcPts val="375"/>
              </a:spcBef>
              <a:buNone/>
            </a:pPr>
            <a:endParaRPr lang="en-US" sz="1050" dirty="0"/>
          </a:p>
        </p:txBody>
      </p:sp>
      <p:sp>
        <p:nvSpPr>
          <p:cNvPr id="31" name="Shape 22"/>
          <p:cNvSpPr/>
          <p:nvPr/>
        </p:nvSpPr>
        <p:spPr>
          <a:xfrm>
            <a:off x="3228665" y="3980180"/>
            <a:ext cx="2686650" cy="476696"/>
          </a:xfrm>
          <a:custGeom>
            <a:avLst/>
            <a:gdLst/>
            <a:ahLst/>
            <a:cxnLst/>
            <a:rect l="l" t="t" r="r" b="b"/>
            <a:pathLst>
              <a:path w="2686650" h="476696">
                <a:moveTo>
                  <a:pt x="0" y="0"/>
                </a:moveTo>
                <a:lnTo>
                  <a:pt x="2686650" y="0"/>
                </a:lnTo>
                <a:lnTo>
                  <a:pt x="2686650" y="476696"/>
                </a:lnTo>
                <a:lnTo>
                  <a:pt x="0" y="476696"/>
                </a:lnTo>
                <a:close/>
              </a:path>
            </a:pathLst>
          </a:custGeom>
          <a:solidFill>
            <a:srgbClr val="000000">
              <a:alpha val="0"/>
            </a:srgbClr>
          </a:solidFill>
          <a:ln/>
        </p:spPr>
      </p:sp>
      <p:sp>
        <p:nvSpPr>
          <p:cNvPr id="32" name="Text 23"/>
          <p:cNvSpPr/>
          <p:nvPr/>
        </p:nvSpPr>
        <p:spPr>
          <a:xfrm>
            <a:off x="3228665" y="3980180"/>
            <a:ext cx="2686650" cy="4766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Radioterapiya: O'smalarni nurlanish orqali davolash usuli. Bu usul ko'pincha jarrohlikdan keyin qo'llaniladi yoki o'smalarni kichraytirish uchun dastlabki davolash sifatida ishlatiladi. Radioterapiya o'smalarni yo'qotish va ularning o'sishini to'xtatish uchun samarali hisoblanadi.</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1F1"/>
        </a:solidFill>
      </p:bgPr>
    </p:bg>
    <p:spTree>
      <p:nvGrpSpPr>
        <p:cNvPr id="1" name=""/>
        <p:cNvGrpSpPr/>
        <p:nvPr/>
      </p:nvGrpSpPr>
      <p:grpSpPr>
        <a:xfrm>
          <a:off x="0" y="0"/>
          <a:ext cx="0" cy="0"/>
          <a:chOff x="0" y="0"/>
          <a:chExt cx="0" cy="0"/>
        </a:xfrm>
      </p:grpSpPr>
      <p:pic>
        <p:nvPicPr>
          <p:cNvPr id="2" name="Image 0" descr="./images\slide15_img124.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5_img125.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FFFFFF">
              <a:alpha val="0"/>
            </a:srgbClr>
          </a:solidFill>
          <a:ln/>
        </p:spPr>
      </p:sp>
      <p:sp>
        <p:nvSpPr>
          <p:cNvPr id="5" name="Text 1"/>
          <p:cNvSpPr/>
          <p:nvPr/>
        </p:nvSpPr>
        <p:spPr>
          <a:xfrm>
            <a:off x="614136" y="2207981"/>
            <a:ext cx="7826859" cy="5524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000000">
              <a:alpha val="0"/>
            </a:srgbClr>
          </a:solidFill>
          <a:ln/>
        </p:spPr>
      </p:sp>
      <p:sp>
        <p:nvSpPr>
          <p:cNvPr id="7" name="Text 3"/>
          <p:cNvSpPr/>
          <p:nvPr/>
        </p:nvSpPr>
        <p:spPr>
          <a:xfrm>
            <a:off x="614136" y="2207981"/>
            <a:ext cx="7826859" cy="5524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Xulosa</a:t>
            </a:r>
            <a:endParaRPr lang="en-US" sz="1050" dirty="0"/>
          </a:p>
        </p:txBody>
      </p:sp>
      <p:sp>
        <p:nvSpPr>
          <p:cNvPr id="8" name="Shape 4"/>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FFFFFF">
              <a:alpha val="0"/>
            </a:srgbClr>
          </a:solidFill>
          <a:ln/>
        </p:spPr>
      </p:sp>
      <p:sp>
        <p:nvSpPr>
          <p:cNvPr id="9" name="Text 5"/>
          <p:cNvSpPr/>
          <p:nvPr/>
        </p:nvSpPr>
        <p:spPr>
          <a:xfrm>
            <a:off x="661391" y="2684231"/>
            <a:ext cx="7779603" cy="2159198"/>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000000">
              <a:alpha val="0"/>
            </a:srgbClr>
          </a:solidFill>
          <a:ln/>
        </p:spPr>
      </p:sp>
      <p:sp>
        <p:nvSpPr>
          <p:cNvPr id="11" name="Text 7"/>
          <p:cNvSpPr/>
          <p:nvPr/>
        </p:nvSpPr>
        <p:spPr>
          <a:xfrm>
            <a:off x="661391" y="2684231"/>
            <a:ext cx="7779603" cy="2159198"/>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asab hujayralaridan va ularning atrofidagi to'qimalardan hosil bo'lgan ba'zi yaxshi yoki yomon xulq-atvorga ega o'smalardir. Ushbu o'smalar benign (yaxshi sifatli) yoki malign (yomon sifatli) bo'lishi mumkin. Nerv tizimi o'smalari ko'pincha asab tizimining turli qismlarida, masalan, bosh va orqa miyada paydo bo'ladi. O'smalar simptomlari individual bo'lib, bosh og'rig'i, muvofiqlik muammolari va his-tuyg'ularni yo'qotishni o'z ichiga olishi mumkin. Diagnostika usullari orasida tasviriy tekshiruvlar, biopsis va boshqa laboratoriya tahlillari mavjud. O'smalarni davolash usullari operatsiya, radiatsion terapiya va kimyoviy terapiyani o'z ichiga oladi.</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1F1F1"/>
        </a:solidFill>
      </p:bgPr>
    </p:bg>
    <p:spTree>
      <p:nvGrpSpPr>
        <p:cNvPr id="1" name=""/>
        <p:cNvGrpSpPr/>
        <p:nvPr/>
      </p:nvGrpSpPr>
      <p:grpSpPr>
        <a:xfrm>
          <a:off x="0" y="0"/>
          <a:ext cx="0" cy="0"/>
          <a:chOff x="0" y="0"/>
          <a:chExt cx="0" cy="0"/>
        </a:xfrm>
      </p:grpSpPr>
      <p:pic>
        <p:nvPicPr>
          <p:cNvPr id="2" name="Image 0" descr="./images\slide16_img12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6_img127.png">    </p:cNvPr>
          <p:cNvPicPr>
            <a:picLocks noChangeAspect="1"/>
          </p:cNvPicPr>
          <p:nvPr/>
        </p:nvPicPr>
        <p:blipFill>
          <a:blip r:embed="rId2"/>
          <a:stretch>
            <a:fillRect/>
          </a:stretch>
        </p:blipFill>
        <p:spPr>
          <a:xfrm>
            <a:off x="514350" y="469150"/>
            <a:ext cx="8115300" cy="4205201"/>
          </a:xfrm>
          <a:prstGeom prst="rect">
            <a:avLst/>
          </a:prstGeom>
        </p:spPr>
      </p:pic>
      <p:pic>
        <p:nvPicPr>
          <p:cNvPr id="4" name="Image 2" descr="./images\slide16_img128.png">    </p:cNvPr>
          <p:cNvPicPr>
            <a:picLocks noChangeAspect="1"/>
          </p:cNvPicPr>
          <p:nvPr/>
        </p:nvPicPr>
        <p:blipFill>
          <a:blip r:embed="rId3"/>
          <a:stretch>
            <a:fillRect/>
          </a:stretch>
        </p:blipFill>
        <p:spPr>
          <a:xfrm>
            <a:off x="3212221" y="3000774"/>
            <a:ext cx="2719558" cy="442634"/>
          </a:xfrm>
          <a:prstGeom prst="rect">
            <a:avLst/>
          </a:prstGeom>
        </p:spPr>
      </p:pic>
      <p:sp>
        <p:nvSpPr>
          <p:cNvPr id="5" name="Shape 0"/>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FFFFFF">
              <a:alpha val="0"/>
            </a:srgbClr>
          </a:solidFill>
          <a:ln/>
        </p:spPr>
      </p:sp>
      <p:sp>
        <p:nvSpPr>
          <p:cNvPr id="6" name="Text 1"/>
          <p:cNvSpPr/>
          <p:nvPr/>
        </p:nvSpPr>
        <p:spPr>
          <a:xfrm>
            <a:off x="3212221" y="3000774"/>
            <a:ext cx="2719558" cy="442634"/>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000000">
              <a:alpha val="0"/>
            </a:srgbClr>
          </a:solidFill>
          <a:ln/>
        </p:spPr>
      </p:sp>
      <p:sp>
        <p:nvSpPr>
          <p:cNvPr id="8" name="Text 3"/>
          <p:cNvSpPr/>
          <p:nvPr/>
        </p:nvSpPr>
        <p:spPr>
          <a:xfrm>
            <a:off x="3212221" y="3000774"/>
            <a:ext cx="2719558" cy="44263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6_img129.png">    </p:cNvPr>
          <p:cNvPicPr>
            <a:picLocks noChangeAspect="1"/>
          </p:cNvPicPr>
          <p:nvPr/>
        </p:nvPicPr>
        <p:blipFill>
          <a:blip r:embed="rId4"/>
          <a:stretch>
            <a:fillRect/>
          </a:stretch>
        </p:blipFill>
        <p:spPr>
          <a:xfrm>
            <a:off x="3212221" y="3000774"/>
            <a:ext cx="2719558" cy="442634"/>
          </a:xfrm>
          <a:prstGeom prst="rect">
            <a:avLst/>
          </a:prstGeom>
        </p:spPr>
      </p:pic>
      <p:sp>
        <p:nvSpPr>
          <p:cNvPr id="10" name="Shape 4"/>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FFFFFF">
              <a:alpha val="0"/>
            </a:srgbClr>
          </a:solidFill>
          <a:ln/>
        </p:spPr>
      </p:sp>
      <p:sp>
        <p:nvSpPr>
          <p:cNvPr id="11" name="Text 5"/>
          <p:cNvSpPr/>
          <p:nvPr/>
        </p:nvSpPr>
        <p:spPr>
          <a:xfrm>
            <a:off x="561975" y="783461"/>
            <a:ext cx="8115300" cy="476250"/>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000000">
              <a:alpha val="0"/>
            </a:srgbClr>
          </a:solidFill>
          <a:ln/>
        </p:spPr>
      </p:sp>
      <p:sp>
        <p:nvSpPr>
          <p:cNvPr id="13" name="Text 7"/>
          <p:cNvSpPr/>
          <p:nvPr/>
        </p:nvSpPr>
        <p:spPr>
          <a:xfrm>
            <a:off x="561975" y="783461"/>
            <a:ext cx="8115300" cy="4762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Foydalanilgan adabiyotlar</a:t>
            </a:r>
            <a:endParaRPr lang="en-US" sz="1050" dirty="0"/>
          </a:p>
        </p:txBody>
      </p:sp>
      <p:sp>
        <p:nvSpPr>
          <p:cNvPr id="14" name="Shape 8"/>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FFFFFF">
              <a:alpha val="0"/>
            </a:srgbClr>
          </a:solidFill>
          <a:ln/>
        </p:spPr>
      </p:sp>
      <p:sp>
        <p:nvSpPr>
          <p:cNvPr id="15" name="Text 9"/>
          <p:cNvSpPr/>
          <p:nvPr/>
        </p:nvSpPr>
        <p:spPr>
          <a:xfrm>
            <a:off x="561975" y="1307657"/>
            <a:ext cx="8115300" cy="2883502"/>
          </a:xfrm>
          <a:prstGeom prst="rect">
            <a:avLst/>
          </a:prstGeom>
          <a:noFill/>
          <a:ln/>
        </p:spPr>
        <p:txBody>
          <a:bodyPr wrap="square" rtlCol="0" anchor="t"/>
          <a:lstStyle/>
          <a:p>
            <a:pPr indent="0" marL="0">
              <a:spcBef>
                <a:spcPts val="375"/>
              </a:spcBef>
              <a:buNone/>
            </a:pPr>
            <a:endParaRPr lang="en-US" sz="1050" dirty="0"/>
          </a:p>
        </p:txBody>
      </p:sp>
      <p:sp>
        <p:nvSpPr>
          <p:cNvPr id="16" name="Shape 10"/>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000000">
              <a:alpha val="0"/>
            </a:srgbClr>
          </a:solidFill>
          <a:ln/>
        </p:spPr>
      </p:sp>
      <p:sp>
        <p:nvSpPr>
          <p:cNvPr id="17" name="Text 11"/>
          <p:cNvSpPr/>
          <p:nvPr/>
        </p:nvSpPr>
        <p:spPr>
          <a:xfrm>
            <a:off x="561975" y="1307657"/>
            <a:ext cx="8115300" cy="2883502"/>
          </a:xfrm>
          <a:prstGeom prst="rect">
            <a:avLst/>
          </a:prstGeom>
          <a:noFill/>
          <a:ln/>
        </p:spPr>
        <p:txBody>
          <a:bodyPr wrap="square" rtlCol="0" anchor="t"/>
          <a:lstStyle/>
          <a:p>
            <a:pPr algn="l" indent="0" marL="0">
              <a:spcBef>
                <a:spcPts val="375"/>
              </a:spcBef>
              <a:buNone/>
            </a:pPr>
            <a:r>
              <a:rPr lang="en-US" sz="1350" dirty="0">
                <a:solidFill>
                  <a:srgbClr val="333333"/>
                </a:solidFill>
                <a:latin typeface="微软雅黑" pitchFamily="34" charset="0"/>
                <a:ea typeface="微软雅黑" pitchFamily="34" charset="-122"/>
                <a:cs typeface="微软雅黑" pitchFamily="34" charset="-120"/>
              </a:rPr>
              <a:t>1. Abdurahmonov A., Abdullayev V. Otagiga nerv sistemi o'smalari. Tibbiyot, 2019. "Tibbiyot" nashriyoti. 2. Davlatov Sh., Qodirov O. Nerv tizimining o'smalari: Diagnostika va davolash. Diagnostika va davolash jurnali, 2021. 3. Jumanov B. Nerv tizimi o'smalarining biologiyasi. Biologiya va tibbiyot, 2020. "Tibbiyot" nashriyoti. 4. Musayev M., Tashkentova G. O'smalarda nerv tizimi: Klinik va eksperimental tadqiqotlar. Tibbiyot jurnali, 2018. 5. Pirov A., Xamrayev B. Nerv tizimi o'smalariga doir muammolar va echimlar. Tibbiy ilmiy tadqiqotlar, 2022.</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1F1F1"/>
        </a:solidFill>
      </p:bgPr>
    </p:bg>
    <p:spTree>
      <p:nvGrpSpPr>
        <p:cNvPr id="1" name=""/>
        <p:cNvGrpSpPr/>
        <p:nvPr/>
      </p:nvGrpSpPr>
      <p:grpSpPr>
        <a:xfrm>
          <a:off x="0" y="0"/>
          <a:ext cx="0" cy="0"/>
          <a:chOff x="0" y="0"/>
          <a:chExt cx="0" cy="0"/>
        </a:xfrm>
      </p:grpSpPr>
      <p:pic>
        <p:nvPicPr>
          <p:cNvPr id="2" name="Image 0" descr="./images\slide17_img130.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FFFFFF">
              <a:alpha val="0"/>
            </a:srgbClr>
          </a:solidFill>
          <a:ln/>
        </p:spPr>
      </p:sp>
      <p:sp>
        <p:nvSpPr>
          <p:cNvPr id="4" name="Text 1"/>
          <p:cNvSpPr/>
          <p:nvPr/>
        </p:nvSpPr>
        <p:spPr>
          <a:xfrm>
            <a:off x="443466" y="2047554"/>
            <a:ext cx="8115300" cy="666750"/>
          </a:xfrm>
          <a:prstGeom prst="rect">
            <a:avLst/>
          </a:prstGeom>
          <a:noFill/>
          <a:ln/>
        </p:spPr>
        <p:txBody>
          <a:bodyPr wrap="square" rtlCol="0" anchor="t"/>
          <a:lstStyle/>
          <a:p>
            <a:pPr indent="0" marL="0">
              <a:spcBef>
                <a:spcPts val="375"/>
              </a:spcBef>
              <a:buNone/>
            </a:pPr>
            <a:endParaRPr lang="en-US" sz="1050" dirty="0"/>
          </a:p>
        </p:txBody>
      </p:sp>
      <p:sp>
        <p:nvSpPr>
          <p:cNvPr id="5" name="Shape 2"/>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000000">
              <a:alpha val="0"/>
            </a:srgbClr>
          </a:solidFill>
          <a:ln/>
        </p:spPr>
      </p:sp>
      <p:sp>
        <p:nvSpPr>
          <p:cNvPr id="6" name="Text 3"/>
          <p:cNvSpPr/>
          <p:nvPr/>
        </p:nvSpPr>
        <p:spPr>
          <a:xfrm>
            <a:off x="443466" y="2047554"/>
            <a:ext cx="8115300" cy="666750"/>
          </a:xfrm>
          <a:prstGeom prst="rect">
            <a:avLst/>
          </a:prstGeom>
          <a:noFill/>
          <a:ln/>
        </p:spPr>
        <p:txBody>
          <a:bodyPr wrap="square" rtlCol="0" anchor="t"/>
          <a:lstStyle/>
          <a:p>
            <a:pPr algn="l" indent="0" marL="0">
              <a:spcBef>
                <a:spcPts val="375"/>
              </a:spcBef>
              <a:buNone/>
            </a:pPr>
            <a:r>
              <a:rPr lang="en-US" sz="4500" dirty="0">
                <a:solidFill>
                  <a:srgbClr val="333333"/>
                </a:solidFill>
                <a:latin typeface="微软雅黑" pitchFamily="34" charset="0"/>
                <a:ea typeface="微软雅黑" pitchFamily="34" charset="-122"/>
                <a:cs typeface="微软雅黑" pitchFamily="34" charset="-120"/>
              </a:rPr>
              <a:t>Hammaga assalom!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2025-10-03T09:48:37Z</dcterms:created>
  <dcterms:modified xsi:type="dcterms:W3CDTF">2025-10-03T09:48:37Z</dcterms:modified>
</cp:coreProperties>
</file>