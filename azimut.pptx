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19080000">
            <a:off x="6640666" y="3711250"/>
            <a:ext cx="3566078" cy="17753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" name="Text 1"/>
          <p:cNvSpPr/>
          <p:nvPr/>
        </p:nvSpPr>
        <p:spPr>
          <a:xfrm rot="13680000">
            <a:off x="5638251" y="2905557"/>
            <a:ext cx="1081956" cy="31574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4" name="Text 2"/>
          <p:cNvSpPr/>
          <p:nvPr/>
        </p:nvSpPr>
        <p:spPr>
          <a:xfrm rot="13800000">
            <a:off x="5527841" y="-612973"/>
            <a:ext cx="676702" cy="19977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5" name="Text 3"/>
          <p:cNvSpPr/>
          <p:nvPr/>
        </p:nvSpPr>
        <p:spPr>
          <a:xfrm rot="13800000">
            <a:off x="6056932" y="-824643"/>
            <a:ext cx="2604578" cy="468734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6" name="Shape 4"/>
          <p:cNvSpPr/>
          <p:nvPr/>
        </p:nvSpPr>
        <p:spPr>
          <a:xfrm>
            <a:off x="4572000" y="903504"/>
            <a:ext cx="3780000" cy="3780000"/>
          </a:xfrm>
          <a:custGeom>
            <a:avLst/>
            <a:gdLst/>
            <a:ahLst/>
            <a:cxnLst/>
            <a:rect l="l" t="t" r="r" b="b"/>
            <a:pathLst>
              <a:path w="3780000" h="3780000">
                <a:moveTo>
                  <a:pt x="1890000" y="0"/>
                </a:moveTo>
                <a:cubicBezTo>
                  <a:pt x="2933119" y="0"/>
                  <a:pt x="3780000" y="846881"/>
                  <a:pt x="3780000" y="1890000"/>
                </a:cubicBezTo>
                <a:cubicBezTo>
                  <a:pt x="3780000" y="2933119"/>
                  <a:pt x="2933119" y="3780000"/>
                  <a:pt x="1890000" y="3780000"/>
                </a:cubicBezTo>
                <a:cubicBezTo>
                  <a:pt x="846881" y="3780000"/>
                  <a:pt x="0" y="2933119"/>
                  <a:pt x="0" y="1890000"/>
                </a:cubicBezTo>
                <a:cubicBezTo>
                  <a:pt x="0" y="846881"/>
                  <a:pt x="846881" y="0"/>
                  <a:pt x="1890000" y="0"/>
                </a:cubicBezTo>
                <a:close/>
              </a:path>
            </a:pathLst>
          </a:custGeom>
          <a:solidFill>
            <a:srgbClr val="08838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903504"/>
            <a:ext cx="3780000" cy="37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8" name="Shape 6"/>
          <p:cNvSpPr/>
          <p:nvPr/>
        </p:nvSpPr>
        <p:spPr>
          <a:xfrm>
            <a:off x="4717385" y="1048889"/>
            <a:ext cx="3489231" cy="3489231"/>
          </a:xfrm>
          <a:custGeom>
            <a:avLst/>
            <a:gdLst/>
            <a:ahLst/>
            <a:cxnLst/>
            <a:rect l="l" t="t" r="r" b="b"/>
            <a:pathLst>
              <a:path w="3489231" h="3489231">
                <a:moveTo>
                  <a:pt x="1744616" y="0"/>
                </a:moveTo>
                <a:cubicBezTo>
                  <a:pt x="2707495" y="0"/>
                  <a:pt x="3489231" y="781736"/>
                  <a:pt x="3489231" y="1744616"/>
                </a:cubicBezTo>
                <a:cubicBezTo>
                  <a:pt x="3489231" y="2707495"/>
                  <a:pt x="2707495" y="3489231"/>
                  <a:pt x="1744616" y="3489231"/>
                </a:cubicBezTo>
                <a:cubicBezTo>
                  <a:pt x="781736" y="3489231"/>
                  <a:pt x="0" y="2707495"/>
                  <a:pt x="0" y="1744616"/>
                </a:cubicBezTo>
                <a:cubicBezTo>
                  <a:pt x="0" y="781736"/>
                  <a:pt x="781736" y="0"/>
                  <a:pt x="1744615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76224">
            <a:solidFill>
              <a:srgbClr val="FFFFFF"/>
            </a:solidFill>
            <a:prstDash val="solid"/>
          </a:ln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17385" y="1048889"/>
            <a:ext cx="3489231" cy="34892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5008153" y="1347604"/>
            <a:ext cx="2907692" cy="2907692"/>
          </a:xfrm>
          <a:custGeom>
            <a:avLst/>
            <a:gdLst/>
            <a:ahLst/>
            <a:cxnLst/>
            <a:rect l="l" t="t" r="r" b="b"/>
            <a:pathLst>
              <a:path w="2907692" h="2907692">
                <a:moveTo>
                  <a:pt x="1453846" y="0"/>
                </a:moveTo>
                <a:cubicBezTo>
                  <a:pt x="2256246" y="0"/>
                  <a:pt x="2907692" y="651447"/>
                  <a:pt x="2907692" y="1453846"/>
                </a:cubicBezTo>
                <a:cubicBezTo>
                  <a:pt x="2907692" y="2256246"/>
                  <a:pt x="2256246" y="2907692"/>
                  <a:pt x="1453846" y="2907692"/>
                </a:cubicBezTo>
                <a:cubicBezTo>
                  <a:pt x="651447" y="2907692"/>
                  <a:pt x="0" y="2256246"/>
                  <a:pt x="0" y="1453846"/>
                </a:cubicBezTo>
                <a:cubicBezTo>
                  <a:pt x="0" y="651447"/>
                  <a:pt x="651447" y="0"/>
                  <a:pt x="1453846" y="0"/>
                </a:cubicBezTo>
                <a:close/>
              </a:path>
            </a:pathLst>
          </a:custGeom>
          <a:solidFill>
            <a:srgbClr val="FFFFFF">
              <a:alpha val="0"/>
            </a:srgbClr>
          </a:solidFill>
          <a:ln w="64294">
            <a:solidFill>
              <a:srgbClr val="FFFFFF"/>
            </a:solidFill>
            <a:prstDash val="solid"/>
          </a:ln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08153" y="1347604"/>
            <a:ext cx="2907692" cy="29076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08153" y="1347604"/>
            <a:ext cx="2907692" cy="290769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" y="218774"/>
            <a:ext cx="2428108" cy="6154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4" name="Text 11"/>
          <p:cNvSpPr/>
          <p:nvPr/>
        </p:nvSpPr>
        <p:spPr>
          <a:xfrm>
            <a:off x="461385" y="218774"/>
            <a:ext cx="1707709" cy="623248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 INJECTION</a:t>
            </a:r>
            <a:endParaRPr lang="en-US" sz="788" dirty="0"/>
          </a:p>
        </p:txBody>
      </p:sp>
      <p:sp>
        <p:nvSpPr>
          <p:cNvPr id="15" name="Text 12"/>
          <p:cNvSpPr/>
          <p:nvPr/>
        </p:nvSpPr>
        <p:spPr>
          <a:xfrm>
            <a:off x="162566" y="1094489"/>
            <a:ext cx="6125347" cy="1915909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98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98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ilovalarda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98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 Injection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98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98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98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boshqa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98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981" dirty="0">
                <a:solidFill>
                  <a:srgbClr val="02A4A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hujumlarga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981" dirty="0">
                <a:solidFill>
                  <a:srgbClr val="02A4A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981" dirty="0">
                <a:solidFill>
                  <a:srgbClr val="02A4A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qarshi</a:t>
            </a:r>
            <a:endParaRPr lang="en-US" sz="788" dirty="0"/>
          </a:p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981" dirty="0">
                <a:solidFill>
                  <a:srgbClr val="02A4A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himoya</a:t>
            </a:r>
            <a:endParaRPr lang="en-US" sz="788" dirty="0"/>
          </a:p>
        </p:txBody>
      </p:sp>
      <p:sp>
        <p:nvSpPr>
          <p:cNvPr id="16" name="Shape 13"/>
          <p:cNvSpPr/>
          <p:nvPr/>
        </p:nvSpPr>
        <p:spPr>
          <a:xfrm>
            <a:off x="372875" y="252060"/>
            <a:ext cx="49267" cy="544179"/>
          </a:xfrm>
          <a:custGeom>
            <a:avLst/>
            <a:gdLst/>
            <a:ahLst/>
            <a:cxnLst/>
            <a:rect l="l" t="t" r="r" b="b"/>
            <a:pathLst>
              <a:path w="49267" h="544179">
                <a:moveTo>
                  <a:pt x="6158" y="0"/>
                </a:moveTo>
                <a:lnTo>
                  <a:pt x="43108" y="0"/>
                </a:lnTo>
                <a:quadBezTo>
                  <a:pt x="49267" y="0"/>
                  <a:pt x="49267" y="6158"/>
                </a:quadBezTo>
                <a:lnTo>
                  <a:pt x="49267" y="538021"/>
                </a:lnTo>
                <a:quadBezTo>
                  <a:pt x="49267" y="544179"/>
                  <a:pt x="43108" y="544179"/>
                </a:quadBezTo>
                <a:lnTo>
                  <a:pt x="6158" y="544179"/>
                </a:lnTo>
                <a:quadBezTo>
                  <a:pt x="0" y="544179"/>
                  <a:pt x="0" y="538021"/>
                </a:quadBezTo>
                <a:lnTo>
                  <a:pt x="0" y="6158"/>
                </a:lnTo>
                <a:quadBezTo>
                  <a:pt x="0" y="0"/>
                  <a:pt x="6158" y="0"/>
                </a:quad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372875" y="252060"/>
            <a:ext cx="49267" cy="5441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8" name="Text 15"/>
          <p:cNvSpPr/>
          <p:nvPr/>
        </p:nvSpPr>
        <p:spPr>
          <a:xfrm>
            <a:off x="1983" y="3164658"/>
            <a:ext cx="3958036" cy="4837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9" name="Text 16"/>
          <p:cNvSpPr/>
          <p:nvPr/>
        </p:nvSpPr>
        <p:spPr>
          <a:xfrm>
            <a:off x="173645" y="3241908"/>
            <a:ext cx="326185" cy="3255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0" name="Text 17"/>
          <p:cNvSpPr/>
          <p:nvPr/>
        </p:nvSpPr>
        <p:spPr>
          <a:xfrm>
            <a:off x="148963" y="3217265"/>
            <a:ext cx="379960" cy="3792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1" name="Text 18"/>
          <p:cNvSpPr/>
          <p:nvPr/>
        </p:nvSpPr>
        <p:spPr>
          <a:xfrm>
            <a:off x="151518" y="3219816"/>
            <a:ext cx="374849" cy="3741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2" name="Text 19"/>
          <p:cNvSpPr/>
          <p:nvPr/>
        </p:nvSpPr>
        <p:spPr>
          <a:xfrm>
            <a:off x="154446" y="3222738"/>
            <a:ext cx="368993" cy="3682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3" name="Text 20"/>
          <p:cNvSpPr/>
          <p:nvPr/>
        </p:nvSpPr>
        <p:spPr>
          <a:xfrm>
            <a:off x="154067" y="3222366"/>
            <a:ext cx="365343" cy="3646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4" name="Text 21"/>
          <p:cNvSpPr/>
          <p:nvPr/>
        </p:nvSpPr>
        <p:spPr>
          <a:xfrm>
            <a:off x="240228" y="3299672"/>
            <a:ext cx="256987" cy="267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5" name="Text 22"/>
          <p:cNvSpPr/>
          <p:nvPr/>
        </p:nvSpPr>
        <p:spPr>
          <a:xfrm>
            <a:off x="240223" y="3299672"/>
            <a:ext cx="197434" cy="2144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6" name="Text 23"/>
          <p:cNvSpPr/>
          <p:nvPr/>
        </p:nvSpPr>
        <p:spPr>
          <a:xfrm>
            <a:off x="578679" y="3226918"/>
            <a:ext cx="3593940" cy="346249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688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Raxmiddinov Javohir</a:t>
            </a:r>
            <a:endParaRPr lang="en-US" sz="788" dirty="0"/>
          </a:p>
        </p:txBody>
      </p:sp>
      <p:sp>
        <p:nvSpPr>
          <p:cNvPr id="27" name="Text 24"/>
          <p:cNvSpPr/>
          <p:nvPr/>
        </p:nvSpPr>
        <p:spPr>
          <a:xfrm>
            <a:off x="-4975" y="3764791"/>
            <a:ext cx="3965020" cy="4837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8" name="Text 25"/>
          <p:cNvSpPr/>
          <p:nvPr/>
        </p:nvSpPr>
        <p:spPr>
          <a:xfrm>
            <a:off x="173672" y="3842041"/>
            <a:ext cx="326185" cy="3255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9" name="Text 26"/>
          <p:cNvSpPr/>
          <p:nvPr/>
        </p:nvSpPr>
        <p:spPr>
          <a:xfrm>
            <a:off x="148989" y="3817398"/>
            <a:ext cx="379960" cy="3792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0" name="Text 27"/>
          <p:cNvSpPr/>
          <p:nvPr/>
        </p:nvSpPr>
        <p:spPr>
          <a:xfrm>
            <a:off x="151544" y="3819949"/>
            <a:ext cx="374849" cy="3741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1" name="Text 28"/>
          <p:cNvSpPr/>
          <p:nvPr/>
        </p:nvSpPr>
        <p:spPr>
          <a:xfrm>
            <a:off x="154472" y="3822871"/>
            <a:ext cx="368993" cy="3682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2" name="Text 29"/>
          <p:cNvSpPr/>
          <p:nvPr/>
        </p:nvSpPr>
        <p:spPr>
          <a:xfrm>
            <a:off x="154093" y="3822499"/>
            <a:ext cx="365343" cy="3646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3" name="Text 30"/>
          <p:cNvSpPr/>
          <p:nvPr/>
        </p:nvSpPr>
        <p:spPr>
          <a:xfrm>
            <a:off x="240254" y="3899804"/>
            <a:ext cx="256987" cy="267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4" name="Text 31"/>
          <p:cNvSpPr/>
          <p:nvPr/>
        </p:nvSpPr>
        <p:spPr>
          <a:xfrm>
            <a:off x="240249" y="3899804"/>
            <a:ext cx="197434" cy="2144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5" name="Text 32"/>
          <p:cNvSpPr/>
          <p:nvPr/>
        </p:nvSpPr>
        <p:spPr>
          <a:xfrm>
            <a:off x="578705" y="3827050"/>
            <a:ext cx="3593940" cy="346249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688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Hakimboyev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688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688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Dilxush</a:t>
            </a:r>
            <a:endParaRPr lang="en-US" sz="788" dirty="0"/>
          </a:p>
        </p:txBody>
      </p:sp>
      <p:sp>
        <p:nvSpPr>
          <p:cNvPr id="36" name="Text 33"/>
          <p:cNvSpPr/>
          <p:nvPr/>
        </p:nvSpPr>
        <p:spPr>
          <a:xfrm>
            <a:off x="6160" y="4329393"/>
            <a:ext cx="3948814" cy="4837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7" name="Text 34"/>
          <p:cNvSpPr/>
          <p:nvPr/>
        </p:nvSpPr>
        <p:spPr>
          <a:xfrm>
            <a:off x="168599" y="4406643"/>
            <a:ext cx="326185" cy="3255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8" name="Text 35"/>
          <p:cNvSpPr/>
          <p:nvPr/>
        </p:nvSpPr>
        <p:spPr>
          <a:xfrm>
            <a:off x="143917" y="4382000"/>
            <a:ext cx="379960" cy="3792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9" name="Text 36"/>
          <p:cNvSpPr/>
          <p:nvPr/>
        </p:nvSpPr>
        <p:spPr>
          <a:xfrm>
            <a:off x="146472" y="4384551"/>
            <a:ext cx="374849" cy="37413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40" name="Text 37"/>
          <p:cNvSpPr/>
          <p:nvPr/>
        </p:nvSpPr>
        <p:spPr>
          <a:xfrm>
            <a:off x="149400" y="4387473"/>
            <a:ext cx="368993" cy="3682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41" name="Text 38"/>
          <p:cNvSpPr/>
          <p:nvPr/>
        </p:nvSpPr>
        <p:spPr>
          <a:xfrm>
            <a:off x="149020" y="4387101"/>
            <a:ext cx="365343" cy="3646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42" name="Text 39"/>
          <p:cNvSpPr/>
          <p:nvPr/>
        </p:nvSpPr>
        <p:spPr>
          <a:xfrm>
            <a:off x="235182" y="4464407"/>
            <a:ext cx="256987" cy="267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43" name="Text 40"/>
          <p:cNvSpPr/>
          <p:nvPr/>
        </p:nvSpPr>
        <p:spPr>
          <a:xfrm>
            <a:off x="235177" y="4464407"/>
            <a:ext cx="197434" cy="2144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44" name="Text 41"/>
          <p:cNvSpPr/>
          <p:nvPr/>
        </p:nvSpPr>
        <p:spPr>
          <a:xfrm>
            <a:off x="573633" y="4391653"/>
            <a:ext cx="3593940" cy="346249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688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Sag’dullayev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688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688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Alibek</a:t>
            </a:r>
            <a:endParaRPr lang="en-US" sz="788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8882" y="-22860"/>
            <a:ext cx="2148840" cy="5166360"/>
          </a:xfrm>
          <a:custGeom>
            <a:avLst/>
            <a:gdLst/>
            <a:ahLst/>
            <a:cxnLst/>
            <a:rect l="l" t="t" r="r" b="b"/>
            <a:pathLst>
              <a:path w="2148840" h="5166360">
                <a:moveTo>
                  <a:pt x="0" y="0"/>
                </a:moveTo>
                <a:lnTo>
                  <a:pt x="2148840" y="0"/>
                </a:lnTo>
                <a:lnTo>
                  <a:pt x="2148840" y="5166360"/>
                </a:lnTo>
                <a:lnTo>
                  <a:pt x="0" y="5166360"/>
                </a:lnTo>
                <a:close/>
              </a:path>
            </a:pathLst>
          </a:custGeom>
          <a:solidFill>
            <a:srgbClr val="DBDBDB"/>
          </a:solidFill>
          <a:ln/>
        </p:spPr>
      </p:sp>
      <p:sp>
        <p:nvSpPr>
          <p:cNvPr id="3" name="Text 1"/>
          <p:cNvSpPr/>
          <p:nvPr/>
        </p:nvSpPr>
        <p:spPr>
          <a:xfrm>
            <a:off x="-28882" y="-22860"/>
            <a:ext cx="2148840" cy="5166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4" name="Shape 2"/>
          <p:cNvSpPr/>
          <p:nvPr/>
        </p:nvSpPr>
        <p:spPr>
          <a:xfrm>
            <a:off x="1579957" y="2358789"/>
            <a:ext cx="1080000" cy="1080000"/>
          </a:xfrm>
          <a:custGeom>
            <a:avLst/>
            <a:gdLst/>
            <a:ahLst/>
            <a:cxnLst/>
            <a:rect l="l" t="t" r="r" b="b"/>
            <a:pathLst>
              <a:path w="1080000" h="1080000">
                <a:moveTo>
                  <a:pt x="540000" y="0"/>
                </a:moveTo>
                <a:cubicBezTo>
                  <a:pt x="838034" y="0"/>
                  <a:pt x="1080000" y="241966"/>
                  <a:pt x="1080000" y="540000"/>
                </a:cubicBezTo>
                <a:cubicBezTo>
                  <a:pt x="1080000" y="838034"/>
                  <a:pt x="838034" y="1080000"/>
                  <a:pt x="540000" y="1080000"/>
                </a:cubicBezTo>
                <a:cubicBezTo>
                  <a:pt x="241966" y="1080000"/>
                  <a:pt x="0" y="838034"/>
                  <a:pt x="0" y="540000"/>
                </a:cubicBezTo>
                <a:cubicBezTo>
                  <a:pt x="0" y="241966"/>
                  <a:pt x="241966" y="0"/>
                  <a:pt x="540000" y="0"/>
                </a:cubicBezTo>
                <a:close/>
              </a:path>
            </a:pathLst>
          </a:custGeom>
          <a:solidFill>
            <a:srgbClr val="FFC000">
              <a:alpha val="80000"/>
            </a:srgbClr>
          </a:solidFill>
          <a:ln/>
          <a:effectLst>
            <a:outerShdw sx="100000" sy="100000" kx="0" ky="0" algn="bl" rotWithShape="0" blurRad="219075" dist="50800" dir="2700000">
              <a:srgbClr val="000000">
                <a:alpha val="27843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579957" y="2358789"/>
            <a:ext cx="1080000" cy="108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6" name="Text 4"/>
          <p:cNvSpPr/>
          <p:nvPr/>
        </p:nvSpPr>
        <p:spPr>
          <a:xfrm>
            <a:off x="796957" y="975688"/>
            <a:ext cx="2646000" cy="1923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7" name="Shape 5"/>
          <p:cNvSpPr/>
          <p:nvPr/>
        </p:nvSpPr>
        <p:spPr>
          <a:xfrm>
            <a:off x="2034327" y="3638550"/>
            <a:ext cx="171260" cy="373380"/>
          </a:xfrm>
          <a:custGeom>
            <a:avLst/>
            <a:gdLst/>
            <a:ahLst/>
            <a:cxnLst/>
            <a:rect l="l" t="t" r="r" b="b"/>
            <a:pathLst>
              <a:path w="171260" h="373380">
                <a:moveTo>
                  <a:pt x="21407" y="0"/>
                </a:moveTo>
                <a:lnTo>
                  <a:pt x="149852" y="0"/>
                </a:lnTo>
                <a:quadBezTo>
                  <a:pt x="171260" y="0"/>
                  <a:pt x="171260" y="21407"/>
                </a:quadBezTo>
                <a:lnTo>
                  <a:pt x="171260" y="351973"/>
                </a:lnTo>
                <a:quadBezTo>
                  <a:pt x="171260" y="373380"/>
                  <a:pt x="149852" y="373380"/>
                </a:quadBezTo>
                <a:lnTo>
                  <a:pt x="21407" y="373380"/>
                </a:lnTo>
                <a:quadBezTo>
                  <a:pt x="0" y="373380"/>
                  <a:pt x="0" y="351973"/>
                </a:quadBezTo>
                <a:lnTo>
                  <a:pt x="0" y="21407"/>
                </a:lnTo>
                <a:quadBezTo>
                  <a:pt x="0" y="0"/>
                  <a:pt x="21407" y="0"/>
                </a:quadBezTo>
                <a:close/>
              </a:path>
            </a:pathLst>
          </a:custGeom>
          <a:solidFill>
            <a:srgbClr val="FFC000">
              <a:alpha val="80000"/>
            </a:srgbClr>
          </a:solidFill>
          <a:ln/>
          <a:effectLst>
            <a:outerShdw sx="100000" sy="100000" kx="0" ky="0" algn="bl" rotWithShape="0" blurRad="114300" dist="66704" dir="2700000">
              <a:srgbClr val="000000">
                <a:alpha val="21176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034327" y="3638550"/>
            <a:ext cx="171260" cy="373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9" name="Shape 7"/>
          <p:cNvSpPr/>
          <p:nvPr/>
        </p:nvSpPr>
        <p:spPr>
          <a:xfrm>
            <a:off x="3970190" y="695475"/>
            <a:ext cx="5059510" cy="675001"/>
          </a:xfrm>
          <a:custGeom>
            <a:avLst/>
            <a:gdLst/>
            <a:ahLst/>
            <a:cxnLst/>
            <a:rect l="l" t="t" r="r" b="b"/>
            <a:pathLst>
              <a:path w="5059510" h="675001">
                <a:moveTo>
                  <a:pt x="84375" y="0"/>
                </a:moveTo>
                <a:lnTo>
                  <a:pt x="4975135" y="0"/>
                </a:lnTo>
                <a:quadBezTo>
                  <a:pt x="5059510" y="0"/>
                  <a:pt x="5059510" y="84375"/>
                </a:quadBezTo>
                <a:lnTo>
                  <a:pt x="5059510" y="590626"/>
                </a:lnTo>
                <a:quadBezTo>
                  <a:pt x="5059510" y="675001"/>
                  <a:pt x="4975135" y="675001"/>
                </a:quadBezTo>
                <a:lnTo>
                  <a:pt x="84375" y="675001"/>
                </a:lnTo>
                <a:quadBezTo>
                  <a:pt x="0" y="675001"/>
                  <a:pt x="0" y="590626"/>
                </a:quadBezTo>
                <a:lnTo>
                  <a:pt x="0" y="84375"/>
                </a:lnTo>
                <a:quadBezTo>
                  <a:pt x="0" y="0"/>
                  <a:pt x="84375" y="0"/>
                </a:quadBezTo>
                <a:close/>
              </a:path>
            </a:pathLst>
          </a:custGeom>
          <a:solidFill>
            <a:srgbClr val="333F51"/>
          </a:solidFill>
          <a:ln/>
          <a:effectLst>
            <a:outerShdw sx="100000" sy="100000" kx="0" ky="0" algn="bl" rotWithShape="0" blurRad="142875" dist="50800" dir="2700000">
              <a:srgbClr val="000000">
                <a:alpha val="45882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970190" y="695475"/>
            <a:ext cx="5059510" cy="6750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1" name="Shape 9"/>
          <p:cNvSpPr/>
          <p:nvPr/>
        </p:nvSpPr>
        <p:spPr>
          <a:xfrm rot="18660000">
            <a:off x="2734263" y="3348067"/>
            <a:ext cx="171260" cy="373380"/>
          </a:xfrm>
          <a:custGeom>
            <a:avLst/>
            <a:gdLst/>
            <a:ahLst/>
            <a:cxnLst/>
            <a:rect l="l" t="t" r="r" b="b"/>
            <a:pathLst>
              <a:path w="171260" h="373380">
                <a:moveTo>
                  <a:pt x="21407" y="0"/>
                </a:moveTo>
                <a:lnTo>
                  <a:pt x="149852" y="0"/>
                </a:lnTo>
                <a:quadBezTo>
                  <a:pt x="171260" y="0"/>
                  <a:pt x="171260" y="21407"/>
                </a:quadBezTo>
                <a:lnTo>
                  <a:pt x="171260" y="351973"/>
                </a:lnTo>
                <a:quadBezTo>
                  <a:pt x="171260" y="373380"/>
                  <a:pt x="149852" y="373380"/>
                </a:quadBezTo>
                <a:lnTo>
                  <a:pt x="21407" y="373380"/>
                </a:lnTo>
                <a:quadBezTo>
                  <a:pt x="0" y="373380"/>
                  <a:pt x="0" y="351973"/>
                </a:quadBezTo>
                <a:lnTo>
                  <a:pt x="0" y="21407"/>
                </a:lnTo>
                <a:quadBezTo>
                  <a:pt x="0" y="0"/>
                  <a:pt x="21407" y="0"/>
                </a:quadBezTo>
                <a:close/>
              </a:path>
            </a:pathLst>
          </a:custGeom>
          <a:solidFill>
            <a:srgbClr val="FFC000">
              <a:alpha val="80000"/>
            </a:srgbClr>
          </a:solidFill>
          <a:ln/>
          <a:effectLst>
            <a:outerShdw sx="100000" sy="100000" kx="0" ky="0" algn="bl" rotWithShape="0" blurRad="114300" dist="66704" dir="2700000">
              <a:srgbClr val="000000">
                <a:alpha val="21176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 rot="18660000">
            <a:off x="2734263" y="3348067"/>
            <a:ext cx="171260" cy="373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3" name="Shape 11"/>
          <p:cNvSpPr/>
          <p:nvPr/>
        </p:nvSpPr>
        <p:spPr>
          <a:xfrm rot="3120000">
            <a:off x="1332184" y="3351883"/>
            <a:ext cx="171260" cy="373380"/>
          </a:xfrm>
          <a:custGeom>
            <a:avLst/>
            <a:gdLst/>
            <a:ahLst/>
            <a:cxnLst/>
            <a:rect l="l" t="t" r="r" b="b"/>
            <a:pathLst>
              <a:path w="171260" h="373380">
                <a:moveTo>
                  <a:pt x="21407" y="0"/>
                </a:moveTo>
                <a:lnTo>
                  <a:pt x="149852" y="0"/>
                </a:lnTo>
                <a:quadBezTo>
                  <a:pt x="171260" y="0"/>
                  <a:pt x="171260" y="21407"/>
                </a:quadBezTo>
                <a:lnTo>
                  <a:pt x="171260" y="351973"/>
                </a:lnTo>
                <a:quadBezTo>
                  <a:pt x="171260" y="373380"/>
                  <a:pt x="149852" y="373380"/>
                </a:quadBezTo>
                <a:lnTo>
                  <a:pt x="21407" y="373380"/>
                </a:lnTo>
                <a:quadBezTo>
                  <a:pt x="0" y="373380"/>
                  <a:pt x="0" y="351973"/>
                </a:quadBezTo>
                <a:lnTo>
                  <a:pt x="0" y="21407"/>
                </a:lnTo>
                <a:quadBezTo>
                  <a:pt x="0" y="0"/>
                  <a:pt x="21407" y="0"/>
                </a:quadBezTo>
                <a:close/>
              </a:path>
            </a:pathLst>
          </a:custGeom>
          <a:solidFill>
            <a:srgbClr val="FFC000">
              <a:alpha val="80000"/>
            </a:srgbClr>
          </a:solidFill>
          <a:ln/>
          <a:effectLst>
            <a:outerShdw sx="100000" sy="100000" kx="0" ky="0" algn="bl" rotWithShape="0" blurRad="114300" dist="66704" dir="2700000">
              <a:srgbClr val="000000">
                <a:alpha val="21176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 rot="3120000">
            <a:off x="1332184" y="3351883"/>
            <a:ext cx="171260" cy="373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3727939" y="638356"/>
            <a:ext cx="810000" cy="810000"/>
          </a:xfrm>
          <a:custGeom>
            <a:avLst/>
            <a:gdLst/>
            <a:ahLst/>
            <a:cxnLst/>
            <a:rect l="l" t="t" r="r" b="b"/>
            <a:pathLst>
              <a:path w="810000" h="810000">
                <a:moveTo>
                  <a:pt x="405000" y="0"/>
                </a:moveTo>
                <a:cubicBezTo>
                  <a:pt x="628526" y="0"/>
                  <a:pt x="810000" y="181474"/>
                  <a:pt x="810000" y="405000"/>
                </a:cubicBezTo>
                <a:cubicBezTo>
                  <a:pt x="810000" y="628526"/>
                  <a:pt x="628526" y="810000"/>
                  <a:pt x="405000" y="810000"/>
                </a:cubicBezTo>
                <a:cubicBezTo>
                  <a:pt x="181474" y="810000"/>
                  <a:pt x="0" y="628526"/>
                  <a:pt x="0" y="405000"/>
                </a:cubicBezTo>
                <a:cubicBezTo>
                  <a:pt x="0" y="181474"/>
                  <a:pt x="181474" y="0"/>
                  <a:pt x="405000" y="0"/>
                </a:cubicBezTo>
                <a:close/>
              </a:path>
            </a:pathLst>
          </a:custGeom>
          <a:solidFill>
            <a:srgbClr val="0D0072"/>
          </a:solidFill>
          <a:ln/>
          <a:effectLst>
            <a:outerShdw sx="100000" sy="100000" kx="0" ky="0" algn="bl" rotWithShape="0" blurRad="142875" dist="50800" dir="2700000">
              <a:srgbClr val="000000">
                <a:alpha val="21961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727939" y="638356"/>
            <a:ext cx="810000" cy="81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7" name="Shape 15"/>
          <p:cNvSpPr/>
          <p:nvPr/>
        </p:nvSpPr>
        <p:spPr>
          <a:xfrm>
            <a:off x="3795439" y="705857"/>
            <a:ext cx="675000" cy="675000"/>
          </a:xfrm>
          <a:custGeom>
            <a:avLst/>
            <a:gdLst/>
            <a:ahLst/>
            <a:cxnLst/>
            <a:rect l="l" t="t" r="r" b="b"/>
            <a:pathLst>
              <a:path w="675000" h="675000">
                <a:moveTo>
                  <a:pt x="337500" y="0"/>
                </a:moveTo>
                <a:cubicBezTo>
                  <a:pt x="523771" y="0"/>
                  <a:pt x="675000" y="151229"/>
                  <a:pt x="675000" y="337500"/>
                </a:cubicBezTo>
                <a:cubicBezTo>
                  <a:pt x="675000" y="523771"/>
                  <a:pt x="523771" y="675000"/>
                  <a:pt x="337500" y="675000"/>
                </a:cubicBezTo>
                <a:cubicBezTo>
                  <a:pt x="151229" y="675000"/>
                  <a:pt x="0" y="523771"/>
                  <a:pt x="0" y="337500"/>
                </a:cubicBezTo>
                <a:cubicBezTo>
                  <a:pt x="0" y="151229"/>
                  <a:pt x="151229" y="0"/>
                  <a:pt x="3375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795439" y="705857"/>
            <a:ext cx="675000" cy="67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9" name="Text 17"/>
          <p:cNvSpPr/>
          <p:nvPr/>
        </p:nvSpPr>
        <p:spPr>
          <a:xfrm>
            <a:off x="3823371" y="570784"/>
            <a:ext cx="307292" cy="900247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5400" dirty="0">
                <a:solidFill>
                  <a:srgbClr val="000000"/>
                </a:solidFill>
                <a:latin typeface="Algerian" pitchFamily="34" charset="0"/>
                <a:ea typeface="Algerian" pitchFamily="34" charset="-122"/>
                <a:cs typeface="Algerian" pitchFamily="34" charset="-120"/>
              </a:rPr>
              <a:t>1</a:t>
            </a:r>
            <a:endParaRPr lang="en-US" sz="788" dirty="0"/>
          </a:p>
        </p:txBody>
      </p:sp>
      <p:sp>
        <p:nvSpPr>
          <p:cNvPr id="20" name="Shape 18"/>
          <p:cNvSpPr/>
          <p:nvPr/>
        </p:nvSpPr>
        <p:spPr>
          <a:xfrm>
            <a:off x="3725663" y="1739075"/>
            <a:ext cx="810000" cy="810000"/>
          </a:xfrm>
          <a:custGeom>
            <a:avLst/>
            <a:gdLst/>
            <a:ahLst/>
            <a:cxnLst/>
            <a:rect l="l" t="t" r="r" b="b"/>
            <a:pathLst>
              <a:path w="810000" h="810000">
                <a:moveTo>
                  <a:pt x="405000" y="0"/>
                </a:moveTo>
                <a:cubicBezTo>
                  <a:pt x="628526" y="0"/>
                  <a:pt x="810000" y="181474"/>
                  <a:pt x="810000" y="405000"/>
                </a:cubicBezTo>
                <a:cubicBezTo>
                  <a:pt x="810000" y="628526"/>
                  <a:pt x="628526" y="810000"/>
                  <a:pt x="405000" y="810000"/>
                </a:cubicBezTo>
                <a:cubicBezTo>
                  <a:pt x="181474" y="810000"/>
                  <a:pt x="0" y="628526"/>
                  <a:pt x="0" y="405000"/>
                </a:cubicBezTo>
                <a:cubicBezTo>
                  <a:pt x="0" y="181474"/>
                  <a:pt x="181474" y="0"/>
                  <a:pt x="405000" y="0"/>
                </a:cubicBezTo>
                <a:close/>
              </a:path>
            </a:pathLst>
          </a:custGeom>
          <a:solidFill>
            <a:srgbClr val="0D0072"/>
          </a:solidFill>
          <a:ln/>
          <a:effectLst>
            <a:outerShdw sx="100000" sy="100000" kx="0" ky="0" algn="bl" rotWithShape="0" blurRad="142875" dist="50800" dir="2700000">
              <a:srgbClr val="000000">
                <a:alpha val="21961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725663" y="1739075"/>
            <a:ext cx="810000" cy="81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2" name="Shape 20"/>
          <p:cNvSpPr/>
          <p:nvPr/>
        </p:nvSpPr>
        <p:spPr>
          <a:xfrm>
            <a:off x="3793163" y="1806575"/>
            <a:ext cx="675000" cy="675000"/>
          </a:xfrm>
          <a:custGeom>
            <a:avLst/>
            <a:gdLst/>
            <a:ahLst/>
            <a:cxnLst/>
            <a:rect l="l" t="t" r="r" b="b"/>
            <a:pathLst>
              <a:path w="675000" h="675000">
                <a:moveTo>
                  <a:pt x="337500" y="0"/>
                </a:moveTo>
                <a:cubicBezTo>
                  <a:pt x="523771" y="0"/>
                  <a:pt x="675000" y="151229"/>
                  <a:pt x="675000" y="337500"/>
                </a:cubicBezTo>
                <a:cubicBezTo>
                  <a:pt x="675000" y="523771"/>
                  <a:pt x="523771" y="675000"/>
                  <a:pt x="337500" y="675000"/>
                </a:cubicBezTo>
                <a:cubicBezTo>
                  <a:pt x="151229" y="675000"/>
                  <a:pt x="0" y="523771"/>
                  <a:pt x="0" y="337500"/>
                </a:cubicBezTo>
                <a:cubicBezTo>
                  <a:pt x="0" y="151229"/>
                  <a:pt x="151229" y="0"/>
                  <a:pt x="3375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3793163" y="1806575"/>
            <a:ext cx="675000" cy="67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4" name="Text 22"/>
          <p:cNvSpPr/>
          <p:nvPr/>
        </p:nvSpPr>
        <p:spPr>
          <a:xfrm>
            <a:off x="3821095" y="1671503"/>
            <a:ext cx="307292" cy="900247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5400" dirty="0">
                <a:solidFill>
                  <a:srgbClr val="000000"/>
                </a:solidFill>
                <a:latin typeface="Algerian" pitchFamily="34" charset="0"/>
                <a:ea typeface="Algerian" pitchFamily="34" charset="-122"/>
                <a:cs typeface="Algerian" pitchFamily="34" charset="-120"/>
              </a:rPr>
              <a:t>2</a:t>
            </a:r>
            <a:endParaRPr lang="en-US" sz="788" dirty="0"/>
          </a:p>
        </p:txBody>
      </p:sp>
      <p:sp>
        <p:nvSpPr>
          <p:cNvPr id="25" name="Text 23"/>
          <p:cNvSpPr/>
          <p:nvPr/>
        </p:nvSpPr>
        <p:spPr>
          <a:xfrm>
            <a:off x="4433041" y="773611"/>
            <a:ext cx="4528080" cy="5276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6" name="Text 24"/>
          <p:cNvSpPr/>
          <p:nvPr/>
        </p:nvSpPr>
        <p:spPr>
          <a:xfrm>
            <a:off x="4605439" y="732367"/>
            <a:ext cx="3853037" cy="577081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631" dirty="0">
                <a:solidFill>
                  <a:srgbClr val="0FA3B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Web ilovalar va ulaga qaratilgan tahdidlar</a:t>
            </a:r>
            <a:endParaRPr lang="en-US" sz="788" dirty="0"/>
          </a:p>
        </p:txBody>
      </p:sp>
      <p:sp>
        <p:nvSpPr>
          <p:cNvPr id="27" name="Shape 25"/>
          <p:cNvSpPr/>
          <p:nvPr/>
        </p:nvSpPr>
        <p:spPr>
          <a:xfrm>
            <a:off x="3970190" y="1807531"/>
            <a:ext cx="5059510" cy="675001"/>
          </a:xfrm>
          <a:custGeom>
            <a:avLst/>
            <a:gdLst/>
            <a:ahLst/>
            <a:cxnLst/>
            <a:rect l="l" t="t" r="r" b="b"/>
            <a:pathLst>
              <a:path w="5059510" h="675001">
                <a:moveTo>
                  <a:pt x="84375" y="0"/>
                </a:moveTo>
                <a:lnTo>
                  <a:pt x="4975135" y="0"/>
                </a:lnTo>
                <a:quadBezTo>
                  <a:pt x="5059510" y="0"/>
                  <a:pt x="5059510" y="84375"/>
                </a:quadBezTo>
                <a:lnTo>
                  <a:pt x="5059510" y="590626"/>
                </a:lnTo>
                <a:quadBezTo>
                  <a:pt x="5059510" y="675001"/>
                  <a:pt x="4975135" y="675001"/>
                </a:quadBezTo>
                <a:lnTo>
                  <a:pt x="84375" y="675001"/>
                </a:lnTo>
                <a:quadBezTo>
                  <a:pt x="0" y="675001"/>
                  <a:pt x="0" y="590626"/>
                </a:quadBezTo>
                <a:lnTo>
                  <a:pt x="0" y="84375"/>
                </a:lnTo>
                <a:quadBezTo>
                  <a:pt x="0" y="0"/>
                  <a:pt x="84375" y="0"/>
                </a:quadBezTo>
                <a:close/>
              </a:path>
            </a:pathLst>
          </a:custGeom>
          <a:solidFill>
            <a:srgbClr val="333F51"/>
          </a:solidFill>
          <a:ln/>
          <a:effectLst>
            <a:outerShdw sx="100000" sy="100000" kx="0" ky="0" algn="bl" rotWithShape="0" blurRad="142875" dist="50800" dir="2700000">
              <a:srgbClr val="000000">
                <a:alpha val="45882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970190" y="1807531"/>
            <a:ext cx="5059510" cy="6750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3727939" y="1750413"/>
            <a:ext cx="810000" cy="810000"/>
          </a:xfrm>
          <a:custGeom>
            <a:avLst/>
            <a:gdLst/>
            <a:ahLst/>
            <a:cxnLst/>
            <a:rect l="l" t="t" r="r" b="b"/>
            <a:pathLst>
              <a:path w="810000" h="810000">
                <a:moveTo>
                  <a:pt x="405000" y="0"/>
                </a:moveTo>
                <a:cubicBezTo>
                  <a:pt x="628526" y="0"/>
                  <a:pt x="810000" y="181474"/>
                  <a:pt x="810000" y="405000"/>
                </a:cubicBezTo>
                <a:cubicBezTo>
                  <a:pt x="810000" y="628526"/>
                  <a:pt x="628526" y="810000"/>
                  <a:pt x="405000" y="810000"/>
                </a:cubicBezTo>
                <a:cubicBezTo>
                  <a:pt x="181474" y="810000"/>
                  <a:pt x="0" y="628526"/>
                  <a:pt x="0" y="405000"/>
                </a:cubicBezTo>
                <a:cubicBezTo>
                  <a:pt x="0" y="181474"/>
                  <a:pt x="181474" y="0"/>
                  <a:pt x="405000" y="0"/>
                </a:cubicBezTo>
                <a:close/>
              </a:path>
            </a:pathLst>
          </a:custGeom>
          <a:solidFill>
            <a:srgbClr val="0D0072"/>
          </a:solidFill>
          <a:ln/>
          <a:effectLst>
            <a:outerShdw sx="100000" sy="100000" kx="0" ky="0" algn="bl" rotWithShape="0" blurRad="142875" dist="50800" dir="2700000">
              <a:srgbClr val="000000">
                <a:alpha val="21961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727939" y="1750413"/>
            <a:ext cx="810000" cy="81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1" name="Shape 29"/>
          <p:cNvSpPr/>
          <p:nvPr/>
        </p:nvSpPr>
        <p:spPr>
          <a:xfrm>
            <a:off x="3795439" y="1817913"/>
            <a:ext cx="675000" cy="675000"/>
          </a:xfrm>
          <a:custGeom>
            <a:avLst/>
            <a:gdLst/>
            <a:ahLst/>
            <a:cxnLst/>
            <a:rect l="l" t="t" r="r" b="b"/>
            <a:pathLst>
              <a:path w="675000" h="675000">
                <a:moveTo>
                  <a:pt x="337500" y="0"/>
                </a:moveTo>
                <a:cubicBezTo>
                  <a:pt x="523771" y="0"/>
                  <a:pt x="675000" y="151229"/>
                  <a:pt x="675000" y="337500"/>
                </a:cubicBezTo>
                <a:cubicBezTo>
                  <a:pt x="675000" y="523771"/>
                  <a:pt x="523771" y="675000"/>
                  <a:pt x="337500" y="675000"/>
                </a:cubicBezTo>
                <a:cubicBezTo>
                  <a:pt x="151229" y="675000"/>
                  <a:pt x="0" y="523771"/>
                  <a:pt x="0" y="337500"/>
                </a:cubicBezTo>
                <a:cubicBezTo>
                  <a:pt x="0" y="151229"/>
                  <a:pt x="151229" y="0"/>
                  <a:pt x="3375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795439" y="1817913"/>
            <a:ext cx="675000" cy="67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3" name="Text 31"/>
          <p:cNvSpPr/>
          <p:nvPr/>
        </p:nvSpPr>
        <p:spPr>
          <a:xfrm>
            <a:off x="3823371" y="1682841"/>
            <a:ext cx="307292" cy="900247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5400" dirty="0">
                <a:solidFill>
                  <a:srgbClr val="000000"/>
                </a:solidFill>
                <a:latin typeface="Algerian" pitchFamily="34" charset="0"/>
                <a:ea typeface="Algerian" pitchFamily="34" charset="-122"/>
                <a:cs typeface="Algerian" pitchFamily="34" charset="-120"/>
              </a:rPr>
              <a:t>2</a:t>
            </a:r>
            <a:endParaRPr lang="en-US" sz="788" dirty="0"/>
          </a:p>
        </p:txBody>
      </p:sp>
      <p:sp>
        <p:nvSpPr>
          <p:cNvPr id="34" name="Text 32"/>
          <p:cNvSpPr/>
          <p:nvPr/>
        </p:nvSpPr>
        <p:spPr>
          <a:xfrm>
            <a:off x="4433041" y="1885667"/>
            <a:ext cx="4528080" cy="5276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5" name="Text 33"/>
          <p:cNvSpPr/>
          <p:nvPr/>
        </p:nvSpPr>
        <p:spPr>
          <a:xfrm>
            <a:off x="4605439" y="1844423"/>
            <a:ext cx="3853037" cy="577081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631" dirty="0">
                <a:solidFill>
                  <a:srgbClr val="0FA3B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Web ilovalar va ulaga qaratilgan tahdidlar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3967915" y="2938942"/>
            <a:ext cx="5059510" cy="675001"/>
          </a:xfrm>
          <a:custGeom>
            <a:avLst/>
            <a:gdLst/>
            <a:ahLst/>
            <a:cxnLst/>
            <a:rect l="l" t="t" r="r" b="b"/>
            <a:pathLst>
              <a:path w="5059510" h="675001">
                <a:moveTo>
                  <a:pt x="84375" y="0"/>
                </a:moveTo>
                <a:lnTo>
                  <a:pt x="4975135" y="0"/>
                </a:lnTo>
                <a:quadBezTo>
                  <a:pt x="5059510" y="0"/>
                  <a:pt x="5059510" y="84375"/>
                </a:quadBezTo>
                <a:lnTo>
                  <a:pt x="5059510" y="590626"/>
                </a:lnTo>
                <a:quadBezTo>
                  <a:pt x="5059510" y="675001"/>
                  <a:pt x="4975135" y="675001"/>
                </a:quadBezTo>
                <a:lnTo>
                  <a:pt x="84375" y="675001"/>
                </a:lnTo>
                <a:quadBezTo>
                  <a:pt x="0" y="675001"/>
                  <a:pt x="0" y="590626"/>
                </a:quadBezTo>
                <a:lnTo>
                  <a:pt x="0" y="84375"/>
                </a:lnTo>
                <a:quadBezTo>
                  <a:pt x="0" y="0"/>
                  <a:pt x="84375" y="0"/>
                </a:quadBezTo>
                <a:close/>
              </a:path>
            </a:pathLst>
          </a:custGeom>
          <a:solidFill>
            <a:srgbClr val="333F51"/>
          </a:solidFill>
          <a:ln/>
          <a:effectLst>
            <a:outerShdw sx="100000" sy="100000" kx="0" ky="0" algn="bl" rotWithShape="0" blurRad="142875" dist="50800" dir="2700000">
              <a:srgbClr val="000000">
                <a:alpha val="45882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3967915" y="2938942"/>
            <a:ext cx="5059510" cy="6750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8" name="Shape 36"/>
          <p:cNvSpPr/>
          <p:nvPr/>
        </p:nvSpPr>
        <p:spPr>
          <a:xfrm>
            <a:off x="3725663" y="2881823"/>
            <a:ext cx="810000" cy="810000"/>
          </a:xfrm>
          <a:custGeom>
            <a:avLst/>
            <a:gdLst/>
            <a:ahLst/>
            <a:cxnLst/>
            <a:rect l="l" t="t" r="r" b="b"/>
            <a:pathLst>
              <a:path w="810000" h="810000">
                <a:moveTo>
                  <a:pt x="405000" y="0"/>
                </a:moveTo>
                <a:cubicBezTo>
                  <a:pt x="628526" y="0"/>
                  <a:pt x="810000" y="181474"/>
                  <a:pt x="810000" y="405000"/>
                </a:cubicBezTo>
                <a:cubicBezTo>
                  <a:pt x="810000" y="628526"/>
                  <a:pt x="628526" y="810000"/>
                  <a:pt x="405000" y="810000"/>
                </a:cubicBezTo>
                <a:cubicBezTo>
                  <a:pt x="181474" y="810000"/>
                  <a:pt x="0" y="628526"/>
                  <a:pt x="0" y="405000"/>
                </a:cubicBezTo>
                <a:cubicBezTo>
                  <a:pt x="0" y="181474"/>
                  <a:pt x="181474" y="0"/>
                  <a:pt x="405000" y="0"/>
                </a:cubicBezTo>
                <a:close/>
              </a:path>
            </a:pathLst>
          </a:custGeom>
          <a:solidFill>
            <a:srgbClr val="0D0072"/>
          </a:solidFill>
          <a:ln/>
          <a:effectLst>
            <a:outerShdw sx="100000" sy="100000" kx="0" ky="0" algn="bl" rotWithShape="0" blurRad="142875" dist="50800" dir="2700000">
              <a:srgbClr val="000000">
                <a:alpha val="21961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3725663" y="2881823"/>
            <a:ext cx="810000" cy="81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40" name="Shape 38"/>
          <p:cNvSpPr/>
          <p:nvPr/>
        </p:nvSpPr>
        <p:spPr>
          <a:xfrm>
            <a:off x="3793163" y="2949323"/>
            <a:ext cx="675000" cy="675000"/>
          </a:xfrm>
          <a:custGeom>
            <a:avLst/>
            <a:gdLst/>
            <a:ahLst/>
            <a:cxnLst/>
            <a:rect l="l" t="t" r="r" b="b"/>
            <a:pathLst>
              <a:path w="675000" h="675000">
                <a:moveTo>
                  <a:pt x="337500" y="0"/>
                </a:moveTo>
                <a:cubicBezTo>
                  <a:pt x="523771" y="0"/>
                  <a:pt x="675000" y="151229"/>
                  <a:pt x="675000" y="337500"/>
                </a:cubicBezTo>
                <a:cubicBezTo>
                  <a:pt x="675000" y="523771"/>
                  <a:pt x="523771" y="675000"/>
                  <a:pt x="337500" y="675000"/>
                </a:cubicBezTo>
                <a:cubicBezTo>
                  <a:pt x="151229" y="675000"/>
                  <a:pt x="0" y="523771"/>
                  <a:pt x="0" y="337500"/>
                </a:cubicBezTo>
                <a:cubicBezTo>
                  <a:pt x="0" y="151229"/>
                  <a:pt x="151229" y="0"/>
                  <a:pt x="3375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3793163" y="2949323"/>
            <a:ext cx="675000" cy="67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42" name="Text 40"/>
          <p:cNvSpPr/>
          <p:nvPr/>
        </p:nvSpPr>
        <p:spPr>
          <a:xfrm>
            <a:off x="3821095" y="2814251"/>
            <a:ext cx="307292" cy="900247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5400" dirty="0">
                <a:solidFill>
                  <a:srgbClr val="000000"/>
                </a:solidFill>
                <a:latin typeface="Algerian" pitchFamily="34" charset="0"/>
                <a:ea typeface="Algerian" pitchFamily="34" charset="-122"/>
                <a:cs typeface="Algerian" pitchFamily="34" charset="-120"/>
              </a:rPr>
              <a:t>3</a:t>
            </a:r>
            <a:endParaRPr lang="en-US" sz="788" dirty="0"/>
          </a:p>
        </p:txBody>
      </p:sp>
      <p:sp>
        <p:nvSpPr>
          <p:cNvPr id="43" name="Text 41"/>
          <p:cNvSpPr/>
          <p:nvPr/>
        </p:nvSpPr>
        <p:spPr>
          <a:xfrm>
            <a:off x="4430765" y="3017077"/>
            <a:ext cx="4528080" cy="5276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44" name="Text 42"/>
          <p:cNvSpPr/>
          <p:nvPr/>
        </p:nvSpPr>
        <p:spPr>
          <a:xfrm>
            <a:off x="4603163" y="2975834"/>
            <a:ext cx="3853037" cy="577081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631" dirty="0">
                <a:solidFill>
                  <a:srgbClr val="0FA3B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Web ilovalar va ulaga qaratilgan tahdidlar</a:t>
            </a:r>
            <a:endParaRPr lang="en-US" sz="788" dirty="0"/>
          </a:p>
        </p:txBody>
      </p:sp>
      <p:sp>
        <p:nvSpPr>
          <p:cNvPr id="45" name="Shape 43"/>
          <p:cNvSpPr/>
          <p:nvPr/>
        </p:nvSpPr>
        <p:spPr>
          <a:xfrm>
            <a:off x="3967915" y="4125067"/>
            <a:ext cx="5059510" cy="675001"/>
          </a:xfrm>
          <a:custGeom>
            <a:avLst/>
            <a:gdLst/>
            <a:ahLst/>
            <a:cxnLst/>
            <a:rect l="l" t="t" r="r" b="b"/>
            <a:pathLst>
              <a:path w="5059510" h="675001">
                <a:moveTo>
                  <a:pt x="84375" y="0"/>
                </a:moveTo>
                <a:lnTo>
                  <a:pt x="4975135" y="0"/>
                </a:lnTo>
                <a:quadBezTo>
                  <a:pt x="5059510" y="0"/>
                  <a:pt x="5059510" y="84375"/>
                </a:quadBezTo>
                <a:lnTo>
                  <a:pt x="5059510" y="590626"/>
                </a:lnTo>
                <a:quadBezTo>
                  <a:pt x="5059510" y="675001"/>
                  <a:pt x="4975135" y="675001"/>
                </a:quadBezTo>
                <a:lnTo>
                  <a:pt x="84375" y="675001"/>
                </a:lnTo>
                <a:quadBezTo>
                  <a:pt x="0" y="675001"/>
                  <a:pt x="0" y="590626"/>
                </a:quadBezTo>
                <a:lnTo>
                  <a:pt x="0" y="84375"/>
                </a:lnTo>
                <a:quadBezTo>
                  <a:pt x="0" y="0"/>
                  <a:pt x="84375" y="0"/>
                </a:quadBezTo>
                <a:close/>
              </a:path>
            </a:pathLst>
          </a:custGeom>
          <a:solidFill>
            <a:srgbClr val="333F51"/>
          </a:solidFill>
          <a:ln/>
          <a:effectLst>
            <a:outerShdw sx="100000" sy="100000" kx="0" ky="0" algn="bl" rotWithShape="0" blurRad="142875" dist="50800" dir="2700000">
              <a:srgbClr val="000000">
                <a:alpha val="45882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3967915" y="4125067"/>
            <a:ext cx="5059510" cy="6750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47" name="Shape 45"/>
          <p:cNvSpPr/>
          <p:nvPr/>
        </p:nvSpPr>
        <p:spPr>
          <a:xfrm>
            <a:off x="3725663" y="4067948"/>
            <a:ext cx="810000" cy="810000"/>
          </a:xfrm>
          <a:custGeom>
            <a:avLst/>
            <a:gdLst/>
            <a:ahLst/>
            <a:cxnLst/>
            <a:rect l="l" t="t" r="r" b="b"/>
            <a:pathLst>
              <a:path w="810000" h="810000">
                <a:moveTo>
                  <a:pt x="405000" y="0"/>
                </a:moveTo>
                <a:cubicBezTo>
                  <a:pt x="628526" y="0"/>
                  <a:pt x="810000" y="181474"/>
                  <a:pt x="810000" y="405000"/>
                </a:cubicBezTo>
                <a:cubicBezTo>
                  <a:pt x="810000" y="628526"/>
                  <a:pt x="628526" y="810000"/>
                  <a:pt x="405000" y="810000"/>
                </a:cubicBezTo>
                <a:cubicBezTo>
                  <a:pt x="181474" y="810000"/>
                  <a:pt x="0" y="628526"/>
                  <a:pt x="0" y="405000"/>
                </a:cubicBezTo>
                <a:cubicBezTo>
                  <a:pt x="0" y="181474"/>
                  <a:pt x="181474" y="0"/>
                  <a:pt x="405000" y="0"/>
                </a:cubicBezTo>
                <a:close/>
              </a:path>
            </a:pathLst>
          </a:custGeom>
          <a:solidFill>
            <a:srgbClr val="0D0072"/>
          </a:solidFill>
          <a:ln/>
          <a:effectLst>
            <a:outerShdw sx="100000" sy="100000" kx="0" ky="0" algn="bl" rotWithShape="0" blurRad="142875" dist="50800" dir="2700000">
              <a:srgbClr val="000000">
                <a:alpha val="21961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725663" y="4067948"/>
            <a:ext cx="810000" cy="81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3793163" y="4135448"/>
            <a:ext cx="675000" cy="675000"/>
          </a:xfrm>
          <a:custGeom>
            <a:avLst/>
            <a:gdLst/>
            <a:ahLst/>
            <a:cxnLst/>
            <a:rect l="l" t="t" r="r" b="b"/>
            <a:pathLst>
              <a:path w="675000" h="675000">
                <a:moveTo>
                  <a:pt x="337500" y="0"/>
                </a:moveTo>
                <a:cubicBezTo>
                  <a:pt x="523771" y="0"/>
                  <a:pt x="675000" y="151229"/>
                  <a:pt x="675000" y="337500"/>
                </a:cubicBezTo>
                <a:cubicBezTo>
                  <a:pt x="675000" y="523771"/>
                  <a:pt x="523771" y="675000"/>
                  <a:pt x="337500" y="675000"/>
                </a:cubicBezTo>
                <a:cubicBezTo>
                  <a:pt x="151229" y="675000"/>
                  <a:pt x="0" y="523771"/>
                  <a:pt x="0" y="337500"/>
                </a:cubicBezTo>
                <a:cubicBezTo>
                  <a:pt x="0" y="151229"/>
                  <a:pt x="151229" y="0"/>
                  <a:pt x="337500" y="0"/>
                </a:cubicBez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3793163" y="4135448"/>
            <a:ext cx="675000" cy="67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51" name="Text 49"/>
          <p:cNvSpPr/>
          <p:nvPr/>
        </p:nvSpPr>
        <p:spPr>
          <a:xfrm>
            <a:off x="3821095" y="4000376"/>
            <a:ext cx="307292" cy="900247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5400" dirty="0">
                <a:solidFill>
                  <a:srgbClr val="000000"/>
                </a:solidFill>
                <a:latin typeface="Algerian" pitchFamily="34" charset="0"/>
                <a:ea typeface="Algerian" pitchFamily="34" charset="-122"/>
                <a:cs typeface="Algerian" pitchFamily="34" charset="-120"/>
              </a:rPr>
              <a:t>4</a:t>
            </a:r>
            <a:endParaRPr lang="en-US" sz="788" dirty="0"/>
          </a:p>
        </p:txBody>
      </p:sp>
      <p:sp>
        <p:nvSpPr>
          <p:cNvPr id="52" name="Text 50"/>
          <p:cNvSpPr/>
          <p:nvPr/>
        </p:nvSpPr>
        <p:spPr>
          <a:xfrm>
            <a:off x="4430765" y="4203203"/>
            <a:ext cx="4528080" cy="5276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53" name="Text 51"/>
          <p:cNvSpPr/>
          <p:nvPr/>
        </p:nvSpPr>
        <p:spPr>
          <a:xfrm>
            <a:off x="4603163" y="4161958"/>
            <a:ext cx="3853037" cy="577081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631" dirty="0">
                <a:solidFill>
                  <a:srgbClr val="0FA3B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Web ilovalar va ulaga qaratilgan tahdidlar</a:t>
            </a:r>
            <a:endParaRPr lang="en-US" sz="78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16137" y="-8068"/>
            <a:ext cx="9160136" cy="6094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46376907" r="-121289229" t="13754223" b="-185671090"/>
          <a:stretch/>
        </p:blipFill>
        <p:spPr>
          <a:xfrm>
            <a:off x="4746243" y="598026"/>
            <a:ext cx="54922522" cy="8209849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21691679" r="-271502274" t="0" b="-315493322"/>
          <a:stretch/>
        </p:blipFill>
        <p:spPr>
          <a:xfrm rot="840000">
            <a:off x="5072904" y="1964960"/>
            <a:ext cx="68360544" cy="75183797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-329028" y="59869"/>
            <a:ext cx="810000" cy="810000"/>
          </a:xfrm>
          <a:custGeom>
            <a:avLst/>
            <a:gdLst/>
            <a:ahLst/>
            <a:cxnLst/>
            <a:rect l="l" t="t" r="r" b="b"/>
            <a:pathLst>
              <a:path w="810000" h="810000">
                <a:moveTo>
                  <a:pt x="405000" y="0"/>
                </a:moveTo>
                <a:cubicBezTo>
                  <a:pt x="628526" y="0"/>
                  <a:pt x="810000" y="181474"/>
                  <a:pt x="810000" y="405000"/>
                </a:cubicBezTo>
                <a:cubicBezTo>
                  <a:pt x="810000" y="628526"/>
                  <a:pt x="628526" y="810000"/>
                  <a:pt x="405000" y="810000"/>
                </a:cubicBezTo>
                <a:cubicBezTo>
                  <a:pt x="181474" y="810000"/>
                  <a:pt x="0" y="628526"/>
                  <a:pt x="0" y="405000"/>
                </a:cubicBezTo>
                <a:cubicBezTo>
                  <a:pt x="0" y="181474"/>
                  <a:pt x="181474" y="0"/>
                  <a:pt x="405000" y="0"/>
                </a:cubicBezTo>
                <a:close/>
              </a:path>
            </a:pathLst>
          </a:custGeom>
          <a:solidFill>
            <a:srgbClr val="0FA3B1"/>
          </a:solidFill>
          <a:ln/>
          <a:effectLst>
            <a:outerShdw sx="100000" sy="100000" kx="0" ky="0" algn="bl" rotWithShape="0" blurRad="228600" dist="50800" dir="2700000">
              <a:srgbClr val="000000">
                <a:alpha val="63922"/>
              </a:srgbClr>
            </a:outerShdw>
          </a:effectLst>
        </p:spPr>
      </p:sp>
      <p:sp>
        <p:nvSpPr>
          <p:cNvPr id="6" name="Text 2"/>
          <p:cNvSpPr/>
          <p:nvPr/>
        </p:nvSpPr>
        <p:spPr>
          <a:xfrm>
            <a:off x="-329028" y="59869"/>
            <a:ext cx="810000" cy="81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7" name="Shape 3"/>
          <p:cNvSpPr/>
          <p:nvPr/>
        </p:nvSpPr>
        <p:spPr>
          <a:xfrm>
            <a:off x="669582" y="137624"/>
            <a:ext cx="270000" cy="270000"/>
          </a:xfrm>
          <a:custGeom>
            <a:avLst/>
            <a:gdLst/>
            <a:ahLst/>
            <a:cxnLst/>
            <a:rect l="l" t="t" r="r" b="b"/>
            <a:pathLst>
              <a:path w="270000" h="270000">
                <a:moveTo>
                  <a:pt x="135000" y="0"/>
                </a:moveTo>
                <a:cubicBezTo>
                  <a:pt x="209509" y="0"/>
                  <a:pt x="270000" y="60491"/>
                  <a:pt x="270000" y="135000"/>
                </a:cubicBezTo>
                <a:cubicBezTo>
                  <a:pt x="270000" y="209509"/>
                  <a:pt x="209509" y="270000"/>
                  <a:pt x="135000" y="270000"/>
                </a:cubicBezTo>
                <a:cubicBezTo>
                  <a:pt x="60491" y="270000"/>
                  <a:pt x="0" y="209509"/>
                  <a:pt x="0" y="135000"/>
                </a:cubicBezTo>
                <a:cubicBezTo>
                  <a:pt x="0" y="60491"/>
                  <a:pt x="60491" y="0"/>
                  <a:pt x="135000" y="0"/>
                </a:cubicBezTo>
                <a:close/>
              </a:path>
            </a:pathLst>
          </a:custGeom>
          <a:solidFill>
            <a:srgbClr val="FF0A54"/>
          </a:solidFill>
          <a:ln/>
          <a:effectLst>
            <a:outerShdw sx="100000" sy="100000" kx="0" ky="0" algn="bl" rotWithShape="0" blurRad="228600" dist="50800" dir="2700000">
              <a:srgbClr val="000000">
                <a:alpha val="63922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669582" y="137624"/>
            <a:ext cx="270000" cy="27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9" name="Shape 5"/>
          <p:cNvSpPr/>
          <p:nvPr/>
        </p:nvSpPr>
        <p:spPr>
          <a:xfrm>
            <a:off x="200023" y="869869"/>
            <a:ext cx="216000" cy="216000"/>
          </a:xfrm>
          <a:custGeom>
            <a:avLst/>
            <a:gdLst/>
            <a:ahLst/>
            <a:cxnLst/>
            <a:rect l="l" t="t" r="r" b="b"/>
            <a:pathLst>
              <a:path w="216000" h="216000">
                <a:moveTo>
                  <a:pt x="108000" y="0"/>
                </a:moveTo>
                <a:cubicBezTo>
                  <a:pt x="167607" y="0"/>
                  <a:pt x="216000" y="48393"/>
                  <a:pt x="216000" y="108000"/>
                </a:cubicBezTo>
                <a:cubicBezTo>
                  <a:pt x="216000" y="167607"/>
                  <a:pt x="167607" y="216000"/>
                  <a:pt x="108000" y="216000"/>
                </a:cubicBezTo>
                <a:cubicBezTo>
                  <a:pt x="48393" y="216000"/>
                  <a:pt x="0" y="167607"/>
                  <a:pt x="0" y="108000"/>
                </a:cubicBezTo>
                <a:cubicBezTo>
                  <a:pt x="0" y="48393"/>
                  <a:pt x="48393" y="0"/>
                  <a:pt x="108000" y="0"/>
                </a:cubicBezTo>
                <a:close/>
              </a:path>
            </a:pathLst>
          </a:custGeom>
          <a:solidFill>
            <a:srgbClr val="FF0A54"/>
          </a:solidFill>
          <a:ln/>
          <a:effectLst>
            <a:outerShdw sx="100000" sy="100000" kx="0" ky="0" algn="bl" rotWithShape="0" blurRad="228600" dist="50800" dir="2700000">
              <a:srgbClr val="000000">
                <a:alpha val="63922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200023" y="869869"/>
            <a:ext cx="216000" cy="21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1" name="Shape 7"/>
          <p:cNvSpPr/>
          <p:nvPr/>
        </p:nvSpPr>
        <p:spPr>
          <a:xfrm>
            <a:off x="615582" y="491827"/>
            <a:ext cx="189000" cy="189000"/>
          </a:xfrm>
          <a:custGeom>
            <a:avLst/>
            <a:gdLst/>
            <a:ahLst/>
            <a:cxnLst/>
            <a:rect l="l" t="t" r="r" b="b"/>
            <a:pathLst>
              <a:path w="189000" h="189000">
                <a:moveTo>
                  <a:pt x="94500" y="0"/>
                </a:moveTo>
                <a:cubicBezTo>
                  <a:pt x="146656" y="0"/>
                  <a:pt x="189000" y="42344"/>
                  <a:pt x="189000" y="94500"/>
                </a:cubicBezTo>
                <a:cubicBezTo>
                  <a:pt x="189000" y="146656"/>
                  <a:pt x="146656" y="189000"/>
                  <a:pt x="94500" y="189000"/>
                </a:cubicBezTo>
                <a:cubicBezTo>
                  <a:pt x="42344" y="189000"/>
                  <a:pt x="0" y="146656"/>
                  <a:pt x="0" y="94500"/>
                </a:cubicBezTo>
                <a:cubicBezTo>
                  <a:pt x="0" y="42344"/>
                  <a:pt x="42344" y="0"/>
                  <a:pt x="94500" y="0"/>
                </a:cubicBezTo>
                <a:close/>
              </a:path>
            </a:pathLst>
          </a:custGeom>
          <a:solidFill>
            <a:srgbClr val="0D0072"/>
          </a:solidFill>
          <a:ln/>
          <a:effectLst>
            <a:outerShdw sx="100000" sy="100000" kx="0" ky="0" algn="bl" rotWithShape="0" blurRad="228600" dist="50800" dir="2700000">
              <a:srgbClr val="000000">
                <a:alpha val="63922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615582" y="491827"/>
            <a:ext cx="189000" cy="18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3" name="Text 9"/>
          <p:cNvSpPr/>
          <p:nvPr/>
        </p:nvSpPr>
        <p:spPr>
          <a:xfrm>
            <a:off x="566500" y="747806"/>
            <a:ext cx="5223020" cy="530914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981" dirty="0">
                <a:solidFill>
                  <a:srgbClr val="0FA3B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 INJECTION</a:t>
            </a:r>
            <a:endParaRPr lang="en-US" sz="788" dirty="0"/>
          </a:p>
        </p:txBody>
      </p:sp>
      <p:sp>
        <p:nvSpPr>
          <p:cNvPr id="14" name="Text 10"/>
          <p:cNvSpPr/>
          <p:nvPr/>
        </p:nvSpPr>
        <p:spPr>
          <a:xfrm>
            <a:off x="480972" y="1377821"/>
            <a:ext cx="4397756" cy="2008242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Dastur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veb-ilovadagi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kamchiliklaridan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foydalanib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ma'lumotlar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bazasiga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ruxsatsiz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SQL-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so‘rovlarni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yuborish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orqali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oshiriladigan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hujum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Hujumi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tajovuzkor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foydalanuvchi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kiritish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maydonlari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orqali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ilova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ma’lumotlar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bazasiga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kiritganda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oshiriladi</a:t>
            </a:r>
            <a:endParaRPr lang="en-US" sz="788" dirty="0"/>
          </a:p>
        </p:txBody>
      </p:sp>
      <p:sp>
        <p:nvSpPr>
          <p:cNvPr id="15" name="Shape 11"/>
          <p:cNvSpPr/>
          <p:nvPr/>
        </p:nvSpPr>
        <p:spPr>
          <a:xfrm>
            <a:off x="663910" y="1256816"/>
            <a:ext cx="3276582" cy="47636"/>
          </a:xfrm>
          <a:custGeom>
            <a:avLst/>
            <a:gdLst/>
            <a:ahLst/>
            <a:cxnLst/>
            <a:rect l="l" t="t" r="r" b="b"/>
            <a:pathLst>
              <a:path w="3276582" h="47636">
                <a:moveTo>
                  <a:pt x="5955" y="0"/>
                </a:moveTo>
                <a:lnTo>
                  <a:pt x="3270627" y="0"/>
                </a:lnTo>
                <a:quadBezTo>
                  <a:pt x="3276582" y="0"/>
                  <a:pt x="3276582" y="5955"/>
                </a:quadBezTo>
                <a:lnTo>
                  <a:pt x="3276582" y="41682"/>
                </a:lnTo>
                <a:quadBezTo>
                  <a:pt x="3276582" y="47636"/>
                  <a:pt x="3270627" y="47636"/>
                </a:quadBezTo>
                <a:lnTo>
                  <a:pt x="5955" y="47636"/>
                </a:lnTo>
                <a:quadBezTo>
                  <a:pt x="0" y="47636"/>
                  <a:pt x="0" y="41682"/>
                </a:quadBezTo>
                <a:lnTo>
                  <a:pt x="0" y="5955"/>
                </a:lnTo>
                <a:quadBezTo>
                  <a:pt x="0" y="0"/>
                  <a:pt x="5955" y="0"/>
                </a:quadBezTo>
                <a:close/>
              </a:path>
            </a:pathLst>
          </a:custGeom>
          <a:solidFill>
            <a:srgbClr val="595959"/>
          </a:solidFill>
          <a:ln/>
        </p:spPr>
      </p:sp>
      <p:sp>
        <p:nvSpPr>
          <p:cNvPr id="16" name="Text 12"/>
          <p:cNvSpPr/>
          <p:nvPr/>
        </p:nvSpPr>
        <p:spPr>
          <a:xfrm>
            <a:off x="663910" y="1256816"/>
            <a:ext cx="3276582" cy="47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7" name="Text 13"/>
          <p:cNvSpPr/>
          <p:nvPr/>
        </p:nvSpPr>
        <p:spPr>
          <a:xfrm>
            <a:off x="1" y="3489115"/>
            <a:ext cx="5087074" cy="12805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8" name="Text 14"/>
          <p:cNvSpPr/>
          <p:nvPr/>
        </p:nvSpPr>
        <p:spPr>
          <a:xfrm>
            <a:off x="88885" y="3540764"/>
            <a:ext cx="4920060" cy="1177245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Ushbu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hujumlar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odatda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dasturchilar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tomonidan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foydalanuvchi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tomonidan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yuborilgan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ma'lumotlarni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to'g'ridan-to'g'ri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so'rovlariga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qo'shib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yuborilishi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natijasida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bo‘ladi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78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2318" y="346825"/>
            <a:ext cx="5297302" cy="530914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981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 Injection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981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turlari</a:t>
            </a:r>
            <a:endParaRPr lang="en-US" sz="788" dirty="0"/>
          </a:p>
        </p:txBody>
      </p:sp>
      <p:sp>
        <p:nvSpPr>
          <p:cNvPr id="3" name="Text 1"/>
          <p:cNvSpPr/>
          <p:nvPr/>
        </p:nvSpPr>
        <p:spPr>
          <a:xfrm>
            <a:off x="202319" y="877740"/>
            <a:ext cx="5181212" cy="1523494"/>
          </a:xfrm>
          <a:prstGeom prst="rect">
            <a:avLst/>
          </a:prstGeom>
          <a:noFill/>
          <a:ln/>
          <a:effectLst>
            <a:outerShdw sx="100000" sy="100000" kx="0" ky="0" algn="bl" rotWithShape="0" blurRad="304800" dist="50800" dir="2700000">
              <a:srgbClr val="000000">
                <a:alpha val="45882"/>
              </a:srgbClr>
            </a:outerShdw>
          </a:effectLst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Foydalanuvchi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kiritadigan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dastur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tomonidan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hech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qanday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tekshiruvisiz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noto‘g‘ri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tekshirilib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to'g'ridan-to'g'ri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SQL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so'rovlariga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qo'shilsa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hujumchi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ushbu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kamchilikdan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foydalanib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SQL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kodlarini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kiritishi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mumkin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Natijada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bazasidagi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maxfiy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ruxsatsiz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o'chirib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yuborish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o'zgartirish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kabi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salbiy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oqibatlar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yuzaga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keladi</a:t>
            </a:r>
            <a:endParaRPr lang="en-US" sz="788" dirty="0"/>
          </a:p>
        </p:txBody>
      </p:sp>
      <p:sp>
        <p:nvSpPr>
          <p:cNvPr id="4" name="Text 2"/>
          <p:cNvSpPr/>
          <p:nvPr/>
        </p:nvSpPr>
        <p:spPr>
          <a:xfrm>
            <a:off x="0" y="2571750"/>
            <a:ext cx="5383531" cy="20183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5" name="Text 3"/>
          <p:cNvSpPr/>
          <p:nvPr/>
        </p:nvSpPr>
        <p:spPr>
          <a:xfrm rot="2640000">
            <a:off x="6529579" y="-876808"/>
            <a:ext cx="1892737" cy="37415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6" name="Text 4"/>
          <p:cNvSpPr/>
          <p:nvPr/>
        </p:nvSpPr>
        <p:spPr>
          <a:xfrm rot="2640000">
            <a:off x="8550299" y="1090074"/>
            <a:ext cx="839149" cy="138332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7" name="Shape 5"/>
          <p:cNvSpPr/>
          <p:nvPr/>
        </p:nvSpPr>
        <p:spPr>
          <a:xfrm>
            <a:off x="425369" y="2691113"/>
            <a:ext cx="4740991" cy="370846"/>
          </a:xfrm>
          <a:custGeom>
            <a:avLst/>
            <a:gdLst/>
            <a:ahLst/>
            <a:cxnLst/>
            <a:rect l="l" t="t" r="r" b="b"/>
            <a:pathLst>
              <a:path w="4740991" h="370846">
                <a:moveTo>
                  <a:pt x="46356" y="0"/>
                </a:moveTo>
                <a:lnTo>
                  <a:pt x="4694635" y="0"/>
                </a:lnTo>
                <a:quadBezTo>
                  <a:pt x="4740991" y="0"/>
                  <a:pt x="4740991" y="46356"/>
                </a:quadBezTo>
                <a:lnTo>
                  <a:pt x="4740991" y="324490"/>
                </a:lnTo>
                <a:quadBezTo>
                  <a:pt x="4740991" y="370846"/>
                  <a:pt x="4694635" y="370846"/>
                </a:quadBezTo>
                <a:lnTo>
                  <a:pt x="46356" y="370846"/>
                </a:lnTo>
                <a:quadBezTo>
                  <a:pt x="0" y="370846"/>
                  <a:pt x="0" y="324490"/>
                </a:quadBezTo>
                <a:lnTo>
                  <a:pt x="0" y="46356"/>
                </a:lnTo>
                <a:quadBezTo>
                  <a:pt x="0" y="0"/>
                  <a:pt x="46356" y="0"/>
                </a:quad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38100" dist="35921" dir="270000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25369" y="2691113"/>
            <a:ext cx="4740991" cy="370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9" name="Shape 7"/>
          <p:cNvSpPr/>
          <p:nvPr/>
        </p:nvSpPr>
        <p:spPr>
          <a:xfrm>
            <a:off x="425369" y="3181443"/>
            <a:ext cx="4740991" cy="370846"/>
          </a:xfrm>
          <a:custGeom>
            <a:avLst/>
            <a:gdLst/>
            <a:ahLst/>
            <a:cxnLst/>
            <a:rect l="l" t="t" r="r" b="b"/>
            <a:pathLst>
              <a:path w="4740991" h="370846">
                <a:moveTo>
                  <a:pt x="46356" y="0"/>
                </a:moveTo>
                <a:lnTo>
                  <a:pt x="4694635" y="0"/>
                </a:lnTo>
                <a:quadBezTo>
                  <a:pt x="4740991" y="0"/>
                  <a:pt x="4740991" y="46356"/>
                </a:quadBezTo>
                <a:lnTo>
                  <a:pt x="4740991" y="324490"/>
                </a:lnTo>
                <a:quadBezTo>
                  <a:pt x="4740991" y="370846"/>
                  <a:pt x="4694635" y="370846"/>
                </a:quadBezTo>
                <a:lnTo>
                  <a:pt x="46356" y="370846"/>
                </a:lnTo>
                <a:quadBezTo>
                  <a:pt x="0" y="370846"/>
                  <a:pt x="0" y="324490"/>
                </a:quadBezTo>
                <a:lnTo>
                  <a:pt x="0" y="46356"/>
                </a:lnTo>
                <a:quadBezTo>
                  <a:pt x="0" y="0"/>
                  <a:pt x="46356" y="0"/>
                </a:quad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38100" dist="35921" dir="2700000">
              <a:srgbClr val="000000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369" y="3181443"/>
            <a:ext cx="4740991" cy="370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1" name="Shape 9"/>
          <p:cNvSpPr/>
          <p:nvPr/>
        </p:nvSpPr>
        <p:spPr>
          <a:xfrm>
            <a:off x="425369" y="3655115"/>
            <a:ext cx="4740991" cy="370846"/>
          </a:xfrm>
          <a:custGeom>
            <a:avLst/>
            <a:gdLst/>
            <a:ahLst/>
            <a:cxnLst/>
            <a:rect l="l" t="t" r="r" b="b"/>
            <a:pathLst>
              <a:path w="4740991" h="370846">
                <a:moveTo>
                  <a:pt x="46356" y="0"/>
                </a:moveTo>
                <a:lnTo>
                  <a:pt x="4694635" y="0"/>
                </a:lnTo>
                <a:quadBezTo>
                  <a:pt x="4740991" y="0"/>
                  <a:pt x="4740991" y="46356"/>
                </a:quadBezTo>
                <a:lnTo>
                  <a:pt x="4740991" y="324490"/>
                </a:lnTo>
                <a:quadBezTo>
                  <a:pt x="4740991" y="370846"/>
                  <a:pt x="4694635" y="370846"/>
                </a:quadBezTo>
                <a:lnTo>
                  <a:pt x="46356" y="370846"/>
                </a:lnTo>
                <a:quadBezTo>
                  <a:pt x="0" y="370846"/>
                  <a:pt x="0" y="324490"/>
                </a:quadBezTo>
                <a:lnTo>
                  <a:pt x="0" y="46356"/>
                </a:lnTo>
                <a:quadBezTo>
                  <a:pt x="0" y="0"/>
                  <a:pt x="46356" y="0"/>
                </a:quad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38100" dist="35921" dir="270000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25369" y="3655115"/>
            <a:ext cx="4740991" cy="370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3" name="Shape 11"/>
          <p:cNvSpPr/>
          <p:nvPr/>
        </p:nvSpPr>
        <p:spPr>
          <a:xfrm>
            <a:off x="425369" y="4133858"/>
            <a:ext cx="4740991" cy="370846"/>
          </a:xfrm>
          <a:custGeom>
            <a:avLst/>
            <a:gdLst/>
            <a:ahLst/>
            <a:cxnLst/>
            <a:rect l="l" t="t" r="r" b="b"/>
            <a:pathLst>
              <a:path w="4740991" h="370846">
                <a:moveTo>
                  <a:pt x="46356" y="0"/>
                </a:moveTo>
                <a:lnTo>
                  <a:pt x="4694635" y="0"/>
                </a:lnTo>
                <a:quadBezTo>
                  <a:pt x="4740991" y="0"/>
                  <a:pt x="4740991" y="46356"/>
                </a:quadBezTo>
                <a:lnTo>
                  <a:pt x="4740991" y="324490"/>
                </a:lnTo>
                <a:quadBezTo>
                  <a:pt x="4740991" y="370846"/>
                  <a:pt x="4694635" y="370846"/>
                </a:quadBezTo>
                <a:lnTo>
                  <a:pt x="46356" y="370846"/>
                </a:lnTo>
                <a:quadBezTo>
                  <a:pt x="0" y="370846"/>
                  <a:pt x="0" y="324490"/>
                </a:quadBezTo>
                <a:lnTo>
                  <a:pt x="0" y="46356"/>
                </a:lnTo>
                <a:quadBezTo>
                  <a:pt x="0" y="0"/>
                  <a:pt x="46356" y="0"/>
                </a:quad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38100" dist="35921" dir="27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25369" y="4133858"/>
            <a:ext cx="4740991" cy="3708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5" name="Text 13"/>
          <p:cNvSpPr/>
          <p:nvPr/>
        </p:nvSpPr>
        <p:spPr>
          <a:xfrm>
            <a:off x="748257" y="2740060"/>
            <a:ext cx="2234371" cy="276999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Saytlararo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skript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(XSS);</a:t>
            </a:r>
            <a:endParaRPr lang="en-US" sz="788" dirty="0"/>
          </a:p>
        </p:txBody>
      </p:sp>
      <p:sp>
        <p:nvSpPr>
          <p:cNvPr id="16" name="Text 14"/>
          <p:cNvSpPr/>
          <p:nvPr/>
        </p:nvSpPr>
        <p:spPr>
          <a:xfrm>
            <a:off x="758328" y="4197470"/>
            <a:ext cx="4928490" cy="253916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181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Ishonchsiz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181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181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to‘g’ridan-to‘g’ri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181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181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ob’ektga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181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181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havolalar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181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(IDOR)</a:t>
            </a:r>
            <a:endParaRPr lang="en-US" sz="788" dirty="0"/>
          </a:p>
        </p:txBody>
      </p:sp>
      <p:sp>
        <p:nvSpPr>
          <p:cNvPr id="17" name="Text 15"/>
          <p:cNvSpPr/>
          <p:nvPr/>
        </p:nvSpPr>
        <p:spPr>
          <a:xfrm>
            <a:off x="748915" y="3681724"/>
            <a:ext cx="4063076" cy="265457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238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Saytlararo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238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238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so‘rovlarni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238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238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qalbakilashtirish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238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(CSRF)</a:t>
            </a:r>
            <a:endParaRPr lang="en-US" sz="788" dirty="0"/>
          </a:p>
        </p:txBody>
      </p:sp>
      <p:sp>
        <p:nvSpPr>
          <p:cNvPr id="18" name="Text 16"/>
          <p:cNvSpPr/>
          <p:nvPr/>
        </p:nvSpPr>
        <p:spPr>
          <a:xfrm>
            <a:off x="742785" y="3218466"/>
            <a:ext cx="3053681" cy="265457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238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Kodni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238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238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masofadan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238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238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bajarish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238" b="1" dirty="0">
                <a:solidFill>
                  <a:srgbClr val="00000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(RCE)</a:t>
            </a:r>
            <a:endParaRPr lang="en-US" sz="788" dirty="0"/>
          </a:p>
        </p:txBody>
      </p:sp>
      <p:sp>
        <p:nvSpPr>
          <p:cNvPr id="19" name="Shape 17"/>
          <p:cNvSpPr/>
          <p:nvPr/>
        </p:nvSpPr>
        <p:spPr>
          <a:xfrm>
            <a:off x="561241" y="2798356"/>
            <a:ext cx="162000" cy="162000"/>
          </a:xfrm>
          <a:custGeom>
            <a:avLst/>
            <a:gdLst/>
            <a:ahLst/>
            <a:cxnLst/>
            <a:rect l="l" t="t" r="r" b="b"/>
            <a:pathLst>
              <a:path w="162000" h="162000">
                <a:moveTo>
                  <a:pt x="81000" y="0"/>
                </a:moveTo>
                <a:cubicBezTo>
                  <a:pt x="125705" y="0"/>
                  <a:pt x="162000" y="36295"/>
                  <a:pt x="162000" y="81000"/>
                </a:cubicBezTo>
                <a:cubicBezTo>
                  <a:pt x="162000" y="125705"/>
                  <a:pt x="125705" y="162000"/>
                  <a:pt x="81000" y="162000"/>
                </a:cubicBezTo>
                <a:cubicBezTo>
                  <a:pt x="36295" y="162000"/>
                  <a:pt x="0" y="125705"/>
                  <a:pt x="0" y="81000"/>
                </a:cubicBezTo>
                <a:cubicBezTo>
                  <a:pt x="0" y="36295"/>
                  <a:pt x="36295" y="0"/>
                  <a:pt x="81000" y="0"/>
                </a:cubicBezTo>
                <a:close/>
              </a:path>
            </a:pathLst>
          </a:custGeom>
          <a:solidFill>
            <a:srgbClr val="006465"/>
          </a:solidFill>
          <a:ln/>
        </p:spPr>
      </p:sp>
      <p:sp>
        <p:nvSpPr>
          <p:cNvPr id="20" name="Text 18"/>
          <p:cNvSpPr/>
          <p:nvPr/>
        </p:nvSpPr>
        <p:spPr>
          <a:xfrm>
            <a:off x="561241" y="2798356"/>
            <a:ext cx="162000" cy="1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1" name="Text 19"/>
          <p:cNvSpPr/>
          <p:nvPr/>
        </p:nvSpPr>
        <p:spPr>
          <a:xfrm>
            <a:off x="584118" y="2828622"/>
            <a:ext cx="121718" cy="105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2" name="Shape 20"/>
          <p:cNvSpPr/>
          <p:nvPr/>
        </p:nvSpPr>
        <p:spPr>
          <a:xfrm>
            <a:off x="561241" y="3288686"/>
            <a:ext cx="162000" cy="162000"/>
          </a:xfrm>
          <a:custGeom>
            <a:avLst/>
            <a:gdLst/>
            <a:ahLst/>
            <a:cxnLst/>
            <a:rect l="l" t="t" r="r" b="b"/>
            <a:pathLst>
              <a:path w="162000" h="162000">
                <a:moveTo>
                  <a:pt x="81000" y="0"/>
                </a:moveTo>
                <a:cubicBezTo>
                  <a:pt x="125705" y="0"/>
                  <a:pt x="162000" y="36295"/>
                  <a:pt x="162000" y="81000"/>
                </a:cubicBezTo>
                <a:cubicBezTo>
                  <a:pt x="162000" y="125705"/>
                  <a:pt x="125705" y="162000"/>
                  <a:pt x="81000" y="162000"/>
                </a:cubicBezTo>
                <a:cubicBezTo>
                  <a:pt x="36295" y="162000"/>
                  <a:pt x="0" y="125705"/>
                  <a:pt x="0" y="81000"/>
                </a:cubicBezTo>
                <a:cubicBezTo>
                  <a:pt x="0" y="36295"/>
                  <a:pt x="36295" y="0"/>
                  <a:pt x="81000" y="0"/>
                </a:cubicBezTo>
                <a:close/>
              </a:path>
            </a:pathLst>
          </a:custGeom>
          <a:solidFill>
            <a:srgbClr val="006465"/>
          </a:solidFill>
          <a:ln/>
        </p:spPr>
      </p:sp>
      <p:sp>
        <p:nvSpPr>
          <p:cNvPr id="23" name="Text 21"/>
          <p:cNvSpPr/>
          <p:nvPr/>
        </p:nvSpPr>
        <p:spPr>
          <a:xfrm>
            <a:off x="561241" y="3288686"/>
            <a:ext cx="162000" cy="1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4" name="Text 22"/>
          <p:cNvSpPr/>
          <p:nvPr/>
        </p:nvSpPr>
        <p:spPr>
          <a:xfrm>
            <a:off x="584118" y="3318952"/>
            <a:ext cx="121718" cy="105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561241" y="3762358"/>
            <a:ext cx="162000" cy="162000"/>
          </a:xfrm>
          <a:custGeom>
            <a:avLst/>
            <a:gdLst/>
            <a:ahLst/>
            <a:cxnLst/>
            <a:rect l="l" t="t" r="r" b="b"/>
            <a:pathLst>
              <a:path w="162000" h="162000">
                <a:moveTo>
                  <a:pt x="81000" y="0"/>
                </a:moveTo>
                <a:cubicBezTo>
                  <a:pt x="125705" y="0"/>
                  <a:pt x="162000" y="36295"/>
                  <a:pt x="162000" y="81000"/>
                </a:cubicBezTo>
                <a:cubicBezTo>
                  <a:pt x="162000" y="125705"/>
                  <a:pt x="125705" y="162000"/>
                  <a:pt x="81000" y="162000"/>
                </a:cubicBezTo>
                <a:cubicBezTo>
                  <a:pt x="36295" y="162000"/>
                  <a:pt x="0" y="125705"/>
                  <a:pt x="0" y="81000"/>
                </a:cubicBezTo>
                <a:cubicBezTo>
                  <a:pt x="0" y="36295"/>
                  <a:pt x="36295" y="0"/>
                  <a:pt x="81000" y="0"/>
                </a:cubicBezTo>
                <a:close/>
              </a:path>
            </a:pathLst>
          </a:custGeom>
          <a:solidFill>
            <a:srgbClr val="006465"/>
          </a:solidFill>
          <a:ln/>
        </p:spPr>
      </p:sp>
      <p:sp>
        <p:nvSpPr>
          <p:cNvPr id="26" name="Text 24"/>
          <p:cNvSpPr/>
          <p:nvPr/>
        </p:nvSpPr>
        <p:spPr>
          <a:xfrm>
            <a:off x="561241" y="3762358"/>
            <a:ext cx="162000" cy="1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7" name="Text 25"/>
          <p:cNvSpPr/>
          <p:nvPr/>
        </p:nvSpPr>
        <p:spPr>
          <a:xfrm>
            <a:off x="584118" y="3792624"/>
            <a:ext cx="121718" cy="105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566713" y="4241825"/>
            <a:ext cx="162000" cy="162000"/>
          </a:xfrm>
          <a:custGeom>
            <a:avLst/>
            <a:gdLst/>
            <a:ahLst/>
            <a:cxnLst/>
            <a:rect l="l" t="t" r="r" b="b"/>
            <a:pathLst>
              <a:path w="162000" h="162000">
                <a:moveTo>
                  <a:pt x="81000" y="0"/>
                </a:moveTo>
                <a:cubicBezTo>
                  <a:pt x="125705" y="0"/>
                  <a:pt x="162000" y="36295"/>
                  <a:pt x="162000" y="81000"/>
                </a:cubicBezTo>
                <a:cubicBezTo>
                  <a:pt x="162000" y="125705"/>
                  <a:pt x="125705" y="162000"/>
                  <a:pt x="81000" y="162000"/>
                </a:cubicBezTo>
                <a:cubicBezTo>
                  <a:pt x="36295" y="162000"/>
                  <a:pt x="0" y="125705"/>
                  <a:pt x="0" y="81000"/>
                </a:cubicBezTo>
                <a:cubicBezTo>
                  <a:pt x="0" y="36295"/>
                  <a:pt x="36295" y="0"/>
                  <a:pt x="81000" y="0"/>
                </a:cubicBezTo>
                <a:close/>
              </a:path>
            </a:pathLst>
          </a:custGeom>
          <a:solidFill>
            <a:srgbClr val="006465"/>
          </a:solidFill>
          <a:ln/>
        </p:spPr>
      </p:sp>
      <p:sp>
        <p:nvSpPr>
          <p:cNvPr id="29" name="Text 27"/>
          <p:cNvSpPr/>
          <p:nvPr/>
        </p:nvSpPr>
        <p:spPr>
          <a:xfrm>
            <a:off x="566713" y="4241825"/>
            <a:ext cx="162000" cy="1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0" name="Text 28"/>
          <p:cNvSpPr/>
          <p:nvPr/>
        </p:nvSpPr>
        <p:spPr>
          <a:xfrm>
            <a:off x="589590" y="4272091"/>
            <a:ext cx="121718" cy="1058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1" name="Shape 29"/>
          <p:cNvSpPr/>
          <p:nvPr/>
        </p:nvSpPr>
        <p:spPr>
          <a:xfrm>
            <a:off x="5584941" y="917605"/>
            <a:ext cx="3240000" cy="3240000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620000" y="0"/>
                </a:moveTo>
                <a:cubicBezTo>
                  <a:pt x="2514102" y="0"/>
                  <a:pt x="3240000" y="725898"/>
                  <a:pt x="3240000" y="1620000"/>
                </a:cubicBezTo>
                <a:cubicBezTo>
                  <a:pt x="3240000" y="2514102"/>
                  <a:pt x="2514102" y="3240000"/>
                  <a:pt x="1620000" y="3240000"/>
                </a:cubicBezTo>
                <a:cubicBezTo>
                  <a:pt x="725898" y="3240000"/>
                  <a:pt x="0" y="2514102"/>
                  <a:pt x="0" y="1620000"/>
                </a:cubicBezTo>
                <a:cubicBezTo>
                  <a:pt x="0" y="725898"/>
                  <a:pt x="725898" y="0"/>
                  <a:pt x="1620000" y="0"/>
                </a:cubicBezTo>
                <a:close/>
              </a:path>
            </a:pathLst>
          </a:custGeom>
          <a:solidFill>
            <a:srgbClr val="0FA3B1"/>
          </a:solidFill>
          <a:ln/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584941" y="917605"/>
            <a:ext cx="3240000" cy="32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3" name="Shape 31"/>
          <p:cNvSpPr/>
          <p:nvPr/>
        </p:nvSpPr>
        <p:spPr>
          <a:xfrm>
            <a:off x="5709556" y="1042221"/>
            <a:ext cx="2990769" cy="2990769"/>
          </a:xfrm>
          <a:custGeom>
            <a:avLst/>
            <a:gdLst/>
            <a:ahLst/>
            <a:cxnLst/>
            <a:rect l="l" t="t" r="r" b="b"/>
            <a:pathLst>
              <a:path w="2990769" h="2990769">
                <a:moveTo>
                  <a:pt x="1495384" y="0"/>
                </a:moveTo>
                <a:cubicBezTo>
                  <a:pt x="2320710" y="0"/>
                  <a:pt x="2990769" y="670059"/>
                  <a:pt x="2990769" y="1495384"/>
                </a:cubicBezTo>
                <a:cubicBezTo>
                  <a:pt x="2990769" y="2320710"/>
                  <a:pt x="2320710" y="2990769"/>
                  <a:pt x="1495384" y="2990769"/>
                </a:cubicBezTo>
                <a:cubicBezTo>
                  <a:pt x="670059" y="2990769"/>
                  <a:pt x="0" y="2320710"/>
                  <a:pt x="0" y="1495385"/>
                </a:cubicBezTo>
                <a:cubicBezTo>
                  <a:pt x="0" y="670059"/>
                  <a:pt x="670059" y="0"/>
                  <a:pt x="1495384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76224">
            <a:solidFill>
              <a:srgbClr val="FFFFFF"/>
            </a:solidFill>
            <a:prstDash val="solid"/>
          </a:ln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709556" y="1042221"/>
            <a:ext cx="2990769" cy="29907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5" name="Shape 33"/>
          <p:cNvSpPr/>
          <p:nvPr/>
        </p:nvSpPr>
        <p:spPr>
          <a:xfrm>
            <a:off x="5958788" y="1298263"/>
            <a:ext cx="2492308" cy="2492308"/>
          </a:xfrm>
          <a:custGeom>
            <a:avLst/>
            <a:gdLst/>
            <a:ahLst/>
            <a:cxnLst/>
            <a:rect l="l" t="t" r="r" b="b"/>
            <a:pathLst>
              <a:path w="2492308" h="2492308">
                <a:moveTo>
                  <a:pt x="1246154" y="0"/>
                </a:moveTo>
                <a:cubicBezTo>
                  <a:pt x="1933925" y="0"/>
                  <a:pt x="2492308" y="558383"/>
                  <a:pt x="2492308" y="1246154"/>
                </a:cubicBezTo>
                <a:cubicBezTo>
                  <a:pt x="2492308" y="1933925"/>
                  <a:pt x="1933925" y="2492308"/>
                  <a:pt x="1246154" y="2492308"/>
                </a:cubicBezTo>
                <a:cubicBezTo>
                  <a:pt x="558383" y="2492308"/>
                  <a:pt x="0" y="1933925"/>
                  <a:pt x="0" y="1246154"/>
                </a:cubicBezTo>
                <a:cubicBezTo>
                  <a:pt x="0" y="558383"/>
                  <a:pt x="558383" y="0"/>
                  <a:pt x="1246154" y="0"/>
                </a:cubicBezTo>
                <a:close/>
              </a:path>
            </a:pathLst>
          </a:custGeom>
          <a:solidFill>
            <a:srgbClr val="FFFFFF">
              <a:alpha val="0"/>
            </a:srgbClr>
          </a:solidFill>
          <a:ln w="64294">
            <a:solidFill>
              <a:srgbClr val="FFFFFF"/>
            </a:solidFill>
            <a:prstDash val="solid"/>
          </a:ln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958788" y="1298263"/>
            <a:ext cx="2492308" cy="24923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58788" y="1298263"/>
            <a:ext cx="2492308" cy="24923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 rot="18060000">
            <a:off x="8405083" y="401543"/>
            <a:ext cx="1384172" cy="7487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" name="Text 1"/>
          <p:cNvSpPr/>
          <p:nvPr/>
        </p:nvSpPr>
        <p:spPr>
          <a:xfrm>
            <a:off x="163267" y="393590"/>
            <a:ext cx="4872444" cy="484748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7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Saytlararo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7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7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skript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70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(XSS)</a:t>
            </a:r>
            <a:endParaRPr lang="en-US" sz="788" dirty="0"/>
          </a:p>
        </p:txBody>
      </p:sp>
      <p:sp>
        <p:nvSpPr>
          <p:cNvPr id="4" name="Text 2"/>
          <p:cNvSpPr/>
          <p:nvPr/>
        </p:nvSpPr>
        <p:spPr>
          <a:xfrm rot="18060000">
            <a:off x="6383093" y="-561797"/>
            <a:ext cx="1999497" cy="18817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5" name="Shape 3"/>
          <p:cNvSpPr/>
          <p:nvPr/>
        </p:nvSpPr>
        <p:spPr>
          <a:xfrm>
            <a:off x="8259626" y="491587"/>
            <a:ext cx="486000" cy="486000"/>
          </a:xfrm>
          <a:custGeom>
            <a:avLst/>
            <a:gdLst/>
            <a:ahLst/>
            <a:cxnLst/>
            <a:rect l="l" t="t" r="r" b="b"/>
            <a:pathLst>
              <a:path w="486000" h="486000">
                <a:moveTo>
                  <a:pt x="243000" y="0"/>
                </a:moveTo>
                <a:cubicBezTo>
                  <a:pt x="377115" y="0"/>
                  <a:pt x="486000" y="108885"/>
                  <a:pt x="486000" y="243000"/>
                </a:cubicBezTo>
                <a:cubicBezTo>
                  <a:pt x="486000" y="377115"/>
                  <a:pt x="377115" y="486000"/>
                  <a:pt x="243000" y="486000"/>
                </a:cubicBezTo>
                <a:cubicBezTo>
                  <a:pt x="108885" y="486000"/>
                  <a:pt x="0" y="377115"/>
                  <a:pt x="0" y="243000"/>
                </a:cubicBezTo>
                <a:cubicBezTo>
                  <a:pt x="0" y="108885"/>
                  <a:pt x="108885" y="0"/>
                  <a:pt x="243000" y="0"/>
                </a:cubicBezTo>
                <a:close/>
              </a:path>
            </a:pathLst>
          </a:custGeom>
          <a:solidFill>
            <a:srgbClr val="4472C4"/>
          </a:solidFill>
          <a:ln/>
          <a:effectLst>
            <a:outerShdw sx="100000" sy="100000" kx="0" ky="0" algn="bl" rotWithShape="0" blurRad="200025" dist="50800" dir="2700000">
              <a:srgbClr val="000000">
                <a:alpha val="4902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59626" y="491587"/>
            <a:ext cx="486000" cy="4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7" name="Shape 5"/>
          <p:cNvSpPr/>
          <p:nvPr/>
        </p:nvSpPr>
        <p:spPr>
          <a:xfrm>
            <a:off x="8096857" y="329588"/>
            <a:ext cx="810000" cy="810000"/>
          </a:xfrm>
          <a:custGeom>
            <a:avLst/>
            <a:gdLst/>
            <a:ahLst/>
            <a:cxnLst/>
            <a:rect l="l" t="t" r="r" b="b"/>
            <a:pathLst>
              <a:path w="810000" h="810000">
                <a:moveTo>
                  <a:pt x="0" y="405000"/>
                </a:moveTo>
                <a:cubicBezTo>
                  <a:pt x="1116" y="181723"/>
                  <a:pt x="182728" y="1468"/>
                  <a:pt x="406007" y="2026"/>
                </a:cubicBezTo>
                <a:cubicBezTo>
                  <a:pt x="629287" y="2584"/>
                  <a:pt x="809995" y="183745"/>
                  <a:pt x="809995" y="407025"/>
                </a:cubicBezTo>
                <a:cubicBezTo>
                  <a:pt x="809995" y="630305"/>
                  <a:pt x="629287" y="811466"/>
                  <a:pt x="406007" y="812024"/>
                </a:cubicBezTo>
                <a:cubicBezTo>
                  <a:pt x="182728" y="812582"/>
                  <a:pt x="1116" y="632327"/>
                  <a:pt x="0" y="409050"/>
                </a:cubicBezTo>
                <a:close/>
                <a:moveTo>
                  <a:pt x="607500" y="405000"/>
                </a:moveTo>
                <a:cubicBezTo>
                  <a:pt x="606386" y="293563"/>
                  <a:pt x="515439" y="203970"/>
                  <a:pt x="403998" y="204528"/>
                </a:cubicBezTo>
                <a:cubicBezTo>
                  <a:pt x="292557" y="205085"/>
                  <a:pt x="202510" y="295583"/>
                  <a:pt x="202510" y="407025"/>
                </a:cubicBezTo>
                <a:cubicBezTo>
                  <a:pt x="202510" y="518467"/>
                  <a:pt x="292557" y="608965"/>
                  <a:pt x="403998" y="609522"/>
                </a:cubicBezTo>
                <a:cubicBezTo>
                  <a:pt x="515439" y="610080"/>
                  <a:pt x="606386" y="520487"/>
                  <a:pt x="607500" y="409050"/>
                </a:cubicBezTo>
                <a:close/>
              </a:path>
            </a:pathLst>
          </a:custGeom>
          <a:solidFill>
            <a:srgbClr val="4472C4"/>
          </a:solidFill>
          <a:ln/>
          <a:effectLst>
            <a:outerShdw sx="100000" sy="100000" kx="0" ky="0" algn="bl" rotWithShape="0" blurRad="200025" dist="50800" dir="2700000">
              <a:srgbClr val="000000">
                <a:alpha val="4902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096857" y="329588"/>
            <a:ext cx="810000" cy="81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9" name="Shape 7"/>
          <p:cNvSpPr/>
          <p:nvPr/>
        </p:nvSpPr>
        <p:spPr>
          <a:xfrm>
            <a:off x="375611" y="2918542"/>
            <a:ext cx="3980766" cy="1731243"/>
          </a:xfrm>
          <a:custGeom>
            <a:avLst/>
            <a:gdLst/>
            <a:ahLst/>
            <a:cxnLst/>
            <a:rect l="l" t="t" r="r" b="b"/>
            <a:pathLst>
              <a:path w="3980766" h="1731243">
                <a:moveTo>
                  <a:pt x="216405" y="0"/>
                </a:moveTo>
                <a:lnTo>
                  <a:pt x="3764361" y="0"/>
                </a:lnTo>
                <a:quadBezTo>
                  <a:pt x="3980766" y="0"/>
                  <a:pt x="3980766" y="216405"/>
                </a:quadBezTo>
                <a:lnTo>
                  <a:pt x="3980766" y="1514838"/>
                </a:lnTo>
                <a:quadBezTo>
                  <a:pt x="3980766" y="1731243"/>
                  <a:pt x="3764361" y="1731243"/>
                </a:quadBezTo>
                <a:lnTo>
                  <a:pt x="216405" y="1731243"/>
                </a:lnTo>
                <a:quadBezTo>
                  <a:pt x="0" y="1731243"/>
                  <a:pt x="0" y="1514838"/>
                </a:quadBezTo>
                <a:lnTo>
                  <a:pt x="0" y="216405"/>
                </a:lnTo>
                <a:quadBezTo>
                  <a:pt x="0" y="0"/>
                  <a:pt x="216405" y="0"/>
                </a:quadBezTo>
                <a:close/>
              </a:path>
            </a:pathLst>
          </a:custGeom>
          <a:solidFill>
            <a:srgbClr val="08838A"/>
          </a:solidFill>
          <a:ln/>
        </p:spPr>
      </p:sp>
      <p:sp>
        <p:nvSpPr>
          <p:cNvPr id="10" name="Text 8"/>
          <p:cNvSpPr/>
          <p:nvPr/>
        </p:nvSpPr>
        <p:spPr>
          <a:xfrm>
            <a:off x="375611" y="2918542"/>
            <a:ext cx="3980766" cy="1731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1" name="Shape 9"/>
          <p:cNvSpPr/>
          <p:nvPr/>
        </p:nvSpPr>
        <p:spPr>
          <a:xfrm>
            <a:off x="6476857" y="413845"/>
            <a:ext cx="2430000" cy="2430000"/>
          </a:xfrm>
          <a:custGeom>
            <a:avLst/>
            <a:gdLst/>
            <a:ahLst/>
            <a:cxnLst/>
            <a:rect l="l" t="t" r="r" b="b"/>
            <a:pathLst>
              <a:path w="2430000" h="2430000">
                <a:moveTo>
                  <a:pt x="1215000" y="0"/>
                </a:moveTo>
                <a:cubicBezTo>
                  <a:pt x="1885577" y="0"/>
                  <a:pt x="2430000" y="544423"/>
                  <a:pt x="2430000" y="1215000"/>
                </a:cubicBezTo>
                <a:cubicBezTo>
                  <a:pt x="2430000" y="1885577"/>
                  <a:pt x="1885577" y="2430000"/>
                  <a:pt x="1215000" y="2430000"/>
                </a:cubicBezTo>
                <a:cubicBezTo>
                  <a:pt x="544423" y="2430000"/>
                  <a:pt x="0" y="1885577"/>
                  <a:pt x="0" y="1215000"/>
                </a:cubicBezTo>
                <a:cubicBezTo>
                  <a:pt x="0" y="544423"/>
                  <a:pt x="544423" y="0"/>
                  <a:pt x="1215000" y="0"/>
                </a:cubicBezTo>
                <a:close/>
              </a:path>
            </a:pathLst>
          </a:custGeom>
          <a:solidFill>
            <a:srgbClr val="0FA3B1"/>
          </a:solidFill>
          <a:ln/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76857" y="413845"/>
            <a:ext cx="2430000" cy="24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3" name="Shape 11"/>
          <p:cNvSpPr/>
          <p:nvPr/>
        </p:nvSpPr>
        <p:spPr>
          <a:xfrm>
            <a:off x="6570319" y="507306"/>
            <a:ext cx="2243077" cy="2243077"/>
          </a:xfrm>
          <a:custGeom>
            <a:avLst/>
            <a:gdLst/>
            <a:ahLst/>
            <a:cxnLst/>
            <a:rect l="l" t="t" r="r" b="b"/>
            <a:pathLst>
              <a:path w="2243077" h="2243077">
                <a:moveTo>
                  <a:pt x="1121538" y="0"/>
                </a:moveTo>
                <a:cubicBezTo>
                  <a:pt x="1740532" y="0"/>
                  <a:pt x="2243077" y="502544"/>
                  <a:pt x="2243077" y="1121538"/>
                </a:cubicBezTo>
                <a:cubicBezTo>
                  <a:pt x="2243077" y="1740532"/>
                  <a:pt x="1740532" y="2243077"/>
                  <a:pt x="1121538" y="2243077"/>
                </a:cubicBezTo>
                <a:cubicBezTo>
                  <a:pt x="502544" y="2243077"/>
                  <a:pt x="0" y="1740532"/>
                  <a:pt x="0" y="1121538"/>
                </a:cubicBezTo>
                <a:cubicBezTo>
                  <a:pt x="0" y="502544"/>
                  <a:pt x="502544" y="0"/>
                  <a:pt x="1121538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76224">
            <a:solidFill>
              <a:srgbClr val="FFFFFF"/>
            </a:solidFill>
            <a:prstDash val="solid"/>
          </a:ln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70319" y="507306"/>
            <a:ext cx="2243077" cy="224307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757242" y="699338"/>
            <a:ext cx="1869231" cy="1869231"/>
          </a:xfrm>
          <a:custGeom>
            <a:avLst/>
            <a:gdLst/>
            <a:ahLst/>
            <a:cxnLst/>
            <a:rect l="l" t="t" r="r" b="b"/>
            <a:pathLst>
              <a:path w="1869231" h="1869231">
                <a:moveTo>
                  <a:pt x="934616" y="0"/>
                </a:moveTo>
                <a:cubicBezTo>
                  <a:pt x="1450444" y="0"/>
                  <a:pt x="1869231" y="418787"/>
                  <a:pt x="1869231" y="934616"/>
                </a:cubicBezTo>
                <a:cubicBezTo>
                  <a:pt x="1869231" y="1450444"/>
                  <a:pt x="1450444" y="1869231"/>
                  <a:pt x="934616" y="1869231"/>
                </a:cubicBezTo>
                <a:cubicBezTo>
                  <a:pt x="418787" y="1869231"/>
                  <a:pt x="0" y="1450444"/>
                  <a:pt x="0" y="934616"/>
                </a:cubicBezTo>
                <a:cubicBezTo>
                  <a:pt x="0" y="418787"/>
                  <a:pt x="418787" y="0"/>
                  <a:pt x="934616" y="0"/>
                </a:cubicBezTo>
                <a:close/>
              </a:path>
            </a:pathLst>
          </a:custGeom>
          <a:solidFill>
            <a:srgbClr val="FFFFFF">
              <a:alpha val="0"/>
            </a:srgbClr>
          </a:solidFill>
          <a:ln w="64294">
            <a:solidFill>
              <a:srgbClr val="FFFFFF"/>
            </a:solidFill>
            <a:prstDash val="solid"/>
          </a:ln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57242" y="699338"/>
            <a:ext cx="1869231" cy="186923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57242" y="699338"/>
            <a:ext cx="1869231" cy="1869231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163267" y="1045443"/>
            <a:ext cx="6422242" cy="1454244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hujumlari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web-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kod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skriptni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kiritishni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o‘z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ichiga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oladi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Keyin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web-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skriptni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bajaradi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tajovuzkorga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seans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tokenlari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cookie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fayllari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kabi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nozik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foydalanuvchi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ma’lumotlarini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o‘g’irlash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boshqa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harakatlarni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oshirish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imkonini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beradi</a:t>
            </a:r>
            <a:endParaRPr lang="en-US" sz="788" dirty="0"/>
          </a:p>
        </p:txBody>
      </p:sp>
      <p:sp>
        <p:nvSpPr>
          <p:cNvPr id="19" name="Shape 16"/>
          <p:cNvSpPr/>
          <p:nvPr/>
        </p:nvSpPr>
        <p:spPr>
          <a:xfrm>
            <a:off x="237142" y="914254"/>
            <a:ext cx="4257704" cy="47636"/>
          </a:xfrm>
          <a:custGeom>
            <a:avLst/>
            <a:gdLst/>
            <a:ahLst/>
            <a:cxnLst/>
            <a:rect l="l" t="t" r="r" b="b"/>
            <a:pathLst>
              <a:path w="4257704" h="47636">
                <a:moveTo>
                  <a:pt x="5955" y="0"/>
                </a:moveTo>
                <a:lnTo>
                  <a:pt x="4251750" y="0"/>
                </a:lnTo>
                <a:quadBezTo>
                  <a:pt x="4257704" y="0"/>
                  <a:pt x="4257704" y="5955"/>
                </a:quadBezTo>
                <a:lnTo>
                  <a:pt x="4257704" y="41682"/>
                </a:lnTo>
                <a:quadBezTo>
                  <a:pt x="4257704" y="47636"/>
                  <a:pt x="4251750" y="47636"/>
                </a:quadBezTo>
                <a:lnTo>
                  <a:pt x="5955" y="47636"/>
                </a:lnTo>
                <a:quadBezTo>
                  <a:pt x="0" y="47636"/>
                  <a:pt x="0" y="41682"/>
                </a:quadBezTo>
                <a:lnTo>
                  <a:pt x="0" y="5955"/>
                </a:lnTo>
                <a:quadBezTo>
                  <a:pt x="0" y="0"/>
                  <a:pt x="5955" y="0"/>
                </a:quadBezTo>
                <a:close/>
              </a:path>
            </a:pathLst>
          </a:custGeom>
          <a:solidFill>
            <a:srgbClr val="767171"/>
          </a:solidFill>
          <a:ln/>
        </p:spPr>
      </p:sp>
      <p:sp>
        <p:nvSpPr>
          <p:cNvPr id="20" name="Text 17"/>
          <p:cNvSpPr/>
          <p:nvPr/>
        </p:nvSpPr>
        <p:spPr>
          <a:xfrm>
            <a:off x="237142" y="914254"/>
            <a:ext cx="4257704" cy="47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1" name="Shape 18"/>
          <p:cNvSpPr/>
          <p:nvPr/>
        </p:nvSpPr>
        <p:spPr>
          <a:xfrm>
            <a:off x="4787624" y="2918542"/>
            <a:ext cx="3980766" cy="1731243"/>
          </a:xfrm>
          <a:custGeom>
            <a:avLst/>
            <a:gdLst/>
            <a:ahLst/>
            <a:cxnLst/>
            <a:rect l="l" t="t" r="r" b="b"/>
            <a:pathLst>
              <a:path w="3980766" h="1731243">
                <a:moveTo>
                  <a:pt x="216405" y="0"/>
                </a:moveTo>
                <a:lnTo>
                  <a:pt x="3764361" y="0"/>
                </a:lnTo>
                <a:quadBezTo>
                  <a:pt x="3980766" y="0"/>
                  <a:pt x="3980766" y="216405"/>
                </a:quadBezTo>
                <a:lnTo>
                  <a:pt x="3980766" y="1514838"/>
                </a:lnTo>
                <a:quadBezTo>
                  <a:pt x="3980766" y="1731243"/>
                  <a:pt x="3764361" y="1731243"/>
                </a:quadBezTo>
                <a:lnTo>
                  <a:pt x="216405" y="1731243"/>
                </a:lnTo>
                <a:quadBezTo>
                  <a:pt x="0" y="1731243"/>
                  <a:pt x="0" y="1514838"/>
                </a:quadBezTo>
                <a:lnTo>
                  <a:pt x="0" y="216405"/>
                </a:lnTo>
                <a:quadBezTo>
                  <a:pt x="0" y="0"/>
                  <a:pt x="216405" y="0"/>
                </a:quadBezTo>
                <a:close/>
              </a:path>
            </a:pathLst>
          </a:custGeom>
          <a:solidFill>
            <a:srgbClr val="08838A"/>
          </a:solidFill>
          <a:ln/>
        </p:spPr>
      </p:sp>
      <p:sp>
        <p:nvSpPr>
          <p:cNvPr id="22" name="Text 19"/>
          <p:cNvSpPr/>
          <p:nvPr/>
        </p:nvSpPr>
        <p:spPr>
          <a:xfrm>
            <a:off x="4787624" y="2918542"/>
            <a:ext cx="3980766" cy="1731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3" name="Text 20"/>
          <p:cNvSpPr/>
          <p:nvPr/>
        </p:nvSpPr>
        <p:spPr>
          <a:xfrm>
            <a:off x="432761" y="3057041"/>
            <a:ext cx="3980766" cy="1523494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XSS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hujumlarining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ikkita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asosiy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turi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mavjud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: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aks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ettiruvchi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saqlangan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Reflektiv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XSS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hujumlari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darhol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oshiriladigan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web-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kodni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kiritishni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o‘z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ichiga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oladi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Saqlangan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XSS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hujumlari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keyinroq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saqlanadigan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bajariladigan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web-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kodni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kiritishni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o‘z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ichiga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oladi</a:t>
            </a:r>
            <a:endParaRPr lang="en-US" sz="788" dirty="0"/>
          </a:p>
        </p:txBody>
      </p:sp>
      <p:sp>
        <p:nvSpPr>
          <p:cNvPr id="24" name="Text 21"/>
          <p:cNvSpPr/>
          <p:nvPr/>
        </p:nvSpPr>
        <p:spPr>
          <a:xfrm>
            <a:off x="4844774" y="3093168"/>
            <a:ext cx="3980766" cy="1315744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Muvaffaqiyatli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bo‘lsa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saytlararo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skript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foydalanuvchi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seans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identifikatorlari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o‘g’irlanishi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 web-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saytning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buzilishi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saytlarga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yo‘naltirilishiga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olib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kelishi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mumkin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esa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fishing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hujumlarini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oshirishga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imkon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beradi</a:t>
            </a:r>
            <a:endParaRPr lang="en-US" sz="788" dirty="0"/>
          </a:p>
        </p:txBody>
      </p:sp>
      <p:sp>
        <p:nvSpPr>
          <p:cNvPr id="25" name="Shape 22"/>
          <p:cNvSpPr/>
          <p:nvPr/>
        </p:nvSpPr>
        <p:spPr>
          <a:xfrm>
            <a:off x="2365994" y="4845355"/>
            <a:ext cx="4257704" cy="47636"/>
          </a:xfrm>
          <a:custGeom>
            <a:avLst/>
            <a:gdLst/>
            <a:ahLst/>
            <a:cxnLst/>
            <a:rect l="l" t="t" r="r" b="b"/>
            <a:pathLst>
              <a:path w="4257704" h="47636">
                <a:moveTo>
                  <a:pt x="5955" y="0"/>
                </a:moveTo>
                <a:lnTo>
                  <a:pt x="4251750" y="0"/>
                </a:lnTo>
                <a:quadBezTo>
                  <a:pt x="4257704" y="0"/>
                  <a:pt x="4257704" y="5955"/>
                </a:quadBezTo>
                <a:lnTo>
                  <a:pt x="4257704" y="41682"/>
                </a:lnTo>
                <a:quadBezTo>
                  <a:pt x="4257704" y="47636"/>
                  <a:pt x="4251750" y="47636"/>
                </a:quadBezTo>
                <a:lnTo>
                  <a:pt x="5955" y="47636"/>
                </a:lnTo>
                <a:quadBezTo>
                  <a:pt x="0" y="47636"/>
                  <a:pt x="0" y="41682"/>
                </a:quadBezTo>
                <a:lnTo>
                  <a:pt x="0" y="5955"/>
                </a:lnTo>
                <a:quadBezTo>
                  <a:pt x="0" y="0"/>
                  <a:pt x="5955" y="0"/>
                </a:quadBezTo>
                <a:close/>
              </a:path>
            </a:pathLst>
          </a:custGeom>
          <a:solidFill>
            <a:srgbClr val="006465"/>
          </a:solidFill>
          <a:ln/>
        </p:spPr>
      </p:sp>
      <p:sp>
        <p:nvSpPr>
          <p:cNvPr id="26" name="Text 23"/>
          <p:cNvSpPr/>
          <p:nvPr/>
        </p:nvSpPr>
        <p:spPr>
          <a:xfrm>
            <a:off x="2365994" y="4845355"/>
            <a:ext cx="4257704" cy="47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3271" y="496613"/>
            <a:ext cx="4675187" cy="715580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081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Kodni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081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081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masofadan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081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081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boshqarish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081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081" b="1" dirty="0">
                <a:solidFill>
                  <a:srgbClr val="12747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(RCE)</a:t>
            </a:r>
            <a:endParaRPr lang="en-US" sz="788" dirty="0"/>
          </a:p>
        </p:txBody>
      </p:sp>
      <p:sp>
        <p:nvSpPr>
          <p:cNvPr id="3" name="Shape 1"/>
          <p:cNvSpPr/>
          <p:nvPr/>
        </p:nvSpPr>
        <p:spPr>
          <a:xfrm>
            <a:off x="4630421" y="1190737"/>
            <a:ext cx="4219257" cy="50374"/>
          </a:xfrm>
          <a:custGeom>
            <a:avLst/>
            <a:gdLst/>
            <a:ahLst/>
            <a:cxnLst/>
            <a:rect l="l" t="t" r="r" b="b"/>
            <a:pathLst>
              <a:path w="4219257" h="50374">
                <a:moveTo>
                  <a:pt x="6297" y="0"/>
                </a:moveTo>
                <a:lnTo>
                  <a:pt x="4212960" y="0"/>
                </a:lnTo>
                <a:quadBezTo>
                  <a:pt x="4219257" y="0"/>
                  <a:pt x="4219257" y="6297"/>
                </a:quadBezTo>
                <a:lnTo>
                  <a:pt x="4219257" y="44077"/>
                </a:lnTo>
                <a:quadBezTo>
                  <a:pt x="4219257" y="50374"/>
                  <a:pt x="4212960" y="50374"/>
                </a:quadBezTo>
                <a:lnTo>
                  <a:pt x="6297" y="50374"/>
                </a:lnTo>
                <a:quadBezTo>
                  <a:pt x="0" y="50374"/>
                  <a:pt x="0" y="44077"/>
                </a:quadBezTo>
                <a:lnTo>
                  <a:pt x="0" y="6297"/>
                </a:lnTo>
                <a:quadBezTo>
                  <a:pt x="0" y="0"/>
                  <a:pt x="6297" y="0"/>
                </a:quadBezTo>
                <a:close/>
              </a:path>
            </a:pathLst>
          </a:custGeom>
          <a:solidFill>
            <a:srgbClr val="767171"/>
          </a:solidFill>
          <a:ln/>
        </p:spPr>
      </p:sp>
      <p:sp>
        <p:nvSpPr>
          <p:cNvPr id="4" name="Text 2"/>
          <p:cNvSpPr/>
          <p:nvPr/>
        </p:nvSpPr>
        <p:spPr>
          <a:xfrm>
            <a:off x="4630421" y="1190737"/>
            <a:ext cx="4219257" cy="50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5" name="Text 3"/>
          <p:cNvSpPr/>
          <p:nvPr/>
        </p:nvSpPr>
        <p:spPr>
          <a:xfrm>
            <a:off x="4515005" y="1305156"/>
            <a:ext cx="4555489" cy="900247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tajovuzkorlarga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serverda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o‘zboshimchalik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bilan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kodni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bajarishga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imkon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beradi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esa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tizimning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to‘liq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buzilishiga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maxfiy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ruxsatsiz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kirishga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olib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kelishi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mumkin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767171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endParaRPr lang="en-US" sz="788" dirty="0"/>
          </a:p>
        </p:txBody>
      </p:sp>
      <p:sp>
        <p:nvSpPr>
          <p:cNvPr id="6" name="Shape 4"/>
          <p:cNvSpPr/>
          <p:nvPr/>
        </p:nvSpPr>
        <p:spPr>
          <a:xfrm>
            <a:off x="4380724" y="2280735"/>
            <a:ext cx="5150353" cy="1298865"/>
          </a:xfrm>
          <a:custGeom>
            <a:avLst/>
            <a:gdLst/>
            <a:ahLst/>
            <a:cxnLst/>
            <a:rect l="l" t="t" r="r" b="b"/>
            <a:pathLst>
              <a:path w="5150353" h="1298865">
                <a:moveTo>
                  <a:pt x="1030071" y="0"/>
                </a:moveTo>
                <a:lnTo>
                  <a:pt x="4120282" y="0"/>
                </a:lnTo>
                <a:lnTo>
                  <a:pt x="5150353" y="649432"/>
                </a:lnTo>
                <a:lnTo>
                  <a:pt x="4120282" y="1298865"/>
                </a:lnTo>
                <a:lnTo>
                  <a:pt x="1030071" y="1298865"/>
                </a:lnTo>
                <a:lnTo>
                  <a:pt x="0" y="649432"/>
                </a:lnTo>
                <a:close/>
              </a:path>
            </a:pathLst>
          </a:custGeom>
          <a:solidFill>
            <a:srgbClr val="127475"/>
          </a:solidFill>
          <a:ln/>
        </p:spPr>
      </p:sp>
      <p:sp>
        <p:nvSpPr>
          <p:cNvPr id="7" name="Text 5"/>
          <p:cNvSpPr/>
          <p:nvPr/>
        </p:nvSpPr>
        <p:spPr>
          <a:xfrm>
            <a:off x="4380724" y="2280735"/>
            <a:ext cx="5150353" cy="12988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8" name="Text 6"/>
          <p:cNvSpPr/>
          <p:nvPr/>
        </p:nvSpPr>
        <p:spPr>
          <a:xfrm>
            <a:off x="4692968" y="2431970"/>
            <a:ext cx="4555489" cy="900247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RCE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hujumlari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kod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kutubxonalaridagi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zaifliklardan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foydalanish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foydalanuvchi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kiritish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maydonlari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orqali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kodni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kiritish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kabi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turli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xil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vositalar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orqali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oshirilishi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mumkin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endParaRPr lang="en-US" sz="788" dirty="0"/>
          </a:p>
        </p:txBody>
      </p:sp>
      <p:sp>
        <p:nvSpPr>
          <p:cNvPr id="9" name="Shape 7"/>
          <p:cNvSpPr/>
          <p:nvPr/>
        </p:nvSpPr>
        <p:spPr>
          <a:xfrm>
            <a:off x="4412897" y="3699665"/>
            <a:ext cx="5150353" cy="1298865"/>
          </a:xfrm>
          <a:custGeom>
            <a:avLst/>
            <a:gdLst/>
            <a:ahLst/>
            <a:cxnLst/>
            <a:rect l="l" t="t" r="r" b="b"/>
            <a:pathLst>
              <a:path w="5150353" h="1298865">
                <a:moveTo>
                  <a:pt x="1030071" y="0"/>
                </a:moveTo>
                <a:lnTo>
                  <a:pt x="4120282" y="0"/>
                </a:lnTo>
                <a:lnTo>
                  <a:pt x="5150353" y="649432"/>
                </a:lnTo>
                <a:lnTo>
                  <a:pt x="4120282" y="1298865"/>
                </a:lnTo>
                <a:lnTo>
                  <a:pt x="1030071" y="1298865"/>
                </a:lnTo>
                <a:lnTo>
                  <a:pt x="0" y="649432"/>
                </a:lnTo>
                <a:close/>
              </a:path>
            </a:pathLst>
          </a:custGeom>
          <a:solidFill>
            <a:srgbClr val="02A4AB"/>
          </a:solidFill>
          <a:ln/>
        </p:spPr>
      </p:sp>
      <p:sp>
        <p:nvSpPr>
          <p:cNvPr id="10" name="Text 8"/>
          <p:cNvSpPr/>
          <p:nvPr/>
        </p:nvSpPr>
        <p:spPr>
          <a:xfrm>
            <a:off x="4412897" y="3699665"/>
            <a:ext cx="5150353" cy="129886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1" name="Text 9"/>
          <p:cNvSpPr/>
          <p:nvPr/>
        </p:nvSpPr>
        <p:spPr>
          <a:xfrm>
            <a:off x="4710329" y="3775169"/>
            <a:ext cx="4838109" cy="1107996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RCE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nechta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oqibatlarga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olib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kelishi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mumkin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Bularga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xizmat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ko‘rsatishni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rad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etish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(DoS)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hujumlari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maxfiy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oshkor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qilish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noqonuniy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kriptovalyuta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qazib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dasturlarni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oshirish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kiradi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endParaRPr lang="en-US" sz="788" dirty="0"/>
          </a:p>
        </p:txBody>
      </p:sp>
      <p:sp>
        <p:nvSpPr>
          <p:cNvPr id="12" name="Text 10"/>
          <p:cNvSpPr/>
          <p:nvPr/>
        </p:nvSpPr>
        <p:spPr>
          <a:xfrm rot="2700000">
            <a:off x="-595110" y="724489"/>
            <a:ext cx="4484730" cy="16008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3" name="Text 11"/>
          <p:cNvSpPr/>
          <p:nvPr/>
        </p:nvSpPr>
        <p:spPr>
          <a:xfrm rot="2700000">
            <a:off x="-595168" y="2187490"/>
            <a:ext cx="2264305" cy="7238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4" name="Text 12"/>
          <p:cNvSpPr/>
          <p:nvPr/>
        </p:nvSpPr>
        <p:spPr>
          <a:xfrm rot="2700000">
            <a:off x="-922207" y="3927703"/>
            <a:ext cx="2818271" cy="14104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558799" y="1630665"/>
            <a:ext cx="3240000" cy="3240000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620000" y="0"/>
                </a:moveTo>
                <a:cubicBezTo>
                  <a:pt x="2514102" y="0"/>
                  <a:pt x="3240000" y="725898"/>
                  <a:pt x="3240000" y="1620000"/>
                </a:cubicBezTo>
                <a:cubicBezTo>
                  <a:pt x="3240000" y="2514102"/>
                  <a:pt x="2514102" y="3240000"/>
                  <a:pt x="1620000" y="3240000"/>
                </a:cubicBezTo>
                <a:cubicBezTo>
                  <a:pt x="725898" y="3240000"/>
                  <a:pt x="0" y="2514102"/>
                  <a:pt x="0" y="1620000"/>
                </a:cubicBezTo>
                <a:cubicBezTo>
                  <a:pt x="0" y="725898"/>
                  <a:pt x="725898" y="0"/>
                  <a:pt x="1620000" y="0"/>
                </a:cubicBezTo>
                <a:close/>
              </a:path>
            </a:pathLst>
          </a:custGeom>
          <a:solidFill>
            <a:srgbClr val="0FA3B1"/>
          </a:solidFill>
          <a:ln/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58799" y="1630665"/>
            <a:ext cx="3240000" cy="32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7" name="Shape 15"/>
          <p:cNvSpPr/>
          <p:nvPr/>
        </p:nvSpPr>
        <p:spPr>
          <a:xfrm>
            <a:off x="683414" y="1755280"/>
            <a:ext cx="2990769" cy="2990769"/>
          </a:xfrm>
          <a:custGeom>
            <a:avLst/>
            <a:gdLst/>
            <a:ahLst/>
            <a:cxnLst/>
            <a:rect l="l" t="t" r="r" b="b"/>
            <a:pathLst>
              <a:path w="2990769" h="2990769">
                <a:moveTo>
                  <a:pt x="1495384" y="0"/>
                </a:moveTo>
                <a:cubicBezTo>
                  <a:pt x="2320710" y="0"/>
                  <a:pt x="2990769" y="670059"/>
                  <a:pt x="2990769" y="1495384"/>
                </a:cubicBezTo>
                <a:cubicBezTo>
                  <a:pt x="2990769" y="2320710"/>
                  <a:pt x="2320710" y="2990769"/>
                  <a:pt x="1495384" y="2990769"/>
                </a:cubicBezTo>
                <a:cubicBezTo>
                  <a:pt x="670059" y="2990769"/>
                  <a:pt x="0" y="2320710"/>
                  <a:pt x="0" y="1495385"/>
                </a:cubicBezTo>
                <a:cubicBezTo>
                  <a:pt x="0" y="670059"/>
                  <a:pt x="670059" y="0"/>
                  <a:pt x="1495384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76224">
            <a:solidFill>
              <a:srgbClr val="FFFFFF"/>
            </a:solidFill>
            <a:prstDash val="solid"/>
          </a:ln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3414" y="1755280"/>
            <a:ext cx="2990769" cy="29907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9" name="Shape 17"/>
          <p:cNvSpPr/>
          <p:nvPr/>
        </p:nvSpPr>
        <p:spPr>
          <a:xfrm>
            <a:off x="932644" y="2011323"/>
            <a:ext cx="2492308" cy="2492308"/>
          </a:xfrm>
          <a:custGeom>
            <a:avLst/>
            <a:gdLst/>
            <a:ahLst/>
            <a:cxnLst/>
            <a:rect l="l" t="t" r="r" b="b"/>
            <a:pathLst>
              <a:path w="2492308" h="2492308">
                <a:moveTo>
                  <a:pt x="1246154" y="0"/>
                </a:moveTo>
                <a:cubicBezTo>
                  <a:pt x="1933925" y="0"/>
                  <a:pt x="2492308" y="558383"/>
                  <a:pt x="2492308" y="1246154"/>
                </a:cubicBezTo>
                <a:cubicBezTo>
                  <a:pt x="2492308" y="1933925"/>
                  <a:pt x="1933925" y="2492308"/>
                  <a:pt x="1246154" y="2492308"/>
                </a:cubicBezTo>
                <a:cubicBezTo>
                  <a:pt x="558383" y="2492308"/>
                  <a:pt x="0" y="1933925"/>
                  <a:pt x="0" y="1246154"/>
                </a:cubicBezTo>
                <a:cubicBezTo>
                  <a:pt x="0" y="558383"/>
                  <a:pt x="558383" y="0"/>
                  <a:pt x="1246154" y="0"/>
                </a:cubicBezTo>
                <a:close/>
              </a:path>
            </a:pathLst>
          </a:custGeom>
          <a:solidFill>
            <a:srgbClr val="FFFFFF">
              <a:alpha val="0"/>
            </a:srgbClr>
          </a:solidFill>
          <a:ln w="64294">
            <a:solidFill>
              <a:srgbClr val="FFFFFF"/>
            </a:solidFill>
            <a:prstDash val="solid"/>
          </a:ln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32644" y="2011323"/>
            <a:ext cx="2492308" cy="24923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44" y="2011323"/>
            <a:ext cx="2492308" cy="2492308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2428516" y="406900"/>
            <a:ext cx="1620000" cy="1620000"/>
          </a:xfrm>
          <a:custGeom>
            <a:avLst/>
            <a:gdLst/>
            <a:ahLst/>
            <a:cxnLst/>
            <a:rect l="l" t="t" r="r" b="b"/>
            <a:pathLst>
              <a:path w="1620000" h="1620000">
                <a:moveTo>
                  <a:pt x="810000" y="0"/>
                </a:moveTo>
                <a:cubicBezTo>
                  <a:pt x="1257051" y="0"/>
                  <a:pt x="1620000" y="362949"/>
                  <a:pt x="1620000" y="810000"/>
                </a:cubicBezTo>
                <a:cubicBezTo>
                  <a:pt x="1620000" y="1257051"/>
                  <a:pt x="1257051" y="1620000"/>
                  <a:pt x="810000" y="1620000"/>
                </a:cubicBezTo>
                <a:cubicBezTo>
                  <a:pt x="362949" y="1620000"/>
                  <a:pt x="0" y="1257051"/>
                  <a:pt x="0" y="810000"/>
                </a:cubicBezTo>
                <a:cubicBezTo>
                  <a:pt x="0" y="362949"/>
                  <a:pt x="362949" y="0"/>
                  <a:pt x="810000" y="0"/>
                </a:cubicBezTo>
                <a:close/>
              </a:path>
            </a:pathLst>
          </a:custGeom>
          <a:solidFill>
            <a:srgbClr val="0FA3B1"/>
          </a:solidFill>
          <a:ln/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2428516" y="406900"/>
            <a:ext cx="1620000" cy="16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4" name="Shape 21"/>
          <p:cNvSpPr/>
          <p:nvPr/>
        </p:nvSpPr>
        <p:spPr>
          <a:xfrm>
            <a:off x="2490824" y="469208"/>
            <a:ext cx="1495384" cy="1495384"/>
          </a:xfrm>
          <a:custGeom>
            <a:avLst/>
            <a:gdLst/>
            <a:ahLst/>
            <a:cxnLst/>
            <a:rect l="l" t="t" r="r" b="b"/>
            <a:pathLst>
              <a:path w="1495384" h="1495384">
                <a:moveTo>
                  <a:pt x="747692" y="0"/>
                </a:moveTo>
                <a:cubicBezTo>
                  <a:pt x="1160355" y="0"/>
                  <a:pt x="1495384" y="335030"/>
                  <a:pt x="1495384" y="747692"/>
                </a:cubicBezTo>
                <a:cubicBezTo>
                  <a:pt x="1495384" y="1160355"/>
                  <a:pt x="1160355" y="1495384"/>
                  <a:pt x="747692" y="1495384"/>
                </a:cubicBezTo>
                <a:cubicBezTo>
                  <a:pt x="335030" y="1495384"/>
                  <a:pt x="0" y="1160355"/>
                  <a:pt x="0" y="747692"/>
                </a:cubicBezTo>
                <a:cubicBezTo>
                  <a:pt x="0" y="335030"/>
                  <a:pt x="335030" y="0"/>
                  <a:pt x="747692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76224">
            <a:solidFill>
              <a:srgbClr val="FFFFFF"/>
            </a:solidFill>
            <a:prstDash val="solid"/>
          </a:ln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2490824" y="469208"/>
            <a:ext cx="1495384" cy="1495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6" name="Shape 23"/>
          <p:cNvSpPr/>
          <p:nvPr/>
        </p:nvSpPr>
        <p:spPr>
          <a:xfrm>
            <a:off x="2615439" y="597229"/>
            <a:ext cx="1246154" cy="1246154"/>
          </a:xfrm>
          <a:custGeom>
            <a:avLst/>
            <a:gdLst/>
            <a:ahLst/>
            <a:cxnLst/>
            <a:rect l="l" t="t" r="r" b="b"/>
            <a:pathLst>
              <a:path w="1246154" h="1246154">
                <a:moveTo>
                  <a:pt x="623077" y="0"/>
                </a:moveTo>
                <a:cubicBezTo>
                  <a:pt x="966963" y="0"/>
                  <a:pt x="1246154" y="279191"/>
                  <a:pt x="1246154" y="623077"/>
                </a:cubicBezTo>
                <a:cubicBezTo>
                  <a:pt x="1246154" y="966963"/>
                  <a:pt x="966963" y="1246154"/>
                  <a:pt x="623077" y="1246154"/>
                </a:cubicBezTo>
                <a:cubicBezTo>
                  <a:pt x="279191" y="1246154"/>
                  <a:pt x="0" y="966963"/>
                  <a:pt x="0" y="623077"/>
                </a:cubicBezTo>
                <a:cubicBezTo>
                  <a:pt x="0" y="279191"/>
                  <a:pt x="279191" y="0"/>
                  <a:pt x="623077" y="0"/>
                </a:cubicBezTo>
                <a:close/>
              </a:path>
            </a:pathLst>
          </a:custGeom>
          <a:solidFill>
            <a:srgbClr val="FFFFFF">
              <a:alpha val="0"/>
            </a:srgbClr>
          </a:solidFill>
          <a:ln w="64294">
            <a:solidFill>
              <a:srgbClr val="FFFFFF"/>
            </a:solidFill>
            <a:prstDash val="solid"/>
          </a:ln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2615439" y="597229"/>
            <a:ext cx="1246154" cy="1246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439" y="597229"/>
            <a:ext cx="1246154" cy="12461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2751176" r="-116266060" t="5093010" b="-188004862"/>
          <a:stretch/>
        </p:blipFill>
        <p:spPr>
          <a:xfrm>
            <a:off x="828752" y="772610"/>
            <a:ext cx="87267593" cy="8503645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486728" y="129152"/>
            <a:ext cx="3799771" cy="623248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Kodni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masofadan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boshqarish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02A4A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(RCE)</a:t>
            </a:r>
            <a:endParaRPr lang="en-US" sz="788" dirty="0"/>
          </a:p>
        </p:txBody>
      </p:sp>
      <p:sp>
        <p:nvSpPr>
          <p:cNvPr id="4" name="Text 1"/>
          <p:cNvSpPr/>
          <p:nvPr/>
        </p:nvSpPr>
        <p:spPr>
          <a:xfrm rot="19260000">
            <a:off x="8005202" y="-304167"/>
            <a:ext cx="1397870" cy="1738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5" name="Text 2"/>
          <p:cNvSpPr/>
          <p:nvPr/>
        </p:nvSpPr>
        <p:spPr>
          <a:xfrm rot="13500000">
            <a:off x="-142716" y="-427263"/>
            <a:ext cx="1443979" cy="17360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2286" y="474360"/>
            <a:ext cx="4276408" cy="807913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Saytlararo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so‘rovlarni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12747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qalbakilashtirish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12747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(CSRF)</a:t>
            </a:r>
            <a:endParaRPr lang="en-US" sz="788" dirty="0"/>
          </a:p>
        </p:txBody>
      </p:sp>
      <p:sp>
        <p:nvSpPr>
          <p:cNvPr id="3" name="Shape 1"/>
          <p:cNvSpPr/>
          <p:nvPr/>
        </p:nvSpPr>
        <p:spPr>
          <a:xfrm>
            <a:off x="269435" y="1266191"/>
            <a:ext cx="3978238" cy="50374"/>
          </a:xfrm>
          <a:custGeom>
            <a:avLst/>
            <a:gdLst/>
            <a:ahLst/>
            <a:cxnLst/>
            <a:rect l="l" t="t" r="r" b="b"/>
            <a:pathLst>
              <a:path w="3978238" h="50374">
                <a:moveTo>
                  <a:pt x="6297" y="0"/>
                </a:moveTo>
                <a:lnTo>
                  <a:pt x="3971941" y="0"/>
                </a:lnTo>
                <a:quadBezTo>
                  <a:pt x="3978238" y="0"/>
                  <a:pt x="3978238" y="6297"/>
                </a:quadBezTo>
                <a:lnTo>
                  <a:pt x="3978238" y="44077"/>
                </a:lnTo>
                <a:quadBezTo>
                  <a:pt x="3978238" y="50374"/>
                  <a:pt x="3971941" y="50374"/>
                </a:quadBezTo>
                <a:lnTo>
                  <a:pt x="6297" y="50374"/>
                </a:lnTo>
                <a:quadBezTo>
                  <a:pt x="0" y="50374"/>
                  <a:pt x="0" y="44077"/>
                </a:quadBezTo>
                <a:lnTo>
                  <a:pt x="0" y="6297"/>
                </a:lnTo>
                <a:quadBezTo>
                  <a:pt x="0" y="0"/>
                  <a:pt x="6297" y="0"/>
                </a:quadBezTo>
                <a:close/>
              </a:path>
            </a:pathLst>
          </a:custGeom>
          <a:solidFill>
            <a:srgbClr val="767171"/>
          </a:solidFill>
          <a:ln/>
        </p:spPr>
      </p:sp>
      <p:sp>
        <p:nvSpPr>
          <p:cNvPr id="4" name="Text 2"/>
          <p:cNvSpPr/>
          <p:nvPr/>
        </p:nvSpPr>
        <p:spPr>
          <a:xfrm>
            <a:off x="269435" y="1266191"/>
            <a:ext cx="3978238" cy="50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5" name="Text 3"/>
          <p:cNvSpPr/>
          <p:nvPr/>
        </p:nvSpPr>
        <p:spPr>
          <a:xfrm>
            <a:off x="212286" y="1434003"/>
            <a:ext cx="5135218" cy="1731243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jabrlanuvchini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ularning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bilmagan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holda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web-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saytda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harakat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qilish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uchun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aldashni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o‘z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ichiga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olgan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turi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jabrlanuvchi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allaqachon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autentifikatsiya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qilingan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web-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zararli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havola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shakl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kiritish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orqali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oshirish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mumkin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endParaRPr lang="en-US" sz="788" dirty="0"/>
          </a:p>
        </p:txBody>
      </p:sp>
      <p:sp>
        <p:nvSpPr>
          <p:cNvPr id="6" name="Text 4"/>
          <p:cNvSpPr/>
          <p:nvPr/>
        </p:nvSpPr>
        <p:spPr>
          <a:xfrm>
            <a:off x="-563" y="3489115"/>
            <a:ext cx="5087638" cy="12805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7" name="Text 5"/>
          <p:cNvSpPr/>
          <p:nvPr/>
        </p:nvSpPr>
        <p:spPr>
          <a:xfrm>
            <a:off x="269436" y="3540764"/>
            <a:ext cx="4920060" cy="1177245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Jabrlanuvchi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havolani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bosganda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shaklni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topshirganda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harakat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ularning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nomidan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oshiriladi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ma’lumotlarning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yo‘qolishiga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ruxsatsiz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kirishga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kelishi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mumkin</a:t>
            </a:r>
            <a:endParaRPr lang="en-US" sz="788" dirty="0"/>
          </a:p>
        </p:txBody>
      </p:sp>
      <p:sp>
        <p:nvSpPr>
          <p:cNvPr id="8" name="Text 6"/>
          <p:cNvSpPr/>
          <p:nvPr/>
        </p:nvSpPr>
        <p:spPr>
          <a:xfrm rot="18180000">
            <a:off x="7325719" y="443773"/>
            <a:ext cx="2641386" cy="15755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9" name="Text 7"/>
          <p:cNvSpPr/>
          <p:nvPr/>
        </p:nvSpPr>
        <p:spPr>
          <a:xfrm rot="7260000">
            <a:off x="7466827" y="3977103"/>
            <a:ext cx="1859083" cy="15755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0" name="Text 8"/>
          <p:cNvSpPr/>
          <p:nvPr/>
        </p:nvSpPr>
        <p:spPr>
          <a:xfrm rot="18180000">
            <a:off x="6693829" y="-75847"/>
            <a:ext cx="1407905" cy="85432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1" name="Text 9"/>
          <p:cNvSpPr/>
          <p:nvPr/>
        </p:nvSpPr>
        <p:spPr>
          <a:xfrm rot="18180000">
            <a:off x="4531029" y="3270712"/>
            <a:ext cx="3848244" cy="12199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2" name="Shape 10"/>
          <p:cNvSpPr/>
          <p:nvPr/>
        </p:nvSpPr>
        <p:spPr>
          <a:xfrm>
            <a:off x="5399350" y="895916"/>
            <a:ext cx="3510000" cy="3510000"/>
          </a:xfrm>
          <a:custGeom>
            <a:avLst/>
            <a:gdLst/>
            <a:ahLst/>
            <a:cxnLst/>
            <a:rect l="l" t="t" r="r" b="b"/>
            <a:pathLst>
              <a:path w="3510000" h="3510000">
                <a:moveTo>
                  <a:pt x="1755000" y="0"/>
                </a:moveTo>
                <a:cubicBezTo>
                  <a:pt x="2723611" y="0"/>
                  <a:pt x="3510000" y="786389"/>
                  <a:pt x="3510000" y="1755000"/>
                </a:cubicBezTo>
                <a:cubicBezTo>
                  <a:pt x="3510000" y="2723611"/>
                  <a:pt x="2723611" y="3510000"/>
                  <a:pt x="1755000" y="3510000"/>
                </a:cubicBezTo>
                <a:cubicBezTo>
                  <a:pt x="786389" y="3510000"/>
                  <a:pt x="0" y="2723611"/>
                  <a:pt x="0" y="1755000"/>
                </a:cubicBezTo>
                <a:cubicBezTo>
                  <a:pt x="0" y="786389"/>
                  <a:pt x="786389" y="0"/>
                  <a:pt x="1755000" y="0"/>
                </a:cubicBezTo>
                <a:close/>
              </a:path>
            </a:pathLst>
          </a:custGeom>
          <a:solidFill>
            <a:srgbClr val="0FA3B1"/>
          </a:solidFill>
          <a:ln/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399350" y="895916"/>
            <a:ext cx="3510000" cy="351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5534350" y="1030916"/>
            <a:ext cx="3240000" cy="3240000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620000" y="0"/>
                </a:moveTo>
                <a:cubicBezTo>
                  <a:pt x="2514102" y="0"/>
                  <a:pt x="3240000" y="725898"/>
                  <a:pt x="3240000" y="1620000"/>
                </a:cubicBezTo>
                <a:cubicBezTo>
                  <a:pt x="3240000" y="2514102"/>
                  <a:pt x="2514102" y="3240000"/>
                  <a:pt x="1620000" y="3240000"/>
                </a:cubicBezTo>
                <a:cubicBezTo>
                  <a:pt x="725898" y="3240000"/>
                  <a:pt x="0" y="2514102"/>
                  <a:pt x="0" y="1620000"/>
                </a:cubicBezTo>
                <a:cubicBezTo>
                  <a:pt x="0" y="725898"/>
                  <a:pt x="725898" y="0"/>
                  <a:pt x="16200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76224">
            <a:solidFill>
              <a:srgbClr val="FFFFFF"/>
            </a:solidFill>
            <a:prstDash val="solid"/>
          </a:ln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534350" y="1030916"/>
            <a:ext cx="3240000" cy="32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6" name="Shape 14"/>
          <p:cNvSpPr/>
          <p:nvPr/>
        </p:nvSpPr>
        <p:spPr>
          <a:xfrm>
            <a:off x="5804351" y="1308296"/>
            <a:ext cx="2700000" cy="2700000"/>
          </a:xfrm>
          <a:custGeom>
            <a:avLst/>
            <a:gdLst/>
            <a:ahLst/>
            <a:cxnLst/>
            <a:rect l="l" t="t" r="r" b="b"/>
            <a:pathLst>
              <a:path w="2700000" h="2700000">
                <a:moveTo>
                  <a:pt x="1350000" y="0"/>
                </a:moveTo>
                <a:cubicBezTo>
                  <a:pt x="2095085" y="0"/>
                  <a:pt x="2700000" y="604915"/>
                  <a:pt x="2700000" y="1350000"/>
                </a:cubicBezTo>
                <a:cubicBezTo>
                  <a:pt x="2700000" y="2095085"/>
                  <a:pt x="2095085" y="2700000"/>
                  <a:pt x="1350000" y="2700000"/>
                </a:cubicBezTo>
                <a:cubicBezTo>
                  <a:pt x="604915" y="2700000"/>
                  <a:pt x="0" y="2095085"/>
                  <a:pt x="0" y="1350000"/>
                </a:cubicBezTo>
                <a:cubicBezTo>
                  <a:pt x="0" y="604915"/>
                  <a:pt x="604915" y="0"/>
                  <a:pt x="1350000" y="0"/>
                </a:cubicBezTo>
                <a:close/>
              </a:path>
            </a:pathLst>
          </a:custGeom>
          <a:solidFill>
            <a:srgbClr val="FFFFFF">
              <a:alpha val="0"/>
            </a:srgbClr>
          </a:solidFill>
          <a:ln w="64294">
            <a:solidFill>
              <a:srgbClr val="FFFFFF"/>
            </a:solidFill>
            <a:prstDash val="solid"/>
          </a:ln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04351" y="1308296"/>
            <a:ext cx="2700000" cy="27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4351" y="1308296"/>
            <a:ext cx="2700000" cy="27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42150" y="306083"/>
            <a:ext cx="4276408" cy="807913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Saytlararo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so‘rovlarni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2A4A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qalbakilashtirish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2A4A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(CSRF)</a:t>
            </a:r>
            <a:endParaRPr lang="en-US" sz="788" dirty="0"/>
          </a:p>
        </p:txBody>
      </p:sp>
      <p:sp>
        <p:nvSpPr>
          <p:cNvPr id="3" name="Shape 1"/>
          <p:cNvSpPr/>
          <p:nvPr/>
        </p:nvSpPr>
        <p:spPr>
          <a:xfrm>
            <a:off x="201524" y="1128385"/>
            <a:ext cx="3992902" cy="50374"/>
          </a:xfrm>
          <a:custGeom>
            <a:avLst/>
            <a:gdLst/>
            <a:ahLst/>
            <a:cxnLst/>
            <a:rect l="l" t="t" r="r" b="b"/>
            <a:pathLst>
              <a:path w="3992902" h="50374">
                <a:moveTo>
                  <a:pt x="6297" y="0"/>
                </a:moveTo>
                <a:lnTo>
                  <a:pt x="3986606" y="0"/>
                </a:lnTo>
                <a:quadBezTo>
                  <a:pt x="3992902" y="0"/>
                  <a:pt x="3992902" y="6297"/>
                </a:quadBezTo>
                <a:lnTo>
                  <a:pt x="3992902" y="44077"/>
                </a:lnTo>
                <a:quadBezTo>
                  <a:pt x="3992902" y="50374"/>
                  <a:pt x="3986606" y="50374"/>
                </a:quadBezTo>
                <a:lnTo>
                  <a:pt x="6297" y="50374"/>
                </a:lnTo>
                <a:quadBezTo>
                  <a:pt x="0" y="50374"/>
                  <a:pt x="0" y="44077"/>
                </a:quadBezTo>
                <a:lnTo>
                  <a:pt x="0" y="6297"/>
                </a:lnTo>
                <a:quadBezTo>
                  <a:pt x="0" y="0"/>
                  <a:pt x="6297" y="0"/>
                </a:quadBezTo>
                <a:close/>
              </a:path>
            </a:pathLst>
          </a:custGeom>
          <a:solidFill>
            <a:srgbClr val="333F4F"/>
          </a:solidFill>
          <a:ln/>
        </p:spPr>
      </p:sp>
      <p:sp>
        <p:nvSpPr>
          <p:cNvPr id="4" name="Text 2"/>
          <p:cNvSpPr/>
          <p:nvPr/>
        </p:nvSpPr>
        <p:spPr>
          <a:xfrm>
            <a:off x="201524" y="1128385"/>
            <a:ext cx="3992902" cy="503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5" name="Text 3"/>
          <p:cNvSpPr/>
          <p:nvPr/>
        </p:nvSpPr>
        <p:spPr>
          <a:xfrm>
            <a:off x="129133" y="1220101"/>
            <a:ext cx="5135218" cy="1731243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Ilova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URL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manzillari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bazasi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kalitlari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kabi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to‘g’ridan-to‘g’ri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ob’ekt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havolalarini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oshkor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qilganda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yuzaga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keladi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esa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tajovuzkorlarga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ushbu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havolalarni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boshqarish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orqali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cheklangan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imkonini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beradi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3B3838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endParaRPr lang="en-US" sz="788" dirty="0"/>
          </a:p>
        </p:txBody>
      </p:sp>
      <p:sp>
        <p:nvSpPr>
          <p:cNvPr id="6" name="Text 4"/>
          <p:cNvSpPr/>
          <p:nvPr/>
        </p:nvSpPr>
        <p:spPr>
          <a:xfrm>
            <a:off x="-16137" y="-8068"/>
            <a:ext cx="9160136" cy="6094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7" name="Text 5"/>
          <p:cNvSpPr/>
          <p:nvPr/>
        </p:nvSpPr>
        <p:spPr>
          <a:xfrm rot="7260000">
            <a:off x="7470481" y="3966635"/>
            <a:ext cx="1859083" cy="15755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8" name="Text 6"/>
          <p:cNvSpPr/>
          <p:nvPr/>
        </p:nvSpPr>
        <p:spPr>
          <a:xfrm rot="18180000">
            <a:off x="4531029" y="3270712"/>
            <a:ext cx="3848244" cy="12199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9" name="Shape 7"/>
          <p:cNvSpPr/>
          <p:nvPr/>
        </p:nvSpPr>
        <p:spPr>
          <a:xfrm>
            <a:off x="5399350" y="895916"/>
            <a:ext cx="3510000" cy="3510000"/>
          </a:xfrm>
          <a:custGeom>
            <a:avLst/>
            <a:gdLst/>
            <a:ahLst/>
            <a:cxnLst/>
            <a:rect l="l" t="t" r="r" b="b"/>
            <a:pathLst>
              <a:path w="3510000" h="3510000">
                <a:moveTo>
                  <a:pt x="1755000" y="0"/>
                </a:moveTo>
                <a:cubicBezTo>
                  <a:pt x="2723611" y="0"/>
                  <a:pt x="3510000" y="786389"/>
                  <a:pt x="3510000" y="1755000"/>
                </a:cubicBezTo>
                <a:cubicBezTo>
                  <a:pt x="3510000" y="2723611"/>
                  <a:pt x="2723611" y="3510000"/>
                  <a:pt x="1755000" y="3510000"/>
                </a:cubicBezTo>
                <a:cubicBezTo>
                  <a:pt x="786389" y="3510000"/>
                  <a:pt x="0" y="2723611"/>
                  <a:pt x="0" y="1755000"/>
                </a:cubicBezTo>
                <a:cubicBezTo>
                  <a:pt x="0" y="786389"/>
                  <a:pt x="786389" y="0"/>
                  <a:pt x="1755000" y="0"/>
                </a:cubicBezTo>
                <a:close/>
              </a:path>
            </a:pathLst>
          </a:custGeom>
          <a:solidFill>
            <a:srgbClr val="0FA3B1"/>
          </a:solidFill>
          <a:ln/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399350" y="895916"/>
            <a:ext cx="3510000" cy="351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1" name="Shape 9"/>
          <p:cNvSpPr/>
          <p:nvPr/>
        </p:nvSpPr>
        <p:spPr>
          <a:xfrm>
            <a:off x="5534350" y="1030916"/>
            <a:ext cx="3240000" cy="3240000"/>
          </a:xfrm>
          <a:custGeom>
            <a:avLst/>
            <a:gdLst/>
            <a:ahLst/>
            <a:cxnLst/>
            <a:rect l="l" t="t" r="r" b="b"/>
            <a:pathLst>
              <a:path w="3240000" h="3240000">
                <a:moveTo>
                  <a:pt x="1620000" y="0"/>
                </a:moveTo>
                <a:cubicBezTo>
                  <a:pt x="2514102" y="0"/>
                  <a:pt x="3240000" y="725898"/>
                  <a:pt x="3240000" y="1620000"/>
                </a:cubicBezTo>
                <a:cubicBezTo>
                  <a:pt x="3240000" y="2514102"/>
                  <a:pt x="2514102" y="3240000"/>
                  <a:pt x="1620000" y="3240000"/>
                </a:cubicBezTo>
                <a:cubicBezTo>
                  <a:pt x="725898" y="3240000"/>
                  <a:pt x="0" y="2514102"/>
                  <a:pt x="0" y="1620000"/>
                </a:cubicBezTo>
                <a:cubicBezTo>
                  <a:pt x="0" y="725898"/>
                  <a:pt x="725898" y="0"/>
                  <a:pt x="16200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76224">
            <a:solidFill>
              <a:srgbClr val="FFFFFF"/>
            </a:solidFill>
            <a:prstDash val="solid"/>
          </a:ln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534350" y="1030916"/>
            <a:ext cx="3240000" cy="32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3" name="Shape 11"/>
          <p:cNvSpPr/>
          <p:nvPr/>
        </p:nvSpPr>
        <p:spPr>
          <a:xfrm>
            <a:off x="5804351" y="1308296"/>
            <a:ext cx="2700000" cy="2700000"/>
          </a:xfrm>
          <a:custGeom>
            <a:avLst/>
            <a:gdLst/>
            <a:ahLst/>
            <a:cxnLst/>
            <a:rect l="l" t="t" r="r" b="b"/>
            <a:pathLst>
              <a:path w="2700000" h="2700000">
                <a:moveTo>
                  <a:pt x="1350000" y="0"/>
                </a:moveTo>
                <a:cubicBezTo>
                  <a:pt x="2095085" y="0"/>
                  <a:pt x="2700000" y="604915"/>
                  <a:pt x="2700000" y="1350000"/>
                </a:cubicBezTo>
                <a:cubicBezTo>
                  <a:pt x="2700000" y="2095085"/>
                  <a:pt x="2095085" y="2700000"/>
                  <a:pt x="1350000" y="2700000"/>
                </a:cubicBezTo>
                <a:cubicBezTo>
                  <a:pt x="604915" y="2700000"/>
                  <a:pt x="0" y="2095085"/>
                  <a:pt x="0" y="1350000"/>
                </a:cubicBezTo>
                <a:cubicBezTo>
                  <a:pt x="0" y="604915"/>
                  <a:pt x="604915" y="0"/>
                  <a:pt x="1350000" y="0"/>
                </a:cubicBezTo>
                <a:close/>
              </a:path>
            </a:pathLst>
          </a:custGeom>
          <a:solidFill>
            <a:srgbClr val="FFFFFF">
              <a:alpha val="0"/>
            </a:srgbClr>
          </a:solidFill>
          <a:ln w="64294">
            <a:solidFill>
              <a:srgbClr val="FFFFFF"/>
            </a:solidFill>
            <a:prstDash val="solid"/>
          </a:ln>
          <a:effectLst>
            <a:outerShdw sx="100000" sy="100000" kx="0" ky="0" algn="bl" rotWithShape="0" blurRad="47625" dist="50800" dir="27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804351" y="1308296"/>
            <a:ext cx="2700000" cy="27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4351" y="1308296"/>
            <a:ext cx="2700000" cy="27000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21769" y="3059394"/>
            <a:ext cx="5087638" cy="165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7" name="Text 14"/>
          <p:cNvSpPr/>
          <p:nvPr/>
        </p:nvSpPr>
        <p:spPr>
          <a:xfrm>
            <a:off x="191358" y="3135846"/>
            <a:ext cx="4920060" cy="1454244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Misol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uchun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ilova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foydalanuvchilarga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o‘z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hisob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raqamlarini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manziliga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kiritish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orqali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o‘z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hisob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ma’lumotlariga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kirishga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ruxsat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berishi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mumkin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“www.banksite.com/account/123”.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Buzg’unchi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manzilidagi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hisob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raqamini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o‘zgartirish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orqali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boshqa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foydalanuvchilarning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hisob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ma’lumotlariga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kirishi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63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mumkin</a:t>
            </a:r>
            <a:endParaRPr lang="en-US" sz="78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378" y="816015"/>
            <a:ext cx="7676908" cy="432748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44414" y="36820"/>
            <a:ext cx="6827509" cy="807913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Saytlararo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so‘rovlarni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qalbakilashtirish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FA3B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(CSRF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)</a:t>
            </a:r>
            <a:endParaRPr lang="en-US" sz="788" dirty="0"/>
          </a:p>
        </p:txBody>
      </p:sp>
      <p:sp>
        <p:nvSpPr>
          <p:cNvPr id="4" name="Text 1"/>
          <p:cNvSpPr/>
          <p:nvPr/>
        </p:nvSpPr>
        <p:spPr>
          <a:xfrm rot="19260000">
            <a:off x="8005202" y="-304167"/>
            <a:ext cx="1397870" cy="1738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5" name="Text 2"/>
          <p:cNvSpPr/>
          <p:nvPr/>
        </p:nvSpPr>
        <p:spPr>
          <a:xfrm rot="13500000">
            <a:off x="-142716" y="-427263"/>
            <a:ext cx="1443979" cy="17360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4785" y="206219"/>
            <a:ext cx="7738903" cy="438581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 injection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uning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ishlash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mexanizmi</a:t>
            </a:r>
            <a:endParaRPr lang="en-US" sz="788" dirty="0"/>
          </a:p>
        </p:txBody>
      </p:sp>
      <p:sp>
        <p:nvSpPr>
          <p:cNvPr id="3" name="Shape 1"/>
          <p:cNvSpPr/>
          <p:nvPr/>
        </p:nvSpPr>
        <p:spPr>
          <a:xfrm>
            <a:off x="845820" y="969832"/>
            <a:ext cx="7075170" cy="1441897"/>
          </a:xfrm>
          <a:custGeom>
            <a:avLst/>
            <a:gdLst/>
            <a:ahLst/>
            <a:cxnLst/>
            <a:rect l="l" t="t" r="r" b="b"/>
            <a:pathLst>
              <a:path w="7075170" h="1441897">
                <a:moveTo>
                  <a:pt x="180237" y="0"/>
                </a:moveTo>
                <a:lnTo>
                  <a:pt x="6894933" y="0"/>
                </a:lnTo>
                <a:quadBezTo>
                  <a:pt x="7075170" y="0"/>
                  <a:pt x="7075170" y="180237"/>
                </a:quadBezTo>
                <a:lnTo>
                  <a:pt x="7075170" y="1261660"/>
                </a:lnTo>
                <a:quadBezTo>
                  <a:pt x="7075170" y="1441897"/>
                  <a:pt x="6894933" y="1441897"/>
                </a:quadBezTo>
                <a:lnTo>
                  <a:pt x="180237" y="1441897"/>
                </a:lnTo>
                <a:quadBezTo>
                  <a:pt x="0" y="1441897"/>
                  <a:pt x="0" y="1261660"/>
                </a:quadBezTo>
                <a:lnTo>
                  <a:pt x="0" y="180237"/>
                </a:lnTo>
                <a:quadBezTo>
                  <a:pt x="0" y="0"/>
                  <a:pt x="180237" y="0"/>
                </a:quadBezTo>
                <a:close/>
              </a:path>
            </a:pathLst>
          </a:custGeom>
          <a:solidFill>
            <a:srgbClr val="08838A"/>
          </a:solidFill>
          <a:ln/>
        </p:spPr>
      </p:sp>
      <p:sp>
        <p:nvSpPr>
          <p:cNvPr id="4" name="Text 2"/>
          <p:cNvSpPr/>
          <p:nvPr/>
        </p:nvSpPr>
        <p:spPr>
          <a:xfrm>
            <a:off x="845820" y="969832"/>
            <a:ext cx="7075170" cy="144189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5" name="Shape 3"/>
          <p:cNvSpPr/>
          <p:nvPr/>
        </p:nvSpPr>
        <p:spPr>
          <a:xfrm>
            <a:off x="354330" y="2571750"/>
            <a:ext cx="3943350" cy="2263140"/>
          </a:xfrm>
          <a:custGeom>
            <a:avLst/>
            <a:gdLst/>
            <a:ahLst/>
            <a:cxnLst/>
            <a:rect l="l" t="t" r="r" b="b"/>
            <a:pathLst>
              <a:path w="3943350" h="2263140">
                <a:moveTo>
                  <a:pt x="282892" y="0"/>
                </a:moveTo>
                <a:lnTo>
                  <a:pt x="3660458" y="0"/>
                </a:lnTo>
                <a:quadBezTo>
                  <a:pt x="3943350" y="0"/>
                  <a:pt x="3943350" y="282892"/>
                </a:quadBezTo>
                <a:lnTo>
                  <a:pt x="3943350" y="1980247"/>
                </a:lnTo>
                <a:quadBezTo>
                  <a:pt x="3943350" y="2263140"/>
                  <a:pt x="3660458" y="2263140"/>
                </a:quadBezTo>
                <a:lnTo>
                  <a:pt x="282892" y="2263140"/>
                </a:lnTo>
                <a:quadBezTo>
                  <a:pt x="0" y="2263140"/>
                  <a:pt x="0" y="1980247"/>
                </a:quadBezTo>
                <a:lnTo>
                  <a:pt x="0" y="282892"/>
                </a:lnTo>
                <a:quadBezTo>
                  <a:pt x="0" y="0"/>
                  <a:pt x="282892" y="0"/>
                </a:quadBezTo>
                <a:close/>
              </a:path>
            </a:pathLst>
          </a:custGeom>
          <a:solidFill>
            <a:srgbClr val="08838A"/>
          </a:solidFill>
          <a:ln/>
        </p:spPr>
      </p:sp>
      <p:sp>
        <p:nvSpPr>
          <p:cNvPr id="6" name="Text 4"/>
          <p:cNvSpPr/>
          <p:nvPr/>
        </p:nvSpPr>
        <p:spPr>
          <a:xfrm>
            <a:off x="354330" y="2571750"/>
            <a:ext cx="3943350" cy="22631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7" name="Shape 5"/>
          <p:cNvSpPr/>
          <p:nvPr/>
        </p:nvSpPr>
        <p:spPr>
          <a:xfrm>
            <a:off x="4846321" y="2571749"/>
            <a:ext cx="3943350" cy="2263140"/>
          </a:xfrm>
          <a:custGeom>
            <a:avLst/>
            <a:gdLst/>
            <a:ahLst/>
            <a:cxnLst/>
            <a:rect l="l" t="t" r="r" b="b"/>
            <a:pathLst>
              <a:path w="3943350" h="2263140">
                <a:moveTo>
                  <a:pt x="282892" y="0"/>
                </a:moveTo>
                <a:lnTo>
                  <a:pt x="3660458" y="0"/>
                </a:lnTo>
                <a:quadBezTo>
                  <a:pt x="3943350" y="0"/>
                  <a:pt x="3943350" y="282892"/>
                </a:quadBezTo>
                <a:lnTo>
                  <a:pt x="3943350" y="1980247"/>
                </a:lnTo>
                <a:quadBezTo>
                  <a:pt x="3943350" y="2263140"/>
                  <a:pt x="3660458" y="2263140"/>
                </a:quadBezTo>
                <a:lnTo>
                  <a:pt x="282892" y="2263140"/>
                </a:lnTo>
                <a:quadBezTo>
                  <a:pt x="0" y="2263140"/>
                  <a:pt x="0" y="1980247"/>
                </a:quadBezTo>
                <a:lnTo>
                  <a:pt x="0" y="282892"/>
                </a:lnTo>
                <a:quadBezTo>
                  <a:pt x="0" y="0"/>
                  <a:pt x="282892" y="0"/>
                </a:quadBezTo>
                <a:close/>
              </a:path>
            </a:pathLst>
          </a:custGeom>
          <a:solidFill>
            <a:srgbClr val="08838A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1" y="2571749"/>
            <a:ext cx="3943350" cy="22631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9" name="Text 7"/>
          <p:cNvSpPr/>
          <p:nvPr/>
        </p:nvSpPr>
        <p:spPr>
          <a:xfrm>
            <a:off x="1074278" y="1029998"/>
            <a:ext cx="6846712" cy="1384994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SQL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in’ektsiyasi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zaiflikning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bir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turi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bo‘lib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buzg’unchi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ma’lumotlar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bazasini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boshqarish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potentsial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qimmatli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ma’lumotlarga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kirish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uchun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SQL (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strukturalangan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so‘rovlar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tili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)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kodidan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foydalanadi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. Bu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hujumning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eng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keng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tarqalgan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tahdidli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turlaridan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biri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,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chunki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u SQL-ga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asoslangan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ma’lumotlar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bazasidan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foydalanadigan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har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qanday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web-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ilova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yoki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web-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saytga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qarshi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ishlatilishi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406" b="1" dirty="0">
                <a:solidFill>
                  <a:srgbClr val="FFFFFF"/>
                </a:solidFill>
                <a:latin typeface="Bahnschrift" pitchFamily="34" charset="0"/>
                <a:ea typeface="Bahnschrift" pitchFamily="34" charset="-122"/>
                <a:cs typeface="Bahnschrift" pitchFamily="34" charset="-120"/>
              </a:rPr>
              <a:t>mumkin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472648" y="2837698"/>
            <a:ext cx="3922295" cy="1731243"/>
          </a:xfrm>
          <a:custGeom>
            <a:avLst/>
            <a:gdLst/>
            <a:ahLst/>
            <a:cxnLst/>
            <a:rect l="l" t="t" r="r" b="b"/>
            <a:pathLst>
              <a:path w="3922295" h="1731243">
                <a:moveTo>
                  <a:pt x="0" y="0"/>
                </a:moveTo>
                <a:lnTo>
                  <a:pt x="3922295" y="0"/>
                </a:lnTo>
                <a:lnTo>
                  <a:pt x="3922295" y="1731243"/>
                </a:lnTo>
                <a:lnTo>
                  <a:pt x="0" y="173124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472648" y="2837698"/>
            <a:ext cx="3922295" cy="17312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SQL -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bu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relyatsion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bazalarida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saqlangan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ma’lumotlarga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kirish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</a:t>
            </a:r>
            <a:endParaRPr lang="en-US" sz="788" dirty="0"/>
          </a:p>
          <a:p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o‘zgartirish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o‘chirish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uchun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dasturlashda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qo‘llaniladigan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so‘rovlar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tili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 Web-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saytlar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va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web-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ilovalarning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aksariyati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SQL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ma’lumotlar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bazalariga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tayanganligi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sababli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, SQL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in’ektsion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hujumi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tashkilotlar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uchun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jiddiy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oqibatlarga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olib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kelishi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mumkin</a:t>
            </a:r>
            <a:pPr algn="l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.</a:t>
            </a:r>
            <a:endParaRPr lang="en-US" sz="788" dirty="0"/>
          </a:p>
        </p:txBody>
      </p:sp>
      <p:sp>
        <p:nvSpPr>
          <p:cNvPr id="12" name="Shape 10"/>
          <p:cNvSpPr/>
          <p:nvPr/>
        </p:nvSpPr>
        <p:spPr>
          <a:xfrm>
            <a:off x="4977874" y="2629949"/>
            <a:ext cx="3943350" cy="2146741"/>
          </a:xfrm>
          <a:custGeom>
            <a:avLst/>
            <a:gdLst/>
            <a:ahLst/>
            <a:cxnLst/>
            <a:rect l="l" t="t" r="r" b="b"/>
            <a:pathLst>
              <a:path w="3943350" h="2146741">
                <a:moveTo>
                  <a:pt x="0" y="0"/>
                </a:moveTo>
                <a:lnTo>
                  <a:pt x="3943350" y="0"/>
                </a:lnTo>
                <a:lnTo>
                  <a:pt x="3943350" y="2146741"/>
                </a:lnTo>
                <a:lnTo>
                  <a:pt x="0" y="214674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4977874" y="2629949"/>
            <a:ext cx="3943350" cy="214674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so‘rovi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ma’lumotlar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bazasiga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ma’lumotlar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so‘rovi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yoki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bajarilishi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kerak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bo‘lgan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kodini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bajarish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kabi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faoliyat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yoki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funktsiyalar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uchun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yuborilgan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so‘rovdir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Masalan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foydalanuvchining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saytga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kirishiga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ruxsat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berish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uchun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kirish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ma’lumotlari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web-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shakl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orqali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yuborilganda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Odatda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turdagi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web-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shakl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faqat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yoki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parol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kabi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ma’lum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turdagi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ma’lumotlarni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qabul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qilish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uchun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mo‘ljallangan</a:t>
            </a:r>
            <a:pPr algn="l" indent="0" marL="0"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8600655" y="1147595"/>
            <a:ext cx="378000" cy="378000"/>
          </a:xfrm>
          <a:custGeom>
            <a:avLst/>
            <a:gdLst/>
            <a:ahLst/>
            <a:cxnLst/>
            <a:rect l="l" t="t" r="r" b="b"/>
            <a:pathLst>
              <a:path w="378000" h="378000">
                <a:moveTo>
                  <a:pt x="189000" y="0"/>
                </a:moveTo>
                <a:cubicBezTo>
                  <a:pt x="293312" y="0"/>
                  <a:pt x="378000" y="84688"/>
                  <a:pt x="378000" y="189000"/>
                </a:cubicBezTo>
                <a:cubicBezTo>
                  <a:pt x="378000" y="293312"/>
                  <a:pt x="293312" y="378000"/>
                  <a:pt x="189000" y="378000"/>
                </a:cubicBezTo>
                <a:cubicBezTo>
                  <a:pt x="84688" y="378000"/>
                  <a:pt x="0" y="293312"/>
                  <a:pt x="0" y="189000"/>
                </a:cubicBezTo>
                <a:cubicBezTo>
                  <a:pt x="0" y="84688"/>
                  <a:pt x="84688" y="0"/>
                  <a:pt x="189000" y="0"/>
                </a:cubicBezTo>
                <a:close/>
              </a:path>
            </a:pathLst>
          </a:custGeom>
          <a:solidFill>
            <a:srgbClr val="02A4AB"/>
          </a:solidFill>
          <a:ln/>
          <a:effectLst>
            <a:outerShdw sx="100000" sy="100000" kx="0" ky="0" algn="bl" rotWithShape="0" blurRad="133350" dist="50800" dir="2700000">
              <a:srgbClr val="000000">
                <a:alpha val="52157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00655" y="1147595"/>
            <a:ext cx="378000" cy="378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6" name="Shape 14"/>
          <p:cNvSpPr/>
          <p:nvPr/>
        </p:nvSpPr>
        <p:spPr>
          <a:xfrm>
            <a:off x="8708655" y="375549"/>
            <a:ext cx="270000" cy="270000"/>
          </a:xfrm>
          <a:custGeom>
            <a:avLst/>
            <a:gdLst/>
            <a:ahLst/>
            <a:cxnLst/>
            <a:rect l="l" t="t" r="r" b="b"/>
            <a:pathLst>
              <a:path w="270000" h="270000">
                <a:moveTo>
                  <a:pt x="135000" y="0"/>
                </a:moveTo>
                <a:cubicBezTo>
                  <a:pt x="209509" y="0"/>
                  <a:pt x="270000" y="60491"/>
                  <a:pt x="270000" y="135000"/>
                </a:cubicBezTo>
                <a:cubicBezTo>
                  <a:pt x="270000" y="209509"/>
                  <a:pt x="209509" y="270000"/>
                  <a:pt x="135000" y="270000"/>
                </a:cubicBezTo>
                <a:cubicBezTo>
                  <a:pt x="60491" y="270000"/>
                  <a:pt x="0" y="209509"/>
                  <a:pt x="0" y="135000"/>
                </a:cubicBezTo>
                <a:cubicBezTo>
                  <a:pt x="0" y="60491"/>
                  <a:pt x="60491" y="0"/>
                  <a:pt x="135000" y="0"/>
                </a:cubicBezTo>
                <a:close/>
              </a:path>
            </a:pathLst>
          </a:custGeom>
          <a:solidFill>
            <a:srgbClr val="EEB500"/>
          </a:solidFill>
          <a:ln/>
          <a:effectLst>
            <a:outerShdw sx="100000" sy="100000" kx="0" ky="0" algn="bl" rotWithShape="0" blurRad="133350" dist="50800" dir="2700000">
              <a:srgbClr val="000000">
                <a:alpha val="52157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708655" y="375549"/>
            <a:ext cx="270000" cy="27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8" name="Shape 16"/>
          <p:cNvSpPr/>
          <p:nvPr/>
        </p:nvSpPr>
        <p:spPr>
          <a:xfrm>
            <a:off x="8310340" y="641284"/>
            <a:ext cx="189000" cy="189000"/>
          </a:xfrm>
          <a:custGeom>
            <a:avLst/>
            <a:gdLst/>
            <a:ahLst/>
            <a:cxnLst/>
            <a:rect l="l" t="t" r="r" b="b"/>
            <a:pathLst>
              <a:path w="189000" h="189000">
                <a:moveTo>
                  <a:pt x="94500" y="0"/>
                </a:moveTo>
                <a:cubicBezTo>
                  <a:pt x="146656" y="0"/>
                  <a:pt x="189000" y="42344"/>
                  <a:pt x="189000" y="94500"/>
                </a:cubicBezTo>
                <a:cubicBezTo>
                  <a:pt x="189000" y="146656"/>
                  <a:pt x="146656" y="189000"/>
                  <a:pt x="94500" y="189000"/>
                </a:cubicBezTo>
                <a:cubicBezTo>
                  <a:pt x="42344" y="189000"/>
                  <a:pt x="0" y="146656"/>
                  <a:pt x="0" y="94500"/>
                </a:cubicBezTo>
                <a:cubicBezTo>
                  <a:pt x="0" y="42344"/>
                  <a:pt x="42344" y="0"/>
                  <a:pt x="94500" y="0"/>
                </a:cubicBezTo>
                <a:close/>
              </a:path>
            </a:pathLst>
          </a:custGeom>
          <a:solidFill>
            <a:srgbClr val="02A4AB"/>
          </a:solidFill>
          <a:ln/>
          <a:effectLst>
            <a:outerShdw sx="100000" sy="100000" kx="0" ky="0" algn="bl" rotWithShape="0" blurRad="133350" dist="50800" dir="2700000">
              <a:srgbClr val="000000">
                <a:alpha val="52157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310340" y="641284"/>
            <a:ext cx="189000" cy="18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0" name="Shape 18"/>
          <p:cNvSpPr/>
          <p:nvPr/>
        </p:nvSpPr>
        <p:spPr>
          <a:xfrm>
            <a:off x="8297017" y="156961"/>
            <a:ext cx="189000" cy="189000"/>
          </a:xfrm>
          <a:custGeom>
            <a:avLst/>
            <a:gdLst/>
            <a:ahLst/>
            <a:cxnLst/>
            <a:rect l="l" t="t" r="r" b="b"/>
            <a:pathLst>
              <a:path w="189000" h="189000">
                <a:moveTo>
                  <a:pt x="94500" y="0"/>
                </a:moveTo>
                <a:cubicBezTo>
                  <a:pt x="146656" y="0"/>
                  <a:pt x="189000" y="42344"/>
                  <a:pt x="189000" y="94500"/>
                </a:cubicBezTo>
                <a:cubicBezTo>
                  <a:pt x="189000" y="146656"/>
                  <a:pt x="146656" y="189000"/>
                  <a:pt x="94500" y="189000"/>
                </a:cubicBezTo>
                <a:cubicBezTo>
                  <a:pt x="42344" y="189000"/>
                  <a:pt x="0" y="146656"/>
                  <a:pt x="0" y="94500"/>
                </a:cubicBezTo>
                <a:cubicBezTo>
                  <a:pt x="0" y="42344"/>
                  <a:pt x="42344" y="0"/>
                  <a:pt x="94500" y="0"/>
                </a:cubicBezTo>
                <a:close/>
              </a:path>
            </a:pathLst>
          </a:custGeom>
          <a:solidFill>
            <a:srgbClr val="EEB500"/>
          </a:solidFill>
          <a:ln/>
          <a:effectLst>
            <a:outerShdw sx="100000" sy="100000" kx="0" ky="0" algn="bl" rotWithShape="0" blurRad="133350" dist="50800" dir="2700000">
              <a:srgbClr val="000000">
                <a:alpha val="52157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297017" y="156961"/>
            <a:ext cx="189000" cy="18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2" name="Shape 20"/>
          <p:cNvSpPr/>
          <p:nvPr/>
        </p:nvSpPr>
        <p:spPr>
          <a:xfrm>
            <a:off x="294265" y="1178062"/>
            <a:ext cx="270000" cy="270000"/>
          </a:xfrm>
          <a:custGeom>
            <a:avLst/>
            <a:gdLst/>
            <a:ahLst/>
            <a:cxnLst/>
            <a:rect l="l" t="t" r="r" b="b"/>
            <a:pathLst>
              <a:path w="270000" h="270000">
                <a:moveTo>
                  <a:pt x="135000" y="0"/>
                </a:moveTo>
                <a:cubicBezTo>
                  <a:pt x="209509" y="0"/>
                  <a:pt x="270000" y="60491"/>
                  <a:pt x="270000" y="135000"/>
                </a:cubicBezTo>
                <a:cubicBezTo>
                  <a:pt x="270000" y="209509"/>
                  <a:pt x="209509" y="270000"/>
                  <a:pt x="135000" y="270000"/>
                </a:cubicBezTo>
                <a:cubicBezTo>
                  <a:pt x="60491" y="270000"/>
                  <a:pt x="0" y="209509"/>
                  <a:pt x="0" y="135000"/>
                </a:cubicBezTo>
                <a:cubicBezTo>
                  <a:pt x="0" y="60491"/>
                  <a:pt x="60491" y="0"/>
                  <a:pt x="135000" y="0"/>
                </a:cubicBezTo>
                <a:close/>
              </a:path>
            </a:pathLst>
          </a:custGeom>
          <a:solidFill>
            <a:srgbClr val="EEB500"/>
          </a:solidFill>
          <a:ln/>
          <a:effectLst>
            <a:outerShdw sx="100000" sy="100000" kx="0" ky="0" algn="bl" rotWithShape="0" blurRad="133350" dist="50800" dir="2700000">
              <a:srgbClr val="000000">
                <a:alpha val="52157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94265" y="1178062"/>
            <a:ext cx="270000" cy="27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4" name="Shape 22"/>
          <p:cNvSpPr/>
          <p:nvPr/>
        </p:nvSpPr>
        <p:spPr>
          <a:xfrm>
            <a:off x="42660" y="735784"/>
            <a:ext cx="189000" cy="189000"/>
          </a:xfrm>
          <a:custGeom>
            <a:avLst/>
            <a:gdLst/>
            <a:ahLst/>
            <a:cxnLst/>
            <a:rect l="l" t="t" r="r" b="b"/>
            <a:pathLst>
              <a:path w="189000" h="189000">
                <a:moveTo>
                  <a:pt x="94500" y="0"/>
                </a:moveTo>
                <a:cubicBezTo>
                  <a:pt x="146656" y="0"/>
                  <a:pt x="189000" y="42344"/>
                  <a:pt x="189000" y="94500"/>
                </a:cubicBezTo>
                <a:cubicBezTo>
                  <a:pt x="189000" y="146656"/>
                  <a:pt x="146656" y="189000"/>
                  <a:pt x="94500" y="189000"/>
                </a:cubicBezTo>
                <a:cubicBezTo>
                  <a:pt x="42344" y="189000"/>
                  <a:pt x="0" y="146656"/>
                  <a:pt x="0" y="94500"/>
                </a:cubicBezTo>
                <a:cubicBezTo>
                  <a:pt x="0" y="42344"/>
                  <a:pt x="42344" y="0"/>
                  <a:pt x="94500" y="0"/>
                </a:cubicBezTo>
                <a:close/>
              </a:path>
            </a:pathLst>
          </a:custGeom>
          <a:solidFill>
            <a:srgbClr val="02A4AB"/>
          </a:solidFill>
          <a:ln/>
          <a:effectLst>
            <a:outerShdw sx="100000" sy="100000" kx="0" ky="0" algn="bl" rotWithShape="0" blurRad="133350" dist="50800" dir="2700000">
              <a:srgbClr val="000000">
                <a:alpha val="52157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660" y="735784"/>
            <a:ext cx="189000" cy="18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545548" y="156961"/>
            <a:ext cx="189000" cy="189000"/>
          </a:xfrm>
          <a:custGeom>
            <a:avLst/>
            <a:gdLst/>
            <a:ahLst/>
            <a:cxnLst/>
            <a:rect l="l" t="t" r="r" b="b"/>
            <a:pathLst>
              <a:path w="189000" h="189000">
                <a:moveTo>
                  <a:pt x="94500" y="0"/>
                </a:moveTo>
                <a:cubicBezTo>
                  <a:pt x="146656" y="0"/>
                  <a:pt x="189000" y="42344"/>
                  <a:pt x="189000" y="94500"/>
                </a:cubicBezTo>
                <a:cubicBezTo>
                  <a:pt x="189000" y="146656"/>
                  <a:pt x="146656" y="189000"/>
                  <a:pt x="94500" y="189000"/>
                </a:cubicBezTo>
                <a:cubicBezTo>
                  <a:pt x="42344" y="189000"/>
                  <a:pt x="0" y="146656"/>
                  <a:pt x="0" y="94500"/>
                </a:cubicBezTo>
                <a:cubicBezTo>
                  <a:pt x="0" y="42344"/>
                  <a:pt x="42344" y="0"/>
                  <a:pt x="94500" y="0"/>
                </a:cubicBezTo>
                <a:close/>
              </a:path>
            </a:pathLst>
          </a:custGeom>
          <a:solidFill>
            <a:srgbClr val="EEB500"/>
          </a:solidFill>
          <a:ln/>
          <a:effectLst>
            <a:outerShdw sx="100000" sy="100000" kx="0" ky="0" algn="bl" rotWithShape="0" blurRad="133350" dist="50800" dir="2700000">
              <a:srgbClr val="000000">
                <a:alpha val="52157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5548" y="156961"/>
            <a:ext cx="189000" cy="18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922972" y="729655"/>
            <a:ext cx="6892290" cy="46128"/>
          </a:xfrm>
          <a:custGeom>
            <a:avLst/>
            <a:gdLst/>
            <a:ahLst/>
            <a:cxnLst/>
            <a:rect l="l" t="t" r="r" b="b"/>
            <a:pathLst>
              <a:path w="6892290" h="46128">
                <a:moveTo>
                  <a:pt x="0" y="0"/>
                </a:moveTo>
                <a:lnTo>
                  <a:pt x="6892290" y="0"/>
                </a:lnTo>
                <a:lnTo>
                  <a:pt x="6892290" y="46128"/>
                </a:lnTo>
                <a:lnTo>
                  <a:pt x="0" y="46128"/>
                </a:lnTo>
                <a:close/>
              </a:path>
            </a:pathLst>
          </a:custGeom>
          <a:solidFill>
            <a:srgbClr val="767171"/>
          </a:solidFill>
          <a:ln/>
        </p:spPr>
      </p:sp>
      <p:sp>
        <p:nvSpPr>
          <p:cNvPr id="29" name="Text 27"/>
          <p:cNvSpPr/>
          <p:nvPr/>
        </p:nvSpPr>
        <p:spPr>
          <a:xfrm>
            <a:off x="922972" y="729655"/>
            <a:ext cx="6892290" cy="46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4358" y="963593"/>
            <a:ext cx="7106897" cy="417990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09565" y="102003"/>
            <a:ext cx="5497206" cy="807913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SQL injection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va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uning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ishlash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0FA3B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mexanizmi</a:t>
            </a:r>
            <a:endParaRPr lang="en-US" sz="788" dirty="0"/>
          </a:p>
        </p:txBody>
      </p:sp>
      <p:sp>
        <p:nvSpPr>
          <p:cNvPr id="4" name="Text 1"/>
          <p:cNvSpPr/>
          <p:nvPr/>
        </p:nvSpPr>
        <p:spPr>
          <a:xfrm rot="19260000">
            <a:off x="8005202" y="-304167"/>
            <a:ext cx="1397870" cy="173890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5" name="Text 2"/>
          <p:cNvSpPr/>
          <p:nvPr/>
        </p:nvSpPr>
        <p:spPr>
          <a:xfrm rot="13500000">
            <a:off x="-142716" y="-427263"/>
            <a:ext cx="1443979" cy="173607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6" name="Text 3"/>
          <p:cNvSpPr/>
          <p:nvPr/>
        </p:nvSpPr>
        <p:spPr>
          <a:xfrm rot="7260000">
            <a:off x="7470481" y="3966635"/>
            <a:ext cx="1859083" cy="15755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6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solidFill>
            <a:srgbClr val="FFFFFF">
              <a:alpha val="87059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36" y="0"/>
            <a:ext cx="9144000" cy="5143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5" name="Text 2"/>
          <p:cNvSpPr/>
          <p:nvPr/>
        </p:nvSpPr>
        <p:spPr>
          <a:xfrm>
            <a:off x="2080065" y="112904"/>
            <a:ext cx="5261533" cy="715580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08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Axborot tizimlari va resurslari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081" dirty="0">
                <a:solidFill>
                  <a:srgbClr val="0FA3B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turlari</a:t>
            </a:r>
            <a:endParaRPr lang="en-US" sz="788" dirty="0"/>
          </a:p>
        </p:txBody>
      </p:sp>
      <p:sp>
        <p:nvSpPr>
          <p:cNvPr id="6" name="Text 3"/>
          <p:cNvSpPr/>
          <p:nvPr/>
        </p:nvSpPr>
        <p:spPr>
          <a:xfrm>
            <a:off x="57361" y="1"/>
            <a:ext cx="1890000" cy="12903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7" name="Text 4"/>
          <p:cNvSpPr/>
          <p:nvPr/>
        </p:nvSpPr>
        <p:spPr>
          <a:xfrm rot="6780000">
            <a:off x="-640175" y="361268"/>
            <a:ext cx="1794781" cy="1274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8" name="Shape 5"/>
          <p:cNvSpPr/>
          <p:nvPr/>
        </p:nvSpPr>
        <p:spPr>
          <a:xfrm>
            <a:off x="-41968" y="141750"/>
            <a:ext cx="1620000" cy="1620000"/>
          </a:xfrm>
          <a:custGeom>
            <a:avLst/>
            <a:gdLst/>
            <a:ahLst/>
            <a:cxnLst/>
            <a:rect l="l" t="t" r="r" b="b"/>
            <a:pathLst>
              <a:path w="1620000" h="1620000">
                <a:moveTo>
                  <a:pt x="810000" y="0"/>
                </a:moveTo>
                <a:cubicBezTo>
                  <a:pt x="1257051" y="0"/>
                  <a:pt x="1620000" y="362949"/>
                  <a:pt x="1620000" y="810000"/>
                </a:cubicBezTo>
                <a:cubicBezTo>
                  <a:pt x="1620000" y="1257051"/>
                  <a:pt x="1257051" y="1620000"/>
                  <a:pt x="810000" y="1620000"/>
                </a:cubicBezTo>
                <a:cubicBezTo>
                  <a:pt x="362949" y="1620000"/>
                  <a:pt x="0" y="1257051"/>
                  <a:pt x="0" y="810000"/>
                </a:cubicBezTo>
                <a:cubicBezTo>
                  <a:pt x="0" y="362949"/>
                  <a:pt x="362949" y="0"/>
                  <a:pt x="810000" y="0"/>
                </a:cubicBezTo>
                <a:close/>
              </a:path>
            </a:pathLst>
          </a:custGeom>
          <a:solidFill>
            <a:srgbClr val="118C93"/>
          </a:solidFill>
          <a:ln/>
          <a:effectLst>
            <a:outerShdw sx="100000" sy="100000" kx="0" ky="0" algn="bl" rotWithShape="0" blurRad="238125" dist="50800" dir="2700000">
              <a:srgbClr val="000000">
                <a:alpha val="72157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-41968" y="141750"/>
            <a:ext cx="1620000" cy="16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0" name="Text 7"/>
          <p:cNvSpPr/>
          <p:nvPr/>
        </p:nvSpPr>
        <p:spPr>
          <a:xfrm>
            <a:off x="0" y="3154478"/>
            <a:ext cx="1120253" cy="199178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1" name="Text 8"/>
          <p:cNvSpPr/>
          <p:nvPr/>
        </p:nvSpPr>
        <p:spPr>
          <a:xfrm>
            <a:off x="358634" y="3596532"/>
            <a:ext cx="950227" cy="15497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2" name="Text 9"/>
          <p:cNvSpPr/>
          <p:nvPr/>
        </p:nvSpPr>
        <p:spPr>
          <a:xfrm rot="7260000">
            <a:off x="8587581" y="-86347"/>
            <a:ext cx="694855" cy="72604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3" name="Shape 10"/>
          <p:cNvSpPr/>
          <p:nvPr/>
        </p:nvSpPr>
        <p:spPr>
          <a:xfrm rot="7260000">
            <a:off x="8805607" y="751416"/>
            <a:ext cx="270000" cy="270000"/>
          </a:xfrm>
          <a:custGeom>
            <a:avLst/>
            <a:gdLst/>
            <a:ahLst/>
            <a:cxnLst/>
            <a:rect l="l" t="t" r="r" b="b"/>
            <a:pathLst>
              <a:path w="270000" h="270000">
                <a:moveTo>
                  <a:pt x="135000" y="0"/>
                </a:moveTo>
                <a:cubicBezTo>
                  <a:pt x="209509" y="0"/>
                  <a:pt x="270000" y="60491"/>
                  <a:pt x="270000" y="135000"/>
                </a:cubicBezTo>
                <a:cubicBezTo>
                  <a:pt x="270000" y="209509"/>
                  <a:pt x="209509" y="270000"/>
                  <a:pt x="135000" y="270000"/>
                </a:cubicBezTo>
                <a:cubicBezTo>
                  <a:pt x="60491" y="270000"/>
                  <a:pt x="0" y="209509"/>
                  <a:pt x="0" y="135000"/>
                </a:cubicBezTo>
                <a:cubicBezTo>
                  <a:pt x="0" y="60491"/>
                  <a:pt x="60491" y="0"/>
                  <a:pt x="135000" y="0"/>
                </a:cubicBezTo>
                <a:close/>
              </a:path>
            </a:pathLst>
          </a:custGeom>
          <a:solidFill>
            <a:srgbClr val="FFC000"/>
          </a:solidFill>
          <a:ln/>
          <a:effectLst>
            <a:outerShdw sx="100000" sy="100000" kx="0" ky="0" algn="bl" rotWithShape="0" blurRad="228600" dist="50800" dir="2700000">
              <a:srgbClr val="000000">
                <a:alpha val="63922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 rot="7260000">
            <a:off x="8805607" y="751416"/>
            <a:ext cx="270000" cy="27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5" name="Shape 12"/>
          <p:cNvSpPr/>
          <p:nvPr/>
        </p:nvSpPr>
        <p:spPr>
          <a:xfrm rot="7260000">
            <a:off x="8172850" y="179384"/>
            <a:ext cx="216000" cy="216000"/>
          </a:xfrm>
          <a:custGeom>
            <a:avLst/>
            <a:gdLst/>
            <a:ahLst/>
            <a:cxnLst/>
            <a:rect l="l" t="t" r="r" b="b"/>
            <a:pathLst>
              <a:path w="216000" h="216000">
                <a:moveTo>
                  <a:pt x="108000" y="0"/>
                </a:moveTo>
                <a:cubicBezTo>
                  <a:pt x="167607" y="0"/>
                  <a:pt x="216000" y="48393"/>
                  <a:pt x="216000" y="108000"/>
                </a:cubicBezTo>
                <a:cubicBezTo>
                  <a:pt x="216000" y="167607"/>
                  <a:pt x="167607" y="216000"/>
                  <a:pt x="108000" y="216000"/>
                </a:cubicBezTo>
                <a:cubicBezTo>
                  <a:pt x="48393" y="216000"/>
                  <a:pt x="0" y="167607"/>
                  <a:pt x="0" y="108000"/>
                </a:cubicBezTo>
                <a:cubicBezTo>
                  <a:pt x="0" y="48393"/>
                  <a:pt x="48393" y="0"/>
                  <a:pt x="108000" y="0"/>
                </a:cubicBezTo>
                <a:close/>
              </a:path>
            </a:pathLst>
          </a:custGeom>
          <a:solidFill>
            <a:srgbClr val="FFC000"/>
          </a:solidFill>
          <a:ln/>
          <a:effectLst>
            <a:outerShdw sx="100000" sy="100000" kx="0" ky="0" algn="bl" rotWithShape="0" blurRad="228600" dist="50800" dir="2700000">
              <a:srgbClr val="000000">
                <a:alpha val="63922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 rot="7260000">
            <a:off x="8172850" y="179384"/>
            <a:ext cx="216000" cy="21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7" name="Shape 14"/>
          <p:cNvSpPr/>
          <p:nvPr/>
        </p:nvSpPr>
        <p:spPr>
          <a:xfrm rot="7260000">
            <a:off x="8248238" y="720053"/>
            <a:ext cx="189000" cy="189000"/>
          </a:xfrm>
          <a:custGeom>
            <a:avLst/>
            <a:gdLst/>
            <a:ahLst/>
            <a:cxnLst/>
            <a:rect l="l" t="t" r="r" b="b"/>
            <a:pathLst>
              <a:path w="189000" h="189000">
                <a:moveTo>
                  <a:pt x="94500" y="0"/>
                </a:moveTo>
                <a:cubicBezTo>
                  <a:pt x="146656" y="0"/>
                  <a:pt x="189000" y="42344"/>
                  <a:pt x="189000" y="94500"/>
                </a:cubicBezTo>
                <a:cubicBezTo>
                  <a:pt x="189000" y="146656"/>
                  <a:pt x="146656" y="189000"/>
                  <a:pt x="94500" y="189000"/>
                </a:cubicBezTo>
                <a:cubicBezTo>
                  <a:pt x="42344" y="189000"/>
                  <a:pt x="0" y="146656"/>
                  <a:pt x="0" y="94500"/>
                </a:cubicBezTo>
                <a:cubicBezTo>
                  <a:pt x="0" y="42344"/>
                  <a:pt x="42344" y="0"/>
                  <a:pt x="94500" y="0"/>
                </a:cubicBezTo>
                <a:close/>
              </a:path>
            </a:pathLst>
          </a:custGeom>
          <a:solidFill>
            <a:srgbClr val="0FA3B1"/>
          </a:solidFill>
          <a:ln/>
          <a:effectLst>
            <a:outerShdw sx="100000" sy="100000" kx="0" ky="0" algn="bl" rotWithShape="0" blurRad="228600" dist="50800" dir="2700000">
              <a:srgbClr val="000000">
                <a:alpha val="63922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 rot="7260000">
            <a:off x="8248238" y="720053"/>
            <a:ext cx="189000" cy="18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9" name="Shape 16"/>
          <p:cNvSpPr/>
          <p:nvPr/>
        </p:nvSpPr>
        <p:spPr>
          <a:xfrm>
            <a:off x="906697" y="3078467"/>
            <a:ext cx="1836000" cy="1836000"/>
          </a:xfrm>
          <a:custGeom>
            <a:avLst/>
            <a:gdLst/>
            <a:ahLst/>
            <a:cxnLst/>
            <a:rect l="l" t="t" r="r" b="b"/>
            <a:pathLst>
              <a:path w="1836000" h="1836000">
                <a:moveTo>
                  <a:pt x="918000" y="0"/>
                </a:moveTo>
                <a:cubicBezTo>
                  <a:pt x="1424658" y="0"/>
                  <a:pt x="1836000" y="411342"/>
                  <a:pt x="1836000" y="918000"/>
                </a:cubicBezTo>
                <a:cubicBezTo>
                  <a:pt x="1836000" y="1424658"/>
                  <a:pt x="1424658" y="1836000"/>
                  <a:pt x="918000" y="1836000"/>
                </a:cubicBezTo>
                <a:cubicBezTo>
                  <a:pt x="411342" y="1836000"/>
                  <a:pt x="0" y="1424658"/>
                  <a:pt x="0" y="918000"/>
                </a:cubicBezTo>
                <a:cubicBezTo>
                  <a:pt x="0" y="411342"/>
                  <a:pt x="411342" y="0"/>
                  <a:pt x="918000" y="0"/>
                </a:cubicBezTo>
                <a:close/>
              </a:path>
            </a:pathLst>
          </a:custGeom>
          <a:solidFill>
            <a:srgbClr val="03045E">
              <a:alpha val="80000"/>
            </a:srgbClr>
          </a:solidFill>
          <a:ln w="42863">
            <a:solidFill>
              <a:srgbClr val="000000"/>
            </a:solidFill>
            <a:prstDash val="solid"/>
          </a:ln>
          <a:effectLst>
            <a:outerShdw sx="100000" sy="100000" kx="0" ky="0" algn="bl" rotWithShape="0" blurRad="76200" dist="58659" dir="2700000">
              <a:srgbClr val="000000">
                <a:alpha val="54902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906697" y="3078467"/>
            <a:ext cx="1836000" cy="183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1" name="Shape 18"/>
          <p:cNvSpPr/>
          <p:nvPr/>
        </p:nvSpPr>
        <p:spPr>
          <a:xfrm>
            <a:off x="2811053" y="1241282"/>
            <a:ext cx="1755000" cy="1755000"/>
          </a:xfrm>
          <a:custGeom>
            <a:avLst/>
            <a:gdLst/>
            <a:ahLst/>
            <a:cxnLst/>
            <a:rect l="l" t="t" r="r" b="b"/>
            <a:pathLst>
              <a:path w="1755000" h="1755000">
                <a:moveTo>
                  <a:pt x="877500" y="0"/>
                </a:moveTo>
                <a:cubicBezTo>
                  <a:pt x="1361805" y="0"/>
                  <a:pt x="1755000" y="393195"/>
                  <a:pt x="1755000" y="877500"/>
                </a:cubicBezTo>
                <a:cubicBezTo>
                  <a:pt x="1755000" y="1361805"/>
                  <a:pt x="1361805" y="1755000"/>
                  <a:pt x="877500" y="1755000"/>
                </a:cubicBezTo>
                <a:cubicBezTo>
                  <a:pt x="393195" y="1755000"/>
                  <a:pt x="0" y="1361805"/>
                  <a:pt x="0" y="877500"/>
                </a:cubicBezTo>
                <a:cubicBezTo>
                  <a:pt x="0" y="393195"/>
                  <a:pt x="393195" y="0"/>
                  <a:pt x="877500" y="0"/>
                </a:cubicBezTo>
                <a:close/>
              </a:path>
            </a:pathLst>
          </a:custGeom>
          <a:solidFill>
            <a:srgbClr val="023E8A">
              <a:alpha val="80000"/>
            </a:srgbClr>
          </a:solidFill>
          <a:ln w="42863">
            <a:solidFill>
              <a:srgbClr val="000000"/>
            </a:solidFill>
            <a:prstDash val="solid"/>
          </a:ln>
          <a:effectLst>
            <a:outerShdw sx="100000" sy="100000" kx="0" ky="0" algn="bl" rotWithShape="0" blurRad="76200" dist="58659" dir="2700000">
              <a:srgbClr val="000000">
                <a:alpha val="54902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2811053" y="1241282"/>
            <a:ext cx="1755000" cy="175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3" name="Shape 20"/>
          <p:cNvSpPr/>
          <p:nvPr/>
        </p:nvSpPr>
        <p:spPr>
          <a:xfrm>
            <a:off x="5106348" y="2633880"/>
            <a:ext cx="1674000" cy="1674000"/>
          </a:xfrm>
          <a:custGeom>
            <a:avLst/>
            <a:gdLst/>
            <a:ahLst/>
            <a:cxnLst/>
            <a:rect l="l" t="t" r="r" b="b"/>
            <a:pathLst>
              <a:path w="1674000" h="1674000">
                <a:moveTo>
                  <a:pt x="837000" y="0"/>
                </a:moveTo>
                <a:cubicBezTo>
                  <a:pt x="1298953" y="0"/>
                  <a:pt x="1674000" y="375047"/>
                  <a:pt x="1674000" y="837000"/>
                </a:cubicBezTo>
                <a:cubicBezTo>
                  <a:pt x="1674000" y="1298953"/>
                  <a:pt x="1298953" y="1674000"/>
                  <a:pt x="837000" y="1674000"/>
                </a:cubicBezTo>
                <a:cubicBezTo>
                  <a:pt x="375047" y="1674000"/>
                  <a:pt x="0" y="1298953"/>
                  <a:pt x="0" y="837000"/>
                </a:cubicBezTo>
                <a:cubicBezTo>
                  <a:pt x="0" y="375047"/>
                  <a:pt x="375047" y="0"/>
                  <a:pt x="837000" y="0"/>
                </a:cubicBezTo>
                <a:close/>
              </a:path>
            </a:pathLst>
          </a:custGeom>
          <a:solidFill>
            <a:srgbClr val="0077B6">
              <a:alpha val="80000"/>
            </a:srgbClr>
          </a:solidFill>
          <a:ln w="42863">
            <a:solidFill>
              <a:srgbClr val="000000"/>
            </a:solidFill>
            <a:prstDash val="solid"/>
          </a:ln>
          <a:effectLst>
            <a:outerShdw sx="100000" sy="100000" kx="0" ky="0" algn="bl" rotWithShape="0" blurRad="76200" dist="58659" dir="2700000">
              <a:srgbClr val="000000">
                <a:alpha val="54902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5106348" y="2633880"/>
            <a:ext cx="1674000" cy="167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5" name="Shape 22"/>
          <p:cNvSpPr/>
          <p:nvPr/>
        </p:nvSpPr>
        <p:spPr>
          <a:xfrm>
            <a:off x="7242710" y="1232714"/>
            <a:ext cx="1539000" cy="1539000"/>
          </a:xfrm>
          <a:custGeom>
            <a:avLst/>
            <a:gdLst/>
            <a:ahLst/>
            <a:cxnLst/>
            <a:rect l="l" t="t" r="r" b="b"/>
            <a:pathLst>
              <a:path w="1539000" h="1539000">
                <a:moveTo>
                  <a:pt x="769500" y="0"/>
                </a:moveTo>
                <a:cubicBezTo>
                  <a:pt x="1194199" y="0"/>
                  <a:pt x="1539000" y="344801"/>
                  <a:pt x="1539000" y="769500"/>
                </a:cubicBezTo>
                <a:cubicBezTo>
                  <a:pt x="1539000" y="1194199"/>
                  <a:pt x="1194199" y="1539000"/>
                  <a:pt x="769500" y="1539000"/>
                </a:cubicBezTo>
                <a:cubicBezTo>
                  <a:pt x="344801" y="1539000"/>
                  <a:pt x="0" y="1194199"/>
                  <a:pt x="0" y="769500"/>
                </a:cubicBezTo>
                <a:cubicBezTo>
                  <a:pt x="0" y="344801"/>
                  <a:pt x="344801" y="0"/>
                  <a:pt x="769500" y="0"/>
                </a:cubicBezTo>
                <a:close/>
              </a:path>
            </a:pathLst>
          </a:custGeom>
          <a:solidFill>
            <a:srgbClr val="00B4D8">
              <a:alpha val="61961"/>
            </a:srgbClr>
          </a:solidFill>
          <a:ln w="42863">
            <a:solidFill>
              <a:srgbClr val="000000"/>
            </a:solidFill>
            <a:prstDash val="solid"/>
          </a:ln>
          <a:effectLst>
            <a:outerShdw sx="100000" sy="100000" kx="0" ky="0" algn="bl" rotWithShape="0" blurRad="76200" dist="58659" dir="2700000">
              <a:srgbClr val="000000">
                <a:alpha val="54902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7242710" y="1232714"/>
            <a:ext cx="1539000" cy="153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7" name="Text 24"/>
          <p:cNvSpPr/>
          <p:nvPr/>
        </p:nvSpPr>
        <p:spPr>
          <a:xfrm>
            <a:off x="981515" y="3723490"/>
            <a:ext cx="1711313" cy="715580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08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Parametrli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08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08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so‘rovlar</a:t>
            </a:r>
            <a:endParaRPr lang="en-US" sz="788" dirty="0"/>
          </a:p>
        </p:txBody>
      </p:sp>
      <p:sp>
        <p:nvSpPr>
          <p:cNvPr id="28" name="Text 25"/>
          <p:cNvSpPr/>
          <p:nvPr/>
        </p:nvSpPr>
        <p:spPr>
          <a:xfrm>
            <a:off x="2808118" y="1774670"/>
            <a:ext cx="1754999" cy="623248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Input validation</a:t>
            </a:r>
            <a:endParaRPr lang="en-US" sz="788" dirty="0"/>
          </a:p>
        </p:txBody>
      </p:sp>
      <p:sp>
        <p:nvSpPr>
          <p:cNvPr id="29" name="Text 26"/>
          <p:cNvSpPr/>
          <p:nvPr/>
        </p:nvSpPr>
        <p:spPr>
          <a:xfrm>
            <a:off x="5170871" y="3159256"/>
            <a:ext cx="1456255" cy="623248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Pattern detection</a:t>
            </a:r>
            <a:endParaRPr lang="en-US" sz="788" dirty="0"/>
          </a:p>
        </p:txBody>
      </p:sp>
      <p:sp>
        <p:nvSpPr>
          <p:cNvPr id="30" name="Text 27"/>
          <p:cNvSpPr/>
          <p:nvPr/>
        </p:nvSpPr>
        <p:spPr>
          <a:xfrm>
            <a:off x="7482668" y="1790864"/>
            <a:ext cx="1059083" cy="392415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08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ORM</a:t>
            </a:r>
            <a:endParaRPr lang="en-US" sz="788" dirty="0"/>
          </a:p>
        </p:txBody>
      </p:sp>
      <p:sp>
        <p:nvSpPr>
          <p:cNvPr id="31" name="Shape 28"/>
          <p:cNvSpPr/>
          <p:nvPr/>
        </p:nvSpPr>
        <p:spPr>
          <a:xfrm>
            <a:off x="2473821" y="2735567"/>
            <a:ext cx="599257" cy="611776"/>
          </a:xfrm>
          <a:custGeom>
            <a:avLst/>
            <a:gdLst/>
            <a:ahLst/>
            <a:cxnLst/>
            <a:rect l="l" t="t" r="r" b="b"/>
            <a:pathLst>
              <a:path w="599257" h="611776">
                <a:moveTo>
                  <a:pt x="599258" y="0"/>
                </a:moveTo>
                <a:lnTo>
                  <a:pt x="0" y="611776"/>
                </a:lnTo>
              </a:path>
            </a:pathLst>
          </a:custGeom>
          <a:noFill/>
          <a:ln w="57150">
            <a:solidFill>
              <a:srgbClr val="0D0072"/>
            </a:solidFill>
            <a:prstDash val="dash"/>
            <a:headEnd type="none"/>
            <a:tailEnd type="none"/>
          </a:ln>
        </p:spPr>
      </p:sp>
      <p:sp>
        <p:nvSpPr>
          <p:cNvPr id="32" name="Shape 29"/>
          <p:cNvSpPr/>
          <p:nvPr/>
        </p:nvSpPr>
        <p:spPr>
          <a:xfrm>
            <a:off x="4476116" y="2507934"/>
            <a:ext cx="722403" cy="609708"/>
          </a:xfrm>
          <a:custGeom>
            <a:avLst/>
            <a:gdLst/>
            <a:ahLst/>
            <a:cxnLst/>
            <a:rect l="l" t="t" r="r" b="b"/>
            <a:pathLst>
              <a:path w="722403" h="609708">
                <a:moveTo>
                  <a:pt x="0" y="0"/>
                </a:moveTo>
                <a:lnTo>
                  <a:pt x="722403" y="609708"/>
                </a:lnTo>
              </a:path>
            </a:pathLst>
          </a:custGeom>
          <a:noFill/>
          <a:ln w="42863">
            <a:solidFill>
              <a:srgbClr val="000000"/>
            </a:solidFill>
            <a:prstDash val="dash"/>
            <a:headEnd type="none"/>
            <a:tailEnd type="none"/>
          </a:ln>
        </p:spPr>
      </p:sp>
      <p:sp>
        <p:nvSpPr>
          <p:cNvPr id="33" name="Shape 30"/>
          <p:cNvSpPr/>
          <p:nvPr/>
        </p:nvSpPr>
        <p:spPr>
          <a:xfrm>
            <a:off x="6719263" y="2546333"/>
            <a:ext cx="748829" cy="626650"/>
          </a:xfrm>
          <a:custGeom>
            <a:avLst/>
            <a:gdLst/>
            <a:ahLst/>
            <a:cxnLst/>
            <a:rect l="l" t="t" r="r" b="b"/>
            <a:pathLst>
              <a:path w="748829" h="626650">
                <a:moveTo>
                  <a:pt x="0" y="626650"/>
                </a:moveTo>
                <a:lnTo>
                  <a:pt x="748829" y="0"/>
                </a:lnTo>
              </a:path>
            </a:pathLst>
          </a:custGeom>
          <a:noFill/>
          <a:ln w="42863">
            <a:solidFill>
              <a:srgbClr val="000000"/>
            </a:solidFill>
            <a:prstDash val="dash"/>
            <a:headEnd type="none"/>
            <a:tailEnd type="none"/>
          </a:ln>
        </p:spPr>
      </p:sp>
      <p:sp>
        <p:nvSpPr>
          <p:cNvPr id="34" name="Text 31"/>
          <p:cNvSpPr/>
          <p:nvPr/>
        </p:nvSpPr>
        <p:spPr>
          <a:xfrm rot="7260000">
            <a:off x="7470481" y="3966635"/>
            <a:ext cx="1859083" cy="157556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68604" y="49861"/>
            <a:ext cx="2330471" cy="692497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405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Xulosa</a:t>
            </a:r>
            <a:endParaRPr lang="en-US" sz="788" dirty="0"/>
          </a:p>
        </p:txBody>
      </p:sp>
      <p:sp>
        <p:nvSpPr>
          <p:cNvPr id="3" name="Shape 1"/>
          <p:cNvSpPr/>
          <p:nvPr/>
        </p:nvSpPr>
        <p:spPr>
          <a:xfrm>
            <a:off x="2736470" y="1902807"/>
            <a:ext cx="5562932" cy="533124"/>
          </a:xfrm>
          <a:custGeom>
            <a:avLst/>
            <a:gdLst/>
            <a:ahLst/>
            <a:cxnLst/>
            <a:rect l="l" t="t" r="r" b="b"/>
            <a:pathLst>
              <a:path w="5562932" h="533124">
                <a:moveTo>
                  <a:pt x="1112586" y="0"/>
                </a:moveTo>
                <a:lnTo>
                  <a:pt x="4450346" y="0"/>
                </a:lnTo>
                <a:lnTo>
                  <a:pt x="5562932" y="266562"/>
                </a:lnTo>
                <a:lnTo>
                  <a:pt x="4450346" y="533124"/>
                </a:lnTo>
                <a:lnTo>
                  <a:pt x="1112586" y="533124"/>
                </a:lnTo>
                <a:lnTo>
                  <a:pt x="0" y="266562"/>
                </a:lnTo>
                <a:close/>
              </a:path>
            </a:pathLst>
          </a:custGeom>
          <a:solidFill>
            <a:srgbClr val="0A8C90"/>
          </a:solidFill>
          <a:ln/>
          <a:effectLst>
            <a:outerShdw sx="100000" sy="100000" kx="0" ky="0" algn="bl" rotWithShape="0" blurRad="85725" dist="50800" dir="2700000">
              <a:srgbClr val="000000">
                <a:alpha val="63137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736470" y="1902807"/>
            <a:ext cx="5562932" cy="5331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5" name="Shape 3"/>
          <p:cNvSpPr/>
          <p:nvPr/>
        </p:nvSpPr>
        <p:spPr>
          <a:xfrm>
            <a:off x="2385470" y="1812604"/>
            <a:ext cx="702000" cy="702000"/>
          </a:xfrm>
          <a:custGeom>
            <a:avLst/>
            <a:gdLst/>
            <a:ahLst/>
            <a:cxnLst/>
            <a:rect l="l" t="t" r="r" b="b"/>
            <a:pathLst>
              <a:path w="702000" h="702000">
                <a:moveTo>
                  <a:pt x="351000" y="0"/>
                </a:moveTo>
                <a:cubicBezTo>
                  <a:pt x="544722" y="0"/>
                  <a:pt x="702000" y="157278"/>
                  <a:pt x="702000" y="351000"/>
                </a:cubicBezTo>
                <a:cubicBezTo>
                  <a:pt x="702000" y="544722"/>
                  <a:pt x="544722" y="702000"/>
                  <a:pt x="351000" y="702000"/>
                </a:cubicBezTo>
                <a:cubicBezTo>
                  <a:pt x="157278" y="702000"/>
                  <a:pt x="0" y="544722"/>
                  <a:pt x="0" y="351000"/>
                </a:cubicBezTo>
                <a:cubicBezTo>
                  <a:pt x="0" y="157278"/>
                  <a:pt x="157278" y="0"/>
                  <a:pt x="3510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114300" dist="50800" dir="2700000">
              <a:srgbClr val="000000">
                <a:alpha val="52157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385470" y="1812604"/>
            <a:ext cx="702000" cy="70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7" name="Shape 5"/>
          <p:cNvSpPr/>
          <p:nvPr/>
        </p:nvSpPr>
        <p:spPr>
          <a:xfrm>
            <a:off x="2544744" y="1965917"/>
            <a:ext cx="390000" cy="390000"/>
          </a:xfrm>
          <a:custGeom>
            <a:avLst/>
            <a:gdLst/>
            <a:ahLst/>
            <a:cxnLst/>
            <a:rect l="l" t="t" r="r" b="b"/>
            <a:pathLst>
              <a:path w="390000" h="390000">
                <a:moveTo>
                  <a:pt x="195000" y="0"/>
                </a:moveTo>
                <a:cubicBezTo>
                  <a:pt x="302623" y="0"/>
                  <a:pt x="390000" y="87377"/>
                  <a:pt x="390000" y="195000"/>
                </a:cubicBezTo>
                <a:cubicBezTo>
                  <a:pt x="390000" y="302623"/>
                  <a:pt x="302623" y="390000"/>
                  <a:pt x="195000" y="390000"/>
                </a:cubicBezTo>
                <a:cubicBezTo>
                  <a:pt x="87377" y="390000"/>
                  <a:pt x="0" y="302623"/>
                  <a:pt x="0" y="195000"/>
                </a:cubicBezTo>
                <a:cubicBezTo>
                  <a:pt x="0" y="87377"/>
                  <a:pt x="87377" y="0"/>
                  <a:pt x="1950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>
            <a:solidFill>
              <a:srgbClr val="0D007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44744" y="1965917"/>
            <a:ext cx="390000" cy="39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14591" y="2031235"/>
            <a:ext cx="267954" cy="2533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440335" y="1865936"/>
            <a:ext cx="675000" cy="675000"/>
          </a:xfrm>
          <a:custGeom>
            <a:avLst/>
            <a:gdLst/>
            <a:ahLst/>
            <a:cxnLst/>
            <a:rect l="l" t="t" r="r" b="b"/>
            <a:pathLst>
              <a:path w="675000" h="675000">
                <a:moveTo>
                  <a:pt x="337500" y="0"/>
                </a:moveTo>
                <a:cubicBezTo>
                  <a:pt x="523772" y="0"/>
                  <a:pt x="675000" y="151229"/>
                  <a:pt x="675000" y="337500"/>
                </a:cubicBezTo>
                <a:cubicBezTo>
                  <a:pt x="675000" y="523771"/>
                  <a:pt x="523772" y="675000"/>
                  <a:pt x="337500" y="675000"/>
                </a:cubicBezTo>
                <a:cubicBezTo>
                  <a:pt x="151229" y="675000"/>
                  <a:pt x="0" y="523771"/>
                  <a:pt x="0" y="337500"/>
                </a:cubicBezTo>
                <a:cubicBezTo>
                  <a:pt x="0" y="151229"/>
                  <a:pt x="151229" y="0"/>
                  <a:pt x="3375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2440335" y="1865936"/>
            <a:ext cx="675000" cy="67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2" name="Text 9"/>
          <p:cNvSpPr/>
          <p:nvPr/>
        </p:nvSpPr>
        <p:spPr>
          <a:xfrm>
            <a:off x="2445924" y="1865936"/>
            <a:ext cx="674873" cy="3368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3" name="Text 10"/>
          <p:cNvSpPr/>
          <p:nvPr/>
        </p:nvSpPr>
        <p:spPr>
          <a:xfrm>
            <a:off x="3079462" y="1902807"/>
            <a:ext cx="5219941" cy="484748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Web ilovalar va ulaga qaratilgan tahdidlar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tahlil qilindi va o’rganib chiqildi</a:t>
            </a:r>
            <a:endParaRPr lang="en-US" sz="788" dirty="0"/>
          </a:p>
        </p:txBody>
      </p:sp>
      <p:sp>
        <p:nvSpPr>
          <p:cNvPr id="14" name="Shape 11"/>
          <p:cNvSpPr/>
          <p:nvPr/>
        </p:nvSpPr>
        <p:spPr>
          <a:xfrm>
            <a:off x="2736470" y="2714878"/>
            <a:ext cx="5562932" cy="533124"/>
          </a:xfrm>
          <a:custGeom>
            <a:avLst/>
            <a:gdLst/>
            <a:ahLst/>
            <a:cxnLst/>
            <a:rect l="l" t="t" r="r" b="b"/>
            <a:pathLst>
              <a:path w="5562932" h="533124">
                <a:moveTo>
                  <a:pt x="1112586" y="0"/>
                </a:moveTo>
                <a:lnTo>
                  <a:pt x="4450346" y="0"/>
                </a:lnTo>
                <a:lnTo>
                  <a:pt x="5562932" y="266562"/>
                </a:lnTo>
                <a:lnTo>
                  <a:pt x="4450346" y="533124"/>
                </a:lnTo>
                <a:lnTo>
                  <a:pt x="1112586" y="533124"/>
                </a:lnTo>
                <a:lnTo>
                  <a:pt x="0" y="266562"/>
                </a:lnTo>
                <a:close/>
              </a:path>
            </a:pathLst>
          </a:custGeom>
          <a:solidFill>
            <a:srgbClr val="0A8C90"/>
          </a:solidFill>
          <a:ln/>
          <a:effectLst>
            <a:outerShdw sx="100000" sy="100000" kx="0" ky="0" algn="bl" rotWithShape="0" blurRad="85725" dist="50800" dir="2700000">
              <a:srgbClr val="000000">
                <a:alpha val="63137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2736470" y="2714878"/>
            <a:ext cx="5562932" cy="5331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6" name="Shape 13"/>
          <p:cNvSpPr/>
          <p:nvPr/>
        </p:nvSpPr>
        <p:spPr>
          <a:xfrm>
            <a:off x="2385470" y="2624675"/>
            <a:ext cx="702000" cy="702000"/>
          </a:xfrm>
          <a:custGeom>
            <a:avLst/>
            <a:gdLst/>
            <a:ahLst/>
            <a:cxnLst/>
            <a:rect l="l" t="t" r="r" b="b"/>
            <a:pathLst>
              <a:path w="702000" h="702000">
                <a:moveTo>
                  <a:pt x="351000" y="0"/>
                </a:moveTo>
                <a:cubicBezTo>
                  <a:pt x="544722" y="0"/>
                  <a:pt x="702000" y="157278"/>
                  <a:pt x="702000" y="351000"/>
                </a:cubicBezTo>
                <a:cubicBezTo>
                  <a:pt x="702000" y="544722"/>
                  <a:pt x="544722" y="702000"/>
                  <a:pt x="351000" y="702000"/>
                </a:cubicBezTo>
                <a:cubicBezTo>
                  <a:pt x="157278" y="702000"/>
                  <a:pt x="0" y="544722"/>
                  <a:pt x="0" y="351000"/>
                </a:cubicBezTo>
                <a:cubicBezTo>
                  <a:pt x="0" y="157278"/>
                  <a:pt x="157278" y="0"/>
                  <a:pt x="3510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114300" dist="50800" dir="2700000">
              <a:srgbClr val="000000">
                <a:alpha val="52157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385470" y="2624675"/>
            <a:ext cx="702000" cy="70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18" name="Shape 15"/>
          <p:cNvSpPr/>
          <p:nvPr/>
        </p:nvSpPr>
        <p:spPr>
          <a:xfrm>
            <a:off x="2544744" y="2777989"/>
            <a:ext cx="390000" cy="390000"/>
          </a:xfrm>
          <a:custGeom>
            <a:avLst/>
            <a:gdLst/>
            <a:ahLst/>
            <a:cxnLst/>
            <a:rect l="l" t="t" r="r" b="b"/>
            <a:pathLst>
              <a:path w="390000" h="390000">
                <a:moveTo>
                  <a:pt x="195000" y="0"/>
                </a:moveTo>
                <a:cubicBezTo>
                  <a:pt x="302623" y="0"/>
                  <a:pt x="390000" y="87377"/>
                  <a:pt x="390000" y="195000"/>
                </a:cubicBezTo>
                <a:cubicBezTo>
                  <a:pt x="390000" y="302623"/>
                  <a:pt x="302623" y="390000"/>
                  <a:pt x="195000" y="390000"/>
                </a:cubicBezTo>
                <a:cubicBezTo>
                  <a:pt x="87377" y="390000"/>
                  <a:pt x="0" y="302623"/>
                  <a:pt x="0" y="195000"/>
                </a:cubicBezTo>
                <a:cubicBezTo>
                  <a:pt x="0" y="87377"/>
                  <a:pt x="87377" y="0"/>
                  <a:pt x="1950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>
            <a:solidFill>
              <a:srgbClr val="0D007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544744" y="2777989"/>
            <a:ext cx="390000" cy="39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4591" y="2843306"/>
            <a:ext cx="267954" cy="25330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440335" y="2678008"/>
            <a:ext cx="675000" cy="675000"/>
          </a:xfrm>
          <a:custGeom>
            <a:avLst/>
            <a:gdLst/>
            <a:ahLst/>
            <a:cxnLst/>
            <a:rect l="l" t="t" r="r" b="b"/>
            <a:pathLst>
              <a:path w="675000" h="675000">
                <a:moveTo>
                  <a:pt x="337500" y="0"/>
                </a:moveTo>
                <a:cubicBezTo>
                  <a:pt x="523772" y="0"/>
                  <a:pt x="675000" y="151229"/>
                  <a:pt x="675000" y="337500"/>
                </a:cubicBezTo>
                <a:cubicBezTo>
                  <a:pt x="675000" y="523771"/>
                  <a:pt x="523772" y="675000"/>
                  <a:pt x="337500" y="675000"/>
                </a:cubicBezTo>
                <a:cubicBezTo>
                  <a:pt x="151229" y="675000"/>
                  <a:pt x="0" y="523771"/>
                  <a:pt x="0" y="337500"/>
                </a:cubicBezTo>
                <a:cubicBezTo>
                  <a:pt x="0" y="151229"/>
                  <a:pt x="151229" y="0"/>
                  <a:pt x="3375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/>
        </p:spPr>
      </p:sp>
      <p:sp>
        <p:nvSpPr>
          <p:cNvPr id="22" name="Text 18"/>
          <p:cNvSpPr/>
          <p:nvPr/>
        </p:nvSpPr>
        <p:spPr>
          <a:xfrm>
            <a:off x="2440335" y="2678008"/>
            <a:ext cx="675000" cy="67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3" name="Text 19"/>
          <p:cNvSpPr/>
          <p:nvPr/>
        </p:nvSpPr>
        <p:spPr>
          <a:xfrm>
            <a:off x="2445924" y="2678008"/>
            <a:ext cx="674873" cy="3368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4" name="Shape 20"/>
          <p:cNvSpPr/>
          <p:nvPr/>
        </p:nvSpPr>
        <p:spPr>
          <a:xfrm>
            <a:off x="2736470" y="3526950"/>
            <a:ext cx="5562932" cy="533124"/>
          </a:xfrm>
          <a:custGeom>
            <a:avLst/>
            <a:gdLst/>
            <a:ahLst/>
            <a:cxnLst/>
            <a:rect l="l" t="t" r="r" b="b"/>
            <a:pathLst>
              <a:path w="5562932" h="533124">
                <a:moveTo>
                  <a:pt x="1112586" y="0"/>
                </a:moveTo>
                <a:lnTo>
                  <a:pt x="4450346" y="0"/>
                </a:lnTo>
                <a:lnTo>
                  <a:pt x="5562932" y="266562"/>
                </a:lnTo>
                <a:lnTo>
                  <a:pt x="4450346" y="533124"/>
                </a:lnTo>
                <a:lnTo>
                  <a:pt x="1112586" y="533124"/>
                </a:lnTo>
                <a:lnTo>
                  <a:pt x="0" y="266562"/>
                </a:lnTo>
                <a:close/>
              </a:path>
            </a:pathLst>
          </a:custGeom>
          <a:solidFill>
            <a:srgbClr val="0A8C90"/>
          </a:solidFill>
          <a:ln/>
          <a:effectLst>
            <a:outerShdw sx="100000" sy="100000" kx="0" ky="0" algn="bl" rotWithShape="0" blurRad="85725" dist="50800" dir="2700000">
              <a:srgbClr val="000000">
                <a:alpha val="63137"/>
              </a:srgbClr>
            </a:outerShdw>
          </a:effectLst>
        </p:spPr>
      </p:sp>
      <p:sp>
        <p:nvSpPr>
          <p:cNvPr id="25" name="Text 21"/>
          <p:cNvSpPr/>
          <p:nvPr/>
        </p:nvSpPr>
        <p:spPr>
          <a:xfrm>
            <a:off x="2736470" y="3526950"/>
            <a:ext cx="5562932" cy="5331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6" name="Shape 22"/>
          <p:cNvSpPr/>
          <p:nvPr/>
        </p:nvSpPr>
        <p:spPr>
          <a:xfrm>
            <a:off x="2385470" y="3436747"/>
            <a:ext cx="702000" cy="702000"/>
          </a:xfrm>
          <a:custGeom>
            <a:avLst/>
            <a:gdLst/>
            <a:ahLst/>
            <a:cxnLst/>
            <a:rect l="l" t="t" r="r" b="b"/>
            <a:pathLst>
              <a:path w="702000" h="702000">
                <a:moveTo>
                  <a:pt x="351000" y="0"/>
                </a:moveTo>
                <a:cubicBezTo>
                  <a:pt x="544722" y="0"/>
                  <a:pt x="702000" y="157278"/>
                  <a:pt x="702000" y="351000"/>
                </a:cubicBezTo>
                <a:cubicBezTo>
                  <a:pt x="702000" y="544722"/>
                  <a:pt x="544722" y="702000"/>
                  <a:pt x="351000" y="702000"/>
                </a:cubicBezTo>
                <a:cubicBezTo>
                  <a:pt x="157278" y="702000"/>
                  <a:pt x="0" y="544722"/>
                  <a:pt x="0" y="351000"/>
                </a:cubicBezTo>
                <a:cubicBezTo>
                  <a:pt x="0" y="157278"/>
                  <a:pt x="157278" y="0"/>
                  <a:pt x="3510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114300" dist="50800" dir="2700000">
              <a:srgbClr val="000000">
                <a:alpha val="52157"/>
              </a:srgbClr>
            </a:outerShdw>
          </a:effectLst>
        </p:spPr>
      </p:sp>
      <p:sp>
        <p:nvSpPr>
          <p:cNvPr id="27" name="Text 23"/>
          <p:cNvSpPr/>
          <p:nvPr/>
        </p:nvSpPr>
        <p:spPr>
          <a:xfrm>
            <a:off x="2385470" y="3436747"/>
            <a:ext cx="702000" cy="70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28" name="Shape 24"/>
          <p:cNvSpPr/>
          <p:nvPr/>
        </p:nvSpPr>
        <p:spPr>
          <a:xfrm>
            <a:off x="2544744" y="3590060"/>
            <a:ext cx="390000" cy="390000"/>
          </a:xfrm>
          <a:custGeom>
            <a:avLst/>
            <a:gdLst/>
            <a:ahLst/>
            <a:cxnLst/>
            <a:rect l="l" t="t" r="r" b="b"/>
            <a:pathLst>
              <a:path w="390000" h="390000">
                <a:moveTo>
                  <a:pt x="195000" y="0"/>
                </a:moveTo>
                <a:cubicBezTo>
                  <a:pt x="302623" y="0"/>
                  <a:pt x="390000" y="87377"/>
                  <a:pt x="390000" y="195000"/>
                </a:cubicBezTo>
                <a:cubicBezTo>
                  <a:pt x="390000" y="302623"/>
                  <a:pt x="302623" y="390000"/>
                  <a:pt x="195000" y="390000"/>
                </a:cubicBezTo>
                <a:cubicBezTo>
                  <a:pt x="87377" y="390000"/>
                  <a:pt x="0" y="302623"/>
                  <a:pt x="0" y="195000"/>
                </a:cubicBezTo>
                <a:cubicBezTo>
                  <a:pt x="0" y="87377"/>
                  <a:pt x="87377" y="0"/>
                  <a:pt x="1950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>
            <a:solidFill>
              <a:srgbClr val="0D0072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2544744" y="3590060"/>
            <a:ext cx="390000" cy="39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4591" y="3655378"/>
            <a:ext cx="267954" cy="253300"/>
          </a:xfrm>
          <a:prstGeom prst="rect">
            <a:avLst/>
          </a:prstGeom>
        </p:spPr>
      </p:pic>
      <p:sp>
        <p:nvSpPr>
          <p:cNvPr id="31" name="Shape 26"/>
          <p:cNvSpPr/>
          <p:nvPr/>
        </p:nvSpPr>
        <p:spPr>
          <a:xfrm>
            <a:off x="2440335" y="3490079"/>
            <a:ext cx="675000" cy="675000"/>
          </a:xfrm>
          <a:custGeom>
            <a:avLst/>
            <a:gdLst/>
            <a:ahLst/>
            <a:cxnLst/>
            <a:rect l="l" t="t" r="r" b="b"/>
            <a:pathLst>
              <a:path w="675000" h="675000">
                <a:moveTo>
                  <a:pt x="337500" y="0"/>
                </a:moveTo>
                <a:cubicBezTo>
                  <a:pt x="523772" y="0"/>
                  <a:pt x="675000" y="151229"/>
                  <a:pt x="675000" y="337500"/>
                </a:cubicBezTo>
                <a:cubicBezTo>
                  <a:pt x="675000" y="523771"/>
                  <a:pt x="523772" y="675000"/>
                  <a:pt x="337500" y="675000"/>
                </a:cubicBezTo>
                <a:cubicBezTo>
                  <a:pt x="151229" y="675000"/>
                  <a:pt x="0" y="523771"/>
                  <a:pt x="0" y="337500"/>
                </a:cubicBezTo>
                <a:cubicBezTo>
                  <a:pt x="0" y="151229"/>
                  <a:pt x="151229" y="0"/>
                  <a:pt x="3375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/>
        </p:spPr>
      </p:sp>
      <p:sp>
        <p:nvSpPr>
          <p:cNvPr id="32" name="Text 27"/>
          <p:cNvSpPr/>
          <p:nvPr/>
        </p:nvSpPr>
        <p:spPr>
          <a:xfrm>
            <a:off x="2440335" y="3490079"/>
            <a:ext cx="675000" cy="67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3" name="Text 28"/>
          <p:cNvSpPr/>
          <p:nvPr/>
        </p:nvSpPr>
        <p:spPr>
          <a:xfrm>
            <a:off x="2445924" y="3490079"/>
            <a:ext cx="674873" cy="3368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4" name="Text 29"/>
          <p:cNvSpPr/>
          <p:nvPr/>
        </p:nvSpPr>
        <p:spPr>
          <a:xfrm>
            <a:off x="3127873" y="2722563"/>
            <a:ext cx="5015822" cy="484748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SQL injection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uning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ishlash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mexanizmlari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bilan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tanishildi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tahlil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qilindi</a:t>
            </a:r>
            <a:endParaRPr lang="en-US" sz="788" dirty="0"/>
          </a:p>
        </p:txBody>
      </p:sp>
      <p:sp>
        <p:nvSpPr>
          <p:cNvPr id="35" name="Shape 30"/>
          <p:cNvSpPr/>
          <p:nvPr/>
        </p:nvSpPr>
        <p:spPr>
          <a:xfrm>
            <a:off x="2736470" y="4339021"/>
            <a:ext cx="5562932" cy="533124"/>
          </a:xfrm>
          <a:custGeom>
            <a:avLst/>
            <a:gdLst/>
            <a:ahLst/>
            <a:cxnLst/>
            <a:rect l="l" t="t" r="r" b="b"/>
            <a:pathLst>
              <a:path w="5562932" h="533124">
                <a:moveTo>
                  <a:pt x="1112586" y="0"/>
                </a:moveTo>
                <a:lnTo>
                  <a:pt x="4450346" y="0"/>
                </a:lnTo>
                <a:lnTo>
                  <a:pt x="5562932" y="266562"/>
                </a:lnTo>
                <a:lnTo>
                  <a:pt x="4450346" y="533124"/>
                </a:lnTo>
                <a:lnTo>
                  <a:pt x="1112586" y="533124"/>
                </a:lnTo>
                <a:lnTo>
                  <a:pt x="0" y="266562"/>
                </a:lnTo>
                <a:close/>
              </a:path>
            </a:pathLst>
          </a:custGeom>
          <a:solidFill>
            <a:srgbClr val="0A8C90"/>
          </a:solidFill>
          <a:ln/>
          <a:effectLst>
            <a:outerShdw sx="100000" sy="100000" kx="0" ky="0" algn="bl" rotWithShape="0" blurRad="85725" dist="50800" dir="2700000">
              <a:srgbClr val="000000">
                <a:alpha val="63137"/>
              </a:srgbClr>
            </a:outerShdw>
          </a:effectLst>
        </p:spPr>
      </p:sp>
      <p:sp>
        <p:nvSpPr>
          <p:cNvPr id="36" name="Text 31"/>
          <p:cNvSpPr/>
          <p:nvPr/>
        </p:nvSpPr>
        <p:spPr>
          <a:xfrm>
            <a:off x="2736470" y="4339021"/>
            <a:ext cx="5562932" cy="5331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37" name="Text 32"/>
          <p:cNvSpPr/>
          <p:nvPr/>
        </p:nvSpPr>
        <p:spPr>
          <a:xfrm>
            <a:off x="3150404" y="3545372"/>
            <a:ext cx="4993291" cy="484748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SQL injection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hujumlaridan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himoyalash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choralari</a:t>
            </a:r>
            <a:endParaRPr lang="en-US" sz="788" dirty="0"/>
          </a:p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taqdim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etildi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ishlab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chiqildi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endParaRPr lang="en-US" sz="788" dirty="0"/>
          </a:p>
        </p:txBody>
      </p:sp>
      <p:sp>
        <p:nvSpPr>
          <p:cNvPr id="38" name="Shape 33"/>
          <p:cNvSpPr/>
          <p:nvPr/>
        </p:nvSpPr>
        <p:spPr>
          <a:xfrm>
            <a:off x="2385470" y="4248818"/>
            <a:ext cx="702000" cy="702000"/>
          </a:xfrm>
          <a:custGeom>
            <a:avLst/>
            <a:gdLst/>
            <a:ahLst/>
            <a:cxnLst/>
            <a:rect l="l" t="t" r="r" b="b"/>
            <a:pathLst>
              <a:path w="702000" h="702000">
                <a:moveTo>
                  <a:pt x="351000" y="0"/>
                </a:moveTo>
                <a:cubicBezTo>
                  <a:pt x="544722" y="0"/>
                  <a:pt x="702000" y="157278"/>
                  <a:pt x="702000" y="351000"/>
                </a:cubicBezTo>
                <a:cubicBezTo>
                  <a:pt x="702000" y="544722"/>
                  <a:pt x="544722" y="702000"/>
                  <a:pt x="351000" y="702000"/>
                </a:cubicBezTo>
                <a:cubicBezTo>
                  <a:pt x="157278" y="702000"/>
                  <a:pt x="0" y="544722"/>
                  <a:pt x="0" y="351000"/>
                </a:cubicBezTo>
                <a:cubicBezTo>
                  <a:pt x="0" y="157278"/>
                  <a:pt x="157278" y="0"/>
                  <a:pt x="3510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114300" dist="50800" dir="2700000">
              <a:srgbClr val="000000">
                <a:alpha val="52157"/>
              </a:srgbClr>
            </a:outerShdw>
          </a:effectLst>
        </p:spPr>
      </p:sp>
      <p:sp>
        <p:nvSpPr>
          <p:cNvPr id="39" name="Text 34"/>
          <p:cNvSpPr/>
          <p:nvPr/>
        </p:nvSpPr>
        <p:spPr>
          <a:xfrm>
            <a:off x="2385470" y="4248818"/>
            <a:ext cx="702000" cy="70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40" name="Shape 35"/>
          <p:cNvSpPr/>
          <p:nvPr/>
        </p:nvSpPr>
        <p:spPr>
          <a:xfrm>
            <a:off x="2544744" y="4402132"/>
            <a:ext cx="390000" cy="390000"/>
          </a:xfrm>
          <a:custGeom>
            <a:avLst/>
            <a:gdLst/>
            <a:ahLst/>
            <a:cxnLst/>
            <a:rect l="l" t="t" r="r" b="b"/>
            <a:pathLst>
              <a:path w="390000" h="390000">
                <a:moveTo>
                  <a:pt x="195000" y="0"/>
                </a:moveTo>
                <a:cubicBezTo>
                  <a:pt x="302623" y="0"/>
                  <a:pt x="390000" y="87377"/>
                  <a:pt x="390000" y="195000"/>
                </a:cubicBezTo>
                <a:cubicBezTo>
                  <a:pt x="390000" y="302623"/>
                  <a:pt x="302623" y="390000"/>
                  <a:pt x="195000" y="390000"/>
                </a:cubicBezTo>
                <a:cubicBezTo>
                  <a:pt x="87377" y="390000"/>
                  <a:pt x="0" y="302623"/>
                  <a:pt x="0" y="195000"/>
                </a:cubicBezTo>
                <a:cubicBezTo>
                  <a:pt x="0" y="87377"/>
                  <a:pt x="87377" y="0"/>
                  <a:pt x="1950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>
            <a:solidFill>
              <a:srgbClr val="0D007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2544744" y="4402132"/>
            <a:ext cx="390000" cy="39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pic>
        <p:nvPicPr>
          <p:cNvPr id="4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14591" y="4467449"/>
            <a:ext cx="267954" cy="253300"/>
          </a:xfrm>
          <a:prstGeom prst="rect">
            <a:avLst/>
          </a:prstGeom>
        </p:spPr>
      </p:pic>
      <p:sp>
        <p:nvSpPr>
          <p:cNvPr id="43" name="Shape 37"/>
          <p:cNvSpPr/>
          <p:nvPr/>
        </p:nvSpPr>
        <p:spPr>
          <a:xfrm>
            <a:off x="2440335" y="4302151"/>
            <a:ext cx="675000" cy="675000"/>
          </a:xfrm>
          <a:custGeom>
            <a:avLst/>
            <a:gdLst/>
            <a:ahLst/>
            <a:cxnLst/>
            <a:rect l="l" t="t" r="r" b="b"/>
            <a:pathLst>
              <a:path w="675000" h="675000">
                <a:moveTo>
                  <a:pt x="337500" y="0"/>
                </a:moveTo>
                <a:cubicBezTo>
                  <a:pt x="523772" y="0"/>
                  <a:pt x="675000" y="151229"/>
                  <a:pt x="675000" y="337500"/>
                </a:cubicBezTo>
                <a:cubicBezTo>
                  <a:pt x="675000" y="523771"/>
                  <a:pt x="523772" y="675000"/>
                  <a:pt x="337500" y="675000"/>
                </a:cubicBezTo>
                <a:cubicBezTo>
                  <a:pt x="151229" y="675000"/>
                  <a:pt x="0" y="523771"/>
                  <a:pt x="0" y="337500"/>
                </a:cubicBezTo>
                <a:cubicBezTo>
                  <a:pt x="0" y="151229"/>
                  <a:pt x="151229" y="0"/>
                  <a:pt x="3375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/>
        </p:spPr>
      </p:sp>
      <p:sp>
        <p:nvSpPr>
          <p:cNvPr id="44" name="Text 38"/>
          <p:cNvSpPr/>
          <p:nvPr/>
        </p:nvSpPr>
        <p:spPr>
          <a:xfrm>
            <a:off x="2440335" y="4302151"/>
            <a:ext cx="675000" cy="675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45" name="Text 39"/>
          <p:cNvSpPr/>
          <p:nvPr/>
        </p:nvSpPr>
        <p:spPr>
          <a:xfrm>
            <a:off x="2445924" y="4302151"/>
            <a:ext cx="674873" cy="3368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46" name="Text 40"/>
          <p:cNvSpPr/>
          <p:nvPr/>
        </p:nvSpPr>
        <p:spPr>
          <a:xfrm>
            <a:off x="3127873" y="4341231"/>
            <a:ext cx="5093658" cy="484748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SQL injection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hujumlaridan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himoyalash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algoritmlari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tahlili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bilan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tanishildi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o’rganib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chiqildi</a:t>
            </a:r>
            <a:endParaRPr lang="en-US" sz="788" dirty="0"/>
          </a:p>
        </p:txBody>
      </p:sp>
      <p:sp>
        <p:nvSpPr>
          <p:cNvPr id="47" name="Shape 41"/>
          <p:cNvSpPr/>
          <p:nvPr/>
        </p:nvSpPr>
        <p:spPr>
          <a:xfrm>
            <a:off x="0" y="794385"/>
            <a:ext cx="9144000" cy="892212"/>
          </a:xfrm>
          <a:custGeom>
            <a:avLst/>
            <a:gdLst/>
            <a:ahLst/>
            <a:cxnLst/>
            <a:rect l="l" t="t" r="r" b="b"/>
            <a:pathLst>
              <a:path w="9144000" h="892212">
                <a:moveTo>
                  <a:pt x="0" y="0"/>
                </a:moveTo>
                <a:lnTo>
                  <a:pt x="9144000" y="0"/>
                </a:lnTo>
                <a:lnTo>
                  <a:pt x="9144000" y="892212"/>
                </a:lnTo>
                <a:lnTo>
                  <a:pt x="0" y="892212"/>
                </a:lnTo>
                <a:close/>
              </a:path>
            </a:pathLst>
          </a:custGeom>
          <a:solidFill>
            <a:srgbClr val="0A8C90"/>
          </a:solidFill>
          <a:ln/>
        </p:spPr>
      </p:sp>
      <p:sp>
        <p:nvSpPr>
          <p:cNvPr id="48" name="Text 42"/>
          <p:cNvSpPr/>
          <p:nvPr/>
        </p:nvSpPr>
        <p:spPr>
          <a:xfrm>
            <a:off x="0" y="794385"/>
            <a:ext cx="9144000" cy="892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49" name="Text 43"/>
          <p:cNvSpPr/>
          <p:nvPr/>
        </p:nvSpPr>
        <p:spPr>
          <a:xfrm>
            <a:off x="1820965" y="889255"/>
            <a:ext cx="8274886" cy="807913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Ushbu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prenzitatsiyani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bajarish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natijasida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quyidagi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hulosalarga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2363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erishildi</a:t>
            </a:r>
            <a:endParaRPr lang="en-US" sz="788" dirty="0"/>
          </a:p>
        </p:txBody>
      </p:sp>
      <p:sp>
        <p:nvSpPr>
          <p:cNvPr id="50" name="Text 44"/>
          <p:cNvSpPr/>
          <p:nvPr/>
        </p:nvSpPr>
        <p:spPr>
          <a:xfrm rot="2880000">
            <a:off x="-54986" y="-225652"/>
            <a:ext cx="600477" cy="8222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51" name="Shape 45"/>
          <p:cNvSpPr/>
          <p:nvPr/>
        </p:nvSpPr>
        <p:spPr>
          <a:xfrm>
            <a:off x="557146" y="156153"/>
            <a:ext cx="540000" cy="540000"/>
          </a:xfrm>
          <a:custGeom>
            <a:avLst/>
            <a:gdLst/>
            <a:ahLst/>
            <a:cxnLst/>
            <a:rect l="l" t="t" r="r" b="b"/>
            <a:pathLst>
              <a:path w="540000" h="540000">
                <a:moveTo>
                  <a:pt x="270000" y="0"/>
                </a:moveTo>
                <a:cubicBezTo>
                  <a:pt x="419017" y="0"/>
                  <a:pt x="540000" y="120983"/>
                  <a:pt x="540000" y="270000"/>
                </a:cubicBezTo>
                <a:cubicBezTo>
                  <a:pt x="540000" y="419017"/>
                  <a:pt x="419017" y="540000"/>
                  <a:pt x="270000" y="540000"/>
                </a:cubicBezTo>
                <a:cubicBezTo>
                  <a:pt x="120983" y="540000"/>
                  <a:pt x="0" y="419017"/>
                  <a:pt x="0" y="270000"/>
                </a:cubicBezTo>
                <a:cubicBezTo>
                  <a:pt x="0" y="120983"/>
                  <a:pt x="120983" y="0"/>
                  <a:pt x="270000" y="0"/>
                </a:cubicBezTo>
                <a:close/>
              </a:path>
            </a:pathLst>
          </a:custGeom>
          <a:solidFill>
            <a:srgbClr val="EEB500"/>
          </a:solidFill>
          <a:ln/>
          <a:effectLst>
            <a:outerShdw sx="100000" sy="100000" kx="0" ky="0" algn="bl" rotWithShape="0" blurRad="228600" dist="50800" dir="2700000">
              <a:srgbClr val="000000">
                <a:alpha val="63922"/>
              </a:srgbClr>
            </a:outerShdw>
          </a:effectLst>
        </p:spPr>
      </p:sp>
      <p:sp>
        <p:nvSpPr>
          <p:cNvPr id="52" name="Text 46"/>
          <p:cNvSpPr/>
          <p:nvPr/>
        </p:nvSpPr>
        <p:spPr>
          <a:xfrm>
            <a:off x="557146" y="156153"/>
            <a:ext cx="540000" cy="5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53" name="Shape 47"/>
          <p:cNvSpPr/>
          <p:nvPr/>
        </p:nvSpPr>
        <p:spPr>
          <a:xfrm>
            <a:off x="245252" y="875540"/>
            <a:ext cx="270000" cy="270000"/>
          </a:xfrm>
          <a:custGeom>
            <a:avLst/>
            <a:gdLst/>
            <a:ahLst/>
            <a:cxnLst/>
            <a:rect l="l" t="t" r="r" b="b"/>
            <a:pathLst>
              <a:path w="270000" h="270000">
                <a:moveTo>
                  <a:pt x="135000" y="0"/>
                </a:moveTo>
                <a:cubicBezTo>
                  <a:pt x="209509" y="0"/>
                  <a:pt x="270000" y="60491"/>
                  <a:pt x="270000" y="135000"/>
                </a:cubicBezTo>
                <a:cubicBezTo>
                  <a:pt x="270000" y="209509"/>
                  <a:pt x="209509" y="270000"/>
                  <a:pt x="135000" y="270000"/>
                </a:cubicBezTo>
                <a:cubicBezTo>
                  <a:pt x="60491" y="270000"/>
                  <a:pt x="0" y="209509"/>
                  <a:pt x="0" y="135000"/>
                </a:cubicBezTo>
                <a:cubicBezTo>
                  <a:pt x="0" y="60491"/>
                  <a:pt x="60491" y="0"/>
                  <a:pt x="135000" y="0"/>
                </a:cubicBezTo>
                <a:close/>
              </a:path>
            </a:pathLst>
          </a:custGeom>
          <a:solidFill>
            <a:srgbClr val="FFFFFF"/>
          </a:solidFill>
          <a:ln/>
          <a:effectLst>
            <a:outerShdw sx="100000" sy="100000" kx="0" ky="0" algn="bl" rotWithShape="0" blurRad="228600" dist="50800" dir="2700000">
              <a:srgbClr val="000000">
                <a:alpha val="63922"/>
              </a:srgbClr>
            </a:outerShdw>
          </a:effectLst>
        </p:spPr>
      </p:sp>
      <p:sp>
        <p:nvSpPr>
          <p:cNvPr id="54" name="Text 48"/>
          <p:cNvSpPr/>
          <p:nvPr/>
        </p:nvSpPr>
        <p:spPr>
          <a:xfrm>
            <a:off x="245252" y="875540"/>
            <a:ext cx="270000" cy="27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  <p:sp>
        <p:nvSpPr>
          <p:cNvPr id="55" name="Shape 49"/>
          <p:cNvSpPr/>
          <p:nvPr/>
        </p:nvSpPr>
        <p:spPr>
          <a:xfrm>
            <a:off x="1253397" y="238691"/>
            <a:ext cx="189000" cy="189000"/>
          </a:xfrm>
          <a:custGeom>
            <a:avLst/>
            <a:gdLst/>
            <a:ahLst/>
            <a:cxnLst/>
            <a:rect l="l" t="t" r="r" b="b"/>
            <a:pathLst>
              <a:path w="189000" h="189000">
                <a:moveTo>
                  <a:pt x="94500" y="0"/>
                </a:moveTo>
                <a:cubicBezTo>
                  <a:pt x="146656" y="0"/>
                  <a:pt x="189000" y="42344"/>
                  <a:pt x="189000" y="94500"/>
                </a:cubicBezTo>
                <a:cubicBezTo>
                  <a:pt x="189000" y="146656"/>
                  <a:pt x="146656" y="189000"/>
                  <a:pt x="94500" y="189000"/>
                </a:cubicBezTo>
                <a:cubicBezTo>
                  <a:pt x="42344" y="189000"/>
                  <a:pt x="0" y="146656"/>
                  <a:pt x="0" y="94500"/>
                </a:cubicBezTo>
                <a:cubicBezTo>
                  <a:pt x="0" y="42344"/>
                  <a:pt x="42344" y="0"/>
                  <a:pt x="94500" y="0"/>
                </a:cubicBezTo>
                <a:close/>
              </a:path>
            </a:pathLst>
          </a:custGeom>
          <a:solidFill>
            <a:srgbClr val="02A4AB"/>
          </a:solidFill>
          <a:ln/>
          <a:effectLst>
            <a:outerShdw sx="100000" sy="100000" kx="0" ky="0" algn="bl" rotWithShape="0" blurRad="228600" dist="50800" dir="2700000">
              <a:srgbClr val="000000">
                <a:alpha val="63922"/>
              </a:srgbClr>
            </a:outerShdw>
          </a:effectLst>
        </p:spPr>
      </p:sp>
      <p:sp>
        <p:nvSpPr>
          <p:cNvPr id="56" name="Text 50"/>
          <p:cNvSpPr/>
          <p:nvPr/>
        </p:nvSpPr>
        <p:spPr>
          <a:xfrm>
            <a:off x="1253397" y="238691"/>
            <a:ext cx="189000" cy="18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Bef>
                <a:spcPts val="281"/>
              </a:spcBef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78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71044" y="0"/>
            <a:ext cx="6446376" cy="994172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3263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Foydalanilgan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3263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pPr algn="ctr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3263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adabiyotlar</a:t>
            </a:r>
            <a:endParaRPr lang="en-US" sz="788" dirty="0"/>
          </a:p>
        </p:txBody>
      </p:sp>
      <p:sp>
        <p:nvSpPr>
          <p:cNvPr id="3" name="Text 1"/>
          <p:cNvSpPr/>
          <p:nvPr/>
        </p:nvSpPr>
        <p:spPr>
          <a:xfrm>
            <a:off x="295154" y="850739"/>
            <a:ext cx="8707055" cy="2213298"/>
          </a:xfrm>
          <a:prstGeom prst="rect">
            <a:avLst/>
          </a:prstGeom>
          <a:noFill/>
          <a:ln/>
        </p:spPr>
        <p:txBody>
          <a:bodyPr wrap="square" lIns="71438" tIns="71438" rIns="71438" bIns="71438" rtlCol="0" anchor="t">
            <a:spAutoFit/>
          </a:bodyPr>
          <a:lstStyle/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Безопасность веб-приложений. — СПб.: Питер, 2021. — 336 с.: ил. — (Серия «Бестселлеры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O‘Reilly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»).</a:t>
            </a:r>
            <a:endParaRPr lang="en-US" sz="788" dirty="0"/>
          </a:p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Информатика: Введение в информационную безопасность / М.А.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Вус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В.С. Гусев, Д.В.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Долгирев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А.А.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Молдовян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Санкт-Петербург: Юридический центр Пресс, 2004. 216 с.</a:t>
            </a:r>
            <a:endParaRPr lang="en-US" sz="788" dirty="0"/>
          </a:p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Хоронеко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М. П. Методы защиты от SQL-инъекций / М. П.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Хоронеко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М. А.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Медунецкий,А.С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Летохо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5 июня 2018 г. – Минск: БГУИР, 2017. – С. 96</a:t>
            </a:r>
            <a:endParaRPr lang="en-US" sz="788" dirty="0"/>
          </a:p>
          <a:p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Yongxiang</a:t>
            </a:r>
            <a:pPr algn="l" indent="0" marL="0">
              <a:lnSpc>
                <a:spcPct val="80000"/>
              </a:lnSpc>
              <a:spcBef>
                <a:spcPts val="281"/>
              </a:spcBef>
              <a:buNone/>
            </a:pPr>
            <a:r>
              <a:rPr lang="en-US" sz="1350" i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W, On WEB website security optimization.  Network   Security   Technology &amp; Application, (5):136-1137, 2014</a:t>
            </a:r>
            <a:endParaRPr lang="en-US" sz="78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2025-09-29T05:40:36Z</dcterms:created>
  <dcterms:modified xsi:type="dcterms:W3CDTF">2025-09-29T05:40:36Z</dcterms:modified>
</cp:coreProperties>
</file>