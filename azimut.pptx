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slideLayout" Target="../slideLayouts/slideLayout1.xml"/><Relationship Id="rId1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image" Target="../media/image-4-12.png"/><Relationship Id="rId13" Type="http://schemas.openxmlformats.org/officeDocument/2006/relationships/image" Target="../media/image-4-13.png"/><Relationship Id="rId14" Type="http://schemas.openxmlformats.org/officeDocument/2006/relationships/slideLayout" Target="../slideLayouts/slideLayout1.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jpe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e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1F1F1"/>
        </a:solidFill>
      </p:bgPr>
    </p:bg>
    <p:spTree>
      <p:nvGrpSpPr>
        <p:cNvPr id="1" name=""/>
        <p:cNvGrpSpPr/>
        <p:nvPr/>
      </p:nvGrpSpPr>
      <p:grpSpPr>
        <a:xfrm>
          <a:off x="0" y="0"/>
          <a:ext cx="0" cy="0"/>
          <a:chOff x="0" y="0"/>
          <a:chExt cx="0" cy="0"/>
        </a:xfrm>
      </p:grpSpPr>
      <p:pic>
        <p:nvPicPr>
          <p:cNvPr id="2" name="Image 0" descr="./images\slide0_img1.png">    </p:cNvPr>
          <p:cNvPicPr>
            <a:picLocks noChangeAspect="1"/>
          </p:cNvPicPr>
          <p:nvPr/>
        </p:nvPicPr>
        <p:blipFill>
          <a:blip r:embed="rId1"/>
          <a:stretch>
            <a:fillRect/>
          </a:stretch>
        </p:blipFill>
        <p:spPr>
          <a:xfrm>
            <a:off x="-13825" y="0"/>
            <a:ext cx="9144000" cy="5143500"/>
          </a:xfrm>
          <a:prstGeom prst="rect">
            <a:avLst/>
          </a:prstGeom>
        </p:spPr>
      </p:pic>
      <p:pic>
        <p:nvPicPr>
          <p:cNvPr id="3" name="Image 1" descr="./images\slide0_img2.png">    </p:cNvPr>
          <p:cNvPicPr>
            <a:picLocks noChangeAspect="1"/>
          </p:cNvPicPr>
          <p:nvPr/>
        </p:nvPicPr>
        <p:blipFill>
          <a:blip r:embed="rId2"/>
          <a:srcRect l="0" r="54344" t="0" b="64852"/>
          <a:stretch/>
        </p:blipFill>
        <p:spPr>
          <a:xfrm>
            <a:off x="6811625" y="3366225"/>
            <a:ext cx="2239080" cy="1706184"/>
          </a:xfrm>
          <a:prstGeom prst="rect">
            <a:avLst/>
          </a:prstGeom>
        </p:spPr>
      </p:pic>
      <p:pic>
        <p:nvPicPr>
          <p:cNvPr id="4" name="Image 2" descr="./images\slide0_img3.png">    </p:cNvPr>
          <p:cNvPicPr>
            <a:picLocks noChangeAspect="1"/>
          </p:cNvPicPr>
          <p:nvPr/>
        </p:nvPicPr>
        <p:blipFill>
          <a:blip r:embed="rId3"/>
          <a:srcRect l="28690" r="44599" t="0" b="45747"/>
          <a:stretch/>
        </p:blipFill>
        <p:spPr>
          <a:xfrm>
            <a:off x="0" y="2383038"/>
            <a:ext cx="1519404" cy="2449260"/>
          </a:xfrm>
          <a:prstGeom prst="rect">
            <a:avLst/>
          </a:prstGeom>
        </p:spPr>
      </p:pic>
      <p:pic>
        <p:nvPicPr>
          <p:cNvPr id="5" name="Image 3" descr="./images\slide0_img4.png">    </p:cNvPr>
          <p:cNvPicPr>
            <a:picLocks noChangeAspect="1"/>
          </p:cNvPicPr>
          <p:nvPr/>
        </p:nvPicPr>
        <p:blipFill>
          <a:blip r:embed="rId4"/>
          <a:stretch>
            <a:fillRect/>
          </a:stretch>
        </p:blipFill>
        <p:spPr>
          <a:xfrm>
            <a:off x="1534262" y="1070510"/>
            <a:ext cx="6714398" cy="3340801"/>
          </a:xfrm>
          <a:prstGeom prst="rect">
            <a:avLst/>
          </a:prstGeom>
        </p:spPr>
      </p:pic>
      <p:sp>
        <p:nvSpPr>
          <p:cNvPr id="6" name="Shape 0"/>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FFFFFF">
              <a:alpha val="0"/>
            </a:srgbClr>
          </a:solidFill>
          <a:ln/>
        </p:spPr>
      </p:sp>
      <p:sp>
        <p:nvSpPr>
          <p:cNvPr id="7" name="Text 1"/>
          <p:cNvSpPr/>
          <p:nvPr/>
        </p:nvSpPr>
        <p:spPr>
          <a:xfrm>
            <a:off x="1601490" y="2144913"/>
            <a:ext cx="5913370" cy="381000"/>
          </a:xfrm>
          <a:prstGeom prst="rect">
            <a:avLst/>
          </a:prstGeom>
          <a:noFill/>
          <a:ln/>
        </p:spPr>
        <p:txBody>
          <a:bodyPr wrap="square" rtlCol="0" anchor="t"/>
          <a:lstStyle/>
          <a:p>
            <a:pPr indent="0" marL="0">
              <a:spcBef>
                <a:spcPts val="375"/>
              </a:spcBef>
              <a:buNone/>
            </a:pPr>
            <a:endParaRPr lang="en-US" sz="1050" dirty="0"/>
          </a:p>
        </p:txBody>
      </p:sp>
      <p:sp>
        <p:nvSpPr>
          <p:cNvPr id="8" name="Shape 2"/>
          <p:cNvSpPr/>
          <p:nvPr/>
        </p:nvSpPr>
        <p:spPr>
          <a:xfrm>
            <a:off x="1601490" y="2144913"/>
            <a:ext cx="5913370" cy="381000"/>
          </a:xfrm>
          <a:custGeom>
            <a:avLst/>
            <a:gdLst/>
            <a:ahLst/>
            <a:cxnLst/>
            <a:rect l="l" t="t" r="r" b="b"/>
            <a:pathLst>
              <a:path w="5913370" h="381000">
                <a:moveTo>
                  <a:pt x="0" y="0"/>
                </a:moveTo>
                <a:lnTo>
                  <a:pt x="5913370" y="0"/>
                </a:lnTo>
                <a:lnTo>
                  <a:pt x="5913370" y="381000"/>
                </a:lnTo>
                <a:lnTo>
                  <a:pt x="0" y="381000"/>
                </a:lnTo>
                <a:close/>
              </a:path>
            </a:pathLst>
          </a:custGeom>
          <a:solidFill>
            <a:srgbClr val="000000">
              <a:alpha val="0"/>
            </a:srgbClr>
          </a:solidFill>
          <a:ln/>
        </p:spPr>
      </p:sp>
      <p:sp>
        <p:nvSpPr>
          <p:cNvPr id="9" name="Text 3"/>
          <p:cNvSpPr/>
          <p:nvPr/>
        </p:nvSpPr>
        <p:spPr>
          <a:xfrm>
            <a:off x="1601490" y="2144913"/>
            <a:ext cx="5913370" cy="381000"/>
          </a:xfrm>
          <a:prstGeom prst="rect">
            <a:avLst/>
          </a:prstGeom>
          <a:noFill/>
          <a:ln/>
        </p:spPr>
        <p:txBody>
          <a:bodyPr wrap="square" rtlCol="0" anchor="t"/>
          <a:lstStyle/>
          <a:p>
            <a:pPr algn="ctr" indent="0" marL="0">
              <a:spcBef>
                <a:spcPts val="375"/>
              </a:spcBef>
              <a:buNone/>
            </a:pPr>
            <a:r>
              <a:rPr lang="en-US" sz="2250" dirty="0">
                <a:solidFill>
                  <a:srgbClr val="45464D"/>
                </a:solidFill>
                <a:latin typeface="Caveat Brush" pitchFamily="34" charset="0"/>
                <a:ea typeface="Caveat Brush" pitchFamily="34" charset="-122"/>
                <a:cs typeface="Caveat Brush" pitchFamily="34" charset="-120"/>
              </a:rPr>
              <a:t>Nerv tizimi o'smalari</a:t>
            </a:r>
            <a:endParaRPr lang="en-US" sz="1050" dirty="0"/>
          </a:p>
        </p:txBody>
      </p:sp>
      <p:pic>
        <p:nvPicPr>
          <p:cNvPr id="10" name="Image 4" descr="./images\slide0_img5.png">    </p:cNvPr>
          <p:cNvPicPr>
            <a:picLocks noChangeAspect="1"/>
          </p:cNvPicPr>
          <p:nvPr/>
        </p:nvPicPr>
        <p:blipFill>
          <a:blip r:embed="rId5"/>
          <a:stretch>
            <a:fillRect/>
          </a:stretch>
        </p:blipFill>
        <p:spPr>
          <a:xfrm rot="-840000">
            <a:off x="239914" y="146018"/>
            <a:ext cx="1415923" cy="1700345"/>
          </a:xfrm>
          <a:prstGeom prst="rect">
            <a:avLst/>
          </a:prstGeom>
        </p:spPr>
      </p:pic>
      <p:pic>
        <p:nvPicPr>
          <p:cNvPr id="11" name="Image 5" descr="./images\slide0_img6.png">    </p:cNvPr>
          <p:cNvPicPr>
            <a:picLocks noChangeAspect="1"/>
          </p:cNvPicPr>
          <p:nvPr/>
        </p:nvPicPr>
        <p:blipFill>
          <a:blip r:embed="rId6"/>
          <a:srcRect l="0" r="67462" t="16258" b="45097"/>
          <a:stretch/>
        </p:blipFill>
        <p:spPr>
          <a:xfrm>
            <a:off x="7047312" y="0"/>
            <a:ext cx="2012820" cy="2373276"/>
          </a:xfrm>
          <a:prstGeom prst="rect">
            <a:avLst/>
          </a:prstGeom>
        </p:spPr>
      </p:pic>
      <p:sp>
        <p:nvSpPr>
          <p:cNvPr id="12" name="Shape 4"/>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FFFFFF">
              <a:alpha val="0"/>
            </a:srgbClr>
          </a:solidFill>
          <a:ln/>
        </p:spPr>
      </p:sp>
      <p:sp>
        <p:nvSpPr>
          <p:cNvPr id="13" name="Text 5"/>
          <p:cNvSpPr/>
          <p:nvPr/>
        </p:nvSpPr>
        <p:spPr>
          <a:xfrm>
            <a:off x="3190352" y="3300000"/>
            <a:ext cx="4200347" cy="304800"/>
          </a:xfrm>
          <a:prstGeom prst="rect">
            <a:avLst/>
          </a:prstGeom>
          <a:noFill/>
          <a:ln/>
        </p:spPr>
        <p:txBody>
          <a:bodyPr wrap="square" rtlCol="0" anchor="t"/>
          <a:lstStyle/>
          <a:p>
            <a:pPr indent="0" marL="0">
              <a:spcBef>
                <a:spcPts val="375"/>
              </a:spcBef>
              <a:buNone/>
            </a:pPr>
            <a:endParaRPr lang="en-US" sz="1050" dirty="0"/>
          </a:p>
        </p:txBody>
      </p:sp>
      <p:sp>
        <p:nvSpPr>
          <p:cNvPr id="14" name="Shape 6"/>
          <p:cNvSpPr/>
          <p:nvPr/>
        </p:nvSpPr>
        <p:spPr>
          <a:xfrm>
            <a:off x="3190352" y="3300000"/>
            <a:ext cx="4200347" cy="304800"/>
          </a:xfrm>
          <a:custGeom>
            <a:avLst/>
            <a:gdLst/>
            <a:ahLst/>
            <a:cxnLst/>
            <a:rect l="l" t="t" r="r" b="b"/>
            <a:pathLst>
              <a:path w="4200347" h="304800">
                <a:moveTo>
                  <a:pt x="0" y="0"/>
                </a:moveTo>
                <a:lnTo>
                  <a:pt x="4200347" y="0"/>
                </a:lnTo>
                <a:lnTo>
                  <a:pt x="4200347" y="304800"/>
                </a:lnTo>
                <a:lnTo>
                  <a:pt x="0" y="304800"/>
                </a:lnTo>
                <a:close/>
              </a:path>
            </a:pathLst>
          </a:custGeom>
          <a:solidFill>
            <a:srgbClr val="000000">
              <a:alpha val="0"/>
            </a:srgbClr>
          </a:solidFill>
          <a:ln/>
        </p:spPr>
      </p:sp>
      <p:sp>
        <p:nvSpPr>
          <p:cNvPr id="15" name="Text 7"/>
          <p:cNvSpPr/>
          <p:nvPr/>
        </p:nvSpPr>
        <p:spPr>
          <a:xfrm>
            <a:off x="3190352" y="3300000"/>
            <a:ext cx="4200347" cy="304800"/>
          </a:xfrm>
          <a:prstGeom prst="rect">
            <a:avLst/>
          </a:prstGeom>
          <a:noFill/>
          <a:ln/>
        </p:spPr>
        <p:txBody>
          <a:bodyPr wrap="square" rtlCol="0" anchor="t"/>
          <a:lstStyle/>
          <a:p>
            <a:pPr algn="l" indent="0" marL="0">
              <a:spcBef>
                <a:spcPts val="375"/>
              </a:spcBef>
              <a:buNone/>
            </a:pPr>
            <a:r>
              <a:rPr lang="en-US" sz="1650" dirty="0">
                <a:solidFill>
                  <a:srgbClr val="333333"/>
                </a:solidFill>
                <a:latin typeface="微软雅黑" pitchFamily="34" charset="0"/>
                <a:ea typeface="微软雅黑" pitchFamily="34" charset="-122"/>
                <a:cs typeface="微软雅黑" pitchFamily="34" charset="-120"/>
              </a:rPr>
              <a:t>Azizjon Aliqulov</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1F1F1"/>
        </a:solidFill>
      </p:bgPr>
    </p:bg>
    <p:spTree>
      <p:nvGrpSpPr>
        <p:cNvPr id="1" name=""/>
        <p:cNvGrpSpPr/>
        <p:nvPr/>
      </p:nvGrpSpPr>
      <p:grpSpPr>
        <a:xfrm>
          <a:off x="0" y="0"/>
          <a:ext cx="0" cy="0"/>
          <a:chOff x="0" y="0"/>
          <a:chExt cx="0" cy="0"/>
        </a:xfrm>
      </p:grpSpPr>
      <p:pic>
        <p:nvPicPr>
          <p:cNvPr id="2" name="Image 0" descr="./images\slide1_img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_img8.png">    </p:cNvPr>
          <p:cNvPicPr>
            <a:picLocks noChangeAspect="1"/>
          </p:cNvPicPr>
          <p:nvPr/>
        </p:nvPicPr>
        <p:blipFill>
          <a:blip r:embed="rId2"/>
          <a:stretch>
            <a:fillRect/>
          </a:stretch>
        </p:blipFill>
        <p:spPr>
          <a:xfrm>
            <a:off x="5040496" y="2211757"/>
            <a:ext cx="3470826" cy="539010"/>
          </a:xfrm>
          <a:prstGeom prst="rect">
            <a:avLst/>
          </a:prstGeom>
        </p:spPr>
      </p:pic>
      <p:sp>
        <p:nvSpPr>
          <p:cNvPr id="4" name="Shape 0"/>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5" name="Text 1"/>
          <p:cNvSpPr/>
          <p:nvPr/>
        </p:nvSpPr>
        <p:spPr>
          <a:xfrm>
            <a:off x="5040496" y="2211757"/>
            <a:ext cx="3470826" cy="53901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5040496" y="2211757"/>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7" name="Text 3"/>
          <p:cNvSpPr/>
          <p:nvPr/>
        </p:nvSpPr>
        <p:spPr>
          <a:xfrm>
            <a:off x="5040496" y="2211757"/>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_img9.png">    </p:cNvPr>
          <p:cNvPicPr>
            <a:picLocks noChangeAspect="1"/>
          </p:cNvPicPr>
          <p:nvPr/>
        </p:nvPicPr>
        <p:blipFill>
          <a:blip r:embed="rId3"/>
          <a:stretch>
            <a:fillRect/>
          </a:stretch>
        </p:blipFill>
        <p:spPr>
          <a:xfrm>
            <a:off x="5040496" y="2211757"/>
            <a:ext cx="3470826" cy="539010"/>
          </a:xfrm>
          <a:prstGeom prst="rect">
            <a:avLst/>
          </a:prstGeom>
        </p:spPr>
      </p:pic>
      <p:pic>
        <p:nvPicPr>
          <p:cNvPr id="9" name="Image 3" descr="./images\slide1_img10.png">    </p:cNvPr>
          <p:cNvPicPr>
            <a:picLocks noChangeAspect="1"/>
          </p:cNvPicPr>
          <p:nvPr/>
        </p:nvPicPr>
        <p:blipFill>
          <a:blip r:embed="rId4"/>
          <a:stretch>
            <a:fillRect/>
          </a:stretch>
        </p:blipFill>
        <p:spPr>
          <a:xfrm>
            <a:off x="5040496" y="3540760"/>
            <a:ext cx="3489254" cy="595655"/>
          </a:xfrm>
          <a:prstGeom prst="rect">
            <a:avLst/>
          </a:prstGeom>
        </p:spPr>
      </p:pic>
      <p:sp>
        <p:nvSpPr>
          <p:cNvPr id="10" name="Shape 4"/>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FFFFFF">
              <a:alpha val="0"/>
            </a:srgbClr>
          </a:solidFill>
          <a:ln/>
        </p:spPr>
      </p:sp>
      <p:sp>
        <p:nvSpPr>
          <p:cNvPr id="11" name="Text 5"/>
          <p:cNvSpPr/>
          <p:nvPr/>
        </p:nvSpPr>
        <p:spPr>
          <a:xfrm>
            <a:off x="5040496" y="3540760"/>
            <a:ext cx="3489254" cy="595655"/>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040496" y="3540760"/>
            <a:ext cx="3489254" cy="595655"/>
          </a:xfrm>
          <a:custGeom>
            <a:avLst/>
            <a:gdLst/>
            <a:ahLst/>
            <a:cxnLst/>
            <a:rect l="l" t="t" r="r" b="b"/>
            <a:pathLst>
              <a:path w="3489254" h="595655">
                <a:moveTo>
                  <a:pt x="0" y="0"/>
                </a:moveTo>
                <a:lnTo>
                  <a:pt x="3489254" y="0"/>
                </a:lnTo>
                <a:lnTo>
                  <a:pt x="3489254" y="595655"/>
                </a:lnTo>
                <a:lnTo>
                  <a:pt x="0" y="595655"/>
                </a:lnTo>
                <a:close/>
              </a:path>
            </a:pathLst>
          </a:custGeom>
          <a:solidFill>
            <a:srgbClr val="000000">
              <a:alpha val="0"/>
            </a:srgbClr>
          </a:solidFill>
          <a:ln/>
        </p:spPr>
      </p:sp>
      <p:sp>
        <p:nvSpPr>
          <p:cNvPr id="13" name="Text 7"/>
          <p:cNvSpPr/>
          <p:nvPr/>
        </p:nvSpPr>
        <p:spPr>
          <a:xfrm>
            <a:off x="5040496" y="3540760"/>
            <a:ext cx="3489254" cy="59565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_img11.png">    </p:cNvPr>
          <p:cNvPicPr>
            <a:picLocks noChangeAspect="1"/>
          </p:cNvPicPr>
          <p:nvPr/>
        </p:nvPicPr>
        <p:blipFill>
          <a:blip r:embed="rId5"/>
          <a:stretch>
            <a:fillRect/>
          </a:stretch>
        </p:blipFill>
        <p:spPr>
          <a:xfrm>
            <a:off x="5040496" y="3540760"/>
            <a:ext cx="3489254" cy="595655"/>
          </a:xfrm>
          <a:prstGeom prst="rect">
            <a:avLst/>
          </a:prstGeom>
        </p:spPr>
      </p:pic>
      <p:pic>
        <p:nvPicPr>
          <p:cNvPr id="15" name="Image 5" descr="./images\slide1_img12.png">    </p:cNvPr>
          <p:cNvPicPr>
            <a:picLocks noChangeAspect="1"/>
          </p:cNvPicPr>
          <p:nvPr/>
        </p:nvPicPr>
        <p:blipFill>
          <a:blip r:embed="rId6"/>
          <a:stretch>
            <a:fillRect/>
          </a:stretch>
        </p:blipFill>
        <p:spPr>
          <a:xfrm>
            <a:off x="5040496" y="895619"/>
            <a:ext cx="3470826" cy="539010"/>
          </a:xfrm>
          <a:prstGeom prst="rect">
            <a:avLst/>
          </a:prstGeom>
        </p:spPr>
      </p:pic>
      <p:sp>
        <p:nvSpPr>
          <p:cNvPr id="16" name="Shape 8"/>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FFFFFF">
              <a:alpha val="0"/>
            </a:srgbClr>
          </a:solidFill>
          <a:ln/>
        </p:spPr>
      </p:sp>
      <p:sp>
        <p:nvSpPr>
          <p:cNvPr id="17" name="Text 9"/>
          <p:cNvSpPr/>
          <p:nvPr/>
        </p:nvSpPr>
        <p:spPr>
          <a:xfrm>
            <a:off x="5040496" y="895619"/>
            <a:ext cx="3470826" cy="53901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5040496" y="895619"/>
            <a:ext cx="3470826" cy="539010"/>
          </a:xfrm>
          <a:custGeom>
            <a:avLst/>
            <a:gdLst/>
            <a:ahLst/>
            <a:cxnLst/>
            <a:rect l="l" t="t" r="r" b="b"/>
            <a:pathLst>
              <a:path w="3470826" h="539010">
                <a:moveTo>
                  <a:pt x="0" y="0"/>
                </a:moveTo>
                <a:lnTo>
                  <a:pt x="3470826" y="0"/>
                </a:lnTo>
                <a:lnTo>
                  <a:pt x="3470826" y="539010"/>
                </a:lnTo>
                <a:lnTo>
                  <a:pt x="0" y="539010"/>
                </a:lnTo>
                <a:close/>
              </a:path>
            </a:pathLst>
          </a:custGeom>
          <a:solidFill>
            <a:srgbClr val="000000">
              <a:alpha val="0"/>
            </a:srgbClr>
          </a:solidFill>
          <a:ln/>
        </p:spPr>
      </p:sp>
      <p:sp>
        <p:nvSpPr>
          <p:cNvPr id="19" name="Text 11"/>
          <p:cNvSpPr/>
          <p:nvPr/>
        </p:nvSpPr>
        <p:spPr>
          <a:xfrm>
            <a:off x="5040496" y="895619"/>
            <a:ext cx="3470826" cy="53901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1_img13.png">    </p:cNvPr>
          <p:cNvPicPr>
            <a:picLocks noChangeAspect="1"/>
          </p:cNvPicPr>
          <p:nvPr/>
        </p:nvPicPr>
        <p:blipFill>
          <a:blip r:embed="rId7"/>
          <a:stretch>
            <a:fillRect/>
          </a:stretch>
        </p:blipFill>
        <p:spPr>
          <a:xfrm>
            <a:off x="5040496" y="895619"/>
            <a:ext cx="3470826" cy="539010"/>
          </a:xfrm>
          <a:prstGeom prst="rect">
            <a:avLst/>
          </a:prstGeom>
        </p:spPr>
      </p:pic>
      <p:pic>
        <p:nvPicPr>
          <p:cNvPr id="21" name="Image 7" descr="./images\slide1_img14.png">    </p:cNvPr>
          <p:cNvPicPr>
            <a:picLocks noChangeAspect="1"/>
          </p:cNvPicPr>
          <p:nvPr/>
        </p:nvPicPr>
        <p:blipFill>
          <a:blip r:embed="rId8"/>
          <a:stretch>
            <a:fillRect/>
          </a:stretch>
        </p:blipFill>
        <p:spPr>
          <a:xfrm>
            <a:off x="4972050" y="792000"/>
            <a:ext cx="3657600" cy="764771"/>
          </a:xfrm>
          <a:prstGeom prst="rect">
            <a:avLst/>
          </a:prstGeom>
        </p:spPr>
      </p:pic>
      <p:sp>
        <p:nvSpPr>
          <p:cNvPr id="22" name="Shape 12"/>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3" name="Text 13"/>
          <p:cNvSpPr/>
          <p:nvPr/>
        </p:nvSpPr>
        <p:spPr>
          <a:xfrm>
            <a:off x="4972050" y="792000"/>
            <a:ext cx="3657600" cy="764771"/>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4972050" y="792000"/>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25" name="Text 15"/>
          <p:cNvSpPr/>
          <p:nvPr/>
        </p:nvSpPr>
        <p:spPr>
          <a:xfrm>
            <a:off x="4972050" y="792000"/>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1_img15.png">    </p:cNvPr>
          <p:cNvPicPr>
            <a:picLocks noChangeAspect="1"/>
          </p:cNvPicPr>
          <p:nvPr/>
        </p:nvPicPr>
        <p:blipFill>
          <a:blip r:embed="rId9"/>
          <a:stretch>
            <a:fillRect/>
          </a:stretch>
        </p:blipFill>
        <p:spPr>
          <a:xfrm>
            <a:off x="4972050" y="792000"/>
            <a:ext cx="3657600" cy="764771"/>
          </a:xfrm>
          <a:prstGeom prst="rect">
            <a:avLst/>
          </a:prstGeom>
        </p:spPr>
      </p:pic>
      <p:pic>
        <p:nvPicPr>
          <p:cNvPr id="27" name="Image 9" descr="./images\slide1_img16.png">    </p:cNvPr>
          <p:cNvPicPr>
            <a:picLocks noChangeAspect="1"/>
          </p:cNvPicPr>
          <p:nvPr/>
        </p:nvPicPr>
        <p:blipFill>
          <a:blip r:embed="rId10"/>
          <a:stretch>
            <a:fillRect/>
          </a:stretch>
        </p:blipFill>
        <p:spPr>
          <a:xfrm>
            <a:off x="4972050" y="3456202"/>
            <a:ext cx="3657600" cy="764771"/>
          </a:xfrm>
          <a:prstGeom prst="rect">
            <a:avLst/>
          </a:prstGeom>
        </p:spPr>
      </p:pic>
      <p:sp>
        <p:nvSpPr>
          <p:cNvPr id="28" name="Shape 16"/>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29" name="Text 17"/>
          <p:cNvSpPr/>
          <p:nvPr/>
        </p:nvSpPr>
        <p:spPr>
          <a:xfrm>
            <a:off x="4972050" y="3456202"/>
            <a:ext cx="3657600" cy="764771"/>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4972050" y="3456202"/>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1" name="Text 19"/>
          <p:cNvSpPr/>
          <p:nvPr/>
        </p:nvSpPr>
        <p:spPr>
          <a:xfrm>
            <a:off x="4972050" y="3456202"/>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1_img17.png">    </p:cNvPr>
          <p:cNvPicPr>
            <a:picLocks noChangeAspect="1"/>
          </p:cNvPicPr>
          <p:nvPr/>
        </p:nvPicPr>
        <p:blipFill>
          <a:blip r:embed="rId11"/>
          <a:stretch>
            <a:fillRect/>
          </a:stretch>
        </p:blipFill>
        <p:spPr>
          <a:xfrm>
            <a:off x="4972050" y="3456202"/>
            <a:ext cx="3657600" cy="764771"/>
          </a:xfrm>
          <a:prstGeom prst="rect">
            <a:avLst/>
          </a:prstGeom>
        </p:spPr>
      </p:pic>
      <p:pic>
        <p:nvPicPr>
          <p:cNvPr id="33" name="Image 11" descr="./images\slide1_img18.png">    </p:cNvPr>
          <p:cNvPicPr>
            <a:picLocks noChangeAspect="1"/>
          </p:cNvPicPr>
          <p:nvPr/>
        </p:nvPicPr>
        <p:blipFill>
          <a:blip r:embed="rId12"/>
          <a:stretch>
            <a:fillRect/>
          </a:stretch>
        </p:blipFill>
        <p:spPr>
          <a:xfrm>
            <a:off x="4972050" y="2098877"/>
            <a:ext cx="3657600" cy="764771"/>
          </a:xfrm>
          <a:prstGeom prst="rect">
            <a:avLst/>
          </a:prstGeom>
        </p:spPr>
      </p:pic>
      <p:sp>
        <p:nvSpPr>
          <p:cNvPr id="34" name="Shape 20"/>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FFFFFF">
              <a:alpha val="0"/>
            </a:srgbClr>
          </a:solidFill>
          <a:ln/>
        </p:spPr>
      </p:sp>
      <p:sp>
        <p:nvSpPr>
          <p:cNvPr id="35" name="Text 21"/>
          <p:cNvSpPr/>
          <p:nvPr/>
        </p:nvSpPr>
        <p:spPr>
          <a:xfrm>
            <a:off x="4972050" y="2098877"/>
            <a:ext cx="3657600" cy="764771"/>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4972050" y="2098877"/>
            <a:ext cx="3657600" cy="764771"/>
          </a:xfrm>
          <a:custGeom>
            <a:avLst/>
            <a:gdLst/>
            <a:ahLst/>
            <a:cxnLst/>
            <a:rect l="l" t="t" r="r" b="b"/>
            <a:pathLst>
              <a:path w="3657600" h="764771">
                <a:moveTo>
                  <a:pt x="0" y="0"/>
                </a:moveTo>
                <a:lnTo>
                  <a:pt x="3657600" y="0"/>
                </a:lnTo>
                <a:lnTo>
                  <a:pt x="3657600" y="764771"/>
                </a:lnTo>
                <a:lnTo>
                  <a:pt x="0" y="764771"/>
                </a:lnTo>
                <a:close/>
              </a:path>
            </a:pathLst>
          </a:custGeom>
          <a:solidFill>
            <a:srgbClr val="000000">
              <a:alpha val="0"/>
            </a:srgbClr>
          </a:solidFill>
          <a:ln/>
        </p:spPr>
      </p:sp>
      <p:sp>
        <p:nvSpPr>
          <p:cNvPr id="37" name="Text 23"/>
          <p:cNvSpPr/>
          <p:nvPr/>
        </p:nvSpPr>
        <p:spPr>
          <a:xfrm>
            <a:off x="4972050" y="2098877"/>
            <a:ext cx="3657600" cy="76477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1_img19.png">    </p:cNvPr>
          <p:cNvPicPr>
            <a:picLocks noChangeAspect="1"/>
          </p:cNvPicPr>
          <p:nvPr/>
        </p:nvPicPr>
        <p:blipFill>
          <a:blip r:embed="rId13"/>
          <a:stretch>
            <a:fillRect/>
          </a:stretch>
        </p:blipFill>
        <p:spPr>
          <a:xfrm>
            <a:off x="4972050" y="2098877"/>
            <a:ext cx="3657600" cy="764771"/>
          </a:xfrm>
          <a:prstGeom prst="rect">
            <a:avLst/>
          </a:prstGeom>
        </p:spPr>
      </p:pic>
      <p:sp>
        <p:nvSpPr>
          <p:cNvPr id="39" name="Shape 24"/>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FFFFFF">
              <a:alpha val="0"/>
            </a:srgbClr>
          </a:solidFill>
          <a:ln/>
        </p:spPr>
      </p:sp>
      <p:sp>
        <p:nvSpPr>
          <p:cNvPr id="40" name="Text 25"/>
          <p:cNvSpPr/>
          <p:nvPr/>
        </p:nvSpPr>
        <p:spPr>
          <a:xfrm>
            <a:off x="87167" y="744598"/>
            <a:ext cx="3918345" cy="5143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167" y="744598"/>
            <a:ext cx="3918345" cy="514350"/>
          </a:xfrm>
          <a:custGeom>
            <a:avLst/>
            <a:gdLst/>
            <a:ahLst/>
            <a:cxnLst/>
            <a:rect l="l" t="t" r="r" b="b"/>
            <a:pathLst>
              <a:path w="3918345" h="514350">
                <a:moveTo>
                  <a:pt x="0" y="0"/>
                </a:moveTo>
                <a:lnTo>
                  <a:pt x="3918345" y="0"/>
                </a:lnTo>
                <a:lnTo>
                  <a:pt x="3918345" y="514350"/>
                </a:lnTo>
                <a:lnTo>
                  <a:pt x="0" y="514350"/>
                </a:lnTo>
                <a:close/>
              </a:path>
            </a:pathLst>
          </a:custGeom>
          <a:solidFill>
            <a:srgbClr val="000000">
              <a:alpha val="0"/>
            </a:srgbClr>
          </a:solidFill>
          <a:ln/>
        </p:spPr>
      </p:sp>
      <p:sp>
        <p:nvSpPr>
          <p:cNvPr id="42" name="Text 27"/>
          <p:cNvSpPr/>
          <p:nvPr/>
        </p:nvSpPr>
        <p:spPr>
          <a:xfrm>
            <a:off x="87167" y="744598"/>
            <a:ext cx="3918345" cy="514350"/>
          </a:xfrm>
          <a:prstGeom prst="rect">
            <a:avLst/>
          </a:prstGeom>
          <a:noFill/>
          <a:ln/>
        </p:spPr>
        <p:txBody>
          <a:bodyPr wrap="square" rtlCol="0" anchor="t"/>
          <a:lstStyle/>
          <a:p>
            <a:pPr algn="l" indent="0" marL="0">
              <a:spcBef>
                <a:spcPts val="375"/>
              </a:spcBef>
              <a:buNone/>
            </a:pPr>
            <a:r>
              <a:rPr lang="en-US" sz="3300" dirty="0">
                <a:solidFill>
                  <a:srgbClr val="45464D"/>
                </a:solidFill>
                <a:latin typeface="Caveat Brush" pitchFamily="34" charset="0"/>
                <a:ea typeface="Caveat Brush" pitchFamily="34" charset="-122"/>
                <a:cs typeface="Caveat Brush" pitchFamily="34" charset="-120"/>
              </a:rPr>
              <a:t>Reja: </a:t>
            </a:r>
            <a:endParaRPr lang="en-US" sz="1050" dirty="0"/>
          </a:p>
        </p:txBody>
      </p:sp>
      <p:sp>
        <p:nvSpPr>
          <p:cNvPr id="43" name="Shape 28"/>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4" name="Text 29"/>
          <p:cNvSpPr/>
          <p:nvPr/>
        </p:nvSpPr>
        <p:spPr>
          <a:xfrm>
            <a:off x="4339822" y="789952"/>
            <a:ext cx="519060" cy="828675"/>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4339822" y="78995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46" name="Text 31"/>
          <p:cNvSpPr/>
          <p:nvPr/>
        </p:nvSpPr>
        <p:spPr>
          <a:xfrm>
            <a:off x="4339822" y="78995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47" name="Shape 32"/>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48" name="Text 33"/>
          <p:cNvSpPr/>
          <p:nvPr/>
        </p:nvSpPr>
        <p:spPr>
          <a:xfrm>
            <a:off x="4339822" y="2147277"/>
            <a:ext cx="519060" cy="828675"/>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4339822" y="2147277"/>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0" name="Text 35"/>
          <p:cNvSpPr/>
          <p:nvPr/>
        </p:nvSpPr>
        <p:spPr>
          <a:xfrm>
            <a:off x="4339822" y="2147277"/>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51" name="Shape 36"/>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FFFFFF">
              <a:alpha val="0"/>
            </a:srgbClr>
          </a:solidFill>
          <a:ln/>
        </p:spPr>
      </p:sp>
      <p:sp>
        <p:nvSpPr>
          <p:cNvPr id="52" name="Text 37"/>
          <p:cNvSpPr/>
          <p:nvPr/>
        </p:nvSpPr>
        <p:spPr>
          <a:xfrm>
            <a:off x="4339822" y="3504602"/>
            <a:ext cx="519060" cy="828675"/>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4339822" y="3504602"/>
            <a:ext cx="519060" cy="828675"/>
          </a:xfrm>
          <a:custGeom>
            <a:avLst/>
            <a:gdLst/>
            <a:ahLst/>
            <a:cxnLst/>
            <a:rect l="l" t="t" r="r" b="b"/>
            <a:pathLst>
              <a:path w="519060" h="828675">
                <a:moveTo>
                  <a:pt x="0" y="0"/>
                </a:moveTo>
                <a:lnTo>
                  <a:pt x="519060" y="0"/>
                </a:lnTo>
                <a:lnTo>
                  <a:pt x="519060" y="828675"/>
                </a:lnTo>
                <a:lnTo>
                  <a:pt x="0" y="828675"/>
                </a:lnTo>
                <a:close/>
              </a:path>
            </a:pathLst>
          </a:custGeom>
          <a:solidFill>
            <a:srgbClr val="000000">
              <a:alpha val="0"/>
            </a:srgbClr>
          </a:solidFill>
          <a:ln/>
        </p:spPr>
      </p:sp>
      <p:sp>
        <p:nvSpPr>
          <p:cNvPr id="54" name="Text 39"/>
          <p:cNvSpPr/>
          <p:nvPr/>
        </p:nvSpPr>
        <p:spPr>
          <a:xfrm>
            <a:off x="4339822" y="3504602"/>
            <a:ext cx="519060" cy="828675"/>
          </a:xfrm>
          <a:prstGeom prst="rect">
            <a:avLst/>
          </a:prstGeom>
          <a:noFill/>
          <a:ln/>
        </p:spPr>
        <p:txBody>
          <a:bodyPr wrap="square" rtlCol="0" anchor="t"/>
          <a:lstStyle/>
          <a:p>
            <a:pPr algn="l" indent="0" marL="0">
              <a:spcBef>
                <a:spcPts val="375"/>
              </a:spcBef>
              <a:buNone/>
            </a:pPr>
            <a:r>
              <a:rPr lang="en-US" sz="5775"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55" name="Shape 40"/>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56" name="Text 41"/>
          <p:cNvSpPr/>
          <p:nvPr/>
        </p:nvSpPr>
        <p:spPr>
          <a:xfrm>
            <a:off x="5040496" y="901652"/>
            <a:ext cx="3470826" cy="285750"/>
          </a:xfrm>
          <a:prstGeom prst="rect">
            <a:avLst/>
          </a:prstGeom>
          <a:noFill/>
          <a:ln/>
        </p:spPr>
        <p:txBody>
          <a:bodyPr wrap="square" rtlCol="0" anchor="t"/>
          <a:lstStyle/>
          <a:p>
            <a:pPr indent="0" marL="0">
              <a:spcBef>
                <a:spcPts val="375"/>
              </a:spcBef>
              <a:buNone/>
            </a:pPr>
            <a:endParaRPr lang="en-US" sz="1050" dirty="0"/>
          </a:p>
        </p:txBody>
      </p:sp>
      <p:sp>
        <p:nvSpPr>
          <p:cNvPr id="57" name="Shape 42"/>
          <p:cNvSpPr/>
          <p:nvPr/>
        </p:nvSpPr>
        <p:spPr>
          <a:xfrm>
            <a:off x="5040496" y="901652"/>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58" name="Text 43"/>
          <p:cNvSpPr/>
          <p:nvPr/>
        </p:nvSpPr>
        <p:spPr>
          <a:xfrm>
            <a:off x="5040496" y="901652"/>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1. Nerv tizimi o'smalari turlari va belgilari</a:t>
            </a:r>
            <a:endParaRPr lang="en-US" sz="1050" dirty="0"/>
          </a:p>
        </p:txBody>
      </p:sp>
      <p:sp>
        <p:nvSpPr>
          <p:cNvPr id="59" name="Shape 44"/>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0" name="Text 45"/>
          <p:cNvSpPr/>
          <p:nvPr/>
        </p:nvSpPr>
        <p:spPr>
          <a:xfrm>
            <a:off x="5040496" y="2208530"/>
            <a:ext cx="3470826" cy="285750"/>
          </a:xfrm>
          <a:prstGeom prst="rect">
            <a:avLst/>
          </a:prstGeom>
          <a:noFill/>
          <a:ln/>
        </p:spPr>
        <p:txBody>
          <a:bodyPr wrap="square" rtlCol="0" anchor="t"/>
          <a:lstStyle/>
          <a:p>
            <a:pPr indent="0" marL="0">
              <a:spcBef>
                <a:spcPts val="375"/>
              </a:spcBef>
              <a:buNone/>
            </a:pPr>
            <a:endParaRPr lang="en-US" sz="1050" dirty="0"/>
          </a:p>
        </p:txBody>
      </p:sp>
      <p:sp>
        <p:nvSpPr>
          <p:cNvPr id="61" name="Shape 46"/>
          <p:cNvSpPr/>
          <p:nvPr/>
        </p:nvSpPr>
        <p:spPr>
          <a:xfrm>
            <a:off x="5040496" y="2208530"/>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2" name="Text 47"/>
          <p:cNvSpPr/>
          <p:nvPr/>
        </p:nvSpPr>
        <p:spPr>
          <a:xfrm>
            <a:off x="5040496" y="2208530"/>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2. Nerv tizimi o'smalari diagnostikasi va davolash usullari</a:t>
            </a:r>
            <a:endParaRPr lang="en-US" sz="1050" dirty="0"/>
          </a:p>
        </p:txBody>
      </p:sp>
      <p:sp>
        <p:nvSpPr>
          <p:cNvPr id="63" name="Shape 48"/>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FFFFFF">
              <a:alpha val="0"/>
            </a:srgbClr>
          </a:solidFill>
          <a:ln/>
        </p:spPr>
      </p:sp>
      <p:sp>
        <p:nvSpPr>
          <p:cNvPr id="64" name="Text 49"/>
          <p:cNvSpPr/>
          <p:nvPr/>
        </p:nvSpPr>
        <p:spPr>
          <a:xfrm>
            <a:off x="5040496" y="3567401"/>
            <a:ext cx="3470826" cy="285750"/>
          </a:xfrm>
          <a:prstGeom prst="rect">
            <a:avLst/>
          </a:prstGeom>
          <a:noFill/>
          <a:ln/>
        </p:spPr>
        <p:txBody>
          <a:bodyPr wrap="square" rtlCol="0" anchor="t"/>
          <a:lstStyle/>
          <a:p>
            <a:pPr indent="0" marL="0">
              <a:spcBef>
                <a:spcPts val="375"/>
              </a:spcBef>
              <a:buNone/>
            </a:pPr>
            <a:endParaRPr lang="en-US" sz="1050" dirty="0"/>
          </a:p>
        </p:txBody>
      </p:sp>
      <p:sp>
        <p:nvSpPr>
          <p:cNvPr id="65" name="Shape 50"/>
          <p:cNvSpPr/>
          <p:nvPr/>
        </p:nvSpPr>
        <p:spPr>
          <a:xfrm>
            <a:off x="5040496" y="3567401"/>
            <a:ext cx="3470826" cy="285750"/>
          </a:xfrm>
          <a:custGeom>
            <a:avLst/>
            <a:gdLst/>
            <a:ahLst/>
            <a:cxnLst/>
            <a:rect l="l" t="t" r="r" b="b"/>
            <a:pathLst>
              <a:path w="3470826" h="285750">
                <a:moveTo>
                  <a:pt x="0" y="0"/>
                </a:moveTo>
                <a:lnTo>
                  <a:pt x="3470826" y="0"/>
                </a:lnTo>
                <a:lnTo>
                  <a:pt x="3470826" y="285750"/>
                </a:lnTo>
                <a:lnTo>
                  <a:pt x="0" y="285750"/>
                </a:lnTo>
                <a:close/>
              </a:path>
            </a:pathLst>
          </a:custGeom>
          <a:solidFill>
            <a:srgbClr val="000000">
              <a:alpha val="0"/>
            </a:srgbClr>
          </a:solidFill>
          <a:ln/>
        </p:spPr>
      </p:sp>
      <p:sp>
        <p:nvSpPr>
          <p:cNvPr id="66" name="Text 51"/>
          <p:cNvSpPr/>
          <p:nvPr/>
        </p:nvSpPr>
        <p:spPr>
          <a:xfrm>
            <a:off x="5040496" y="3567401"/>
            <a:ext cx="3470826" cy="285750"/>
          </a:xfrm>
          <a:prstGeom prst="rect">
            <a:avLst/>
          </a:prstGeom>
          <a:noFill/>
          <a:ln/>
        </p:spPr>
        <p:txBody>
          <a:bodyPr wrap="square" rtlCol="0" anchor="t"/>
          <a:lstStyle/>
          <a:p>
            <a:pPr algn="l" indent="0" marL="0">
              <a:spcBef>
                <a:spcPts val="375"/>
              </a:spcBef>
              <a:buNone/>
            </a:pPr>
            <a:r>
              <a:rPr lang="en-US" sz="1500" dirty="0">
                <a:solidFill>
                  <a:srgbClr val="45464D"/>
                </a:solidFill>
                <a:latin typeface="Caveat Brush" pitchFamily="34" charset="0"/>
                <a:ea typeface="Caveat Brush" pitchFamily="34" charset="-122"/>
                <a:cs typeface="Caveat Brush" pitchFamily="34" charset="-120"/>
              </a:rPr>
              <a:t>3. Nerv tizimi o'smalari bilan bog'liq muammolar va kelajak istiqbollari</a:t>
            </a:r>
            <a:endParaRPr lang="en-US" sz="1050" dirty="0"/>
          </a:p>
        </p:txBody>
      </p:sp>
      <p:pic>
        <p:nvPicPr>
          <p:cNvPr id="67" name="Image 13" descr="./images\slide1_img20.png">    </p:cNvPr>
          <p:cNvPicPr>
            <a:picLocks noChangeAspect="1"/>
          </p:cNvPicPr>
          <p:nvPr/>
        </p:nvPicPr>
        <p:blipFill>
          <a:blip r:embed="rId14"/>
          <a:stretch>
            <a:fillRect/>
          </a:stretch>
        </p:blipFill>
        <p:spPr>
          <a:xfrm>
            <a:off x="890516" y="2422794"/>
            <a:ext cx="1839121" cy="2072151"/>
          </a:xfrm>
          <a:prstGeom prst="rect">
            <a:avLst/>
          </a:prstGeom>
        </p:spPr>
      </p:pic>
      <p:sp>
        <p:nvSpPr>
          <p:cNvPr id="68" name="Shape 52"/>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69" name="Text 53"/>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70" name="Shape 54"/>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FFFFFF">
              <a:alpha val="0"/>
            </a:srgbClr>
          </a:solidFill>
          <a:ln/>
        </p:spPr>
      </p:sp>
      <p:sp>
        <p:nvSpPr>
          <p:cNvPr id="71" name="Text 55"/>
          <p:cNvSpPr/>
          <p:nvPr/>
        </p:nvSpPr>
        <p:spPr>
          <a:xfrm>
            <a:off x="890516" y="2422794"/>
            <a:ext cx="1839121" cy="2072151"/>
          </a:xfrm>
          <a:prstGeom prst="rect">
            <a:avLst/>
          </a:prstGeom>
          <a:noFill/>
          <a:ln/>
        </p:spPr>
        <p:txBody>
          <a:bodyPr wrap="square" rtlCol="0" anchor="t"/>
          <a:lstStyle/>
          <a:p>
            <a:pPr indent="0" marL="0">
              <a:spcBef>
                <a:spcPts val="375"/>
              </a:spcBef>
              <a:buNone/>
            </a:pPr>
            <a:endParaRPr lang="en-US" sz="1050" dirty="0"/>
          </a:p>
        </p:txBody>
      </p:sp>
      <p:sp>
        <p:nvSpPr>
          <p:cNvPr id="72" name="Shape 56"/>
          <p:cNvSpPr/>
          <p:nvPr/>
        </p:nvSpPr>
        <p:spPr>
          <a:xfrm>
            <a:off x="890516" y="2422794"/>
            <a:ext cx="1839121" cy="2072151"/>
          </a:xfrm>
          <a:custGeom>
            <a:avLst/>
            <a:gdLst/>
            <a:ahLst/>
            <a:cxnLst/>
            <a:rect l="l" t="t" r="r" b="b"/>
            <a:pathLst>
              <a:path w="1839121" h="2072151">
                <a:moveTo>
                  <a:pt x="0" y="0"/>
                </a:moveTo>
                <a:lnTo>
                  <a:pt x="1839121" y="0"/>
                </a:lnTo>
                <a:lnTo>
                  <a:pt x="1839121" y="2072151"/>
                </a:lnTo>
                <a:lnTo>
                  <a:pt x="0" y="2072151"/>
                </a:lnTo>
                <a:close/>
              </a:path>
            </a:pathLst>
          </a:custGeom>
          <a:solidFill>
            <a:srgbClr val="000000">
              <a:alpha val="0"/>
            </a:srgbClr>
          </a:solidFill>
          <a:ln/>
        </p:spPr>
      </p:sp>
      <p:sp>
        <p:nvSpPr>
          <p:cNvPr id="73" name="Text 57"/>
          <p:cNvSpPr/>
          <p:nvPr/>
        </p:nvSpPr>
        <p:spPr>
          <a:xfrm>
            <a:off x="890516" y="2422794"/>
            <a:ext cx="1839121" cy="2072151"/>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74" name="Image 14" descr="./images\slide1_img21.png">    </p:cNvPr>
          <p:cNvPicPr>
            <a:picLocks noChangeAspect="1"/>
          </p:cNvPicPr>
          <p:nvPr/>
        </p:nvPicPr>
        <p:blipFill>
          <a:blip r:embed="rId15"/>
          <a:stretch>
            <a:fillRect/>
          </a:stretch>
        </p:blipFill>
        <p:spPr>
          <a:xfrm>
            <a:off x="890516" y="2422794"/>
            <a:ext cx="1839121" cy="207215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1F1F1"/>
        </a:solidFill>
      </p:bgPr>
    </p:bg>
    <p:spTree>
      <p:nvGrpSpPr>
        <p:cNvPr id="1" name=""/>
        <p:cNvGrpSpPr/>
        <p:nvPr/>
      </p:nvGrpSpPr>
      <p:grpSpPr>
        <a:xfrm>
          <a:off x="0" y="0"/>
          <a:ext cx="0" cy="0"/>
          <a:chOff x="0" y="0"/>
          <a:chExt cx="0" cy="0"/>
        </a:xfrm>
      </p:grpSpPr>
      <p:pic>
        <p:nvPicPr>
          <p:cNvPr id="2" name="Image 0" descr="./images\slide6_img69.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6_img70.png">    </p:cNvPr>
          <p:cNvPicPr>
            <a:picLocks noChangeAspect="1"/>
          </p:cNvPicPr>
          <p:nvPr/>
        </p:nvPicPr>
        <p:blipFill>
          <a:blip r:embed="rId2"/>
          <a:stretch>
            <a:fillRect/>
          </a:stretch>
        </p:blipFill>
        <p:spPr>
          <a:xfrm>
            <a:off x="3116890" y="1094737"/>
            <a:ext cx="2910220" cy="3713738"/>
          </a:xfrm>
          <a:prstGeom prst="rect">
            <a:avLst/>
          </a:prstGeom>
        </p:spPr>
      </p:pic>
      <p:sp>
        <p:nvSpPr>
          <p:cNvPr id="4" name="Shape 0"/>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FFFFFF">
              <a:alpha val="0"/>
            </a:srgbClr>
          </a:solidFill>
          <a:ln/>
        </p:spPr>
      </p:sp>
      <p:sp>
        <p:nvSpPr>
          <p:cNvPr id="5" name="Text 1"/>
          <p:cNvSpPr/>
          <p:nvPr/>
        </p:nvSpPr>
        <p:spPr>
          <a:xfrm>
            <a:off x="1401482" y="161274"/>
            <a:ext cx="6341100"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1401482" y="161274"/>
            <a:ext cx="6341100" cy="476250"/>
          </a:xfrm>
          <a:custGeom>
            <a:avLst/>
            <a:gdLst/>
            <a:ahLst/>
            <a:cxnLst/>
            <a:rect l="l" t="t" r="r" b="b"/>
            <a:pathLst>
              <a:path w="6341100" h="476250">
                <a:moveTo>
                  <a:pt x="0" y="0"/>
                </a:moveTo>
                <a:lnTo>
                  <a:pt x="6341100" y="0"/>
                </a:lnTo>
                <a:lnTo>
                  <a:pt x="6341100" y="476250"/>
                </a:lnTo>
                <a:lnTo>
                  <a:pt x="0" y="476250"/>
                </a:lnTo>
                <a:close/>
              </a:path>
            </a:pathLst>
          </a:custGeom>
          <a:solidFill>
            <a:srgbClr val="000000">
              <a:alpha val="0"/>
            </a:srgbClr>
          </a:solidFill>
          <a:ln/>
        </p:spPr>
      </p:sp>
      <p:sp>
        <p:nvSpPr>
          <p:cNvPr id="7" name="Text 3"/>
          <p:cNvSpPr/>
          <p:nvPr/>
        </p:nvSpPr>
        <p:spPr>
          <a:xfrm>
            <a:off x="1401482" y="161274"/>
            <a:ext cx="63411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O'sma turlari</a:t>
            </a:r>
            <a:endParaRPr lang="en-US" sz="1050" dirty="0"/>
          </a:p>
        </p:txBody>
      </p:sp>
      <p:sp>
        <p:nvSpPr>
          <p:cNvPr id="8" name="Shape 4"/>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9" name="Text 5"/>
          <p:cNvSpPr/>
          <p:nvPr/>
        </p:nvSpPr>
        <p:spPr>
          <a:xfrm>
            <a:off x="6517040" y="2139780"/>
            <a:ext cx="2026650" cy="349523"/>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517040" y="2139780"/>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1" name="Text 7"/>
          <p:cNvSpPr/>
          <p:nvPr/>
        </p:nvSpPr>
        <p:spPr>
          <a:xfrm>
            <a:off x="6517040" y="2139780"/>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o'simliklar o'rtasida eng ko'p tarqalgan va ko'p qirrali xilma-xillikni namoyon etadi. Ular nafaqat ko'rinish, balki o'sish sharoitlari va ekologik rol bilan ham ajralib turadi.</a:t>
            </a:r>
            <a:endParaRPr lang="en-US" sz="1050" dirty="0"/>
          </a:p>
        </p:txBody>
      </p:sp>
      <p:sp>
        <p:nvSpPr>
          <p:cNvPr id="12" name="Shape 8"/>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13" name="Text 9"/>
          <p:cNvSpPr/>
          <p:nvPr/>
        </p:nvSpPr>
        <p:spPr>
          <a:xfrm>
            <a:off x="6446157" y="1520039"/>
            <a:ext cx="2026650" cy="241399"/>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46157" y="1520039"/>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15" name="Text 11"/>
          <p:cNvSpPr/>
          <p:nvPr/>
        </p:nvSpPr>
        <p:spPr>
          <a:xfrm>
            <a:off x="6446157" y="1520039"/>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haqida ma'lumotlar</a:t>
            </a:r>
            <a:endParaRPr lang="en-US" sz="1050" dirty="0"/>
          </a:p>
        </p:txBody>
      </p:sp>
      <p:sp>
        <p:nvSpPr>
          <p:cNvPr id="16" name="Shape 12"/>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17" name="Text 13"/>
          <p:cNvSpPr/>
          <p:nvPr/>
        </p:nvSpPr>
        <p:spPr>
          <a:xfrm>
            <a:off x="6517040" y="3923708"/>
            <a:ext cx="2026650" cy="349523"/>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6517040" y="392370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19" name="Text 15"/>
          <p:cNvSpPr/>
          <p:nvPr/>
        </p:nvSpPr>
        <p:spPr>
          <a:xfrm>
            <a:off x="6517040" y="392370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ko'plab ekologik tizimlarda muhim rol o'ynaydi. Ular ekotizimlarning barqarorligini ta'minlaydi va turli xil hayvonlar uchun yashash joyi hisoblanadi.</a:t>
            </a:r>
            <a:endParaRPr lang="en-US" sz="1050" dirty="0"/>
          </a:p>
        </p:txBody>
      </p:sp>
      <p:sp>
        <p:nvSpPr>
          <p:cNvPr id="20" name="Shape 16"/>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1" name="Text 17"/>
          <p:cNvSpPr/>
          <p:nvPr/>
        </p:nvSpPr>
        <p:spPr>
          <a:xfrm>
            <a:off x="6481599"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6481599"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23" name="Text 19"/>
          <p:cNvSpPr/>
          <p:nvPr/>
        </p:nvSpPr>
        <p:spPr>
          <a:xfrm>
            <a:off x="6481599"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turlari</a:t>
            </a:r>
            <a:endParaRPr lang="en-US" sz="1050" dirty="0"/>
          </a:p>
        </p:txBody>
      </p:sp>
      <p:sp>
        <p:nvSpPr>
          <p:cNvPr id="24" name="Shape 20"/>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25" name="Text 21"/>
          <p:cNvSpPr/>
          <p:nvPr/>
        </p:nvSpPr>
        <p:spPr>
          <a:xfrm>
            <a:off x="600373" y="2018613"/>
            <a:ext cx="2026650" cy="349523"/>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600373" y="2018613"/>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27" name="Text 23"/>
          <p:cNvSpPr/>
          <p:nvPr/>
        </p:nvSpPr>
        <p:spPr>
          <a:xfrm>
            <a:off x="600373" y="2018613"/>
            <a:ext cx="2026650" cy="349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1. O'rmon o'smalari: Bu o'smalar, asosan, o'rmon ekosistemalarida uchraydi va ko'plab hayvonlar uchun yashash joyi bo'lib xizmat qiladi.  2. Sahrada o'smalari: Ular qurg'oqchil sharoitlarda yashaydi va suvni tejashga qodir.3. Suv o'smalari: Suvda yashovchi o'smalar ko'plab ekotizimlarning asosiy qismi hisoblanadi.</a:t>
            </a:r>
            <a:endParaRPr lang="en-US" sz="1050" dirty="0"/>
          </a:p>
        </p:txBody>
      </p:sp>
      <p:sp>
        <p:nvSpPr>
          <p:cNvPr id="28" name="Shape 24"/>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29" name="Text 25"/>
          <p:cNvSpPr/>
          <p:nvPr/>
        </p:nvSpPr>
        <p:spPr>
          <a:xfrm>
            <a:off x="600373" y="1456867"/>
            <a:ext cx="2026650" cy="241399"/>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600373" y="1456867"/>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1" name="Text 27"/>
          <p:cNvSpPr/>
          <p:nvPr/>
        </p:nvSpPr>
        <p:spPr>
          <a:xfrm>
            <a:off x="600373" y="1456867"/>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va ularning ahamiyati</a:t>
            </a:r>
            <a:endParaRPr lang="en-US" sz="1050" dirty="0"/>
          </a:p>
        </p:txBody>
      </p:sp>
      <p:sp>
        <p:nvSpPr>
          <p:cNvPr id="32" name="Shape 28"/>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FFFFFF">
              <a:alpha val="0"/>
            </a:srgbClr>
          </a:solidFill>
          <a:ln/>
        </p:spPr>
      </p:sp>
      <p:sp>
        <p:nvSpPr>
          <p:cNvPr id="33" name="Text 29"/>
          <p:cNvSpPr/>
          <p:nvPr/>
        </p:nvSpPr>
        <p:spPr>
          <a:xfrm>
            <a:off x="600373" y="3866558"/>
            <a:ext cx="2026650" cy="349523"/>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600373" y="3866558"/>
            <a:ext cx="2026650" cy="349523"/>
          </a:xfrm>
          <a:custGeom>
            <a:avLst/>
            <a:gdLst/>
            <a:ahLst/>
            <a:cxnLst/>
            <a:rect l="l" t="t" r="r" b="b"/>
            <a:pathLst>
              <a:path w="2026650" h="349523">
                <a:moveTo>
                  <a:pt x="0" y="0"/>
                </a:moveTo>
                <a:lnTo>
                  <a:pt x="2026650" y="0"/>
                </a:lnTo>
                <a:lnTo>
                  <a:pt x="2026650" y="349523"/>
                </a:lnTo>
                <a:lnTo>
                  <a:pt x="0" y="349523"/>
                </a:lnTo>
                <a:close/>
              </a:path>
            </a:pathLst>
          </a:custGeom>
          <a:solidFill>
            <a:srgbClr val="000000">
              <a:alpha val="0"/>
            </a:srgbClr>
          </a:solidFill>
          <a:ln/>
        </p:spPr>
      </p:sp>
      <p:sp>
        <p:nvSpPr>
          <p:cNvPr id="35" name="Text 31"/>
          <p:cNvSpPr/>
          <p:nvPr/>
        </p:nvSpPr>
        <p:spPr>
          <a:xfrm>
            <a:off x="600373" y="3866558"/>
            <a:ext cx="2026650" cy="349523"/>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O'sma turlari tabiiy muhitda muhim rol o'ynaydi. Ular havoni tozalash, tuproqni mustahkamlash va iqlimni boshqarishga yordam beradi.</a:t>
            </a:r>
            <a:endParaRPr lang="en-US" sz="1050" dirty="0"/>
          </a:p>
        </p:txBody>
      </p:sp>
      <p:sp>
        <p:nvSpPr>
          <p:cNvPr id="36" name="Shape 32"/>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FFFFFF">
              <a:alpha val="0"/>
            </a:srgbClr>
          </a:solidFill>
          <a:ln/>
        </p:spPr>
      </p:sp>
      <p:sp>
        <p:nvSpPr>
          <p:cNvPr id="37" name="Text 33"/>
          <p:cNvSpPr/>
          <p:nvPr/>
        </p:nvSpPr>
        <p:spPr>
          <a:xfrm>
            <a:off x="482233" y="3307470"/>
            <a:ext cx="2026650" cy="241399"/>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482233" y="3307470"/>
            <a:ext cx="2026650" cy="241399"/>
          </a:xfrm>
          <a:custGeom>
            <a:avLst/>
            <a:gdLst/>
            <a:ahLst/>
            <a:cxnLst/>
            <a:rect l="l" t="t" r="r" b="b"/>
            <a:pathLst>
              <a:path w="2026650" h="241399">
                <a:moveTo>
                  <a:pt x="0" y="0"/>
                </a:moveTo>
                <a:lnTo>
                  <a:pt x="2026650" y="0"/>
                </a:lnTo>
                <a:lnTo>
                  <a:pt x="2026650" y="241399"/>
                </a:lnTo>
                <a:lnTo>
                  <a:pt x="0" y="241399"/>
                </a:lnTo>
                <a:close/>
              </a:path>
            </a:pathLst>
          </a:custGeom>
          <a:solidFill>
            <a:srgbClr val="000000">
              <a:alpha val="0"/>
            </a:srgbClr>
          </a:solidFill>
          <a:ln/>
        </p:spPr>
      </p:sp>
      <p:sp>
        <p:nvSpPr>
          <p:cNvPr id="39" name="Text 35"/>
          <p:cNvSpPr/>
          <p:nvPr/>
        </p:nvSpPr>
        <p:spPr>
          <a:xfrm>
            <a:off x="482233" y="3307470"/>
            <a:ext cx="2026650" cy="241399"/>
          </a:xfrm>
          <a:prstGeom prst="rect">
            <a:avLst/>
          </a:prstGeom>
          <a:noFill/>
          <a:ln/>
        </p:spPr>
        <p:txBody>
          <a:bodyPr wrap="square" rtlCol="0" anchor="t"/>
          <a:lstStyle/>
          <a:p>
            <a:pPr algn="ctr" indent="0" marL="0">
              <a:spcBef>
                <a:spcPts val="375"/>
              </a:spcBef>
              <a:buNone/>
            </a:pPr>
            <a:r>
              <a:rPr lang="en-US" sz="1125" b="1" dirty="0">
                <a:solidFill>
                  <a:srgbClr val="000000"/>
                </a:solidFill>
                <a:latin typeface="Nunito" pitchFamily="34" charset="0"/>
                <a:ea typeface="Nunito" pitchFamily="34" charset="-122"/>
                <a:cs typeface="Nunito" pitchFamily="34" charset="-120"/>
              </a:rPr>
              <a:t>O'sma turlari: Nomi, Turi, Ekologik ahamiyati</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1F1F1"/>
        </a:solidFill>
      </p:bgPr>
    </p:bg>
    <p:spTree>
      <p:nvGrpSpPr>
        <p:cNvPr id="1" name=""/>
        <p:cNvGrpSpPr/>
        <p:nvPr/>
      </p:nvGrpSpPr>
      <p:grpSpPr>
        <a:xfrm>
          <a:off x="0" y="0"/>
          <a:ext cx="0" cy="0"/>
          <a:chOff x="0" y="0"/>
          <a:chExt cx="0" cy="0"/>
        </a:xfrm>
      </p:grpSpPr>
      <p:pic>
        <p:nvPicPr>
          <p:cNvPr id="2" name="Image 0" descr="./images\slide5_img5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5_img57.png">    </p:cNvPr>
          <p:cNvPicPr>
            <a:picLocks noChangeAspect="1"/>
          </p:cNvPicPr>
          <p:nvPr/>
        </p:nvPicPr>
        <p:blipFill>
          <a:blip r:embed="rId2"/>
          <a:stretch>
            <a:fillRect/>
          </a:stretch>
        </p:blipFill>
        <p:spPr>
          <a:xfrm>
            <a:off x="3385895" y="1452747"/>
            <a:ext cx="2299344" cy="2299344"/>
          </a:xfrm>
          <a:prstGeom prst="rect">
            <a:avLst/>
          </a:prstGeom>
        </p:spPr>
      </p:pic>
      <p:sp>
        <p:nvSpPr>
          <p:cNvPr id="4" name="Shape 0"/>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5" name="Text 1"/>
          <p:cNvSpPr/>
          <p:nvPr/>
        </p:nvSpPr>
        <p:spPr>
          <a:xfrm>
            <a:off x="3385895"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3385895"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7" name="Text 3"/>
          <p:cNvSpPr/>
          <p:nvPr/>
        </p:nvSpPr>
        <p:spPr>
          <a:xfrm>
            <a:off x="3385895"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5_img58.png">    </p:cNvPr>
          <p:cNvPicPr>
            <a:picLocks noChangeAspect="1"/>
          </p:cNvPicPr>
          <p:nvPr/>
        </p:nvPicPr>
        <p:blipFill>
          <a:blip r:embed="rId3"/>
          <a:stretch>
            <a:fillRect/>
          </a:stretch>
        </p:blipFill>
        <p:spPr>
          <a:xfrm>
            <a:off x="3385895" y="1452747"/>
            <a:ext cx="2299344" cy="2299344"/>
          </a:xfrm>
          <a:prstGeom prst="rect">
            <a:avLst/>
          </a:prstGeom>
        </p:spPr>
      </p:pic>
      <p:pic>
        <p:nvPicPr>
          <p:cNvPr id="9" name="Image 3" descr="./images\slide5_img59.png">    </p:cNvPr>
          <p:cNvPicPr>
            <a:picLocks noChangeAspect="1"/>
          </p:cNvPicPr>
          <p:nvPr/>
        </p:nvPicPr>
        <p:blipFill>
          <a:blip r:embed="rId4"/>
          <a:stretch>
            <a:fillRect/>
          </a:stretch>
        </p:blipFill>
        <p:spPr>
          <a:xfrm>
            <a:off x="6193097" y="1452747"/>
            <a:ext cx="2299344" cy="2299344"/>
          </a:xfrm>
          <a:prstGeom prst="rect">
            <a:avLst/>
          </a:prstGeom>
        </p:spPr>
      </p:pic>
      <p:sp>
        <p:nvSpPr>
          <p:cNvPr id="10" name="Shape 4"/>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1" name="Text 5"/>
          <p:cNvSpPr/>
          <p:nvPr/>
        </p:nvSpPr>
        <p:spPr>
          <a:xfrm>
            <a:off x="6193097"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6193097"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3" name="Text 7"/>
          <p:cNvSpPr/>
          <p:nvPr/>
        </p:nvSpPr>
        <p:spPr>
          <a:xfrm>
            <a:off x="6193097"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5_img60.png">    </p:cNvPr>
          <p:cNvPicPr>
            <a:picLocks noChangeAspect="1"/>
          </p:cNvPicPr>
          <p:nvPr/>
        </p:nvPicPr>
        <p:blipFill>
          <a:blip r:embed="rId5"/>
          <a:stretch>
            <a:fillRect/>
          </a:stretch>
        </p:blipFill>
        <p:spPr>
          <a:xfrm>
            <a:off x="6193097" y="1452747"/>
            <a:ext cx="2299344" cy="2299344"/>
          </a:xfrm>
          <a:prstGeom prst="rect">
            <a:avLst/>
          </a:prstGeom>
        </p:spPr>
      </p:pic>
      <p:pic>
        <p:nvPicPr>
          <p:cNvPr id="15" name="Image 5" descr="./images\slide5_img61.png">    </p:cNvPr>
          <p:cNvPicPr>
            <a:picLocks noChangeAspect="1"/>
          </p:cNvPicPr>
          <p:nvPr/>
        </p:nvPicPr>
        <p:blipFill>
          <a:blip r:embed="rId6"/>
          <a:stretch>
            <a:fillRect/>
          </a:stretch>
        </p:blipFill>
        <p:spPr>
          <a:xfrm>
            <a:off x="651178" y="1452747"/>
            <a:ext cx="2299344" cy="2299344"/>
          </a:xfrm>
          <a:prstGeom prst="rect">
            <a:avLst/>
          </a:prstGeom>
        </p:spPr>
      </p:pic>
      <p:sp>
        <p:nvSpPr>
          <p:cNvPr id="16" name="Shape 8"/>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FFFFFF">
              <a:alpha val="0"/>
            </a:srgbClr>
          </a:solidFill>
          <a:ln/>
        </p:spPr>
      </p:sp>
      <p:sp>
        <p:nvSpPr>
          <p:cNvPr id="17" name="Text 9"/>
          <p:cNvSpPr/>
          <p:nvPr/>
        </p:nvSpPr>
        <p:spPr>
          <a:xfrm>
            <a:off x="651178" y="1452747"/>
            <a:ext cx="2299344" cy="2299344"/>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651178" y="1452747"/>
            <a:ext cx="2299344" cy="2299344"/>
          </a:xfrm>
          <a:custGeom>
            <a:avLst/>
            <a:gdLst/>
            <a:ahLst/>
            <a:cxnLst/>
            <a:rect l="l" t="t" r="r" b="b"/>
            <a:pathLst>
              <a:path w="2299344" h="2299344">
                <a:moveTo>
                  <a:pt x="0" y="0"/>
                </a:moveTo>
                <a:lnTo>
                  <a:pt x="2299344" y="0"/>
                </a:lnTo>
                <a:lnTo>
                  <a:pt x="2299344" y="2299344"/>
                </a:lnTo>
                <a:lnTo>
                  <a:pt x="0" y="2299344"/>
                </a:lnTo>
                <a:close/>
              </a:path>
            </a:pathLst>
          </a:custGeom>
          <a:solidFill>
            <a:srgbClr val="000000">
              <a:alpha val="0"/>
            </a:srgbClr>
          </a:solidFill>
          <a:ln/>
        </p:spPr>
      </p:sp>
      <p:sp>
        <p:nvSpPr>
          <p:cNvPr id="19" name="Text 11"/>
          <p:cNvSpPr/>
          <p:nvPr/>
        </p:nvSpPr>
        <p:spPr>
          <a:xfrm>
            <a:off x="651178" y="1452747"/>
            <a:ext cx="2299344" cy="229934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0" name="Image 6" descr="./images\slide5_img62.png">    </p:cNvPr>
          <p:cNvPicPr>
            <a:picLocks noChangeAspect="1"/>
          </p:cNvPicPr>
          <p:nvPr/>
        </p:nvPicPr>
        <p:blipFill>
          <a:blip r:embed="rId7"/>
          <a:stretch>
            <a:fillRect/>
          </a:stretch>
        </p:blipFill>
        <p:spPr>
          <a:xfrm>
            <a:off x="651178" y="1452747"/>
            <a:ext cx="2299344" cy="2299344"/>
          </a:xfrm>
          <a:prstGeom prst="rect">
            <a:avLst/>
          </a:prstGeom>
        </p:spPr>
      </p:pic>
      <p:pic>
        <p:nvPicPr>
          <p:cNvPr id="21" name="Image 7" descr="./images\slide5_img63.png">    </p:cNvPr>
          <p:cNvPicPr>
            <a:picLocks noChangeAspect="1"/>
          </p:cNvPicPr>
          <p:nvPr/>
        </p:nvPicPr>
        <p:blipFill>
          <a:blip r:embed="rId8"/>
          <a:stretch>
            <a:fillRect/>
          </a:stretch>
        </p:blipFill>
        <p:spPr>
          <a:xfrm>
            <a:off x="551228" y="1377789"/>
            <a:ext cx="2499245" cy="2449260"/>
          </a:xfrm>
          <a:prstGeom prst="rect">
            <a:avLst/>
          </a:prstGeom>
        </p:spPr>
      </p:pic>
      <p:sp>
        <p:nvSpPr>
          <p:cNvPr id="22" name="Shape 12"/>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3" name="Text 13"/>
          <p:cNvSpPr/>
          <p:nvPr/>
        </p:nvSpPr>
        <p:spPr>
          <a:xfrm>
            <a:off x="5512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24" name="Shape 14"/>
          <p:cNvSpPr/>
          <p:nvPr/>
        </p:nvSpPr>
        <p:spPr>
          <a:xfrm>
            <a:off x="5512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25" name="Text 15"/>
          <p:cNvSpPr/>
          <p:nvPr/>
        </p:nvSpPr>
        <p:spPr>
          <a:xfrm>
            <a:off x="5512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26" name="Image 8" descr="./images\slide5_img64.png">    </p:cNvPr>
          <p:cNvPicPr>
            <a:picLocks noChangeAspect="1"/>
          </p:cNvPicPr>
          <p:nvPr/>
        </p:nvPicPr>
        <p:blipFill>
          <a:blip r:embed="rId9"/>
          <a:stretch>
            <a:fillRect/>
          </a:stretch>
        </p:blipFill>
        <p:spPr>
          <a:xfrm>
            <a:off x="551228" y="1377789"/>
            <a:ext cx="2499245" cy="2449260"/>
          </a:xfrm>
          <a:prstGeom prst="rect">
            <a:avLst/>
          </a:prstGeom>
        </p:spPr>
      </p:pic>
      <p:pic>
        <p:nvPicPr>
          <p:cNvPr id="27" name="Image 9" descr="./images\slide5_img65.png">    </p:cNvPr>
          <p:cNvPicPr>
            <a:picLocks noChangeAspect="1"/>
          </p:cNvPicPr>
          <p:nvPr/>
        </p:nvPicPr>
        <p:blipFill>
          <a:blip r:embed="rId10"/>
          <a:stretch>
            <a:fillRect/>
          </a:stretch>
        </p:blipFill>
        <p:spPr>
          <a:xfrm>
            <a:off x="3322378" y="1377789"/>
            <a:ext cx="2499245" cy="2449260"/>
          </a:xfrm>
          <a:prstGeom prst="rect">
            <a:avLst/>
          </a:prstGeom>
        </p:spPr>
      </p:pic>
      <p:sp>
        <p:nvSpPr>
          <p:cNvPr id="28" name="Shape 16"/>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29" name="Text 17"/>
          <p:cNvSpPr/>
          <p:nvPr/>
        </p:nvSpPr>
        <p:spPr>
          <a:xfrm>
            <a:off x="332237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0" name="Shape 18"/>
          <p:cNvSpPr/>
          <p:nvPr/>
        </p:nvSpPr>
        <p:spPr>
          <a:xfrm>
            <a:off x="332237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1" name="Text 19"/>
          <p:cNvSpPr/>
          <p:nvPr/>
        </p:nvSpPr>
        <p:spPr>
          <a:xfrm>
            <a:off x="332237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2" name="Image 10" descr="./images\slide5_img66.png">    </p:cNvPr>
          <p:cNvPicPr>
            <a:picLocks noChangeAspect="1"/>
          </p:cNvPicPr>
          <p:nvPr/>
        </p:nvPicPr>
        <p:blipFill>
          <a:blip r:embed="rId11"/>
          <a:stretch>
            <a:fillRect/>
          </a:stretch>
        </p:blipFill>
        <p:spPr>
          <a:xfrm>
            <a:off x="3322378" y="1377789"/>
            <a:ext cx="2499245" cy="2449260"/>
          </a:xfrm>
          <a:prstGeom prst="rect">
            <a:avLst/>
          </a:prstGeom>
        </p:spPr>
      </p:pic>
      <p:pic>
        <p:nvPicPr>
          <p:cNvPr id="33" name="Image 11" descr="./images\slide5_img67.png">    </p:cNvPr>
          <p:cNvPicPr>
            <a:picLocks noChangeAspect="1"/>
          </p:cNvPicPr>
          <p:nvPr/>
        </p:nvPicPr>
        <p:blipFill>
          <a:blip r:embed="rId12"/>
          <a:stretch>
            <a:fillRect/>
          </a:stretch>
        </p:blipFill>
        <p:spPr>
          <a:xfrm>
            <a:off x="6093528" y="1377789"/>
            <a:ext cx="2499245" cy="2449260"/>
          </a:xfrm>
          <a:prstGeom prst="rect">
            <a:avLst/>
          </a:prstGeom>
        </p:spPr>
      </p:pic>
      <p:sp>
        <p:nvSpPr>
          <p:cNvPr id="34" name="Shape 20"/>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FFFFFF">
              <a:alpha val="0"/>
            </a:srgbClr>
          </a:solidFill>
          <a:ln/>
        </p:spPr>
      </p:sp>
      <p:sp>
        <p:nvSpPr>
          <p:cNvPr id="35" name="Text 21"/>
          <p:cNvSpPr/>
          <p:nvPr/>
        </p:nvSpPr>
        <p:spPr>
          <a:xfrm>
            <a:off x="6093528" y="1377789"/>
            <a:ext cx="2499245" cy="2449260"/>
          </a:xfrm>
          <a:prstGeom prst="rect">
            <a:avLst/>
          </a:prstGeom>
          <a:noFill/>
          <a:ln/>
        </p:spPr>
        <p:txBody>
          <a:bodyPr wrap="square" rtlCol="0" anchor="t"/>
          <a:lstStyle/>
          <a:p>
            <a:pPr indent="0" marL="0">
              <a:spcBef>
                <a:spcPts val="375"/>
              </a:spcBef>
              <a:buNone/>
            </a:pPr>
            <a:endParaRPr lang="en-US" sz="1050" dirty="0"/>
          </a:p>
        </p:txBody>
      </p:sp>
      <p:sp>
        <p:nvSpPr>
          <p:cNvPr id="36" name="Shape 22"/>
          <p:cNvSpPr/>
          <p:nvPr/>
        </p:nvSpPr>
        <p:spPr>
          <a:xfrm>
            <a:off x="6093528" y="1377789"/>
            <a:ext cx="2499245" cy="2449260"/>
          </a:xfrm>
          <a:custGeom>
            <a:avLst/>
            <a:gdLst/>
            <a:ahLst/>
            <a:cxnLst/>
            <a:rect l="l" t="t" r="r" b="b"/>
            <a:pathLst>
              <a:path w="2499245" h="2449260">
                <a:moveTo>
                  <a:pt x="0" y="0"/>
                </a:moveTo>
                <a:lnTo>
                  <a:pt x="2499245" y="0"/>
                </a:lnTo>
                <a:lnTo>
                  <a:pt x="2499245" y="2449260"/>
                </a:lnTo>
                <a:lnTo>
                  <a:pt x="0" y="2449260"/>
                </a:lnTo>
                <a:close/>
              </a:path>
            </a:pathLst>
          </a:custGeom>
          <a:solidFill>
            <a:srgbClr val="000000">
              <a:alpha val="0"/>
            </a:srgbClr>
          </a:solidFill>
          <a:ln/>
        </p:spPr>
      </p:sp>
      <p:sp>
        <p:nvSpPr>
          <p:cNvPr id="37" name="Text 23"/>
          <p:cNvSpPr/>
          <p:nvPr/>
        </p:nvSpPr>
        <p:spPr>
          <a:xfrm>
            <a:off x="6093528" y="1377789"/>
            <a:ext cx="2499245" cy="244926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8" name="Image 12" descr="./images\slide5_img68.png">    </p:cNvPr>
          <p:cNvPicPr>
            <a:picLocks noChangeAspect="1"/>
          </p:cNvPicPr>
          <p:nvPr/>
        </p:nvPicPr>
        <p:blipFill>
          <a:blip r:embed="rId13"/>
          <a:stretch>
            <a:fillRect/>
          </a:stretch>
        </p:blipFill>
        <p:spPr>
          <a:xfrm>
            <a:off x="6093528" y="1377789"/>
            <a:ext cx="2499245" cy="2449260"/>
          </a:xfrm>
          <a:prstGeom prst="rect">
            <a:avLst/>
          </a:prstGeom>
        </p:spPr>
      </p:pic>
      <p:sp>
        <p:nvSpPr>
          <p:cNvPr id="39" name="Shape 24"/>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FFFFFF">
              <a:alpha val="0"/>
            </a:srgbClr>
          </a:solidFill>
          <a:ln/>
        </p:spPr>
      </p:sp>
      <p:sp>
        <p:nvSpPr>
          <p:cNvPr id="40" name="Text 25"/>
          <p:cNvSpPr/>
          <p:nvPr/>
        </p:nvSpPr>
        <p:spPr>
          <a:xfrm>
            <a:off x="874042" y="197820"/>
            <a:ext cx="7395900" cy="552450"/>
          </a:xfrm>
          <a:prstGeom prst="rect">
            <a:avLst/>
          </a:prstGeom>
          <a:noFill/>
          <a:ln/>
        </p:spPr>
        <p:txBody>
          <a:bodyPr wrap="square" rtlCol="0" anchor="t"/>
          <a:lstStyle/>
          <a:p>
            <a:pPr indent="0" marL="0">
              <a:spcBef>
                <a:spcPts val="375"/>
              </a:spcBef>
              <a:buNone/>
            </a:pPr>
            <a:endParaRPr lang="en-US" sz="1050" dirty="0"/>
          </a:p>
        </p:txBody>
      </p:sp>
      <p:sp>
        <p:nvSpPr>
          <p:cNvPr id="41" name="Shape 26"/>
          <p:cNvSpPr/>
          <p:nvPr/>
        </p:nvSpPr>
        <p:spPr>
          <a:xfrm>
            <a:off x="874042" y="197820"/>
            <a:ext cx="7395900" cy="552450"/>
          </a:xfrm>
          <a:custGeom>
            <a:avLst/>
            <a:gdLst/>
            <a:ahLst/>
            <a:cxnLst/>
            <a:rect l="l" t="t" r="r" b="b"/>
            <a:pathLst>
              <a:path w="7395900" h="552450">
                <a:moveTo>
                  <a:pt x="0" y="0"/>
                </a:moveTo>
                <a:lnTo>
                  <a:pt x="7395900" y="0"/>
                </a:lnTo>
                <a:lnTo>
                  <a:pt x="7395900" y="552450"/>
                </a:lnTo>
                <a:lnTo>
                  <a:pt x="0" y="552450"/>
                </a:lnTo>
                <a:close/>
              </a:path>
            </a:pathLst>
          </a:custGeom>
          <a:solidFill>
            <a:srgbClr val="000000">
              <a:alpha val="0"/>
            </a:srgbClr>
          </a:solidFill>
          <a:ln/>
        </p:spPr>
      </p:sp>
      <p:sp>
        <p:nvSpPr>
          <p:cNvPr id="42" name="Text 27"/>
          <p:cNvSpPr/>
          <p:nvPr/>
        </p:nvSpPr>
        <p:spPr>
          <a:xfrm>
            <a:off x="874042" y="197820"/>
            <a:ext cx="7395900" cy="5524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Asosiy Ma'lumotlar</a:t>
            </a:r>
            <a:endParaRPr lang="en-US" sz="1050" dirty="0"/>
          </a:p>
        </p:txBody>
      </p:sp>
      <p:sp>
        <p:nvSpPr>
          <p:cNvPr id="43" name="Shape 28"/>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FFFFFF">
              <a:alpha val="0"/>
            </a:srgbClr>
          </a:solidFill>
          <a:ln/>
        </p:spPr>
      </p:sp>
      <p:sp>
        <p:nvSpPr>
          <p:cNvPr id="44" name="Text 29"/>
          <p:cNvSpPr/>
          <p:nvPr/>
        </p:nvSpPr>
        <p:spPr>
          <a:xfrm>
            <a:off x="651178" y="1478873"/>
            <a:ext cx="2269341" cy="603796"/>
          </a:xfrm>
          <a:prstGeom prst="rect">
            <a:avLst/>
          </a:prstGeom>
          <a:noFill/>
          <a:ln/>
        </p:spPr>
        <p:txBody>
          <a:bodyPr wrap="square" rtlCol="0" anchor="t"/>
          <a:lstStyle/>
          <a:p>
            <a:pPr indent="0" marL="0">
              <a:spcBef>
                <a:spcPts val="375"/>
              </a:spcBef>
              <a:buNone/>
            </a:pPr>
            <a:endParaRPr lang="en-US" sz="1050" dirty="0"/>
          </a:p>
        </p:txBody>
      </p:sp>
      <p:sp>
        <p:nvSpPr>
          <p:cNvPr id="45" name="Shape 30"/>
          <p:cNvSpPr/>
          <p:nvPr/>
        </p:nvSpPr>
        <p:spPr>
          <a:xfrm>
            <a:off x="651178" y="1478873"/>
            <a:ext cx="2269341" cy="603796"/>
          </a:xfrm>
          <a:custGeom>
            <a:avLst/>
            <a:gdLst/>
            <a:ahLst/>
            <a:cxnLst/>
            <a:rect l="l" t="t" r="r" b="b"/>
            <a:pathLst>
              <a:path w="2269341" h="603796">
                <a:moveTo>
                  <a:pt x="0" y="0"/>
                </a:moveTo>
                <a:lnTo>
                  <a:pt x="2269341" y="0"/>
                </a:lnTo>
                <a:lnTo>
                  <a:pt x="2269341" y="603796"/>
                </a:lnTo>
                <a:lnTo>
                  <a:pt x="0" y="603796"/>
                </a:lnTo>
                <a:close/>
              </a:path>
            </a:pathLst>
          </a:custGeom>
          <a:solidFill>
            <a:srgbClr val="000000">
              <a:alpha val="0"/>
            </a:srgbClr>
          </a:solidFill>
          <a:ln/>
        </p:spPr>
      </p:sp>
      <p:sp>
        <p:nvSpPr>
          <p:cNvPr id="46" name="Text 31"/>
          <p:cNvSpPr/>
          <p:nvPr/>
        </p:nvSpPr>
        <p:spPr>
          <a:xfrm>
            <a:off x="651178" y="1478873"/>
            <a:ext cx="2269341"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inson organizmida nerv hujayralaridan kelib chiqadigan benign yoki malign o'smalardir. Ular asosan bosh miya, orqa miya va nervlarni ta'sir qiladi. O'smalar turli belgilarga va muammolarga olib kelishi mumkin.</a:t>
            </a:r>
            <a:endParaRPr lang="en-US" sz="1050" dirty="0"/>
          </a:p>
        </p:txBody>
      </p:sp>
      <p:sp>
        <p:nvSpPr>
          <p:cNvPr id="47" name="Shape 32"/>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FFFFFF">
              <a:alpha val="0"/>
            </a:srgbClr>
          </a:solidFill>
          <a:ln/>
        </p:spPr>
      </p:sp>
      <p:sp>
        <p:nvSpPr>
          <p:cNvPr id="48" name="Text 33"/>
          <p:cNvSpPr/>
          <p:nvPr/>
        </p:nvSpPr>
        <p:spPr>
          <a:xfrm>
            <a:off x="3385895" y="1537943"/>
            <a:ext cx="2216616" cy="603796"/>
          </a:xfrm>
          <a:prstGeom prst="rect">
            <a:avLst/>
          </a:prstGeom>
          <a:noFill/>
          <a:ln/>
        </p:spPr>
        <p:txBody>
          <a:bodyPr wrap="square" rtlCol="0" anchor="t"/>
          <a:lstStyle/>
          <a:p>
            <a:pPr indent="0" marL="0">
              <a:spcBef>
                <a:spcPts val="375"/>
              </a:spcBef>
              <a:buNone/>
            </a:pPr>
            <a:endParaRPr lang="en-US" sz="1050" dirty="0"/>
          </a:p>
        </p:txBody>
      </p:sp>
      <p:sp>
        <p:nvSpPr>
          <p:cNvPr id="49" name="Shape 34"/>
          <p:cNvSpPr/>
          <p:nvPr/>
        </p:nvSpPr>
        <p:spPr>
          <a:xfrm>
            <a:off x="3385895" y="1537943"/>
            <a:ext cx="2216616" cy="603796"/>
          </a:xfrm>
          <a:custGeom>
            <a:avLst/>
            <a:gdLst/>
            <a:ahLst/>
            <a:cxnLst/>
            <a:rect l="l" t="t" r="r" b="b"/>
            <a:pathLst>
              <a:path w="2216616" h="603796">
                <a:moveTo>
                  <a:pt x="0" y="0"/>
                </a:moveTo>
                <a:lnTo>
                  <a:pt x="2216616" y="0"/>
                </a:lnTo>
                <a:lnTo>
                  <a:pt x="2216616" y="603796"/>
                </a:lnTo>
                <a:lnTo>
                  <a:pt x="0" y="603796"/>
                </a:lnTo>
                <a:close/>
              </a:path>
            </a:pathLst>
          </a:custGeom>
          <a:solidFill>
            <a:srgbClr val="000000">
              <a:alpha val="0"/>
            </a:srgbClr>
          </a:solidFill>
          <a:ln/>
        </p:spPr>
      </p:sp>
      <p:sp>
        <p:nvSpPr>
          <p:cNvPr id="50" name="Text 35"/>
          <p:cNvSpPr/>
          <p:nvPr/>
        </p:nvSpPr>
        <p:spPr>
          <a:xfrm>
            <a:off x="3385895" y="1537943"/>
            <a:ext cx="2216616" cy="60379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asosan quyidagi turlarga bo'linadi: meningioma, glioma, schwannoma va neuroblastoma. Har bir o'sma turi o'ziga xos simptomlar va davolash usullariga ega. O'smalarning aniqlanishi va davolanishi uchun tezkor tashxis qo'yish muhimdir.</a:t>
            </a:r>
            <a:endParaRPr lang="en-US" sz="1050" dirty="0"/>
          </a:p>
        </p:txBody>
      </p:sp>
      <p:sp>
        <p:nvSpPr>
          <p:cNvPr id="51" name="Shape 36"/>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FFFFFF">
              <a:alpha val="0"/>
            </a:srgbClr>
          </a:solidFill>
          <a:ln/>
        </p:spPr>
      </p:sp>
      <p:sp>
        <p:nvSpPr>
          <p:cNvPr id="52" name="Text 37"/>
          <p:cNvSpPr/>
          <p:nvPr/>
        </p:nvSpPr>
        <p:spPr>
          <a:xfrm>
            <a:off x="6234269" y="1597013"/>
            <a:ext cx="2228813" cy="603796"/>
          </a:xfrm>
          <a:prstGeom prst="rect">
            <a:avLst/>
          </a:prstGeom>
          <a:noFill/>
          <a:ln/>
        </p:spPr>
        <p:txBody>
          <a:bodyPr wrap="square" rtlCol="0" anchor="t"/>
          <a:lstStyle/>
          <a:p>
            <a:pPr indent="0" marL="0">
              <a:spcBef>
                <a:spcPts val="375"/>
              </a:spcBef>
              <a:buNone/>
            </a:pPr>
            <a:endParaRPr lang="en-US" sz="1050" dirty="0"/>
          </a:p>
        </p:txBody>
      </p:sp>
      <p:sp>
        <p:nvSpPr>
          <p:cNvPr id="53" name="Shape 38"/>
          <p:cNvSpPr/>
          <p:nvPr/>
        </p:nvSpPr>
        <p:spPr>
          <a:xfrm>
            <a:off x="6234269" y="1597013"/>
            <a:ext cx="2228813" cy="603796"/>
          </a:xfrm>
          <a:custGeom>
            <a:avLst/>
            <a:gdLst/>
            <a:ahLst/>
            <a:cxnLst/>
            <a:rect l="l" t="t" r="r" b="b"/>
            <a:pathLst>
              <a:path w="2228813" h="603796">
                <a:moveTo>
                  <a:pt x="0" y="0"/>
                </a:moveTo>
                <a:lnTo>
                  <a:pt x="2228813" y="0"/>
                </a:lnTo>
                <a:lnTo>
                  <a:pt x="2228813" y="603796"/>
                </a:lnTo>
                <a:lnTo>
                  <a:pt x="0" y="603796"/>
                </a:lnTo>
                <a:close/>
              </a:path>
            </a:pathLst>
          </a:custGeom>
          <a:solidFill>
            <a:srgbClr val="000000">
              <a:alpha val="0"/>
            </a:srgbClr>
          </a:solidFill>
          <a:ln/>
        </p:spPr>
      </p:sp>
      <p:sp>
        <p:nvSpPr>
          <p:cNvPr id="54" name="Text 39"/>
          <p:cNvSpPr/>
          <p:nvPr/>
        </p:nvSpPr>
        <p:spPr>
          <a:xfrm>
            <a:off x="6234269" y="1597013"/>
            <a:ext cx="2228813" cy="603796"/>
          </a:xfrm>
          <a:prstGeom prst="rect">
            <a:avLst/>
          </a:prstGeom>
          <a:noFill/>
          <a:ln/>
        </p:spPr>
        <p:txBody>
          <a:bodyPr wrap="square" rtlCol="0" anchor="t"/>
          <a:lstStyle/>
          <a:p>
            <a:pPr algn="ctr"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orasida jarrohlik, kimyoterapiya va radioterapiya mavjud. O'sma turiga qarab, davolash rejasi individual ravishda belgilanadi. O'smalarni erta aniqlash hayotni saqlashda muhim rol o'ynaydi.</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1F1F1"/>
        </a:solidFill>
      </p:bgPr>
    </p:bg>
    <p:spTree>
      <p:nvGrpSpPr>
        <p:cNvPr id="1" name=""/>
        <p:cNvGrpSpPr/>
        <p:nvPr/>
      </p:nvGrpSpPr>
      <p:grpSpPr>
        <a:xfrm>
          <a:off x="0" y="0"/>
          <a:ext cx="0" cy="0"/>
          <a:chOff x="0" y="0"/>
          <a:chExt cx="0" cy="0"/>
        </a:xfrm>
      </p:grpSpPr>
      <p:pic>
        <p:nvPicPr>
          <p:cNvPr id="2" name="Image 0" descr="./images\slide7_img71.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7_img72.png">    </p:cNvPr>
          <p:cNvPicPr>
            <a:picLocks noChangeAspect="1"/>
          </p:cNvPicPr>
          <p:nvPr/>
        </p:nvPicPr>
        <p:blipFill>
          <a:blip r:embed="rId2"/>
          <a:stretch>
            <a:fillRect/>
          </a:stretch>
        </p:blipFill>
        <p:spPr>
          <a:xfrm>
            <a:off x="998990" y="2046872"/>
            <a:ext cx="590056" cy="590056"/>
          </a:xfrm>
          <a:prstGeom prst="rect">
            <a:avLst/>
          </a:prstGeom>
        </p:spPr>
      </p:pic>
      <p:sp>
        <p:nvSpPr>
          <p:cNvPr id="4" name="Shape 0"/>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 name="Text 1"/>
          <p:cNvSpPr/>
          <p:nvPr/>
        </p:nvSpPr>
        <p:spPr>
          <a:xfrm>
            <a:off x="998990" y="2046872"/>
            <a:ext cx="590056" cy="5900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998990" y="2046872"/>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7" name="Text 3"/>
          <p:cNvSpPr/>
          <p:nvPr/>
        </p:nvSpPr>
        <p:spPr>
          <a:xfrm>
            <a:off x="998990" y="2046872"/>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8" name="Shape 4"/>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9" name="Text 5"/>
          <p:cNvSpPr/>
          <p:nvPr/>
        </p:nvSpPr>
        <p:spPr>
          <a:xfrm>
            <a:off x="1054308" y="2074531"/>
            <a:ext cx="479420" cy="215875"/>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1054308" y="2074531"/>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11" name="Text 7"/>
          <p:cNvSpPr/>
          <p:nvPr/>
        </p:nvSpPr>
        <p:spPr>
          <a:xfrm>
            <a:off x="1054308" y="2074531"/>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2" name="Image 2" descr="./images\slide7_img73.png">    </p:cNvPr>
          <p:cNvPicPr>
            <a:picLocks noChangeAspect="1"/>
          </p:cNvPicPr>
          <p:nvPr/>
        </p:nvPicPr>
        <p:blipFill>
          <a:blip r:embed="rId3"/>
          <a:stretch>
            <a:fillRect/>
          </a:stretch>
        </p:blipFill>
        <p:spPr>
          <a:xfrm rot="-1020000">
            <a:off x="4361650" y="2004586"/>
            <a:ext cx="1018992" cy="1264684"/>
          </a:xfrm>
          <a:prstGeom prst="rect">
            <a:avLst/>
          </a:prstGeom>
        </p:spPr>
      </p:pic>
      <p:sp>
        <p:nvSpPr>
          <p:cNvPr id="13" name="Shape 8"/>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FFFFFF">
              <a:alpha val="0"/>
            </a:srgbClr>
          </a:solidFill>
          <a:ln/>
        </p:spPr>
      </p:sp>
      <p:sp>
        <p:nvSpPr>
          <p:cNvPr id="14" name="Text 9"/>
          <p:cNvSpPr/>
          <p:nvPr/>
        </p:nvSpPr>
        <p:spPr>
          <a:xfrm>
            <a:off x="998990" y="531999"/>
            <a:ext cx="7383349" cy="723900"/>
          </a:xfrm>
          <a:prstGeom prst="rect">
            <a:avLst/>
          </a:prstGeom>
          <a:noFill/>
          <a:ln/>
        </p:spPr>
        <p:txBody>
          <a:bodyPr wrap="square" rtlCol="0" anchor="t"/>
          <a:lstStyle/>
          <a:p>
            <a:pPr indent="0" marL="0">
              <a:spcBef>
                <a:spcPts val="375"/>
              </a:spcBef>
              <a:buNone/>
            </a:pPr>
            <a:endParaRPr lang="en-US" sz="1050" dirty="0"/>
          </a:p>
        </p:txBody>
      </p:sp>
      <p:sp>
        <p:nvSpPr>
          <p:cNvPr id="15" name="Shape 10"/>
          <p:cNvSpPr/>
          <p:nvPr/>
        </p:nvSpPr>
        <p:spPr>
          <a:xfrm>
            <a:off x="998990" y="531999"/>
            <a:ext cx="7383349" cy="723900"/>
          </a:xfrm>
          <a:custGeom>
            <a:avLst/>
            <a:gdLst/>
            <a:ahLst/>
            <a:cxnLst/>
            <a:rect l="l" t="t" r="r" b="b"/>
            <a:pathLst>
              <a:path w="7383349" h="723900">
                <a:moveTo>
                  <a:pt x="0" y="0"/>
                </a:moveTo>
                <a:lnTo>
                  <a:pt x="7383349" y="0"/>
                </a:lnTo>
                <a:lnTo>
                  <a:pt x="7383349" y="723900"/>
                </a:lnTo>
                <a:lnTo>
                  <a:pt x="0" y="723900"/>
                </a:lnTo>
                <a:close/>
              </a:path>
            </a:pathLst>
          </a:custGeom>
          <a:solidFill>
            <a:srgbClr val="000000">
              <a:alpha val="0"/>
            </a:srgbClr>
          </a:solidFill>
          <a:ln/>
        </p:spPr>
      </p:sp>
      <p:sp>
        <p:nvSpPr>
          <p:cNvPr id="16" name="Text 11"/>
          <p:cNvSpPr/>
          <p:nvPr/>
        </p:nvSpPr>
        <p:spPr>
          <a:xfrm>
            <a:off x="998990" y="531999"/>
            <a:ext cx="7383349" cy="723900"/>
          </a:xfrm>
          <a:prstGeom prst="rect">
            <a:avLst/>
          </a:prstGeom>
          <a:noFill/>
          <a:ln/>
        </p:spPr>
        <p:txBody>
          <a:bodyPr wrap="square" rtlCol="0" anchor="t"/>
          <a:lstStyle/>
          <a:p>
            <a:pPr algn="l" indent="0" marL="0">
              <a:spcBef>
                <a:spcPts val="375"/>
              </a:spcBef>
              <a:buNone/>
            </a:pPr>
            <a:r>
              <a:rPr lang="en-US" sz="4950" dirty="0">
                <a:solidFill>
                  <a:srgbClr val="45464D"/>
                </a:solidFill>
                <a:latin typeface="Caveat Brush" pitchFamily="34" charset="0"/>
                <a:ea typeface="Caveat Brush" pitchFamily="34" charset="-122"/>
                <a:cs typeface="Caveat Brush" pitchFamily="34" charset="-120"/>
              </a:rPr>
              <a:t>Diagnostika va Davolash Usullari</a:t>
            </a:r>
            <a:endParaRPr lang="en-US" sz="1050" dirty="0"/>
          </a:p>
        </p:txBody>
      </p:sp>
      <p:sp>
        <p:nvSpPr>
          <p:cNvPr id="17" name="Shape 12"/>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FFFFFF">
              <a:alpha val="0"/>
            </a:srgbClr>
          </a:solidFill>
          <a:ln/>
        </p:spPr>
      </p:sp>
      <p:sp>
        <p:nvSpPr>
          <p:cNvPr id="18" name="Text 13"/>
          <p:cNvSpPr/>
          <p:nvPr/>
        </p:nvSpPr>
        <p:spPr>
          <a:xfrm>
            <a:off x="1804873" y="2571750"/>
            <a:ext cx="2026586" cy="1802559"/>
          </a:xfrm>
          <a:prstGeom prst="rect">
            <a:avLst/>
          </a:prstGeom>
          <a:noFill/>
          <a:ln/>
        </p:spPr>
        <p:txBody>
          <a:bodyPr wrap="square" rtlCol="0" anchor="t"/>
          <a:lstStyle/>
          <a:p>
            <a:pPr indent="0" marL="0">
              <a:spcBef>
                <a:spcPts val="375"/>
              </a:spcBef>
              <a:buNone/>
            </a:pPr>
            <a:endParaRPr lang="en-US" sz="1050" dirty="0"/>
          </a:p>
        </p:txBody>
      </p:sp>
      <p:sp>
        <p:nvSpPr>
          <p:cNvPr id="19" name="Shape 14"/>
          <p:cNvSpPr/>
          <p:nvPr/>
        </p:nvSpPr>
        <p:spPr>
          <a:xfrm>
            <a:off x="1804873" y="2571750"/>
            <a:ext cx="2026586" cy="1802559"/>
          </a:xfrm>
          <a:custGeom>
            <a:avLst/>
            <a:gdLst/>
            <a:ahLst/>
            <a:cxnLst/>
            <a:rect l="l" t="t" r="r" b="b"/>
            <a:pathLst>
              <a:path w="2026586" h="1802559">
                <a:moveTo>
                  <a:pt x="0" y="0"/>
                </a:moveTo>
                <a:lnTo>
                  <a:pt x="2026586" y="0"/>
                </a:lnTo>
                <a:lnTo>
                  <a:pt x="2026586" y="1802559"/>
                </a:lnTo>
                <a:lnTo>
                  <a:pt x="0" y="1802559"/>
                </a:lnTo>
                <a:close/>
              </a:path>
            </a:pathLst>
          </a:custGeom>
          <a:solidFill>
            <a:srgbClr val="000000">
              <a:alpha val="0"/>
            </a:srgbClr>
          </a:solidFill>
          <a:ln/>
        </p:spPr>
      </p:sp>
      <p:sp>
        <p:nvSpPr>
          <p:cNvPr id="20" name="Text 15"/>
          <p:cNvSpPr/>
          <p:nvPr/>
        </p:nvSpPr>
        <p:spPr>
          <a:xfrm>
            <a:off x="1804873" y="2571750"/>
            <a:ext cx="2026586" cy="180255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Diagnostika jarayoni bemorning holatini aniqlash uchun muhimdir. Ushbu jarayon turli usullar orqali amalga oshiriladi, jumladan laboratoriya tekshiruvlari va tasviriy diagnostika.</a:t>
            </a:r>
            <a:endParaRPr lang="en-US" sz="1050" dirty="0"/>
          </a:p>
        </p:txBody>
      </p:sp>
      <p:sp>
        <p:nvSpPr>
          <p:cNvPr id="21" name="Shape 16"/>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22" name="Text 17"/>
          <p:cNvSpPr/>
          <p:nvPr/>
        </p:nvSpPr>
        <p:spPr>
          <a:xfrm>
            <a:off x="1804873" y="2032584"/>
            <a:ext cx="2026586" cy="241399"/>
          </a:xfrm>
          <a:prstGeom prst="rect">
            <a:avLst/>
          </a:prstGeom>
          <a:noFill/>
          <a:ln/>
        </p:spPr>
        <p:txBody>
          <a:bodyPr wrap="square" rtlCol="0" anchor="t"/>
          <a:lstStyle/>
          <a:p>
            <a:pPr indent="0" marL="0">
              <a:spcBef>
                <a:spcPts val="375"/>
              </a:spcBef>
              <a:buNone/>
            </a:pPr>
            <a:endParaRPr lang="en-US" sz="1050" dirty="0"/>
          </a:p>
        </p:txBody>
      </p:sp>
      <p:sp>
        <p:nvSpPr>
          <p:cNvPr id="23" name="Shape 18"/>
          <p:cNvSpPr/>
          <p:nvPr/>
        </p:nvSpPr>
        <p:spPr>
          <a:xfrm>
            <a:off x="1804873" y="2032584"/>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24" name="Text 19"/>
          <p:cNvSpPr/>
          <p:nvPr/>
        </p:nvSpPr>
        <p:spPr>
          <a:xfrm>
            <a:off x="1804873" y="2032584"/>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Bemorlarni baholashda zamonaviy texnologiyalarni qo‘llash muhim ahamiyatga ega. Bu jarayonda ultratovush, radiologiya va kompyuter tomografiyasi kabi usullar qo‘llaniladi.</a:t>
            </a:r>
            <a:endParaRPr lang="en-US" sz="1050" dirty="0"/>
          </a:p>
        </p:txBody>
      </p:sp>
      <p:pic>
        <p:nvPicPr>
          <p:cNvPr id="25" name="Image 3" descr="./images\slide7_img74.png">    </p:cNvPr>
          <p:cNvPicPr>
            <a:picLocks noChangeAspect="1"/>
          </p:cNvPicPr>
          <p:nvPr/>
        </p:nvPicPr>
        <p:blipFill>
          <a:blip r:embed="rId4"/>
          <a:stretch>
            <a:fillRect/>
          </a:stretch>
        </p:blipFill>
        <p:spPr>
          <a:xfrm>
            <a:off x="1112106" y="2144560"/>
            <a:ext cx="363823" cy="394680"/>
          </a:xfrm>
          <a:prstGeom prst="rect">
            <a:avLst/>
          </a:prstGeom>
        </p:spPr>
      </p:pic>
      <p:sp>
        <p:nvSpPr>
          <p:cNvPr id="26" name="Shape 20"/>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FFFFFF">
              <a:alpha val="0"/>
            </a:srgbClr>
          </a:solidFill>
          <a:ln/>
        </p:spPr>
      </p:sp>
      <p:sp>
        <p:nvSpPr>
          <p:cNvPr id="27" name="Text 21"/>
          <p:cNvSpPr/>
          <p:nvPr/>
        </p:nvSpPr>
        <p:spPr>
          <a:xfrm>
            <a:off x="1294018" y="1488574"/>
            <a:ext cx="363823" cy="394680"/>
          </a:xfrm>
          <a:prstGeom prst="rect">
            <a:avLst/>
          </a:prstGeom>
          <a:noFill/>
          <a:ln/>
        </p:spPr>
        <p:txBody>
          <a:bodyPr wrap="square" rtlCol="0" anchor="t"/>
          <a:lstStyle/>
          <a:p>
            <a:pPr indent="0" marL="0">
              <a:spcBef>
                <a:spcPts val="375"/>
              </a:spcBef>
              <a:buNone/>
            </a:pPr>
            <a:endParaRPr lang="en-US" sz="1050" dirty="0"/>
          </a:p>
        </p:txBody>
      </p:sp>
      <p:sp>
        <p:nvSpPr>
          <p:cNvPr id="28" name="Shape 22"/>
          <p:cNvSpPr/>
          <p:nvPr/>
        </p:nvSpPr>
        <p:spPr>
          <a:xfrm>
            <a:off x="1294018" y="1488574"/>
            <a:ext cx="363823" cy="394680"/>
          </a:xfrm>
          <a:custGeom>
            <a:avLst/>
            <a:gdLst/>
            <a:ahLst/>
            <a:cxnLst/>
            <a:rect l="l" t="t" r="r" b="b"/>
            <a:pathLst>
              <a:path w="363823" h="394680">
                <a:moveTo>
                  <a:pt x="0" y="0"/>
                </a:moveTo>
                <a:lnTo>
                  <a:pt x="363823" y="0"/>
                </a:lnTo>
                <a:lnTo>
                  <a:pt x="363823" y="394680"/>
                </a:lnTo>
                <a:lnTo>
                  <a:pt x="0" y="394680"/>
                </a:lnTo>
                <a:close/>
              </a:path>
            </a:pathLst>
          </a:custGeom>
          <a:solidFill>
            <a:srgbClr val="000000">
              <a:alpha val="0"/>
            </a:srgbClr>
          </a:solidFill>
          <a:ln/>
        </p:spPr>
      </p:sp>
      <p:sp>
        <p:nvSpPr>
          <p:cNvPr id="29" name="Text 23"/>
          <p:cNvSpPr/>
          <p:nvPr/>
        </p:nvSpPr>
        <p:spPr>
          <a:xfrm>
            <a:off x="1294018" y="1488574"/>
            <a:ext cx="363823" cy="394680"/>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30" name="Image 4" descr="./images\slide7_img75.png">    </p:cNvPr>
          <p:cNvPicPr>
            <a:picLocks noChangeAspect="1"/>
          </p:cNvPicPr>
          <p:nvPr/>
        </p:nvPicPr>
        <p:blipFill>
          <a:blip r:embed="rId5"/>
          <a:stretch>
            <a:fillRect/>
          </a:stretch>
        </p:blipFill>
        <p:spPr>
          <a:xfrm>
            <a:off x="5830897" y="2044376"/>
            <a:ext cx="590056" cy="590056"/>
          </a:xfrm>
          <a:prstGeom prst="rect">
            <a:avLst/>
          </a:prstGeom>
        </p:spPr>
      </p:pic>
      <p:sp>
        <p:nvSpPr>
          <p:cNvPr id="31" name="Shape 24"/>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32" name="Text 25"/>
          <p:cNvSpPr/>
          <p:nvPr/>
        </p:nvSpPr>
        <p:spPr>
          <a:xfrm>
            <a:off x="5830897" y="2044376"/>
            <a:ext cx="590056" cy="590056"/>
          </a:xfrm>
          <a:prstGeom prst="rect">
            <a:avLst/>
          </a:prstGeom>
          <a:noFill/>
          <a:ln/>
        </p:spPr>
        <p:txBody>
          <a:bodyPr wrap="square" rtlCol="0" anchor="t"/>
          <a:lstStyle/>
          <a:p>
            <a:pPr indent="0" marL="0">
              <a:spcBef>
                <a:spcPts val="375"/>
              </a:spcBef>
              <a:buNone/>
            </a:pPr>
            <a:endParaRPr lang="en-US" sz="1050" dirty="0"/>
          </a:p>
        </p:txBody>
      </p:sp>
      <p:sp>
        <p:nvSpPr>
          <p:cNvPr id="33" name="Shape 26"/>
          <p:cNvSpPr/>
          <p:nvPr/>
        </p:nvSpPr>
        <p:spPr>
          <a:xfrm>
            <a:off x="5830897" y="2044376"/>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34" name="Text 27"/>
          <p:cNvSpPr/>
          <p:nvPr/>
        </p:nvSpPr>
        <p:spPr>
          <a:xfrm>
            <a:off x="5830897" y="2044376"/>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5" name="Shape 28"/>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36" name="Text 29"/>
          <p:cNvSpPr/>
          <p:nvPr/>
        </p:nvSpPr>
        <p:spPr>
          <a:xfrm>
            <a:off x="5886215" y="2072035"/>
            <a:ext cx="479420" cy="215875"/>
          </a:xfrm>
          <a:prstGeom prst="rect">
            <a:avLst/>
          </a:prstGeom>
          <a:noFill/>
          <a:ln/>
        </p:spPr>
        <p:txBody>
          <a:bodyPr wrap="square" rtlCol="0" anchor="t"/>
          <a:lstStyle/>
          <a:p>
            <a:pPr indent="0" marL="0">
              <a:spcBef>
                <a:spcPts val="375"/>
              </a:spcBef>
              <a:buNone/>
            </a:pPr>
            <a:endParaRPr lang="en-US" sz="1050" dirty="0"/>
          </a:p>
        </p:txBody>
      </p:sp>
      <p:sp>
        <p:nvSpPr>
          <p:cNvPr id="37" name="Shape 30"/>
          <p:cNvSpPr/>
          <p:nvPr/>
        </p:nvSpPr>
        <p:spPr>
          <a:xfrm>
            <a:off x="5886215" y="2072035"/>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38" name="Text 31"/>
          <p:cNvSpPr/>
          <p:nvPr/>
        </p:nvSpPr>
        <p:spPr>
          <a:xfrm>
            <a:off x="5886215" y="2072035"/>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39" name="Shape 32"/>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FFFFFF">
              <a:alpha val="0"/>
            </a:srgbClr>
          </a:solidFill>
          <a:ln/>
        </p:spPr>
      </p:sp>
      <p:sp>
        <p:nvSpPr>
          <p:cNvPr id="40" name="Text 33"/>
          <p:cNvSpPr/>
          <p:nvPr/>
        </p:nvSpPr>
        <p:spPr>
          <a:xfrm>
            <a:off x="6636780" y="2396989"/>
            <a:ext cx="2026586" cy="1294639"/>
          </a:xfrm>
          <a:prstGeom prst="rect">
            <a:avLst/>
          </a:prstGeom>
          <a:noFill/>
          <a:ln/>
        </p:spPr>
        <p:txBody>
          <a:bodyPr wrap="square" rtlCol="0" anchor="t"/>
          <a:lstStyle/>
          <a:p>
            <a:pPr indent="0" marL="0">
              <a:spcBef>
                <a:spcPts val="375"/>
              </a:spcBef>
              <a:buNone/>
            </a:pPr>
            <a:endParaRPr lang="en-US" sz="1050" dirty="0"/>
          </a:p>
        </p:txBody>
      </p:sp>
      <p:sp>
        <p:nvSpPr>
          <p:cNvPr id="41" name="Shape 34"/>
          <p:cNvSpPr/>
          <p:nvPr/>
        </p:nvSpPr>
        <p:spPr>
          <a:xfrm>
            <a:off x="6636780" y="2396989"/>
            <a:ext cx="2026586" cy="1294639"/>
          </a:xfrm>
          <a:custGeom>
            <a:avLst/>
            <a:gdLst/>
            <a:ahLst/>
            <a:cxnLst/>
            <a:rect l="l" t="t" r="r" b="b"/>
            <a:pathLst>
              <a:path w="2026586" h="1294639">
                <a:moveTo>
                  <a:pt x="0" y="0"/>
                </a:moveTo>
                <a:lnTo>
                  <a:pt x="2026586" y="0"/>
                </a:lnTo>
                <a:lnTo>
                  <a:pt x="2026586" y="1294639"/>
                </a:lnTo>
                <a:lnTo>
                  <a:pt x="0" y="1294639"/>
                </a:lnTo>
                <a:close/>
              </a:path>
            </a:pathLst>
          </a:custGeom>
          <a:solidFill>
            <a:srgbClr val="000000">
              <a:alpha val="0"/>
            </a:srgbClr>
          </a:solidFill>
          <a:ln/>
        </p:spPr>
      </p:sp>
      <p:sp>
        <p:nvSpPr>
          <p:cNvPr id="42" name="Text 35"/>
          <p:cNvSpPr/>
          <p:nvPr/>
        </p:nvSpPr>
        <p:spPr>
          <a:xfrm>
            <a:off x="6636780" y="2396989"/>
            <a:ext cx="2026586" cy="12946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Davolash usullari bemorning kasallik turiga qarab farq qiladi. Ular dori-darmonlar, fizioterapiya, jarrohlik va alternativ tibbiyotni o‘z ichiga oladi.</a:t>
            </a:r>
            <a:endParaRPr lang="en-US" sz="1050" dirty="0"/>
          </a:p>
        </p:txBody>
      </p:sp>
      <p:sp>
        <p:nvSpPr>
          <p:cNvPr id="43" name="Shape 36"/>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FFFFFF">
              <a:alpha val="0"/>
            </a:srgbClr>
          </a:solidFill>
          <a:ln/>
        </p:spPr>
      </p:sp>
      <p:sp>
        <p:nvSpPr>
          <p:cNvPr id="44" name="Text 37"/>
          <p:cNvSpPr/>
          <p:nvPr/>
        </p:nvSpPr>
        <p:spPr>
          <a:xfrm>
            <a:off x="6636780" y="2030089"/>
            <a:ext cx="2026586" cy="241399"/>
          </a:xfrm>
          <a:prstGeom prst="rect">
            <a:avLst/>
          </a:prstGeom>
          <a:noFill/>
          <a:ln/>
        </p:spPr>
        <p:txBody>
          <a:bodyPr wrap="square" rtlCol="0" anchor="t"/>
          <a:lstStyle/>
          <a:p>
            <a:pPr indent="0" marL="0">
              <a:spcBef>
                <a:spcPts val="375"/>
              </a:spcBef>
              <a:buNone/>
            </a:pPr>
            <a:endParaRPr lang="en-US" sz="1050" dirty="0"/>
          </a:p>
        </p:txBody>
      </p:sp>
      <p:sp>
        <p:nvSpPr>
          <p:cNvPr id="45" name="Shape 38"/>
          <p:cNvSpPr/>
          <p:nvPr/>
        </p:nvSpPr>
        <p:spPr>
          <a:xfrm>
            <a:off x="6636780" y="2030089"/>
            <a:ext cx="2026586" cy="241399"/>
          </a:xfrm>
          <a:custGeom>
            <a:avLst/>
            <a:gdLst/>
            <a:ahLst/>
            <a:cxnLst/>
            <a:rect l="l" t="t" r="r" b="b"/>
            <a:pathLst>
              <a:path w="2026586" h="241399">
                <a:moveTo>
                  <a:pt x="0" y="0"/>
                </a:moveTo>
                <a:lnTo>
                  <a:pt x="2026586" y="0"/>
                </a:lnTo>
                <a:lnTo>
                  <a:pt x="2026586" y="241399"/>
                </a:lnTo>
                <a:lnTo>
                  <a:pt x="0" y="241399"/>
                </a:lnTo>
                <a:close/>
              </a:path>
            </a:pathLst>
          </a:custGeom>
          <a:solidFill>
            <a:srgbClr val="000000">
              <a:alpha val="0"/>
            </a:srgbClr>
          </a:solidFill>
          <a:ln/>
        </p:spPr>
      </p:sp>
      <p:sp>
        <p:nvSpPr>
          <p:cNvPr id="46" name="Text 39"/>
          <p:cNvSpPr/>
          <p:nvPr/>
        </p:nvSpPr>
        <p:spPr>
          <a:xfrm>
            <a:off x="6636780" y="2030089"/>
            <a:ext cx="2026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Dori-darmonlar bilan davolash</a:t>
            </a:r>
            <a:endParaRPr lang="en-US" sz="1050" dirty="0"/>
          </a:p>
        </p:txBody>
      </p:sp>
      <p:pic>
        <p:nvPicPr>
          <p:cNvPr id="47" name="Image 5" descr="./images\slide7_img76.png">    </p:cNvPr>
          <p:cNvPicPr>
            <a:picLocks noChangeAspect="1"/>
          </p:cNvPicPr>
          <p:nvPr/>
        </p:nvPicPr>
        <p:blipFill>
          <a:blip r:embed="rId6"/>
          <a:stretch>
            <a:fillRect/>
          </a:stretch>
        </p:blipFill>
        <p:spPr>
          <a:xfrm>
            <a:off x="5953101" y="2164353"/>
            <a:ext cx="345646" cy="350102"/>
          </a:xfrm>
          <a:prstGeom prst="rect">
            <a:avLst/>
          </a:prstGeom>
        </p:spPr>
      </p:pic>
      <p:pic>
        <p:nvPicPr>
          <p:cNvPr id="48" name="Image 6" descr="./images\slide7_img77.png">    </p:cNvPr>
          <p:cNvPicPr>
            <a:picLocks noChangeAspect="1"/>
          </p:cNvPicPr>
          <p:nvPr/>
        </p:nvPicPr>
        <p:blipFill>
          <a:blip r:embed="rId7"/>
          <a:stretch>
            <a:fillRect/>
          </a:stretch>
        </p:blipFill>
        <p:spPr>
          <a:xfrm>
            <a:off x="3274429" y="4092459"/>
            <a:ext cx="590056" cy="590056"/>
          </a:xfrm>
          <a:prstGeom prst="rect">
            <a:avLst/>
          </a:prstGeom>
        </p:spPr>
      </p:pic>
      <p:sp>
        <p:nvSpPr>
          <p:cNvPr id="49" name="Shape 40"/>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FFFFFF">
              <a:alpha val="0"/>
            </a:srgbClr>
          </a:solidFill>
          <a:ln/>
        </p:spPr>
      </p:sp>
      <p:sp>
        <p:nvSpPr>
          <p:cNvPr id="50" name="Text 41"/>
          <p:cNvSpPr/>
          <p:nvPr/>
        </p:nvSpPr>
        <p:spPr>
          <a:xfrm>
            <a:off x="3274429" y="4092459"/>
            <a:ext cx="590056" cy="590056"/>
          </a:xfrm>
          <a:prstGeom prst="rect">
            <a:avLst/>
          </a:prstGeom>
          <a:noFill/>
          <a:ln/>
        </p:spPr>
        <p:txBody>
          <a:bodyPr wrap="square" rtlCol="0" anchor="t"/>
          <a:lstStyle/>
          <a:p>
            <a:pPr indent="0" marL="0">
              <a:spcBef>
                <a:spcPts val="375"/>
              </a:spcBef>
              <a:buNone/>
            </a:pPr>
            <a:endParaRPr lang="en-US" sz="1050" dirty="0"/>
          </a:p>
        </p:txBody>
      </p:sp>
      <p:sp>
        <p:nvSpPr>
          <p:cNvPr id="51" name="Shape 42"/>
          <p:cNvSpPr/>
          <p:nvPr/>
        </p:nvSpPr>
        <p:spPr>
          <a:xfrm>
            <a:off x="3274429" y="4092459"/>
            <a:ext cx="590056" cy="590056"/>
          </a:xfrm>
          <a:custGeom>
            <a:avLst/>
            <a:gdLst/>
            <a:ahLst/>
            <a:cxnLst/>
            <a:rect l="l" t="t" r="r" b="b"/>
            <a:pathLst>
              <a:path w="590056" h="590056">
                <a:moveTo>
                  <a:pt x="0" y="0"/>
                </a:moveTo>
                <a:lnTo>
                  <a:pt x="590056" y="0"/>
                </a:lnTo>
                <a:lnTo>
                  <a:pt x="590056" y="590056"/>
                </a:lnTo>
                <a:lnTo>
                  <a:pt x="0" y="590056"/>
                </a:lnTo>
                <a:close/>
              </a:path>
            </a:pathLst>
          </a:custGeom>
          <a:solidFill>
            <a:srgbClr val="000000">
              <a:alpha val="0"/>
            </a:srgbClr>
          </a:solidFill>
          <a:ln/>
        </p:spPr>
      </p:sp>
      <p:sp>
        <p:nvSpPr>
          <p:cNvPr id="52" name="Text 43"/>
          <p:cNvSpPr/>
          <p:nvPr/>
        </p:nvSpPr>
        <p:spPr>
          <a:xfrm>
            <a:off x="3274429" y="4092459"/>
            <a:ext cx="590056" cy="590056"/>
          </a:xfrm>
          <a:prstGeom prst="rect">
            <a:avLst/>
          </a:prstGeom>
          <a:noFill/>
          <a:ln/>
        </p:spPr>
        <p:txBody>
          <a:bodyPr wrap="square" rtlCol="0" anchor="ctr"/>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3" name="Shape 44"/>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FFFFFF">
              <a:alpha val="0"/>
            </a:srgbClr>
          </a:solidFill>
          <a:ln/>
        </p:spPr>
      </p:sp>
      <p:sp>
        <p:nvSpPr>
          <p:cNvPr id="54" name="Text 45"/>
          <p:cNvSpPr/>
          <p:nvPr/>
        </p:nvSpPr>
        <p:spPr>
          <a:xfrm>
            <a:off x="3329747" y="4120118"/>
            <a:ext cx="479420" cy="215875"/>
          </a:xfrm>
          <a:prstGeom prst="rect">
            <a:avLst/>
          </a:prstGeom>
          <a:noFill/>
          <a:ln/>
        </p:spPr>
        <p:txBody>
          <a:bodyPr wrap="square" rtlCol="0" anchor="t"/>
          <a:lstStyle/>
          <a:p>
            <a:pPr indent="0" marL="0">
              <a:spcBef>
                <a:spcPts val="375"/>
              </a:spcBef>
              <a:buNone/>
            </a:pPr>
            <a:endParaRPr lang="en-US" sz="1050" dirty="0"/>
          </a:p>
        </p:txBody>
      </p:sp>
      <p:sp>
        <p:nvSpPr>
          <p:cNvPr id="55" name="Shape 46"/>
          <p:cNvSpPr/>
          <p:nvPr/>
        </p:nvSpPr>
        <p:spPr>
          <a:xfrm>
            <a:off x="3329747" y="4120118"/>
            <a:ext cx="479420" cy="215875"/>
          </a:xfrm>
          <a:custGeom>
            <a:avLst/>
            <a:gdLst/>
            <a:ahLst/>
            <a:cxnLst/>
            <a:rect l="l" t="t" r="r" b="b"/>
            <a:pathLst>
              <a:path w="479420" h="215875">
                <a:moveTo>
                  <a:pt x="0" y="0"/>
                </a:moveTo>
                <a:lnTo>
                  <a:pt x="479420" y="0"/>
                </a:lnTo>
                <a:lnTo>
                  <a:pt x="479420" y="215875"/>
                </a:lnTo>
                <a:lnTo>
                  <a:pt x="0" y="215875"/>
                </a:lnTo>
                <a:close/>
              </a:path>
            </a:pathLst>
          </a:custGeom>
          <a:solidFill>
            <a:srgbClr val="000000">
              <a:alpha val="0"/>
            </a:srgbClr>
          </a:solidFill>
          <a:ln/>
        </p:spPr>
      </p:sp>
      <p:sp>
        <p:nvSpPr>
          <p:cNvPr id="56" name="Text 47"/>
          <p:cNvSpPr/>
          <p:nvPr/>
        </p:nvSpPr>
        <p:spPr>
          <a:xfrm>
            <a:off x="3329747" y="4120118"/>
            <a:ext cx="479420" cy="215875"/>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sp>
        <p:nvSpPr>
          <p:cNvPr id="57" name="Shape 48"/>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FFFFFF">
              <a:alpha val="0"/>
            </a:srgbClr>
          </a:solidFill>
          <a:ln/>
        </p:spPr>
      </p:sp>
      <p:sp>
        <p:nvSpPr>
          <p:cNvPr id="58" name="Text 49"/>
          <p:cNvSpPr/>
          <p:nvPr/>
        </p:nvSpPr>
        <p:spPr>
          <a:xfrm>
            <a:off x="4080313" y="4335487"/>
            <a:ext cx="3243423" cy="857523"/>
          </a:xfrm>
          <a:prstGeom prst="rect">
            <a:avLst/>
          </a:prstGeom>
          <a:noFill/>
          <a:ln/>
        </p:spPr>
        <p:txBody>
          <a:bodyPr wrap="square" rtlCol="0" anchor="t"/>
          <a:lstStyle/>
          <a:p>
            <a:pPr indent="0" marL="0">
              <a:spcBef>
                <a:spcPts val="375"/>
              </a:spcBef>
              <a:buNone/>
            </a:pPr>
            <a:endParaRPr lang="en-US" sz="1050" dirty="0"/>
          </a:p>
        </p:txBody>
      </p:sp>
      <p:sp>
        <p:nvSpPr>
          <p:cNvPr id="59" name="Shape 50"/>
          <p:cNvSpPr/>
          <p:nvPr/>
        </p:nvSpPr>
        <p:spPr>
          <a:xfrm>
            <a:off x="4080313" y="4335487"/>
            <a:ext cx="3243423" cy="857523"/>
          </a:xfrm>
          <a:custGeom>
            <a:avLst/>
            <a:gdLst/>
            <a:ahLst/>
            <a:cxnLst/>
            <a:rect l="l" t="t" r="r" b="b"/>
            <a:pathLst>
              <a:path w="3243423" h="857523">
                <a:moveTo>
                  <a:pt x="0" y="0"/>
                </a:moveTo>
                <a:lnTo>
                  <a:pt x="3243423" y="0"/>
                </a:lnTo>
                <a:lnTo>
                  <a:pt x="3243423" y="857523"/>
                </a:lnTo>
                <a:lnTo>
                  <a:pt x="0" y="857523"/>
                </a:lnTo>
                <a:close/>
              </a:path>
            </a:pathLst>
          </a:custGeom>
          <a:solidFill>
            <a:srgbClr val="000000">
              <a:alpha val="0"/>
            </a:srgbClr>
          </a:solidFill>
          <a:ln/>
        </p:spPr>
      </p:sp>
      <p:sp>
        <p:nvSpPr>
          <p:cNvPr id="60" name="Text 51"/>
          <p:cNvSpPr/>
          <p:nvPr/>
        </p:nvSpPr>
        <p:spPr>
          <a:xfrm>
            <a:off x="4080313" y="4335487"/>
            <a:ext cx="3243423" cy="85752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Fizioterapiya va reabilitatsiya usullari bemorlarning tiklanish jarayonini tezlashtiradi. Bu usullar mushak va suyak tizimini mustahkamlashga yordam beradi.</a:t>
            </a:r>
            <a:endParaRPr lang="en-US" sz="1050" dirty="0"/>
          </a:p>
        </p:txBody>
      </p:sp>
      <p:sp>
        <p:nvSpPr>
          <p:cNvPr id="61" name="Shape 52"/>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FFFFFF">
              <a:alpha val="0"/>
            </a:srgbClr>
          </a:solidFill>
          <a:ln/>
        </p:spPr>
      </p:sp>
      <p:sp>
        <p:nvSpPr>
          <p:cNvPr id="62" name="Text 53"/>
          <p:cNvSpPr/>
          <p:nvPr/>
        </p:nvSpPr>
        <p:spPr>
          <a:xfrm>
            <a:off x="4080313" y="4078171"/>
            <a:ext cx="3042586" cy="241399"/>
          </a:xfrm>
          <a:prstGeom prst="rect">
            <a:avLst/>
          </a:prstGeom>
          <a:noFill/>
          <a:ln/>
        </p:spPr>
        <p:txBody>
          <a:bodyPr wrap="square" rtlCol="0" anchor="t"/>
          <a:lstStyle/>
          <a:p>
            <a:pPr indent="0" marL="0">
              <a:spcBef>
                <a:spcPts val="375"/>
              </a:spcBef>
              <a:buNone/>
            </a:pPr>
            <a:endParaRPr lang="en-US" sz="1050" dirty="0"/>
          </a:p>
        </p:txBody>
      </p:sp>
      <p:sp>
        <p:nvSpPr>
          <p:cNvPr id="63" name="Shape 54"/>
          <p:cNvSpPr/>
          <p:nvPr/>
        </p:nvSpPr>
        <p:spPr>
          <a:xfrm>
            <a:off x="4080313" y="4078171"/>
            <a:ext cx="3042586" cy="241399"/>
          </a:xfrm>
          <a:custGeom>
            <a:avLst/>
            <a:gdLst/>
            <a:ahLst/>
            <a:cxnLst/>
            <a:rect l="l" t="t" r="r" b="b"/>
            <a:pathLst>
              <a:path w="3042586" h="241399">
                <a:moveTo>
                  <a:pt x="0" y="0"/>
                </a:moveTo>
                <a:lnTo>
                  <a:pt x="3042586" y="0"/>
                </a:lnTo>
                <a:lnTo>
                  <a:pt x="3042586" y="241399"/>
                </a:lnTo>
                <a:lnTo>
                  <a:pt x="0" y="241399"/>
                </a:lnTo>
                <a:close/>
              </a:path>
            </a:pathLst>
          </a:custGeom>
          <a:solidFill>
            <a:srgbClr val="000000">
              <a:alpha val="0"/>
            </a:srgbClr>
          </a:solidFill>
          <a:ln/>
        </p:spPr>
      </p:sp>
      <p:sp>
        <p:nvSpPr>
          <p:cNvPr id="64" name="Text 55"/>
          <p:cNvSpPr/>
          <p:nvPr/>
        </p:nvSpPr>
        <p:spPr>
          <a:xfrm>
            <a:off x="4080313" y="4078171"/>
            <a:ext cx="3042586" cy="241399"/>
          </a:xfrm>
          <a:prstGeom prst="rect">
            <a:avLst/>
          </a:prstGeom>
          <a:noFill/>
          <a:ln/>
        </p:spPr>
        <p:txBody>
          <a:bodyPr wrap="square" rtlCol="0" anchor="t"/>
          <a:lstStyle/>
          <a:p>
            <a:pPr algn="l" indent="0" marL="0">
              <a:spcBef>
                <a:spcPts val="375"/>
              </a:spcBef>
              <a:buNone/>
            </a:pPr>
            <a:r>
              <a:rPr lang="en-US" sz="1125" b="1" dirty="0">
                <a:solidFill>
                  <a:srgbClr val="000000"/>
                </a:solidFill>
                <a:latin typeface="Nunito" pitchFamily="34" charset="0"/>
                <a:ea typeface="Nunito" pitchFamily="34" charset="-122"/>
                <a:cs typeface="Nunito" pitchFamily="34" charset="-120"/>
              </a:rPr>
              <a:t>Alternativ tibbiyot usullari</a:t>
            </a:r>
            <a:endParaRPr lang="en-US" sz="1050" dirty="0"/>
          </a:p>
        </p:txBody>
      </p:sp>
      <p:pic>
        <p:nvPicPr>
          <p:cNvPr id="65" name="Image 7" descr="./images\slide7_img78.png">    </p:cNvPr>
          <p:cNvPicPr>
            <a:picLocks noChangeAspect="1"/>
          </p:cNvPicPr>
          <p:nvPr/>
        </p:nvPicPr>
        <p:blipFill>
          <a:blip r:embed="rId8"/>
          <a:stretch>
            <a:fillRect/>
          </a:stretch>
        </p:blipFill>
        <p:spPr>
          <a:xfrm>
            <a:off x="3442299" y="4191607"/>
            <a:ext cx="254316" cy="367122"/>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1F1F1"/>
        </a:solidFill>
      </p:bgPr>
    </p:bg>
    <p:spTree>
      <p:nvGrpSpPr>
        <p:cNvPr id="1" name=""/>
        <p:cNvGrpSpPr/>
        <p:nvPr/>
      </p:nvGrpSpPr>
      <p:grpSpPr>
        <a:xfrm>
          <a:off x="0" y="0"/>
          <a:ext cx="0" cy="0"/>
          <a:chOff x="0" y="0"/>
          <a:chExt cx="0" cy="0"/>
        </a:xfrm>
      </p:grpSpPr>
      <p:pic>
        <p:nvPicPr>
          <p:cNvPr id="2" name="Image 0" descr="./images\slide11_img10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1_img107.png">    </p:cNvPr>
          <p:cNvPicPr>
            <a:picLocks noChangeAspect="1"/>
          </p:cNvPicPr>
          <p:nvPr/>
        </p:nvPicPr>
        <p:blipFill>
          <a:blip r:embed="rId2"/>
          <a:stretch>
            <a:fillRect/>
          </a:stretch>
        </p:blipFill>
        <p:spPr>
          <a:xfrm>
            <a:off x="6087098" y="1683097"/>
            <a:ext cx="2542552" cy="3046631"/>
          </a:xfrm>
          <a:prstGeom prst="rect">
            <a:avLst/>
          </a:prstGeom>
        </p:spPr>
      </p:pic>
      <p:sp>
        <p:nvSpPr>
          <p:cNvPr id="4" name="Shape 0"/>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FFFFFF">
              <a:alpha val="0"/>
            </a:srgbClr>
          </a:solidFill>
          <a:ln/>
        </p:spPr>
      </p:sp>
      <p:sp>
        <p:nvSpPr>
          <p:cNvPr id="5" name="Text 1"/>
          <p:cNvSpPr/>
          <p:nvPr/>
        </p:nvSpPr>
        <p:spPr>
          <a:xfrm>
            <a:off x="874042" y="518568"/>
            <a:ext cx="7395915" cy="4762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874042" y="518568"/>
            <a:ext cx="7395915" cy="476250"/>
          </a:xfrm>
          <a:custGeom>
            <a:avLst/>
            <a:gdLst/>
            <a:ahLst/>
            <a:cxnLst/>
            <a:rect l="l" t="t" r="r" b="b"/>
            <a:pathLst>
              <a:path w="7395915" h="476250">
                <a:moveTo>
                  <a:pt x="0" y="0"/>
                </a:moveTo>
                <a:lnTo>
                  <a:pt x="7395915" y="0"/>
                </a:lnTo>
                <a:lnTo>
                  <a:pt x="7395915" y="476250"/>
                </a:lnTo>
                <a:lnTo>
                  <a:pt x="0" y="476250"/>
                </a:lnTo>
                <a:close/>
              </a:path>
            </a:pathLst>
          </a:custGeom>
          <a:solidFill>
            <a:srgbClr val="000000">
              <a:alpha val="0"/>
            </a:srgbClr>
          </a:solidFill>
          <a:ln/>
        </p:spPr>
      </p:sp>
      <p:sp>
        <p:nvSpPr>
          <p:cNvPr id="7" name="Text 3"/>
          <p:cNvSpPr/>
          <p:nvPr/>
        </p:nvSpPr>
        <p:spPr>
          <a:xfrm>
            <a:off x="874042" y="518568"/>
            <a:ext cx="7395915"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Muammolar va kelajak istiqbollari</a:t>
            </a:r>
            <a:endParaRPr lang="en-US" sz="1050" dirty="0"/>
          </a:p>
        </p:txBody>
      </p:sp>
      <p:sp>
        <p:nvSpPr>
          <p:cNvPr id="8" name="Shape 4"/>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FFFFFF">
              <a:alpha val="0"/>
            </a:srgbClr>
          </a:solidFill>
          <a:ln/>
        </p:spPr>
      </p:sp>
      <p:sp>
        <p:nvSpPr>
          <p:cNvPr id="9" name="Text 5"/>
          <p:cNvSpPr/>
          <p:nvPr/>
        </p:nvSpPr>
        <p:spPr>
          <a:xfrm>
            <a:off x="705902" y="1623611"/>
            <a:ext cx="1713750" cy="552450"/>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705902" y="1623611"/>
            <a:ext cx="1713750" cy="552450"/>
          </a:xfrm>
          <a:custGeom>
            <a:avLst/>
            <a:gdLst/>
            <a:ahLst/>
            <a:cxnLst/>
            <a:rect l="l" t="t" r="r" b="b"/>
            <a:pathLst>
              <a:path w="1713750" h="552450">
                <a:moveTo>
                  <a:pt x="0" y="0"/>
                </a:moveTo>
                <a:lnTo>
                  <a:pt x="1713750" y="0"/>
                </a:lnTo>
                <a:lnTo>
                  <a:pt x="1713750" y="552450"/>
                </a:lnTo>
                <a:lnTo>
                  <a:pt x="0" y="552450"/>
                </a:lnTo>
                <a:close/>
              </a:path>
            </a:pathLst>
          </a:custGeom>
          <a:solidFill>
            <a:srgbClr val="000000">
              <a:alpha val="0"/>
            </a:srgbClr>
          </a:solidFill>
          <a:ln/>
        </p:spPr>
      </p:sp>
      <p:sp>
        <p:nvSpPr>
          <p:cNvPr id="11" name="Text 7"/>
          <p:cNvSpPr/>
          <p:nvPr/>
        </p:nvSpPr>
        <p:spPr>
          <a:xfrm>
            <a:off x="705902" y="1623611"/>
            <a:ext cx="17137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12" name="Shape 8"/>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FFFFFF">
              <a:alpha val="0"/>
            </a:srgbClr>
          </a:solidFill>
          <a:ln/>
        </p:spPr>
      </p:sp>
      <p:sp>
        <p:nvSpPr>
          <p:cNvPr id="13" name="Text 9"/>
          <p:cNvSpPr/>
          <p:nvPr/>
        </p:nvSpPr>
        <p:spPr>
          <a:xfrm>
            <a:off x="640191" y="3311188"/>
            <a:ext cx="1998818" cy="552450"/>
          </a:xfrm>
          <a:prstGeom prst="rect">
            <a:avLst/>
          </a:prstGeom>
          <a:noFill/>
          <a:ln/>
        </p:spPr>
        <p:txBody>
          <a:bodyPr wrap="square" rtlCol="0" anchor="t"/>
          <a:lstStyle/>
          <a:p>
            <a:pPr indent="0" marL="0">
              <a:spcBef>
                <a:spcPts val="375"/>
              </a:spcBef>
              <a:buNone/>
            </a:pPr>
            <a:endParaRPr lang="en-US" sz="1050" dirty="0"/>
          </a:p>
        </p:txBody>
      </p:sp>
      <p:sp>
        <p:nvSpPr>
          <p:cNvPr id="14" name="Shape 10"/>
          <p:cNvSpPr/>
          <p:nvPr/>
        </p:nvSpPr>
        <p:spPr>
          <a:xfrm>
            <a:off x="640191" y="3311188"/>
            <a:ext cx="1998818" cy="552450"/>
          </a:xfrm>
          <a:custGeom>
            <a:avLst/>
            <a:gdLst/>
            <a:ahLst/>
            <a:cxnLst/>
            <a:rect l="l" t="t" r="r" b="b"/>
            <a:pathLst>
              <a:path w="1998818" h="552450">
                <a:moveTo>
                  <a:pt x="0" y="0"/>
                </a:moveTo>
                <a:lnTo>
                  <a:pt x="1998818" y="0"/>
                </a:lnTo>
                <a:lnTo>
                  <a:pt x="1998818" y="552450"/>
                </a:lnTo>
                <a:lnTo>
                  <a:pt x="0" y="552450"/>
                </a:lnTo>
                <a:close/>
              </a:path>
            </a:pathLst>
          </a:custGeom>
          <a:solidFill>
            <a:srgbClr val="000000">
              <a:alpha val="0"/>
            </a:srgbClr>
          </a:solidFill>
          <a:ln/>
        </p:spPr>
      </p:sp>
      <p:sp>
        <p:nvSpPr>
          <p:cNvPr id="15" name="Text 11"/>
          <p:cNvSpPr/>
          <p:nvPr/>
        </p:nvSpPr>
        <p:spPr>
          <a:xfrm>
            <a:off x="640191" y="3311188"/>
            <a:ext cx="1998818"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16" name="Shape 12"/>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FFFFFF">
              <a:alpha val="0"/>
            </a:srgbClr>
          </a:solidFill>
          <a:ln/>
        </p:spPr>
      </p:sp>
      <p:sp>
        <p:nvSpPr>
          <p:cNvPr id="17" name="Text 13"/>
          <p:cNvSpPr/>
          <p:nvPr/>
        </p:nvSpPr>
        <p:spPr>
          <a:xfrm>
            <a:off x="3848551" y="1623612"/>
            <a:ext cx="1082550" cy="552450"/>
          </a:xfrm>
          <a:prstGeom prst="rect">
            <a:avLst/>
          </a:prstGeom>
          <a:noFill/>
          <a:ln/>
        </p:spPr>
        <p:txBody>
          <a:bodyPr wrap="square" rtlCol="0" anchor="t"/>
          <a:lstStyle/>
          <a:p>
            <a:pPr indent="0" marL="0">
              <a:spcBef>
                <a:spcPts val="375"/>
              </a:spcBef>
              <a:buNone/>
            </a:pPr>
            <a:endParaRPr lang="en-US" sz="1050" dirty="0"/>
          </a:p>
        </p:txBody>
      </p:sp>
      <p:sp>
        <p:nvSpPr>
          <p:cNvPr id="18" name="Shape 14"/>
          <p:cNvSpPr/>
          <p:nvPr/>
        </p:nvSpPr>
        <p:spPr>
          <a:xfrm>
            <a:off x="3848551" y="1623612"/>
            <a:ext cx="1082550" cy="552450"/>
          </a:xfrm>
          <a:custGeom>
            <a:avLst/>
            <a:gdLst/>
            <a:ahLst/>
            <a:cxnLst/>
            <a:rect l="l" t="t" r="r" b="b"/>
            <a:pathLst>
              <a:path w="1082550" h="552450">
                <a:moveTo>
                  <a:pt x="0" y="0"/>
                </a:moveTo>
                <a:lnTo>
                  <a:pt x="1082550" y="0"/>
                </a:lnTo>
                <a:lnTo>
                  <a:pt x="1082550" y="552450"/>
                </a:lnTo>
                <a:lnTo>
                  <a:pt x="0" y="552450"/>
                </a:lnTo>
                <a:close/>
              </a:path>
            </a:pathLst>
          </a:custGeom>
          <a:solidFill>
            <a:srgbClr val="000000">
              <a:alpha val="0"/>
            </a:srgbClr>
          </a:solidFill>
          <a:ln/>
        </p:spPr>
      </p:sp>
      <p:sp>
        <p:nvSpPr>
          <p:cNvPr id="19" name="Text 15"/>
          <p:cNvSpPr/>
          <p:nvPr/>
        </p:nvSpPr>
        <p:spPr>
          <a:xfrm>
            <a:off x="3848551" y="1623612"/>
            <a:ext cx="1082550"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20" name="Shape 16"/>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FFFFFF">
              <a:alpha val="0"/>
            </a:srgbClr>
          </a:solidFill>
          <a:ln/>
        </p:spPr>
      </p:sp>
      <p:sp>
        <p:nvSpPr>
          <p:cNvPr id="21" name="Text 17"/>
          <p:cNvSpPr/>
          <p:nvPr/>
        </p:nvSpPr>
        <p:spPr>
          <a:xfrm>
            <a:off x="2875893" y="3311188"/>
            <a:ext cx="2968866" cy="552450"/>
          </a:xfrm>
          <a:prstGeom prst="rect">
            <a:avLst/>
          </a:prstGeom>
          <a:noFill/>
          <a:ln/>
        </p:spPr>
        <p:txBody>
          <a:bodyPr wrap="square" rtlCol="0" anchor="t"/>
          <a:lstStyle/>
          <a:p>
            <a:pPr indent="0" marL="0">
              <a:spcBef>
                <a:spcPts val="375"/>
              </a:spcBef>
              <a:buNone/>
            </a:pPr>
            <a:endParaRPr lang="en-US" sz="1050" dirty="0"/>
          </a:p>
        </p:txBody>
      </p:sp>
      <p:sp>
        <p:nvSpPr>
          <p:cNvPr id="22" name="Shape 18"/>
          <p:cNvSpPr/>
          <p:nvPr/>
        </p:nvSpPr>
        <p:spPr>
          <a:xfrm>
            <a:off x="2875893" y="3311188"/>
            <a:ext cx="2968866" cy="552450"/>
          </a:xfrm>
          <a:custGeom>
            <a:avLst/>
            <a:gdLst/>
            <a:ahLst/>
            <a:cxnLst/>
            <a:rect l="l" t="t" r="r" b="b"/>
            <a:pathLst>
              <a:path w="2968866" h="552450">
                <a:moveTo>
                  <a:pt x="0" y="0"/>
                </a:moveTo>
                <a:lnTo>
                  <a:pt x="2968866" y="0"/>
                </a:lnTo>
                <a:lnTo>
                  <a:pt x="2968866" y="552450"/>
                </a:lnTo>
                <a:lnTo>
                  <a:pt x="0" y="552450"/>
                </a:lnTo>
                <a:close/>
              </a:path>
            </a:pathLst>
          </a:custGeom>
          <a:solidFill>
            <a:srgbClr val="000000">
              <a:alpha val="0"/>
            </a:srgbClr>
          </a:solidFill>
          <a:ln/>
        </p:spPr>
      </p:sp>
      <p:sp>
        <p:nvSpPr>
          <p:cNvPr id="23" name="Text 19"/>
          <p:cNvSpPr/>
          <p:nvPr/>
        </p:nvSpPr>
        <p:spPr>
          <a:xfrm>
            <a:off x="2875893" y="3311188"/>
            <a:ext cx="2968866" cy="5524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4</a:t>
            </a:r>
            <a:endParaRPr lang="en-US" sz="1050" dirty="0"/>
          </a:p>
        </p:txBody>
      </p:sp>
      <p:sp>
        <p:nvSpPr>
          <p:cNvPr id="24" name="Shape 20"/>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FFFFFF">
              <a:alpha val="0"/>
            </a:srgbClr>
          </a:solidFill>
          <a:ln/>
        </p:spPr>
      </p:sp>
      <p:sp>
        <p:nvSpPr>
          <p:cNvPr id="25" name="Text 21"/>
          <p:cNvSpPr/>
          <p:nvPr/>
        </p:nvSpPr>
        <p:spPr>
          <a:xfrm>
            <a:off x="705902" y="2176061"/>
            <a:ext cx="1890959" cy="932710"/>
          </a:xfrm>
          <a:prstGeom prst="rect">
            <a:avLst/>
          </a:prstGeom>
          <a:noFill/>
          <a:ln/>
        </p:spPr>
        <p:txBody>
          <a:bodyPr wrap="square" rtlCol="0" anchor="t"/>
          <a:lstStyle/>
          <a:p>
            <a:pPr indent="0" marL="0">
              <a:spcBef>
                <a:spcPts val="375"/>
              </a:spcBef>
              <a:buNone/>
            </a:pPr>
            <a:endParaRPr lang="en-US" sz="1050" dirty="0"/>
          </a:p>
        </p:txBody>
      </p:sp>
      <p:sp>
        <p:nvSpPr>
          <p:cNvPr id="26" name="Shape 22"/>
          <p:cNvSpPr/>
          <p:nvPr/>
        </p:nvSpPr>
        <p:spPr>
          <a:xfrm>
            <a:off x="705902" y="2176061"/>
            <a:ext cx="1890959" cy="932710"/>
          </a:xfrm>
          <a:custGeom>
            <a:avLst/>
            <a:gdLst/>
            <a:ahLst/>
            <a:cxnLst/>
            <a:rect l="l" t="t" r="r" b="b"/>
            <a:pathLst>
              <a:path w="1890959" h="932710">
                <a:moveTo>
                  <a:pt x="0" y="0"/>
                </a:moveTo>
                <a:lnTo>
                  <a:pt x="1890959" y="0"/>
                </a:lnTo>
                <a:lnTo>
                  <a:pt x="1890959" y="932710"/>
                </a:lnTo>
                <a:lnTo>
                  <a:pt x="0" y="932710"/>
                </a:lnTo>
                <a:close/>
              </a:path>
            </a:pathLst>
          </a:custGeom>
          <a:solidFill>
            <a:srgbClr val="000000">
              <a:alpha val="0"/>
            </a:srgbClr>
          </a:solidFill>
          <a:ln/>
        </p:spPr>
      </p:sp>
      <p:sp>
        <p:nvSpPr>
          <p:cNvPr id="27" name="Text 23"/>
          <p:cNvSpPr/>
          <p:nvPr/>
        </p:nvSpPr>
        <p:spPr>
          <a:xfrm>
            <a:off x="705902" y="2176061"/>
            <a:ext cx="1890959" cy="932710"/>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Muammolarni hal etishning zamonaviy usullari va strategiyalari haqida o‘rganish zarur.</a:t>
            </a:r>
            <a:endParaRPr lang="en-US" sz="1050" dirty="0"/>
          </a:p>
        </p:txBody>
      </p:sp>
      <p:sp>
        <p:nvSpPr>
          <p:cNvPr id="28" name="Shape 24"/>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FFFFFF">
              <a:alpha val="0"/>
            </a:srgbClr>
          </a:solidFill>
          <a:ln/>
        </p:spPr>
      </p:sp>
      <p:sp>
        <p:nvSpPr>
          <p:cNvPr id="29" name="Text 25"/>
          <p:cNvSpPr/>
          <p:nvPr/>
        </p:nvSpPr>
        <p:spPr>
          <a:xfrm>
            <a:off x="705902" y="3917979"/>
            <a:ext cx="1713750" cy="1225521"/>
          </a:xfrm>
          <a:prstGeom prst="rect">
            <a:avLst/>
          </a:prstGeom>
          <a:noFill/>
          <a:ln/>
        </p:spPr>
        <p:txBody>
          <a:bodyPr wrap="square" rtlCol="0" anchor="t"/>
          <a:lstStyle/>
          <a:p>
            <a:pPr indent="0" marL="0">
              <a:spcBef>
                <a:spcPts val="375"/>
              </a:spcBef>
              <a:buNone/>
            </a:pPr>
            <a:endParaRPr lang="en-US" sz="1050" dirty="0"/>
          </a:p>
        </p:txBody>
      </p:sp>
      <p:sp>
        <p:nvSpPr>
          <p:cNvPr id="30" name="Shape 26"/>
          <p:cNvSpPr/>
          <p:nvPr/>
        </p:nvSpPr>
        <p:spPr>
          <a:xfrm>
            <a:off x="705902" y="3917979"/>
            <a:ext cx="1713750" cy="1225521"/>
          </a:xfrm>
          <a:custGeom>
            <a:avLst/>
            <a:gdLst/>
            <a:ahLst/>
            <a:cxnLst/>
            <a:rect l="l" t="t" r="r" b="b"/>
            <a:pathLst>
              <a:path w="1713750" h="1225521">
                <a:moveTo>
                  <a:pt x="0" y="0"/>
                </a:moveTo>
                <a:lnTo>
                  <a:pt x="1713750" y="0"/>
                </a:lnTo>
                <a:lnTo>
                  <a:pt x="1713750" y="1225521"/>
                </a:lnTo>
                <a:lnTo>
                  <a:pt x="0" y="1225521"/>
                </a:lnTo>
                <a:close/>
              </a:path>
            </a:pathLst>
          </a:custGeom>
          <a:solidFill>
            <a:srgbClr val="000000">
              <a:alpha val="0"/>
            </a:srgbClr>
          </a:solidFill>
          <a:ln/>
        </p:spPr>
      </p:sp>
      <p:sp>
        <p:nvSpPr>
          <p:cNvPr id="31" name="Text 27"/>
          <p:cNvSpPr/>
          <p:nvPr/>
        </p:nvSpPr>
        <p:spPr>
          <a:xfrm>
            <a:off x="705902" y="3917979"/>
            <a:ext cx="1713750"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Kelajak istiqbollari, iqtisodiy va ijtimoiy taraqqiyotga ta'sir etuvchi omillarni tahlil qilish.</a:t>
            </a:r>
            <a:endParaRPr lang="en-US" sz="1050" dirty="0"/>
          </a:p>
        </p:txBody>
      </p:sp>
      <p:sp>
        <p:nvSpPr>
          <p:cNvPr id="32" name="Shape 28"/>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FFFFFF">
              <a:alpha val="0"/>
            </a:srgbClr>
          </a:solidFill>
          <a:ln/>
        </p:spPr>
      </p:sp>
      <p:sp>
        <p:nvSpPr>
          <p:cNvPr id="33" name="Text 29"/>
          <p:cNvSpPr/>
          <p:nvPr/>
        </p:nvSpPr>
        <p:spPr>
          <a:xfrm>
            <a:off x="3532953" y="3917979"/>
            <a:ext cx="1926401" cy="1225521"/>
          </a:xfrm>
          <a:prstGeom prst="rect">
            <a:avLst/>
          </a:prstGeom>
          <a:noFill/>
          <a:ln/>
        </p:spPr>
        <p:txBody>
          <a:bodyPr wrap="square" rtlCol="0" anchor="t"/>
          <a:lstStyle/>
          <a:p>
            <a:pPr indent="0" marL="0">
              <a:spcBef>
                <a:spcPts val="375"/>
              </a:spcBef>
              <a:buNone/>
            </a:pPr>
            <a:endParaRPr lang="en-US" sz="1050" dirty="0"/>
          </a:p>
        </p:txBody>
      </p:sp>
      <p:sp>
        <p:nvSpPr>
          <p:cNvPr id="34" name="Shape 30"/>
          <p:cNvSpPr/>
          <p:nvPr/>
        </p:nvSpPr>
        <p:spPr>
          <a:xfrm>
            <a:off x="3532953" y="3917979"/>
            <a:ext cx="1926401" cy="1225521"/>
          </a:xfrm>
          <a:custGeom>
            <a:avLst/>
            <a:gdLst/>
            <a:ahLst/>
            <a:cxnLst/>
            <a:rect l="l" t="t" r="r" b="b"/>
            <a:pathLst>
              <a:path w="1926401" h="1225521">
                <a:moveTo>
                  <a:pt x="0" y="0"/>
                </a:moveTo>
                <a:lnTo>
                  <a:pt x="1926401" y="0"/>
                </a:lnTo>
                <a:lnTo>
                  <a:pt x="1926401" y="1225521"/>
                </a:lnTo>
                <a:lnTo>
                  <a:pt x="0" y="1225521"/>
                </a:lnTo>
                <a:close/>
              </a:path>
            </a:pathLst>
          </a:custGeom>
          <a:solidFill>
            <a:srgbClr val="000000">
              <a:alpha val="0"/>
            </a:srgbClr>
          </a:solidFill>
          <a:ln/>
        </p:spPr>
      </p:sp>
      <p:sp>
        <p:nvSpPr>
          <p:cNvPr id="35" name="Text 31"/>
          <p:cNvSpPr/>
          <p:nvPr/>
        </p:nvSpPr>
        <p:spPr>
          <a:xfrm>
            <a:off x="3532953" y="3917979"/>
            <a:ext cx="1926401" cy="1225521"/>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O'zbekistondagi muammolar va ularni hal qilish rejalari haqida batafsil ma'lumot.</a:t>
            </a:r>
            <a:endParaRPr lang="en-US" sz="1050" dirty="0"/>
          </a:p>
        </p:txBody>
      </p:sp>
      <p:sp>
        <p:nvSpPr>
          <p:cNvPr id="36" name="Shape 32"/>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FFFFFF">
              <a:alpha val="0"/>
            </a:srgbClr>
          </a:solidFill>
          <a:ln/>
        </p:spPr>
      </p:sp>
      <p:sp>
        <p:nvSpPr>
          <p:cNvPr id="37" name="Text 33"/>
          <p:cNvSpPr/>
          <p:nvPr/>
        </p:nvSpPr>
        <p:spPr>
          <a:xfrm>
            <a:off x="3473884" y="2053192"/>
            <a:ext cx="2079983" cy="866556"/>
          </a:xfrm>
          <a:prstGeom prst="rect">
            <a:avLst/>
          </a:prstGeom>
          <a:noFill/>
          <a:ln/>
        </p:spPr>
        <p:txBody>
          <a:bodyPr wrap="square" rtlCol="0" anchor="t"/>
          <a:lstStyle/>
          <a:p>
            <a:pPr indent="0" marL="0">
              <a:spcBef>
                <a:spcPts val="375"/>
              </a:spcBef>
              <a:buNone/>
            </a:pPr>
            <a:endParaRPr lang="en-US" sz="1050" dirty="0"/>
          </a:p>
        </p:txBody>
      </p:sp>
      <p:sp>
        <p:nvSpPr>
          <p:cNvPr id="38" name="Shape 34"/>
          <p:cNvSpPr/>
          <p:nvPr/>
        </p:nvSpPr>
        <p:spPr>
          <a:xfrm>
            <a:off x="3473884" y="2053192"/>
            <a:ext cx="2079983" cy="866556"/>
          </a:xfrm>
          <a:custGeom>
            <a:avLst/>
            <a:gdLst/>
            <a:ahLst/>
            <a:cxnLst/>
            <a:rect l="l" t="t" r="r" b="b"/>
            <a:pathLst>
              <a:path w="2079983" h="866556">
                <a:moveTo>
                  <a:pt x="0" y="0"/>
                </a:moveTo>
                <a:lnTo>
                  <a:pt x="2079983" y="0"/>
                </a:lnTo>
                <a:lnTo>
                  <a:pt x="2079983" y="866556"/>
                </a:lnTo>
                <a:lnTo>
                  <a:pt x="0" y="866556"/>
                </a:lnTo>
                <a:close/>
              </a:path>
            </a:pathLst>
          </a:custGeom>
          <a:solidFill>
            <a:srgbClr val="000000">
              <a:alpha val="0"/>
            </a:srgbClr>
          </a:solidFill>
          <a:ln/>
        </p:spPr>
      </p:sp>
      <p:sp>
        <p:nvSpPr>
          <p:cNvPr id="39" name="Text 35"/>
          <p:cNvSpPr/>
          <p:nvPr/>
        </p:nvSpPr>
        <p:spPr>
          <a:xfrm>
            <a:off x="3473884" y="2053192"/>
            <a:ext cx="2079983" cy="866556"/>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Muammolarni hal etish uchun xalqaro tajribalar va innovatsion yondashuvlarni qo'llash.</a:t>
            </a:r>
            <a:endParaRPr lang="en-US" sz="1050" dirty="0"/>
          </a:p>
        </p:txBody>
      </p:sp>
      <p:sp>
        <p:nvSpPr>
          <p:cNvPr id="40" name="Shape 36"/>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FFFFFF">
              <a:alpha val="0"/>
            </a:srgbClr>
          </a:solidFill>
          <a:ln/>
        </p:spPr>
      </p:sp>
      <p:sp>
        <p:nvSpPr>
          <p:cNvPr id="41" name="Text 37"/>
          <p:cNvSpPr/>
          <p:nvPr/>
        </p:nvSpPr>
        <p:spPr>
          <a:xfrm>
            <a:off x="0" y="0"/>
            <a:ext cx="2857500" cy="238125"/>
          </a:xfrm>
          <a:prstGeom prst="rect">
            <a:avLst/>
          </a:prstGeom>
          <a:noFill/>
          <a:ln/>
        </p:spPr>
        <p:txBody>
          <a:bodyPr wrap="square" rtlCol="0" anchor="t"/>
          <a:lstStyle/>
          <a:p>
            <a:pPr indent="0" marL="0">
              <a:spcBef>
                <a:spcPts val="375"/>
              </a:spcBef>
              <a:buNone/>
            </a:pPr>
            <a:endParaRPr lang="en-US" sz="1050" dirty="0"/>
          </a:p>
        </p:txBody>
      </p:sp>
      <p:sp>
        <p:nvSpPr>
          <p:cNvPr id="42" name="Shape 38"/>
          <p:cNvSpPr/>
          <p:nvPr/>
        </p:nvSpPr>
        <p:spPr>
          <a:xfrm>
            <a:off x="0" y="0"/>
            <a:ext cx="2857500" cy="238125"/>
          </a:xfrm>
          <a:custGeom>
            <a:avLst/>
            <a:gdLst/>
            <a:ahLst/>
            <a:cxnLst/>
            <a:rect l="l" t="t" r="r" b="b"/>
            <a:pathLst>
              <a:path w="2857500" h="238125">
                <a:moveTo>
                  <a:pt x="0" y="0"/>
                </a:moveTo>
                <a:lnTo>
                  <a:pt x="2857500" y="0"/>
                </a:lnTo>
                <a:lnTo>
                  <a:pt x="2857500" y="238125"/>
                </a:lnTo>
                <a:lnTo>
                  <a:pt x="0" y="238125"/>
                </a:lnTo>
                <a:close/>
              </a:path>
            </a:pathLst>
          </a:custGeom>
          <a:solidFill>
            <a:srgbClr val="000000">
              <a:alpha val="0"/>
            </a:srgbClr>
          </a:solidFill>
          <a:ln/>
        </p:spPr>
      </p:sp>
      <p:sp>
        <p:nvSpPr>
          <p:cNvPr id="43" name="Text 39"/>
          <p:cNvSpPr/>
          <p:nvPr/>
        </p:nvSpPr>
        <p:spPr>
          <a:xfrm>
            <a:off x="0" y="0"/>
            <a:ext cx="2857500" cy="238125"/>
          </a:xfrm>
          <a:prstGeom prst="rect">
            <a:avLst/>
          </a:prstGeom>
          <a:noFill/>
          <a:ln/>
        </p:spPr>
        <p:txBody>
          <a:bodyPr wrap="square" rtlCol="0" anchor="t"/>
          <a:lstStyle/>
          <a:p>
            <a:pPr algn="l" indent="0" marL="0">
              <a:spcBef>
                <a:spcPts val="375"/>
              </a:spcBef>
              <a:buNone/>
            </a:pPr>
            <a:r>
              <a:rPr lang="en-US" sz="600" dirty="0">
                <a:solidFill>
                  <a:srgbClr val="333333"/>
                </a:solidFill>
                <a:latin typeface="微软雅黑" pitchFamily="34" charset="0"/>
                <a:ea typeface="微软雅黑" pitchFamily="34" charset="-122"/>
                <a:cs typeface="微软雅黑" pitchFamily="34" charset="-120"/>
              </a:rPr>
              <a:t>4</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1F1F1"/>
        </a:solidFill>
      </p:bgPr>
    </p:bg>
    <p:spTree>
      <p:nvGrpSpPr>
        <p:cNvPr id="1" name=""/>
        <p:cNvGrpSpPr/>
        <p:nvPr/>
      </p:nvGrpSpPr>
      <p:grpSpPr>
        <a:xfrm>
          <a:off x="0" y="0"/>
          <a:ext cx="0" cy="0"/>
          <a:chOff x="0" y="0"/>
          <a:chExt cx="0" cy="0"/>
        </a:xfrm>
      </p:grpSpPr>
      <p:pic>
        <p:nvPicPr>
          <p:cNvPr id="2" name="Image 0" descr="./images\slide14_img117.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4_img118.png">    </p:cNvPr>
          <p:cNvPicPr>
            <a:picLocks noChangeAspect="1"/>
          </p:cNvPicPr>
          <p:nvPr/>
        </p:nvPicPr>
        <p:blipFill>
          <a:blip r:embed="rId2"/>
          <a:stretch>
            <a:fillRect/>
          </a:stretch>
        </p:blipFill>
        <p:spPr>
          <a:xfrm>
            <a:off x="419387" y="1645896"/>
            <a:ext cx="2957551" cy="3098256"/>
          </a:xfrm>
          <a:prstGeom prst="rect">
            <a:avLst/>
          </a:prstGeom>
        </p:spPr>
      </p:pic>
      <p:sp>
        <p:nvSpPr>
          <p:cNvPr id="4" name="Shape 0"/>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5" name="Text 1"/>
          <p:cNvSpPr/>
          <p:nvPr/>
        </p:nvSpPr>
        <p:spPr>
          <a:xfrm>
            <a:off x="419387"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419387"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7" name="Text 3"/>
          <p:cNvSpPr/>
          <p:nvPr/>
        </p:nvSpPr>
        <p:spPr>
          <a:xfrm>
            <a:off x="419387"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8" name="Image 2" descr="./images\slide14_img119.png">    </p:cNvPr>
          <p:cNvPicPr>
            <a:picLocks noChangeAspect="1"/>
          </p:cNvPicPr>
          <p:nvPr/>
        </p:nvPicPr>
        <p:blipFill>
          <a:blip r:embed="rId3"/>
          <a:stretch>
            <a:fillRect/>
          </a:stretch>
        </p:blipFill>
        <p:spPr>
          <a:xfrm>
            <a:off x="419387" y="1645896"/>
            <a:ext cx="2957551" cy="3098256"/>
          </a:xfrm>
          <a:prstGeom prst="rect">
            <a:avLst/>
          </a:prstGeom>
        </p:spPr>
      </p:pic>
      <p:pic>
        <p:nvPicPr>
          <p:cNvPr id="9" name="Image 3" descr="./images\slide14_img120.png">    </p:cNvPr>
          <p:cNvPicPr>
            <a:picLocks noChangeAspect="1"/>
          </p:cNvPicPr>
          <p:nvPr/>
        </p:nvPicPr>
        <p:blipFill>
          <a:blip r:embed="rId4"/>
          <a:stretch>
            <a:fillRect/>
          </a:stretch>
        </p:blipFill>
        <p:spPr>
          <a:xfrm>
            <a:off x="1614449" y="1645896"/>
            <a:ext cx="2957551" cy="3098256"/>
          </a:xfrm>
          <a:prstGeom prst="rect">
            <a:avLst/>
          </a:prstGeom>
        </p:spPr>
      </p:pic>
      <p:sp>
        <p:nvSpPr>
          <p:cNvPr id="10" name="Shape 4"/>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FFFFFF">
              <a:alpha val="0"/>
            </a:srgbClr>
          </a:solidFill>
          <a:ln/>
        </p:spPr>
      </p:sp>
      <p:sp>
        <p:nvSpPr>
          <p:cNvPr id="11" name="Text 5"/>
          <p:cNvSpPr/>
          <p:nvPr/>
        </p:nvSpPr>
        <p:spPr>
          <a:xfrm>
            <a:off x="1614449" y="1645896"/>
            <a:ext cx="2957551" cy="3098256"/>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1614449" y="1645896"/>
            <a:ext cx="2957551" cy="3098256"/>
          </a:xfrm>
          <a:custGeom>
            <a:avLst/>
            <a:gdLst/>
            <a:ahLst/>
            <a:cxnLst/>
            <a:rect l="l" t="t" r="r" b="b"/>
            <a:pathLst>
              <a:path w="2957551" h="3098256">
                <a:moveTo>
                  <a:pt x="0" y="0"/>
                </a:moveTo>
                <a:lnTo>
                  <a:pt x="2957551" y="0"/>
                </a:lnTo>
                <a:lnTo>
                  <a:pt x="2957551" y="3098256"/>
                </a:lnTo>
                <a:lnTo>
                  <a:pt x="0" y="3098256"/>
                </a:lnTo>
                <a:close/>
              </a:path>
            </a:pathLst>
          </a:custGeom>
          <a:solidFill>
            <a:srgbClr val="000000">
              <a:alpha val="0"/>
            </a:srgbClr>
          </a:solidFill>
          <a:ln/>
        </p:spPr>
      </p:sp>
      <p:sp>
        <p:nvSpPr>
          <p:cNvPr id="13" name="Text 7"/>
          <p:cNvSpPr/>
          <p:nvPr/>
        </p:nvSpPr>
        <p:spPr>
          <a:xfrm>
            <a:off x="1614449" y="1645896"/>
            <a:ext cx="2957551" cy="3098256"/>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14" name="Image 4" descr="./images\slide14_img121.png">    </p:cNvPr>
          <p:cNvPicPr>
            <a:picLocks noChangeAspect="1"/>
          </p:cNvPicPr>
          <p:nvPr/>
        </p:nvPicPr>
        <p:blipFill>
          <a:blip r:embed="rId5"/>
          <a:stretch>
            <a:fillRect/>
          </a:stretch>
        </p:blipFill>
        <p:spPr>
          <a:xfrm>
            <a:off x="1614449" y="1645896"/>
            <a:ext cx="2957551" cy="3098256"/>
          </a:xfrm>
          <a:prstGeom prst="rect">
            <a:avLst/>
          </a:prstGeom>
        </p:spPr>
      </p:pic>
      <p:pic>
        <p:nvPicPr>
          <p:cNvPr id="15" name="Image 5" descr="./images\slide14_img122.jpeg">    </p:cNvPr>
          <p:cNvPicPr>
            <a:picLocks noChangeAspect="1"/>
          </p:cNvPicPr>
          <p:nvPr/>
        </p:nvPicPr>
        <p:blipFill>
          <a:blip r:embed="rId6"/>
          <a:srcRect l="2217" r="47786" t="0" b="45747"/>
          <a:stretch/>
        </p:blipFill>
        <p:spPr>
          <a:xfrm>
            <a:off x="534644" y="1797247"/>
            <a:ext cx="3699955" cy="2676661"/>
          </a:xfrm>
          <a:prstGeom prst="rect">
            <a:avLst/>
          </a:prstGeom>
        </p:spPr>
      </p:pic>
      <p:sp>
        <p:nvSpPr>
          <p:cNvPr id="16" name="Shape 8"/>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FFFFFF">
              <a:alpha val="0"/>
            </a:srgbClr>
          </a:solidFill>
          <a:ln/>
        </p:spPr>
      </p:sp>
      <p:sp>
        <p:nvSpPr>
          <p:cNvPr id="17" name="Text 9"/>
          <p:cNvSpPr/>
          <p:nvPr/>
        </p:nvSpPr>
        <p:spPr>
          <a:xfrm>
            <a:off x="874042" y="289968"/>
            <a:ext cx="7395900" cy="476250"/>
          </a:xfrm>
          <a:prstGeom prst="rect">
            <a:avLst/>
          </a:prstGeom>
          <a:noFill/>
          <a:ln/>
        </p:spPr>
        <p:txBody>
          <a:bodyPr wrap="square" rtlCol="0" anchor="t"/>
          <a:lstStyle/>
          <a:p>
            <a:pPr indent="0" marL="0">
              <a:spcBef>
                <a:spcPts val="375"/>
              </a:spcBef>
              <a:buNone/>
            </a:pPr>
            <a:endParaRPr lang="en-US" sz="1050" dirty="0"/>
          </a:p>
        </p:txBody>
      </p:sp>
      <p:sp>
        <p:nvSpPr>
          <p:cNvPr id="18" name="Shape 10"/>
          <p:cNvSpPr/>
          <p:nvPr/>
        </p:nvSpPr>
        <p:spPr>
          <a:xfrm>
            <a:off x="874042" y="289968"/>
            <a:ext cx="7395900" cy="476250"/>
          </a:xfrm>
          <a:custGeom>
            <a:avLst/>
            <a:gdLst/>
            <a:ahLst/>
            <a:cxnLst/>
            <a:rect l="l" t="t" r="r" b="b"/>
            <a:pathLst>
              <a:path w="7395900" h="476250">
                <a:moveTo>
                  <a:pt x="0" y="0"/>
                </a:moveTo>
                <a:lnTo>
                  <a:pt x="7395900" y="0"/>
                </a:lnTo>
                <a:lnTo>
                  <a:pt x="7395900" y="476250"/>
                </a:lnTo>
                <a:lnTo>
                  <a:pt x="0" y="476250"/>
                </a:lnTo>
                <a:close/>
              </a:path>
            </a:pathLst>
          </a:custGeom>
          <a:solidFill>
            <a:srgbClr val="000000">
              <a:alpha val="0"/>
            </a:srgbClr>
          </a:solidFill>
          <a:ln/>
        </p:spPr>
      </p:sp>
      <p:sp>
        <p:nvSpPr>
          <p:cNvPr id="19" name="Text 11"/>
          <p:cNvSpPr/>
          <p:nvPr/>
        </p:nvSpPr>
        <p:spPr>
          <a:xfrm>
            <a:off x="874042" y="289968"/>
            <a:ext cx="7395900" cy="476250"/>
          </a:xfrm>
          <a:prstGeom prst="rect">
            <a:avLst/>
          </a:prstGeom>
          <a:noFill/>
          <a:ln/>
        </p:spPr>
        <p:txBody>
          <a:bodyPr wrap="square" rtlCol="0" anchor="t"/>
          <a:lstStyle/>
          <a:p>
            <a:pPr algn="ctr" indent="0" marL="0">
              <a:spcBef>
                <a:spcPts val="375"/>
              </a:spcBef>
              <a:buNone/>
            </a:pPr>
            <a:r>
              <a:rPr lang="en-US" sz="3000" dirty="0">
                <a:solidFill>
                  <a:srgbClr val="45464D"/>
                </a:solidFill>
                <a:latin typeface="Caveat Brush" pitchFamily="34" charset="0"/>
                <a:ea typeface="Caveat Brush" pitchFamily="34" charset="-122"/>
                <a:cs typeface="Caveat Brush" pitchFamily="34" charset="-120"/>
              </a:rPr>
              <a:t>Nerv tizimi o'smalari: Umumiy ma'lumot</a:t>
            </a:r>
            <a:endParaRPr lang="en-US" sz="1050" dirty="0"/>
          </a:p>
        </p:txBody>
      </p:sp>
      <p:sp>
        <p:nvSpPr>
          <p:cNvPr id="20" name="Shape 12"/>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FFFFFF">
              <a:alpha val="0"/>
            </a:srgbClr>
          </a:solidFill>
          <a:ln/>
        </p:spPr>
      </p:sp>
      <p:sp>
        <p:nvSpPr>
          <p:cNvPr id="21" name="Text 13"/>
          <p:cNvSpPr/>
          <p:nvPr/>
        </p:nvSpPr>
        <p:spPr>
          <a:xfrm>
            <a:off x="4572000" y="1768209"/>
            <a:ext cx="1448190" cy="476250"/>
          </a:xfrm>
          <a:prstGeom prst="rect">
            <a:avLst/>
          </a:prstGeom>
          <a:noFill/>
          <a:ln/>
        </p:spPr>
        <p:txBody>
          <a:bodyPr wrap="square" rtlCol="0" anchor="t"/>
          <a:lstStyle/>
          <a:p>
            <a:pPr indent="0" marL="0">
              <a:spcBef>
                <a:spcPts val="375"/>
              </a:spcBef>
              <a:buNone/>
            </a:pPr>
            <a:endParaRPr lang="en-US" sz="1050" dirty="0"/>
          </a:p>
        </p:txBody>
      </p:sp>
      <p:sp>
        <p:nvSpPr>
          <p:cNvPr id="22" name="Shape 14"/>
          <p:cNvSpPr/>
          <p:nvPr/>
        </p:nvSpPr>
        <p:spPr>
          <a:xfrm>
            <a:off x="4572000" y="1768209"/>
            <a:ext cx="1448190" cy="476250"/>
          </a:xfrm>
          <a:custGeom>
            <a:avLst/>
            <a:gdLst/>
            <a:ahLst/>
            <a:cxnLst/>
            <a:rect l="l" t="t" r="r" b="b"/>
            <a:pathLst>
              <a:path w="1448190" h="476250">
                <a:moveTo>
                  <a:pt x="0" y="0"/>
                </a:moveTo>
                <a:lnTo>
                  <a:pt x="1448190" y="0"/>
                </a:lnTo>
                <a:lnTo>
                  <a:pt x="1448190" y="476250"/>
                </a:lnTo>
                <a:lnTo>
                  <a:pt x="0" y="476250"/>
                </a:lnTo>
                <a:close/>
              </a:path>
            </a:pathLst>
          </a:custGeom>
          <a:solidFill>
            <a:srgbClr val="000000">
              <a:alpha val="0"/>
            </a:srgbClr>
          </a:solidFill>
          <a:ln/>
        </p:spPr>
      </p:sp>
      <p:sp>
        <p:nvSpPr>
          <p:cNvPr id="23" name="Text 15"/>
          <p:cNvSpPr/>
          <p:nvPr/>
        </p:nvSpPr>
        <p:spPr>
          <a:xfrm>
            <a:off x="4572000" y="1768209"/>
            <a:ext cx="1448190"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1</a:t>
            </a:r>
            <a:endParaRPr lang="en-US" sz="1050" dirty="0"/>
          </a:p>
        </p:txBody>
      </p:sp>
      <p:sp>
        <p:nvSpPr>
          <p:cNvPr id="24" name="Shape 16"/>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5" name="Text 17"/>
          <p:cNvSpPr/>
          <p:nvPr/>
        </p:nvSpPr>
        <p:spPr>
          <a:xfrm>
            <a:off x="4572000" y="2582210"/>
            <a:ext cx="1319049" cy="476250"/>
          </a:xfrm>
          <a:prstGeom prst="rect">
            <a:avLst/>
          </a:prstGeom>
          <a:noFill/>
          <a:ln/>
        </p:spPr>
        <p:txBody>
          <a:bodyPr wrap="square" rtlCol="0" anchor="t"/>
          <a:lstStyle/>
          <a:p>
            <a:pPr indent="0" marL="0">
              <a:spcBef>
                <a:spcPts val="375"/>
              </a:spcBef>
              <a:buNone/>
            </a:pPr>
            <a:endParaRPr lang="en-US" sz="1050" dirty="0"/>
          </a:p>
        </p:txBody>
      </p:sp>
      <p:sp>
        <p:nvSpPr>
          <p:cNvPr id="26" name="Shape 18"/>
          <p:cNvSpPr/>
          <p:nvPr/>
        </p:nvSpPr>
        <p:spPr>
          <a:xfrm>
            <a:off x="4572000" y="2582210"/>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27" name="Text 19"/>
          <p:cNvSpPr/>
          <p:nvPr/>
        </p:nvSpPr>
        <p:spPr>
          <a:xfrm>
            <a:off x="4572000" y="2582210"/>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2</a:t>
            </a:r>
            <a:endParaRPr lang="en-US" sz="1050" dirty="0"/>
          </a:p>
        </p:txBody>
      </p:sp>
      <p:sp>
        <p:nvSpPr>
          <p:cNvPr id="28" name="Shape 20"/>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FFFFFF">
              <a:alpha val="0"/>
            </a:srgbClr>
          </a:solidFill>
          <a:ln/>
        </p:spPr>
      </p:sp>
      <p:sp>
        <p:nvSpPr>
          <p:cNvPr id="29" name="Text 21"/>
          <p:cNvSpPr/>
          <p:nvPr/>
        </p:nvSpPr>
        <p:spPr>
          <a:xfrm>
            <a:off x="4572000" y="3663928"/>
            <a:ext cx="1319049" cy="476250"/>
          </a:xfrm>
          <a:prstGeom prst="rect">
            <a:avLst/>
          </a:prstGeom>
          <a:noFill/>
          <a:ln/>
        </p:spPr>
        <p:txBody>
          <a:bodyPr wrap="square" rtlCol="0" anchor="t"/>
          <a:lstStyle/>
          <a:p>
            <a:pPr indent="0" marL="0">
              <a:spcBef>
                <a:spcPts val="375"/>
              </a:spcBef>
              <a:buNone/>
            </a:pPr>
            <a:endParaRPr lang="en-US" sz="1050" dirty="0"/>
          </a:p>
        </p:txBody>
      </p:sp>
      <p:sp>
        <p:nvSpPr>
          <p:cNvPr id="30" name="Shape 22"/>
          <p:cNvSpPr/>
          <p:nvPr/>
        </p:nvSpPr>
        <p:spPr>
          <a:xfrm>
            <a:off x="4572000" y="3663928"/>
            <a:ext cx="1319049" cy="476250"/>
          </a:xfrm>
          <a:custGeom>
            <a:avLst/>
            <a:gdLst/>
            <a:ahLst/>
            <a:cxnLst/>
            <a:rect l="l" t="t" r="r" b="b"/>
            <a:pathLst>
              <a:path w="1319049" h="476250">
                <a:moveTo>
                  <a:pt x="0" y="0"/>
                </a:moveTo>
                <a:lnTo>
                  <a:pt x="1319049" y="0"/>
                </a:lnTo>
                <a:lnTo>
                  <a:pt x="1319049" y="476250"/>
                </a:lnTo>
                <a:lnTo>
                  <a:pt x="0" y="476250"/>
                </a:lnTo>
                <a:close/>
              </a:path>
            </a:pathLst>
          </a:custGeom>
          <a:solidFill>
            <a:srgbClr val="000000">
              <a:alpha val="0"/>
            </a:srgbClr>
          </a:solidFill>
          <a:ln/>
        </p:spPr>
      </p:sp>
      <p:sp>
        <p:nvSpPr>
          <p:cNvPr id="31" name="Text 23"/>
          <p:cNvSpPr/>
          <p:nvPr/>
        </p:nvSpPr>
        <p:spPr>
          <a:xfrm>
            <a:off x="4572000" y="3663928"/>
            <a:ext cx="1319049" cy="476250"/>
          </a:xfrm>
          <a:prstGeom prst="rect">
            <a:avLst/>
          </a:prstGeom>
          <a:noFill/>
          <a:ln/>
        </p:spPr>
        <p:txBody>
          <a:bodyPr wrap="square" rtlCol="0" anchor="t"/>
          <a:lstStyle/>
          <a:p>
            <a:pPr algn="ctr" indent="0" marL="0">
              <a:spcBef>
                <a:spcPts val="375"/>
              </a:spcBef>
              <a:buNone/>
            </a:pPr>
            <a:r>
              <a:rPr lang="en-US" sz="1800" dirty="0">
                <a:solidFill>
                  <a:srgbClr val="45464D"/>
                </a:solidFill>
                <a:latin typeface="Caveat Brush" pitchFamily="34" charset="0"/>
                <a:ea typeface="Caveat Brush" pitchFamily="34" charset="-122"/>
                <a:cs typeface="Caveat Brush" pitchFamily="34" charset="-120"/>
              </a:rPr>
              <a:t>3</a:t>
            </a:r>
            <a:endParaRPr lang="en-US" sz="1050" dirty="0"/>
          </a:p>
        </p:txBody>
      </p:sp>
      <p:sp>
        <p:nvSpPr>
          <p:cNvPr id="32" name="Shape 24"/>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FFFFFF">
              <a:alpha val="0"/>
            </a:srgbClr>
          </a:solidFill>
          <a:ln/>
        </p:spPr>
      </p:sp>
      <p:sp>
        <p:nvSpPr>
          <p:cNvPr id="33" name="Text 25"/>
          <p:cNvSpPr/>
          <p:nvPr/>
        </p:nvSpPr>
        <p:spPr>
          <a:xfrm>
            <a:off x="6052785" y="1736990"/>
            <a:ext cx="3091215" cy="1016499"/>
          </a:xfrm>
          <a:prstGeom prst="rect">
            <a:avLst/>
          </a:prstGeom>
          <a:noFill/>
          <a:ln/>
        </p:spPr>
        <p:txBody>
          <a:bodyPr wrap="square" rtlCol="0" anchor="t"/>
          <a:lstStyle/>
          <a:p>
            <a:pPr indent="0" marL="0">
              <a:spcBef>
                <a:spcPts val="375"/>
              </a:spcBef>
              <a:buNone/>
            </a:pPr>
            <a:endParaRPr lang="en-US" sz="1050" dirty="0"/>
          </a:p>
        </p:txBody>
      </p:sp>
      <p:sp>
        <p:nvSpPr>
          <p:cNvPr id="34" name="Shape 26"/>
          <p:cNvSpPr/>
          <p:nvPr/>
        </p:nvSpPr>
        <p:spPr>
          <a:xfrm>
            <a:off x="6052785" y="1736990"/>
            <a:ext cx="3091215" cy="1016499"/>
          </a:xfrm>
          <a:custGeom>
            <a:avLst/>
            <a:gdLst/>
            <a:ahLst/>
            <a:cxnLst/>
            <a:rect l="l" t="t" r="r" b="b"/>
            <a:pathLst>
              <a:path w="3091215" h="1016499">
                <a:moveTo>
                  <a:pt x="0" y="0"/>
                </a:moveTo>
                <a:lnTo>
                  <a:pt x="3091215" y="0"/>
                </a:lnTo>
                <a:lnTo>
                  <a:pt x="3091215" y="1016499"/>
                </a:lnTo>
                <a:lnTo>
                  <a:pt x="0" y="1016499"/>
                </a:lnTo>
                <a:close/>
              </a:path>
            </a:pathLst>
          </a:custGeom>
          <a:solidFill>
            <a:srgbClr val="000000">
              <a:alpha val="0"/>
            </a:srgbClr>
          </a:solidFill>
          <a:ln/>
        </p:spPr>
      </p:sp>
      <p:sp>
        <p:nvSpPr>
          <p:cNvPr id="35" name="Text 27"/>
          <p:cNvSpPr/>
          <p:nvPr/>
        </p:nvSpPr>
        <p:spPr>
          <a:xfrm>
            <a:off x="6052785" y="1736990"/>
            <a:ext cx="3091215" cy="101649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Nerv tizimi o'smalari, nerv hujayralaridan kelib chiqadigan o'smalardir. Ular ko'plab xilma-xil turlarga ega bo'lib, benign (yaxshi) va malign (yomon) o'smalarni o'z ichiga oladi. Ushbu o'smalar asab tizimining turli qismlarida joylashishi mumkin.</a:t>
            </a:r>
            <a:endParaRPr lang="en-US" sz="1050" dirty="0"/>
          </a:p>
        </p:txBody>
      </p:sp>
      <p:sp>
        <p:nvSpPr>
          <p:cNvPr id="36" name="Shape 28"/>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FFFFFF">
              <a:alpha val="0"/>
            </a:srgbClr>
          </a:solidFill>
          <a:ln/>
        </p:spPr>
      </p:sp>
      <p:sp>
        <p:nvSpPr>
          <p:cNvPr id="37" name="Text 29"/>
          <p:cNvSpPr/>
          <p:nvPr/>
        </p:nvSpPr>
        <p:spPr>
          <a:xfrm>
            <a:off x="6052785" y="2753489"/>
            <a:ext cx="3091215" cy="910439"/>
          </a:xfrm>
          <a:prstGeom prst="rect">
            <a:avLst/>
          </a:prstGeom>
          <a:noFill/>
          <a:ln/>
        </p:spPr>
        <p:txBody>
          <a:bodyPr wrap="square" rtlCol="0" anchor="t"/>
          <a:lstStyle/>
          <a:p>
            <a:pPr indent="0" marL="0">
              <a:spcBef>
                <a:spcPts val="375"/>
              </a:spcBef>
              <a:buNone/>
            </a:pPr>
            <a:endParaRPr lang="en-US" sz="1050" dirty="0"/>
          </a:p>
        </p:txBody>
      </p:sp>
      <p:sp>
        <p:nvSpPr>
          <p:cNvPr id="38" name="Shape 30"/>
          <p:cNvSpPr/>
          <p:nvPr/>
        </p:nvSpPr>
        <p:spPr>
          <a:xfrm>
            <a:off x="6052785" y="2753489"/>
            <a:ext cx="3091215" cy="910439"/>
          </a:xfrm>
          <a:custGeom>
            <a:avLst/>
            <a:gdLst/>
            <a:ahLst/>
            <a:cxnLst/>
            <a:rect l="l" t="t" r="r" b="b"/>
            <a:pathLst>
              <a:path w="3091215" h="910439">
                <a:moveTo>
                  <a:pt x="0" y="0"/>
                </a:moveTo>
                <a:lnTo>
                  <a:pt x="3091215" y="0"/>
                </a:lnTo>
                <a:lnTo>
                  <a:pt x="3091215" y="910439"/>
                </a:lnTo>
                <a:lnTo>
                  <a:pt x="0" y="910439"/>
                </a:lnTo>
                <a:close/>
              </a:path>
            </a:pathLst>
          </a:custGeom>
          <a:solidFill>
            <a:srgbClr val="000000">
              <a:alpha val="0"/>
            </a:srgbClr>
          </a:solidFill>
          <a:ln/>
        </p:spPr>
      </p:sp>
      <p:sp>
        <p:nvSpPr>
          <p:cNvPr id="39" name="Text 31"/>
          <p:cNvSpPr/>
          <p:nvPr/>
        </p:nvSpPr>
        <p:spPr>
          <a:xfrm>
            <a:off x="6052785" y="2753489"/>
            <a:ext cx="3091215" cy="910439"/>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O'smalar ko'pincha asab tizimining funktsiyasini buzadi, og'riq, harakat cheklovlari yoki boshqa nerv tizimi belgilarini keltirib chiqarishi mumkin. Diagnostika uchun ko'plab usullar, jumladan, tasvirlash va biopsiya usullari qo'llaniladi.</a:t>
            </a:r>
            <a:endParaRPr lang="en-US" sz="1050" dirty="0"/>
          </a:p>
        </p:txBody>
      </p:sp>
      <p:sp>
        <p:nvSpPr>
          <p:cNvPr id="40" name="Shape 32"/>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FFFFFF">
              <a:alpha val="0"/>
            </a:srgbClr>
          </a:solidFill>
          <a:ln/>
        </p:spPr>
      </p:sp>
      <p:sp>
        <p:nvSpPr>
          <p:cNvPr id="41" name="Text 33"/>
          <p:cNvSpPr/>
          <p:nvPr/>
        </p:nvSpPr>
        <p:spPr>
          <a:xfrm>
            <a:off x="6052785" y="3847022"/>
            <a:ext cx="3091215" cy="981843"/>
          </a:xfrm>
          <a:prstGeom prst="rect">
            <a:avLst/>
          </a:prstGeom>
          <a:noFill/>
          <a:ln/>
        </p:spPr>
        <p:txBody>
          <a:bodyPr wrap="square" rtlCol="0" anchor="t"/>
          <a:lstStyle/>
          <a:p>
            <a:pPr indent="0" marL="0">
              <a:spcBef>
                <a:spcPts val="375"/>
              </a:spcBef>
              <a:buNone/>
            </a:pPr>
            <a:endParaRPr lang="en-US" sz="1050" dirty="0"/>
          </a:p>
        </p:txBody>
      </p:sp>
      <p:sp>
        <p:nvSpPr>
          <p:cNvPr id="42" name="Shape 34"/>
          <p:cNvSpPr/>
          <p:nvPr/>
        </p:nvSpPr>
        <p:spPr>
          <a:xfrm>
            <a:off x="6052785" y="3847022"/>
            <a:ext cx="3091215" cy="981843"/>
          </a:xfrm>
          <a:custGeom>
            <a:avLst/>
            <a:gdLst/>
            <a:ahLst/>
            <a:cxnLst/>
            <a:rect l="l" t="t" r="r" b="b"/>
            <a:pathLst>
              <a:path w="3091215" h="981843">
                <a:moveTo>
                  <a:pt x="0" y="0"/>
                </a:moveTo>
                <a:lnTo>
                  <a:pt x="3091215" y="0"/>
                </a:lnTo>
                <a:lnTo>
                  <a:pt x="3091215" y="981843"/>
                </a:lnTo>
                <a:lnTo>
                  <a:pt x="0" y="981843"/>
                </a:lnTo>
                <a:close/>
              </a:path>
            </a:pathLst>
          </a:custGeom>
          <a:solidFill>
            <a:srgbClr val="000000">
              <a:alpha val="0"/>
            </a:srgbClr>
          </a:solidFill>
          <a:ln/>
        </p:spPr>
      </p:sp>
      <p:sp>
        <p:nvSpPr>
          <p:cNvPr id="43" name="Text 35"/>
          <p:cNvSpPr/>
          <p:nvPr/>
        </p:nvSpPr>
        <p:spPr>
          <a:xfrm>
            <a:off x="6052785" y="3847022"/>
            <a:ext cx="3091215" cy="981843"/>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Tuzilishiga qarab, nerv tizimi o'smalarini davolashda jarrohlik, radiatsiya terapiyasi yoki kimyoviy terapiya qo'llanilishi mumkin. Har bir holat individual tarzda baholanadi va mos davolash rejalashtiriladi.</a:t>
            </a:r>
            <a:endParaRPr lang="en-US" sz="1050" dirty="0"/>
          </a:p>
        </p:txBody>
      </p:sp>
      <p:pic>
        <p:nvPicPr>
          <p:cNvPr id="44" name="Image 6" descr="./images\slide14_img123.png">    </p:cNvPr>
          <p:cNvPicPr>
            <a:picLocks noChangeAspect="1"/>
          </p:cNvPicPr>
          <p:nvPr/>
        </p:nvPicPr>
        <p:blipFill>
          <a:blip r:embed="rId7"/>
          <a:stretch>
            <a:fillRect/>
          </a:stretch>
        </p:blipFill>
        <p:spPr>
          <a:xfrm rot="-780000">
            <a:off x="-308256" y="617196"/>
            <a:ext cx="1713253" cy="20574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1F1F1"/>
        </a:solidFill>
      </p:bgPr>
    </p:bg>
    <p:spTree>
      <p:nvGrpSpPr>
        <p:cNvPr id="1" name=""/>
        <p:cNvGrpSpPr/>
        <p:nvPr/>
      </p:nvGrpSpPr>
      <p:grpSpPr>
        <a:xfrm>
          <a:off x="0" y="0"/>
          <a:ext cx="0" cy="0"/>
          <a:chOff x="0" y="0"/>
          <a:chExt cx="0" cy="0"/>
        </a:xfrm>
      </p:grpSpPr>
      <p:pic>
        <p:nvPicPr>
          <p:cNvPr id="2" name="Image 0" descr="./images\slide15_img124.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5_img125.jpeg">    </p:cNvPr>
          <p:cNvPicPr>
            <a:picLocks noChangeAspect="1"/>
          </p:cNvPicPr>
          <p:nvPr/>
        </p:nvPicPr>
        <p:blipFill>
          <a:blip r:embed="rId2"/>
          <a:srcRect l="0" r="45747" t="4269" b="81232"/>
          <a:stretch/>
        </p:blipFill>
        <p:spPr>
          <a:xfrm>
            <a:off x="0" y="0"/>
            <a:ext cx="8778240" cy="1797420"/>
          </a:xfrm>
          <a:prstGeom prst="rect">
            <a:avLst/>
          </a:prstGeom>
        </p:spPr>
      </p:pic>
      <p:sp>
        <p:nvSpPr>
          <p:cNvPr id="4" name="Shape 0"/>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FFFFFF">
              <a:alpha val="0"/>
            </a:srgbClr>
          </a:solidFill>
          <a:ln/>
        </p:spPr>
      </p:sp>
      <p:sp>
        <p:nvSpPr>
          <p:cNvPr id="5" name="Text 1"/>
          <p:cNvSpPr/>
          <p:nvPr/>
        </p:nvSpPr>
        <p:spPr>
          <a:xfrm>
            <a:off x="614136" y="2207981"/>
            <a:ext cx="7826859" cy="552450"/>
          </a:xfrm>
          <a:prstGeom prst="rect">
            <a:avLst/>
          </a:prstGeom>
          <a:noFill/>
          <a:ln/>
        </p:spPr>
        <p:txBody>
          <a:bodyPr wrap="square" rtlCol="0" anchor="t"/>
          <a:lstStyle/>
          <a:p>
            <a:pPr indent="0" marL="0">
              <a:spcBef>
                <a:spcPts val="375"/>
              </a:spcBef>
              <a:buNone/>
            </a:pPr>
            <a:endParaRPr lang="en-US" sz="1050" dirty="0"/>
          </a:p>
        </p:txBody>
      </p:sp>
      <p:sp>
        <p:nvSpPr>
          <p:cNvPr id="6" name="Shape 2"/>
          <p:cNvSpPr/>
          <p:nvPr/>
        </p:nvSpPr>
        <p:spPr>
          <a:xfrm>
            <a:off x="614136" y="2207981"/>
            <a:ext cx="7826859" cy="552450"/>
          </a:xfrm>
          <a:custGeom>
            <a:avLst/>
            <a:gdLst/>
            <a:ahLst/>
            <a:cxnLst/>
            <a:rect l="l" t="t" r="r" b="b"/>
            <a:pathLst>
              <a:path w="7826859" h="552450">
                <a:moveTo>
                  <a:pt x="0" y="0"/>
                </a:moveTo>
                <a:lnTo>
                  <a:pt x="7826859" y="0"/>
                </a:lnTo>
                <a:lnTo>
                  <a:pt x="7826859" y="552450"/>
                </a:lnTo>
                <a:lnTo>
                  <a:pt x="0" y="552450"/>
                </a:lnTo>
                <a:close/>
              </a:path>
            </a:pathLst>
          </a:custGeom>
          <a:solidFill>
            <a:srgbClr val="000000">
              <a:alpha val="0"/>
            </a:srgbClr>
          </a:solidFill>
          <a:ln/>
        </p:spPr>
      </p:sp>
      <p:sp>
        <p:nvSpPr>
          <p:cNvPr id="7" name="Text 3"/>
          <p:cNvSpPr/>
          <p:nvPr/>
        </p:nvSpPr>
        <p:spPr>
          <a:xfrm>
            <a:off x="614136" y="2207981"/>
            <a:ext cx="7826859" cy="5524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Xulosa</a:t>
            </a:r>
            <a:endParaRPr lang="en-US" sz="1050" dirty="0"/>
          </a:p>
        </p:txBody>
      </p:sp>
      <p:sp>
        <p:nvSpPr>
          <p:cNvPr id="8" name="Shape 4"/>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FFFFFF">
              <a:alpha val="0"/>
            </a:srgbClr>
          </a:solidFill>
          <a:ln/>
        </p:spPr>
      </p:sp>
      <p:sp>
        <p:nvSpPr>
          <p:cNvPr id="9" name="Text 5"/>
          <p:cNvSpPr/>
          <p:nvPr/>
        </p:nvSpPr>
        <p:spPr>
          <a:xfrm>
            <a:off x="661391" y="2684231"/>
            <a:ext cx="7779603" cy="2159198"/>
          </a:xfrm>
          <a:prstGeom prst="rect">
            <a:avLst/>
          </a:prstGeom>
          <a:noFill/>
          <a:ln/>
        </p:spPr>
        <p:txBody>
          <a:bodyPr wrap="square" rtlCol="0" anchor="t"/>
          <a:lstStyle/>
          <a:p>
            <a:pPr indent="0" marL="0">
              <a:spcBef>
                <a:spcPts val="375"/>
              </a:spcBef>
              <a:buNone/>
            </a:pPr>
            <a:endParaRPr lang="en-US" sz="1050" dirty="0"/>
          </a:p>
        </p:txBody>
      </p:sp>
      <p:sp>
        <p:nvSpPr>
          <p:cNvPr id="10" name="Shape 6"/>
          <p:cNvSpPr/>
          <p:nvPr/>
        </p:nvSpPr>
        <p:spPr>
          <a:xfrm>
            <a:off x="661391" y="2684231"/>
            <a:ext cx="7779603" cy="2159198"/>
          </a:xfrm>
          <a:custGeom>
            <a:avLst/>
            <a:gdLst/>
            <a:ahLst/>
            <a:cxnLst/>
            <a:rect l="l" t="t" r="r" b="b"/>
            <a:pathLst>
              <a:path w="7779603" h="2159198">
                <a:moveTo>
                  <a:pt x="0" y="0"/>
                </a:moveTo>
                <a:lnTo>
                  <a:pt x="7779603" y="0"/>
                </a:lnTo>
                <a:lnTo>
                  <a:pt x="7779603" y="2159198"/>
                </a:lnTo>
                <a:lnTo>
                  <a:pt x="0" y="2159198"/>
                </a:lnTo>
                <a:close/>
              </a:path>
            </a:pathLst>
          </a:custGeom>
          <a:solidFill>
            <a:srgbClr val="000000">
              <a:alpha val="0"/>
            </a:srgbClr>
          </a:solidFill>
          <a:ln/>
        </p:spPr>
      </p:sp>
      <p:sp>
        <p:nvSpPr>
          <p:cNvPr id="11" name="Text 7"/>
          <p:cNvSpPr/>
          <p:nvPr/>
        </p:nvSpPr>
        <p:spPr>
          <a:xfrm>
            <a:off x="661391" y="2684231"/>
            <a:ext cx="7779603" cy="2159198"/>
          </a:xfrm>
          <a:prstGeom prst="rect">
            <a:avLst/>
          </a:prstGeom>
          <a:noFill/>
          <a:ln/>
        </p:spPr>
        <p:txBody>
          <a:bodyPr wrap="square" rtlCol="0" anchor="t"/>
          <a:lstStyle/>
          <a:p>
            <a:pPr algn="l" indent="0" marL="0">
              <a:spcBef>
                <a:spcPts val="375"/>
              </a:spcBef>
              <a:buNone/>
            </a:pPr>
            <a:r>
              <a:rPr lang="en-US" sz="975" dirty="0">
                <a:solidFill>
                  <a:srgbClr val="000000"/>
                </a:solidFill>
                <a:latin typeface="Nunito" pitchFamily="34" charset="0"/>
                <a:ea typeface="Nunito" pitchFamily="34" charset="-122"/>
                <a:cs typeface="Nunito" pitchFamily="34" charset="-120"/>
              </a:rPr>
              <a:t>Konsultatsiya jarayoni sizning muammolaringizni hal qilishda yordam berishi mumkin. Biz sizga sohalar bo'yicha mutaxassislar bilan bog'lanib, kerakli ma'lumotlarni taqdim etamiz. Har bir konsultatsiya individual ravishda amalga oshiriladi va sizning ehtiyojlaringizga mos keladi. Bizning maqsadimiz - sizga eng yaxshi yechimlarni taqdim etishdir.</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a:p>
            <a:pPr algn="l" indent="0" marL="0">
              <a:spcBef>
                <a:spcPts val="375"/>
              </a:spcBef>
              <a:buNone/>
            </a:pPr>
            <a:r>
              <a:rPr lang="en-US" sz="1800" dirty="0">
                <a:solidFill>
                  <a:srgbClr val="333333"/>
                </a:solidFill>
                <a:latin typeface="Calibri" pitchFamily="34" charset="0"/>
                <a:ea typeface="Calibri" pitchFamily="34" charset="-122"/>
                <a:cs typeface="Calibri" pitchFamily="34" charset="-120"/>
              </a:rPr>
              <a:t> </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1F1F1"/>
        </a:solidFill>
      </p:bgPr>
    </p:bg>
    <p:spTree>
      <p:nvGrpSpPr>
        <p:cNvPr id="1" name=""/>
        <p:cNvGrpSpPr/>
        <p:nvPr/>
      </p:nvGrpSpPr>
      <p:grpSpPr>
        <a:xfrm>
          <a:off x="0" y="0"/>
          <a:ext cx="0" cy="0"/>
          <a:chOff x="0" y="0"/>
          <a:chExt cx="0" cy="0"/>
        </a:xfrm>
      </p:grpSpPr>
      <p:pic>
        <p:nvPicPr>
          <p:cNvPr id="2" name="Image 0" descr="./images\slide16_img126.png">    </p:cNvPr>
          <p:cNvPicPr>
            <a:picLocks noChangeAspect="1"/>
          </p:cNvPicPr>
          <p:nvPr/>
        </p:nvPicPr>
        <p:blipFill>
          <a:blip r:embed="rId1"/>
          <a:stretch>
            <a:fillRect/>
          </a:stretch>
        </p:blipFill>
        <p:spPr>
          <a:xfrm>
            <a:off x="0" y="0"/>
            <a:ext cx="9144000" cy="5143500"/>
          </a:xfrm>
          <a:prstGeom prst="rect">
            <a:avLst/>
          </a:prstGeom>
        </p:spPr>
      </p:pic>
      <p:pic>
        <p:nvPicPr>
          <p:cNvPr id="3" name="Image 1" descr="./images\slide16_img127.png">    </p:cNvPr>
          <p:cNvPicPr>
            <a:picLocks noChangeAspect="1"/>
          </p:cNvPicPr>
          <p:nvPr/>
        </p:nvPicPr>
        <p:blipFill>
          <a:blip r:embed="rId2"/>
          <a:stretch>
            <a:fillRect/>
          </a:stretch>
        </p:blipFill>
        <p:spPr>
          <a:xfrm>
            <a:off x="514350" y="469150"/>
            <a:ext cx="8115300" cy="4205201"/>
          </a:xfrm>
          <a:prstGeom prst="rect">
            <a:avLst/>
          </a:prstGeom>
        </p:spPr>
      </p:pic>
      <p:pic>
        <p:nvPicPr>
          <p:cNvPr id="4" name="Image 2" descr="./images\slide16_img128.png">    </p:cNvPr>
          <p:cNvPicPr>
            <a:picLocks noChangeAspect="1"/>
          </p:cNvPicPr>
          <p:nvPr/>
        </p:nvPicPr>
        <p:blipFill>
          <a:blip r:embed="rId3"/>
          <a:stretch>
            <a:fillRect/>
          </a:stretch>
        </p:blipFill>
        <p:spPr>
          <a:xfrm>
            <a:off x="3212221" y="3000774"/>
            <a:ext cx="2719558" cy="442634"/>
          </a:xfrm>
          <a:prstGeom prst="rect">
            <a:avLst/>
          </a:prstGeom>
        </p:spPr>
      </p:pic>
      <p:sp>
        <p:nvSpPr>
          <p:cNvPr id="5" name="Shape 0"/>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FFFFFF">
              <a:alpha val="0"/>
            </a:srgbClr>
          </a:solidFill>
          <a:ln/>
        </p:spPr>
      </p:sp>
      <p:sp>
        <p:nvSpPr>
          <p:cNvPr id="6" name="Text 1"/>
          <p:cNvSpPr/>
          <p:nvPr/>
        </p:nvSpPr>
        <p:spPr>
          <a:xfrm>
            <a:off x="3212221" y="3000774"/>
            <a:ext cx="2719558" cy="442634"/>
          </a:xfrm>
          <a:prstGeom prst="rect">
            <a:avLst/>
          </a:prstGeom>
          <a:noFill/>
          <a:ln/>
        </p:spPr>
        <p:txBody>
          <a:bodyPr wrap="square" rtlCol="0" anchor="t"/>
          <a:lstStyle/>
          <a:p>
            <a:pPr indent="0" marL="0">
              <a:spcBef>
                <a:spcPts val="375"/>
              </a:spcBef>
              <a:buNone/>
            </a:pPr>
            <a:endParaRPr lang="en-US" sz="1050" dirty="0"/>
          </a:p>
        </p:txBody>
      </p:sp>
      <p:sp>
        <p:nvSpPr>
          <p:cNvPr id="7" name="Shape 2"/>
          <p:cNvSpPr/>
          <p:nvPr/>
        </p:nvSpPr>
        <p:spPr>
          <a:xfrm>
            <a:off x="3212221" y="3000774"/>
            <a:ext cx="2719558" cy="442634"/>
          </a:xfrm>
          <a:custGeom>
            <a:avLst/>
            <a:gdLst/>
            <a:ahLst/>
            <a:cxnLst/>
            <a:rect l="l" t="t" r="r" b="b"/>
            <a:pathLst>
              <a:path w="2719558" h="442634">
                <a:moveTo>
                  <a:pt x="0" y="0"/>
                </a:moveTo>
                <a:lnTo>
                  <a:pt x="2719558" y="0"/>
                </a:lnTo>
                <a:lnTo>
                  <a:pt x="2719558" y="442634"/>
                </a:lnTo>
                <a:lnTo>
                  <a:pt x="0" y="442634"/>
                </a:lnTo>
                <a:close/>
              </a:path>
            </a:pathLst>
          </a:custGeom>
          <a:solidFill>
            <a:srgbClr val="000000">
              <a:alpha val="0"/>
            </a:srgbClr>
          </a:solidFill>
          <a:ln/>
        </p:spPr>
      </p:sp>
      <p:sp>
        <p:nvSpPr>
          <p:cNvPr id="8" name="Text 3"/>
          <p:cNvSpPr/>
          <p:nvPr/>
        </p:nvSpPr>
        <p:spPr>
          <a:xfrm>
            <a:off x="3212221" y="3000774"/>
            <a:ext cx="2719558" cy="442634"/>
          </a:xfrm>
          <a:prstGeom prst="rect">
            <a:avLst/>
          </a:prstGeom>
          <a:noFill/>
          <a:ln/>
        </p:spPr>
        <p:txBody>
          <a:bodyPr wrap="square" rtlCol="0" anchor="t"/>
          <a:lstStyle/>
          <a:p>
            <a:pPr algn="l" indent="0" marL="0">
              <a:spcBef>
                <a:spcPts val="375"/>
              </a:spcBef>
              <a:buNone/>
            </a:pPr>
            <a:r>
              <a:rPr lang="en-US" sz="1800" dirty="0">
                <a:solidFill>
                  <a:srgbClr val="000000"/>
                </a:solidFill>
                <a:latin typeface="Calibri" pitchFamily="34" charset="0"/>
                <a:ea typeface="Calibri" pitchFamily="34" charset="-122"/>
                <a:cs typeface="Calibri" pitchFamily="34" charset="-120"/>
              </a:rPr>
              <a:t> </a:t>
            </a:r>
            <a:endParaRPr lang="en-US" sz="1050" dirty="0"/>
          </a:p>
        </p:txBody>
      </p:sp>
      <p:pic>
        <p:nvPicPr>
          <p:cNvPr id="9" name="Image 3" descr="./images\slide16_img129.png">    </p:cNvPr>
          <p:cNvPicPr>
            <a:picLocks noChangeAspect="1"/>
          </p:cNvPicPr>
          <p:nvPr/>
        </p:nvPicPr>
        <p:blipFill>
          <a:blip r:embed="rId4"/>
          <a:stretch>
            <a:fillRect/>
          </a:stretch>
        </p:blipFill>
        <p:spPr>
          <a:xfrm>
            <a:off x="3212221" y="3000774"/>
            <a:ext cx="2719558" cy="442634"/>
          </a:xfrm>
          <a:prstGeom prst="rect">
            <a:avLst/>
          </a:prstGeom>
        </p:spPr>
      </p:pic>
      <p:sp>
        <p:nvSpPr>
          <p:cNvPr id="10" name="Shape 4"/>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FFFFFF">
              <a:alpha val="0"/>
            </a:srgbClr>
          </a:solidFill>
          <a:ln/>
        </p:spPr>
      </p:sp>
      <p:sp>
        <p:nvSpPr>
          <p:cNvPr id="11" name="Text 5"/>
          <p:cNvSpPr/>
          <p:nvPr/>
        </p:nvSpPr>
        <p:spPr>
          <a:xfrm>
            <a:off x="561975" y="783461"/>
            <a:ext cx="8115300" cy="476250"/>
          </a:xfrm>
          <a:prstGeom prst="rect">
            <a:avLst/>
          </a:prstGeom>
          <a:noFill/>
          <a:ln/>
        </p:spPr>
        <p:txBody>
          <a:bodyPr wrap="square" rtlCol="0" anchor="t"/>
          <a:lstStyle/>
          <a:p>
            <a:pPr indent="0" marL="0">
              <a:spcBef>
                <a:spcPts val="375"/>
              </a:spcBef>
              <a:buNone/>
            </a:pPr>
            <a:endParaRPr lang="en-US" sz="1050" dirty="0"/>
          </a:p>
        </p:txBody>
      </p:sp>
      <p:sp>
        <p:nvSpPr>
          <p:cNvPr id="12" name="Shape 6"/>
          <p:cNvSpPr/>
          <p:nvPr/>
        </p:nvSpPr>
        <p:spPr>
          <a:xfrm>
            <a:off x="561975" y="783461"/>
            <a:ext cx="8115300" cy="476250"/>
          </a:xfrm>
          <a:custGeom>
            <a:avLst/>
            <a:gdLst/>
            <a:ahLst/>
            <a:cxnLst/>
            <a:rect l="l" t="t" r="r" b="b"/>
            <a:pathLst>
              <a:path w="8115300" h="476250">
                <a:moveTo>
                  <a:pt x="0" y="0"/>
                </a:moveTo>
                <a:lnTo>
                  <a:pt x="8115300" y="0"/>
                </a:lnTo>
                <a:lnTo>
                  <a:pt x="8115300" y="476250"/>
                </a:lnTo>
                <a:lnTo>
                  <a:pt x="0" y="476250"/>
                </a:lnTo>
                <a:close/>
              </a:path>
            </a:pathLst>
          </a:custGeom>
          <a:solidFill>
            <a:srgbClr val="000000">
              <a:alpha val="0"/>
            </a:srgbClr>
          </a:solidFill>
          <a:ln/>
        </p:spPr>
      </p:sp>
      <p:sp>
        <p:nvSpPr>
          <p:cNvPr id="13" name="Text 7"/>
          <p:cNvSpPr/>
          <p:nvPr/>
        </p:nvSpPr>
        <p:spPr>
          <a:xfrm>
            <a:off x="561975" y="783461"/>
            <a:ext cx="8115300" cy="476250"/>
          </a:xfrm>
          <a:prstGeom prst="rect">
            <a:avLst/>
          </a:prstGeom>
          <a:noFill/>
          <a:ln/>
        </p:spPr>
        <p:txBody>
          <a:bodyPr wrap="square" rtlCol="0" anchor="t"/>
          <a:lstStyle/>
          <a:p>
            <a:pPr algn="ctr" indent="0" marL="0">
              <a:spcBef>
                <a:spcPts val="375"/>
              </a:spcBef>
              <a:buNone/>
            </a:pPr>
            <a:r>
              <a:rPr lang="en-US" sz="1800" dirty="0">
                <a:solidFill>
                  <a:srgbClr val="333333"/>
                </a:solidFill>
                <a:latin typeface="微软雅黑" pitchFamily="34" charset="0"/>
                <a:ea typeface="微软雅黑" pitchFamily="34" charset="-122"/>
                <a:cs typeface="微软雅黑" pitchFamily="34" charset="-120"/>
              </a:rPr>
              <a:t>Foydalanilgan adabiyotlar</a:t>
            </a:r>
            <a:endParaRPr lang="en-US" sz="1050" dirty="0"/>
          </a:p>
        </p:txBody>
      </p:sp>
      <p:sp>
        <p:nvSpPr>
          <p:cNvPr id="14" name="Shape 8"/>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FFFFFF">
              <a:alpha val="0"/>
            </a:srgbClr>
          </a:solidFill>
          <a:ln/>
        </p:spPr>
      </p:sp>
      <p:sp>
        <p:nvSpPr>
          <p:cNvPr id="15" name="Text 9"/>
          <p:cNvSpPr/>
          <p:nvPr/>
        </p:nvSpPr>
        <p:spPr>
          <a:xfrm>
            <a:off x="561975" y="1307657"/>
            <a:ext cx="8115300" cy="2883502"/>
          </a:xfrm>
          <a:prstGeom prst="rect">
            <a:avLst/>
          </a:prstGeom>
          <a:noFill/>
          <a:ln/>
        </p:spPr>
        <p:txBody>
          <a:bodyPr wrap="square" rtlCol="0" anchor="t"/>
          <a:lstStyle/>
          <a:p>
            <a:pPr indent="0" marL="0">
              <a:spcBef>
                <a:spcPts val="375"/>
              </a:spcBef>
              <a:buNone/>
            </a:pPr>
            <a:endParaRPr lang="en-US" sz="1050" dirty="0"/>
          </a:p>
        </p:txBody>
      </p:sp>
      <p:sp>
        <p:nvSpPr>
          <p:cNvPr id="16" name="Shape 10"/>
          <p:cNvSpPr/>
          <p:nvPr/>
        </p:nvSpPr>
        <p:spPr>
          <a:xfrm>
            <a:off x="561975" y="1307657"/>
            <a:ext cx="8115300" cy="2883502"/>
          </a:xfrm>
          <a:custGeom>
            <a:avLst/>
            <a:gdLst/>
            <a:ahLst/>
            <a:cxnLst/>
            <a:rect l="l" t="t" r="r" b="b"/>
            <a:pathLst>
              <a:path w="8115300" h="2883502">
                <a:moveTo>
                  <a:pt x="0" y="0"/>
                </a:moveTo>
                <a:lnTo>
                  <a:pt x="8115300" y="0"/>
                </a:lnTo>
                <a:lnTo>
                  <a:pt x="8115300" y="2883502"/>
                </a:lnTo>
                <a:lnTo>
                  <a:pt x="0" y="2883502"/>
                </a:lnTo>
                <a:close/>
              </a:path>
            </a:pathLst>
          </a:custGeom>
          <a:solidFill>
            <a:srgbClr val="000000">
              <a:alpha val="0"/>
            </a:srgbClr>
          </a:solidFill>
          <a:ln/>
        </p:spPr>
      </p:sp>
      <p:sp>
        <p:nvSpPr>
          <p:cNvPr id="17" name="Text 11"/>
          <p:cNvSpPr/>
          <p:nvPr/>
        </p:nvSpPr>
        <p:spPr>
          <a:xfrm>
            <a:off x="561975" y="1307657"/>
            <a:ext cx="8115300" cy="2883502"/>
          </a:xfrm>
          <a:prstGeom prst="rect">
            <a:avLst/>
          </a:prstGeom>
          <a:noFill/>
          <a:ln/>
        </p:spPr>
        <p:txBody>
          <a:bodyPr wrap="square" rtlCol="0" anchor="t"/>
          <a:lstStyle/>
          <a:p>
            <a:pPr algn="l" indent="0" marL="0">
              <a:spcBef>
                <a:spcPts val="375"/>
              </a:spcBef>
              <a:buNone/>
            </a:pPr>
            <a:r>
              <a:rPr lang="en-US" sz="1350" dirty="0">
                <a:solidFill>
                  <a:srgbClr val="333333"/>
                </a:solidFill>
                <a:latin typeface="微软雅黑" pitchFamily="34" charset="0"/>
                <a:ea typeface="微软雅黑" pitchFamily="34" charset="-122"/>
                <a:cs typeface="微软雅黑" pitchFamily="34" charset="-120"/>
              </a:rPr>
              <a:t>1. O‘zbekiston Respublikasi qonunlari2. O‘zbekiston ta’lim standartlari3. Mahalliy va xalqaro ilmiy maqolalar4. O‘zbekiston Respublikasi Prezidentining farmonlari5. O‘zbekiston Respublikasi Moliya vazirligining hisobotlari</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1F1F1"/>
        </a:solidFill>
      </p:bgPr>
    </p:bg>
    <p:spTree>
      <p:nvGrpSpPr>
        <p:cNvPr id="1" name=""/>
        <p:cNvGrpSpPr/>
        <p:nvPr/>
      </p:nvGrpSpPr>
      <p:grpSpPr>
        <a:xfrm>
          <a:off x="0" y="0"/>
          <a:ext cx="0" cy="0"/>
          <a:chOff x="0" y="0"/>
          <a:chExt cx="0" cy="0"/>
        </a:xfrm>
      </p:grpSpPr>
      <p:pic>
        <p:nvPicPr>
          <p:cNvPr id="2" name="Image 0" descr="./images\slide17_img130.pn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FFFFFF">
              <a:alpha val="0"/>
            </a:srgbClr>
          </a:solidFill>
          <a:ln/>
        </p:spPr>
      </p:sp>
      <p:sp>
        <p:nvSpPr>
          <p:cNvPr id="4" name="Text 1"/>
          <p:cNvSpPr/>
          <p:nvPr/>
        </p:nvSpPr>
        <p:spPr>
          <a:xfrm>
            <a:off x="443466" y="2047554"/>
            <a:ext cx="8115300" cy="666750"/>
          </a:xfrm>
          <a:prstGeom prst="rect">
            <a:avLst/>
          </a:prstGeom>
          <a:noFill/>
          <a:ln/>
        </p:spPr>
        <p:txBody>
          <a:bodyPr wrap="square" rtlCol="0" anchor="t"/>
          <a:lstStyle/>
          <a:p>
            <a:pPr indent="0" marL="0">
              <a:spcBef>
                <a:spcPts val="375"/>
              </a:spcBef>
              <a:buNone/>
            </a:pPr>
            <a:endParaRPr lang="en-US" sz="1050" dirty="0"/>
          </a:p>
        </p:txBody>
      </p:sp>
      <p:sp>
        <p:nvSpPr>
          <p:cNvPr id="5" name="Shape 2"/>
          <p:cNvSpPr/>
          <p:nvPr/>
        </p:nvSpPr>
        <p:spPr>
          <a:xfrm>
            <a:off x="443466" y="2047554"/>
            <a:ext cx="8115300" cy="666750"/>
          </a:xfrm>
          <a:custGeom>
            <a:avLst/>
            <a:gdLst/>
            <a:ahLst/>
            <a:cxnLst/>
            <a:rect l="l" t="t" r="r" b="b"/>
            <a:pathLst>
              <a:path w="8115300" h="666750">
                <a:moveTo>
                  <a:pt x="0" y="0"/>
                </a:moveTo>
                <a:lnTo>
                  <a:pt x="8115300" y="0"/>
                </a:lnTo>
                <a:lnTo>
                  <a:pt x="8115300" y="666750"/>
                </a:lnTo>
                <a:lnTo>
                  <a:pt x="0" y="666750"/>
                </a:lnTo>
                <a:close/>
              </a:path>
            </a:pathLst>
          </a:custGeom>
          <a:solidFill>
            <a:srgbClr val="000000">
              <a:alpha val="0"/>
            </a:srgbClr>
          </a:solidFill>
          <a:ln/>
        </p:spPr>
      </p:sp>
      <p:sp>
        <p:nvSpPr>
          <p:cNvPr id="6" name="Text 3"/>
          <p:cNvSpPr/>
          <p:nvPr/>
        </p:nvSpPr>
        <p:spPr>
          <a:xfrm>
            <a:off x="443466" y="2047554"/>
            <a:ext cx="8115300" cy="666750"/>
          </a:xfrm>
          <a:prstGeom prst="rect">
            <a:avLst/>
          </a:prstGeom>
          <a:noFill/>
          <a:ln/>
        </p:spPr>
        <p:txBody>
          <a:bodyPr wrap="square" rtlCol="0" anchor="t"/>
          <a:lstStyle/>
          <a:p>
            <a:pPr algn="l" indent="0" marL="0">
              <a:spcBef>
                <a:spcPts val="375"/>
              </a:spcBef>
              <a:buNone/>
            </a:pPr>
            <a:r>
              <a:rPr lang="en-US" sz="4500" dirty="0">
                <a:solidFill>
                  <a:srgbClr val="333333"/>
                </a:solidFill>
                <a:latin typeface="微软雅黑" pitchFamily="34" charset="0"/>
                <a:ea typeface="微软雅黑" pitchFamily="34" charset="-122"/>
                <a:cs typeface="微软雅黑" pitchFamily="34" charset="-120"/>
              </a:rPr>
              <a:t>Etiboringiz uchun rahmat!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2025-10-03T07:14:28Z</dcterms:created>
  <dcterms:modified xsi:type="dcterms:W3CDTF">2025-10-03T07:14:28Z</dcterms:modified>
</cp:coreProperties>
</file>