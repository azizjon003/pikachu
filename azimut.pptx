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slideLayout" Target="../slideLayouts/slideLayout1.xml"/><Relationship Id="rId1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slideLayout" Target="../slideLayouts/slideLayout1.xml"/><Relationship Id="rId1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e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jpe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e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1F1F1"/>
        </a:solidFill>
      </p:bgPr>
    </p:bg>
    <p:spTree>
      <p:nvGrpSpPr>
        <p:cNvPr id="1" name=""/>
        <p:cNvGrpSpPr/>
        <p:nvPr/>
      </p:nvGrpSpPr>
      <p:grpSpPr>
        <a:xfrm>
          <a:off x="0" y="0"/>
          <a:ext cx="0" cy="0"/>
          <a:chOff x="0" y="0"/>
          <a:chExt cx="0" cy="0"/>
        </a:xfrm>
      </p:grpSpPr>
      <p:pic>
        <p:nvPicPr>
          <p:cNvPr id="2" name="Image 0" descr="./images\slide0_img1.png">    </p:cNvPr>
          <p:cNvPicPr>
            <a:picLocks noChangeAspect="1"/>
          </p:cNvPicPr>
          <p:nvPr/>
        </p:nvPicPr>
        <p:blipFill>
          <a:blip r:embed="rId1"/>
          <a:stretch>
            <a:fillRect/>
          </a:stretch>
        </p:blipFill>
        <p:spPr>
          <a:xfrm>
            <a:off x="-13825" y="0"/>
            <a:ext cx="9144000" cy="5143500"/>
          </a:xfrm>
          <a:prstGeom prst="rect">
            <a:avLst/>
          </a:prstGeom>
        </p:spPr>
      </p:pic>
      <p:pic>
        <p:nvPicPr>
          <p:cNvPr id="3" name="Image 1" descr="./images\slide0_img2.png">    </p:cNvPr>
          <p:cNvPicPr>
            <a:picLocks noChangeAspect="1"/>
          </p:cNvPicPr>
          <p:nvPr/>
        </p:nvPicPr>
        <p:blipFill>
          <a:blip r:embed="rId2"/>
          <a:srcRect l="0" r="54344" t="0" b="64852"/>
          <a:stretch/>
        </p:blipFill>
        <p:spPr>
          <a:xfrm>
            <a:off x="6811625" y="3366225"/>
            <a:ext cx="2239080" cy="1706184"/>
          </a:xfrm>
          <a:prstGeom prst="rect">
            <a:avLst/>
          </a:prstGeom>
        </p:spPr>
      </p:pic>
      <p:pic>
        <p:nvPicPr>
          <p:cNvPr id="4" name="Image 2" descr="./images\slide0_img3.png">    </p:cNvPr>
          <p:cNvPicPr>
            <a:picLocks noChangeAspect="1"/>
          </p:cNvPicPr>
          <p:nvPr/>
        </p:nvPicPr>
        <p:blipFill>
          <a:blip r:embed="rId3"/>
          <a:srcRect l="28690" r="44599" t="0" b="45747"/>
          <a:stretch/>
        </p:blipFill>
        <p:spPr>
          <a:xfrm>
            <a:off x="0" y="2383038"/>
            <a:ext cx="1519404" cy="2449260"/>
          </a:xfrm>
          <a:prstGeom prst="rect">
            <a:avLst/>
          </a:prstGeom>
        </p:spPr>
      </p:pic>
      <p:pic>
        <p:nvPicPr>
          <p:cNvPr id="5" name="Image 3" descr="./images\slide0_img4.png">    </p:cNvPr>
          <p:cNvPicPr>
            <a:picLocks noChangeAspect="1"/>
          </p:cNvPicPr>
          <p:nvPr/>
        </p:nvPicPr>
        <p:blipFill>
          <a:blip r:embed="rId4"/>
          <a:stretch>
            <a:fillRect/>
          </a:stretch>
        </p:blipFill>
        <p:spPr>
          <a:xfrm>
            <a:off x="1534262" y="1070510"/>
            <a:ext cx="6714398" cy="3340801"/>
          </a:xfrm>
          <a:prstGeom prst="rect">
            <a:avLst/>
          </a:prstGeom>
        </p:spPr>
      </p:pic>
      <p:sp>
        <p:nvSpPr>
          <p:cNvPr id="6" name="Shape 0"/>
          <p:cNvSpPr/>
          <p:nvPr/>
        </p:nvSpPr>
        <p:spPr>
          <a:xfrm>
            <a:off x="1601490" y="2144913"/>
            <a:ext cx="5913370" cy="381000"/>
          </a:xfrm>
          <a:custGeom>
            <a:avLst/>
            <a:gdLst/>
            <a:ahLst/>
            <a:cxnLst/>
            <a:rect l="l" t="t" r="r" b="b"/>
            <a:pathLst>
              <a:path w="5913370" h="381000">
                <a:moveTo>
                  <a:pt x="0" y="0"/>
                </a:moveTo>
                <a:lnTo>
                  <a:pt x="5913370" y="0"/>
                </a:lnTo>
                <a:lnTo>
                  <a:pt x="5913370" y="381000"/>
                </a:lnTo>
                <a:lnTo>
                  <a:pt x="0" y="381000"/>
                </a:lnTo>
                <a:close/>
              </a:path>
            </a:pathLst>
          </a:custGeom>
          <a:solidFill>
            <a:srgbClr val="FFFFFF">
              <a:alpha val="0"/>
            </a:srgbClr>
          </a:solidFill>
          <a:ln/>
        </p:spPr>
      </p:sp>
      <p:sp>
        <p:nvSpPr>
          <p:cNvPr id="7" name="Text 1"/>
          <p:cNvSpPr/>
          <p:nvPr/>
        </p:nvSpPr>
        <p:spPr>
          <a:xfrm>
            <a:off x="1601490" y="2144913"/>
            <a:ext cx="5913370" cy="381000"/>
          </a:xfrm>
          <a:prstGeom prst="rect">
            <a:avLst/>
          </a:prstGeom>
          <a:noFill/>
          <a:ln/>
        </p:spPr>
        <p:txBody>
          <a:bodyPr wrap="square" rtlCol="0" anchor="t"/>
          <a:lstStyle/>
          <a:p>
            <a:pPr indent="0" marL="0">
              <a:spcBef>
                <a:spcPts val="375"/>
              </a:spcBef>
              <a:buNone/>
            </a:pPr>
            <a:endParaRPr lang="en-US" sz="1050" dirty="0"/>
          </a:p>
        </p:txBody>
      </p:sp>
      <p:sp>
        <p:nvSpPr>
          <p:cNvPr id="8" name="Shape 2"/>
          <p:cNvSpPr/>
          <p:nvPr/>
        </p:nvSpPr>
        <p:spPr>
          <a:xfrm>
            <a:off x="1601490" y="2144913"/>
            <a:ext cx="5913370" cy="381000"/>
          </a:xfrm>
          <a:custGeom>
            <a:avLst/>
            <a:gdLst/>
            <a:ahLst/>
            <a:cxnLst/>
            <a:rect l="l" t="t" r="r" b="b"/>
            <a:pathLst>
              <a:path w="5913370" h="381000">
                <a:moveTo>
                  <a:pt x="0" y="0"/>
                </a:moveTo>
                <a:lnTo>
                  <a:pt x="5913370" y="0"/>
                </a:lnTo>
                <a:lnTo>
                  <a:pt x="5913370" y="381000"/>
                </a:lnTo>
                <a:lnTo>
                  <a:pt x="0" y="381000"/>
                </a:lnTo>
                <a:close/>
              </a:path>
            </a:pathLst>
          </a:custGeom>
          <a:solidFill>
            <a:srgbClr val="000000">
              <a:alpha val="0"/>
            </a:srgbClr>
          </a:solidFill>
          <a:ln/>
        </p:spPr>
      </p:sp>
      <p:sp>
        <p:nvSpPr>
          <p:cNvPr id="9" name="Text 3"/>
          <p:cNvSpPr/>
          <p:nvPr/>
        </p:nvSpPr>
        <p:spPr>
          <a:xfrm>
            <a:off x="1601490" y="2144913"/>
            <a:ext cx="5913370" cy="381000"/>
          </a:xfrm>
          <a:prstGeom prst="rect">
            <a:avLst/>
          </a:prstGeom>
          <a:noFill/>
          <a:ln/>
        </p:spPr>
        <p:txBody>
          <a:bodyPr wrap="square" rtlCol="0" anchor="t"/>
          <a:lstStyle/>
          <a:p>
            <a:pPr algn="ctr" indent="0" marL="0">
              <a:spcBef>
                <a:spcPts val="375"/>
              </a:spcBef>
              <a:buNone/>
            </a:pPr>
            <a:r>
              <a:rPr lang="en-US" sz="2250" dirty="0">
                <a:solidFill>
                  <a:srgbClr val="45464D"/>
                </a:solidFill>
                <a:latin typeface="Caveat Brush" pitchFamily="34" charset="0"/>
                <a:ea typeface="Caveat Brush" pitchFamily="34" charset="-122"/>
                <a:cs typeface="Caveat Brush" pitchFamily="34" charset="-120"/>
              </a:rPr>
              <a:t>Nerv tizimi o'smalari</a:t>
            </a:r>
            <a:endParaRPr lang="en-US" sz="1050" dirty="0"/>
          </a:p>
        </p:txBody>
      </p:sp>
      <p:pic>
        <p:nvPicPr>
          <p:cNvPr id="10" name="Image 4" descr="./images\slide0_img5.png">    </p:cNvPr>
          <p:cNvPicPr>
            <a:picLocks noChangeAspect="1"/>
          </p:cNvPicPr>
          <p:nvPr/>
        </p:nvPicPr>
        <p:blipFill>
          <a:blip r:embed="rId5"/>
          <a:stretch>
            <a:fillRect/>
          </a:stretch>
        </p:blipFill>
        <p:spPr>
          <a:xfrm rot="-840000">
            <a:off x="239914" y="146018"/>
            <a:ext cx="1415923" cy="1700345"/>
          </a:xfrm>
          <a:prstGeom prst="rect">
            <a:avLst/>
          </a:prstGeom>
        </p:spPr>
      </p:pic>
      <p:pic>
        <p:nvPicPr>
          <p:cNvPr id="11" name="Image 5" descr="./images\slide0_img6.png">    </p:cNvPr>
          <p:cNvPicPr>
            <a:picLocks noChangeAspect="1"/>
          </p:cNvPicPr>
          <p:nvPr/>
        </p:nvPicPr>
        <p:blipFill>
          <a:blip r:embed="rId6"/>
          <a:srcRect l="0" r="67462" t="16258" b="45097"/>
          <a:stretch/>
        </p:blipFill>
        <p:spPr>
          <a:xfrm>
            <a:off x="7047312" y="0"/>
            <a:ext cx="2012820" cy="2373276"/>
          </a:xfrm>
          <a:prstGeom prst="rect">
            <a:avLst/>
          </a:prstGeom>
        </p:spPr>
      </p:pic>
      <p:sp>
        <p:nvSpPr>
          <p:cNvPr id="12" name="Shape 4"/>
          <p:cNvSpPr/>
          <p:nvPr/>
        </p:nvSpPr>
        <p:spPr>
          <a:xfrm>
            <a:off x="3190352" y="3300000"/>
            <a:ext cx="4200347" cy="304800"/>
          </a:xfrm>
          <a:custGeom>
            <a:avLst/>
            <a:gdLst/>
            <a:ahLst/>
            <a:cxnLst/>
            <a:rect l="l" t="t" r="r" b="b"/>
            <a:pathLst>
              <a:path w="4200347" h="304800">
                <a:moveTo>
                  <a:pt x="0" y="0"/>
                </a:moveTo>
                <a:lnTo>
                  <a:pt x="4200347" y="0"/>
                </a:lnTo>
                <a:lnTo>
                  <a:pt x="4200347" y="304800"/>
                </a:lnTo>
                <a:lnTo>
                  <a:pt x="0" y="304800"/>
                </a:lnTo>
                <a:close/>
              </a:path>
            </a:pathLst>
          </a:custGeom>
          <a:solidFill>
            <a:srgbClr val="FFFFFF">
              <a:alpha val="0"/>
            </a:srgbClr>
          </a:solidFill>
          <a:ln/>
        </p:spPr>
      </p:sp>
      <p:sp>
        <p:nvSpPr>
          <p:cNvPr id="13" name="Text 5"/>
          <p:cNvSpPr/>
          <p:nvPr/>
        </p:nvSpPr>
        <p:spPr>
          <a:xfrm>
            <a:off x="3190352" y="3300000"/>
            <a:ext cx="4200347" cy="304800"/>
          </a:xfrm>
          <a:prstGeom prst="rect">
            <a:avLst/>
          </a:prstGeom>
          <a:noFill/>
          <a:ln/>
        </p:spPr>
        <p:txBody>
          <a:bodyPr wrap="square" rtlCol="0" anchor="t"/>
          <a:lstStyle/>
          <a:p>
            <a:pPr indent="0" marL="0">
              <a:spcBef>
                <a:spcPts val="375"/>
              </a:spcBef>
              <a:buNone/>
            </a:pPr>
            <a:endParaRPr lang="en-US" sz="1050" dirty="0"/>
          </a:p>
        </p:txBody>
      </p:sp>
      <p:sp>
        <p:nvSpPr>
          <p:cNvPr id="14" name="Shape 6"/>
          <p:cNvSpPr/>
          <p:nvPr/>
        </p:nvSpPr>
        <p:spPr>
          <a:xfrm>
            <a:off x="3190352" y="3300000"/>
            <a:ext cx="4200347" cy="304800"/>
          </a:xfrm>
          <a:custGeom>
            <a:avLst/>
            <a:gdLst/>
            <a:ahLst/>
            <a:cxnLst/>
            <a:rect l="l" t="t" r="r" b="b"/>
            <a:pathLst>
              <a:path w="4200347" h="304800">
                <a:moveTo>
                  <a:pt x="0" y="0"/>
                </a:moveTo>
                <a:lnTo>
                  <a:pt x="4200347" y="0"/>
                </a:lnTo>
                <a:lnTo>
                  <a:pt x="4200347" y="304800"/>
                </a:lnTo>
                <a:lnTo>
                  <a:pt x="0" y="304800"/>
                </a:lnTo>
                <a:close/>
              </a:path>
            </a:pathLst>
          </a:custGeom>
          <a:solidFill>
            <a:srgbClr val="000000">
              <a:alpha val="0"/>
            </a:srgbClr>
          </a:solidFill>
          <a:ln/>
        </p:spPr>
      </p:sp>
      <p:sp>
        <p:nvSpPr>
          <p:cNvPr id="15" name="Text 7"/>
          <p:cNvSpPr/>
          <p:nvPr/>
        </p:nvSpPr>
        <p:spPr>
          <a:xfrm>
            <a:off x="3190352" y="3300000"/>
            <a:ext cx="4200347" cy="304800"/>
          </a:xfrm>
          <a:prstGeom prst="rect">
            <a:avLst/>
          </a:prstGeom>
          <a:noFill/>
          <a:ln/>
        </p:spPr>
        <p:txBody>
          <a:bodyPr wrap="square" rtlCol="0" anchor="t"/>
          <a:lstStyle/>
          <a:p>
            <a:pPr algn="l" indent="0" marL="0">
              <a:spcBef>
                <a:spcPts val="375"/>
              </a:spcBef>
              <a:buNone/>
            </a:pPr>
            <a:r>
              <a:rPr lang="en-US" sz="1650" dirty="0">
                <a:solidFill>
                  <a:srgbClr val="333333"/>
                </a:solidFill>
                <a:latin typeface="微软雅黑" pitchFamily="34" charset="0"/>
                <a:ea typeface="微软雅黑" pitchFamily="34" charset="-122"/>
                <a:cs typeface="微软雅黑" pitchFamily="34" charset="-120"/>
              </a:rPr>
              <a:t>Azizjon Aliqulov</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1F1"/>
        </a:solidFill>
      </p:bgPr>
    </p:bg>
    <p:spTree>
      <p:nvGrpSpPr>
        <p:cNvPr id="1" name=""/>
        <p:cNvGrpSpPr/>
        <p:nvPr/>
      </p:nvGrpSpPr>
      <p:grpSpPr>
        <a:xfrm>
          <a:off x="0" y="0"/>
          <a:ext cx="0" cy="0"/>
          <a:chOff x="0" y="0"/>
          <a:chExt cx="0" cy="0"/>
        </a:xfrm>
      </p:grpSpPr>
      <p:pic>
        <p:nvPicPr>
          <p:cNvPr id="2" name="Image 0" descr="./images\slide1_img7.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_img8.png">    </p:cNvPr>
          <p:cNvPicPr>
            <a:picLocks noChangeAspect="1"/>
          </p:cNvPicPr>
          <p:nvPr/>
        </p:nvPicPr>
        <p:blipFill>
          <a:blip r:embed="rId2"/>
          <a:stretch>
            <a:fillRect/>
          </a:stretch>
        </p:blipFill>
        <p:spPr>
          <a:xfrm>
            <a:off x="5040496" y="2211757"/>
            <a:ext cx="3470826" cy="539010"/>
          </a:xfrm>
          <a:prstGeom prst="rect">
            <a:avLst/>
          </a:prstGeom>
        </p:spPr>
      </p:pic>
      <p:sp>
        <p:nvSpPr>
          <p:cNvPr id="4" name="Shape 0"/>
          <p:cNvSpPr/>
          <p:nvPr/>
        </p:nvSpPr>
        <p:spPr>
          <a:xfrm>
            <a:off x="5040496" y="2211757"/>
            <a:ext cx="3470826" cy="539010"/>
          </a:xfrm>
          <a:custGeom>
            <a:avLst/>
            <a:gdLst/>
            <a:ahLst/>
            <a:cxnLst/>
            <a:rect l="l" t="t" r="r" b="b"/>
            <a:pathLst>
              <a:path w="3470826" h="539010">
                <a:moveTo>
                  <a:pt x="0" y="0"/>
                </a:moveTo>
                <a:lnTo>
                  <a:pt x="3470826" y="0"/>
                </a:lnTo>
                <a:lnTo>
                  <a:pt x="3470826" y="539010"/>
                </a:lnTo>
                <a:lnTo>
                  <a:pt x="0" y="539010"/>
                </a:lnTo>
                <a:close/>
              </a:path>
            </a:pathLst>
          </a:custGeom>
          <a:solidFill>
            <a:srgbClr val="FFFFFF">
              <a:alpha val="0"/>
            </a:srgbClr>
          </a:solidFill>
          <a:ln/>
        </p:spPr>
      </p:sp>
      <p:sp>
        <p:nvSpPr>
          <p:cNvPr id="5" name="Text 1"/>
          <p:cNvSpPr/>
          <p:nvPr/>
        </p:nvSpPr>
        <p:spPr>
          <a:xfrm>
            <a:off x="5040496" y="2211757"/>
            <a:ext cx="3470826" cy="53901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5040496" y="2211757"/>
            <a:ext cx="3470826" cy="539010"/>
          </a:xfrm>
          <a:custGeom>
            <a:avLst/>
            <a:gdLst/>
            <a:ahLst/>
            <a:cxnLst/>
            <a:rect l="l" t="t" r="r" b="b"/>
            <a:pathLst>
              <a:path w="3470826" h="539010">
                <a:moveTo>
                  <a:pt x="0" y="0"/>
                </a:moveTo>
                <a:lnTo>
                  <a:pt x="3470826" y="0"/>
                </a:lnTo>
                <a:lnTo>
                  <a:pt x="3470826" y="539010"/>
                </a:lnTo>
                <a:lnTo>
                  <a:pt x="0" y="539010"/>
                </a:lnTo>
                <a:close/>
              </a:path>
            </a:pathLst>
          </a:custGeom>
          <a:solidFill>
            <a:srgbClr val="000000">
              <a:alpha val="0"/>
            </a:srgbClr>
          </a:solidFill>
          <a:ln/>
        </p:spPr>
      </p:sp>
      <p:sp>
        <p:nvSpPr>
          <p:cNvPr id="7" name="Text 3"/>
          <p:cNvSpPr/>
          <p:nvPr/>
        </p:nvSpPr>
        <p:spPr>
          <a:xfrm>
            <a:off x="5040496" y="2211757"/>
            <a:ext cx="3470826" cy="53901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1_img9.png">    </p:cNvPr>
          <p:cNvPicPr>
            <a:picLocks noChangeAspect="1"/>
          </p:cNvPicPr>
          <p:nvPr/>
        </p:nvPicPr>
        <p:blipFill>
          <a:blip r:embed="rId3"/>
          <a:stretch>
            <a:fillRect/>
          </a:stretch>
        </p:blipFill>
        <p:spPr>
          <a:xfrm>
            <a:off x="5040496" y="2211757"/>
            <a:ext cx="3470826" cy="539010"/>
          </a:xfrm>
          <a:prstGeom prst="rect">
            <a:avLst/>
          </a:prstGeom>
        </p:spPr>
      </p:pic>
      <p:pic>
        <p:nvPicPr>
          <p:cNvPr id="9" name="Image 3" descr="./images\slide1_img10.png">    </p:cNvPr>
          <p:cNvPicPr>
            <a:picLocks noChangeAspect="1"/>
          </p:cNvPicPr>
          <p:nvPr/>
        </p:nvPicPr>
        <p:blipFill>
          <a:blip r:embed="rId4"/>
          <a:stretch>
            <a:fillRect/>
          </a:stretch>
        </p:blipFill>
        <p:spPr>
          <a:xfrm>
            <a:off x="5040496" y="3540760"/>
            <a:ext cx="3489254" cy="595655"/>
          </a:xfrm>
          <a:prstGeom prst="rect">
            <a:avLst/>
          </a:prstGeom>
        </p:spPr>
      </p:pic>
      <p:sp>
        <p:nvSpPr>
          <p:cNvPr id="10" name="Shape 4"/>
          <p:cNvSpPr/>
          <p:nvPr/>
        </p:nvSpPr>
        <p:spPr>
          <a:xfrm>
            <a:off x="5040496" y="3540760"/>
            <a:ext cx="3489254" cy="595655"/>
          </a:xfrm>
          <a:custGeom>
            <a:avLst/>
            <a:gdLst/>
            <a:ahLst/>
            <a:cxnLst/>
            <a:rect l="l" t="t" r="r" b="b"/>
            <a:pathLst>
              <a:path w="3489254" h="595655">
                <a:moveTo>
                  <a:pt x="0" y="0"/>
                </a:moveTo>
                <a:lnTo>
                  <a:pt x="3489254" y="0"/>
                </a:lnTo>
                <a:lnTo>
                  <a:pt x="3489254" y="595655"/>
                </a:lnTo>
                <a:lnTo>
                  <a:pt x="0" y="595655"/>
                </a:lnTo>
                <a:close/>
              </a:path>
            </a:pathLst>
          </a:custGeom>
          <a:solidFill>
            <a:srgbClr val="FFFFFF">
              <a:alpha val="0"/>
            </a:srgbClr>
          </a:solidFill>
          <a:ln/>
        </p:spPr>
      </p:sp>
      <p:sp>
        <p:nvSpPr>
          <p:cNvPr id="11" name="Text 5"/>
          <p:cNvSpPr/>
          <p:nvPr/>
        </p:nvSpPr>
        <p:spPr>
          <a:xfrm>
            <a:off x="5040496" y="3540760"/>
            <a:ext cx="3489254" cy="595655"/>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5040496" y="3540760"/>
            <a:ext cx="3489254" cy="595655"/>
          </a:xfrm>
          <a:custGeom>
            <a:avLst/>
            <a:gdLst/>
            <a:ahLst/>
            <a:cxnLst/>
            <a:rect l="l" t="t" r="r" b="b"/>
            <a:pathLst>
              <a:path w="3489254" h="595655">
                <a:moveTo>
                  <a:pt x="0" y="0"/>
                </a:moveTo>
                <a:lnTo>
                  <a:pt x="3489254" y="0"/>
                </a:lnTo>
                <a:lnTo>
                  <a:pt x="3489254" y="595655"/>
                </a:lnTo>
                <a:lnTo>
                  <a:pt x="0" y="595655"/>
                </a:lnTo>
                <a:close/>
              </a:path>
            </a:pathLst>
          </a:custGeom>
          <a:solidFill>
            <a:srgbClr val="000000">
              <a:alpha val="0"/>
            </a:srgbClr>
          </a:solidFill>
          <a:ln/>
        </p:spPr>
      </p:sp>
      <p:sp>
        <p:nvSpPr>
          <p:cNvPr id="13" name="Text 7"/>
          <p:cNvSpPr/>
          <p:nvPr/>
        </p:nvSpPr>
        <p:spPr>
          <a:xfrm>
            <a:off x="5040496" y="3540760"/>
            <a:ext cx="3489254" cy="59565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1_img11.png">    </p:cNvPr>
          <p:cNvPicPr>
            <a:picLocks noChangeAspect="1"/>
          </p:cNvPicPr>
          <p:nvPr/>
        </p:nvPicPr>
        <p:blipFill>
          <a:blip r:embed="rId5"/>
          <a:stretch>
            <a:fillRect/>
          </a:stretch>
        </p:blipFill>
        <p:spPr>
          <a:xfrm>
            <a:off x="5040496" y="3540760"/>
            <a:ext cx="3489254" cy="595655"/>
          </a:xfrm>
          <a:prstGeom prst="rect">
            <a:avLst/>
          </a:prstGeom>
        </p:spPr>
      </p:pic>
      <p:pic>
        <p:nvPicPr>
          <p:cNvPr id="15" name="Image 5" descr="./images\slide1_img12.png">    </p:cNvPr>
          <p:cNvPicPr>
            <a:picLocks noChangeAspect="1"/>
          </p:cNvPicPr>
          <p:nvPr/>
        </p:nvPicPr>
        <p:blipFill>
          <a:blip r:embed="rId6"/>
          <a:stretch>
            <a:fillRect/>
          </a:stretch>
        </p:blipFill>
        <p:spPr>
          <a:xfrm>
            <a:off x="5040496" y="895619"/>
            <a:ext cx="3470826" cy="539010"/>
          </a:xfrm>
          <a:prstGeom prst="rect">
            <a:avLst/>
          </a:prstGeom>
        </p:spPr>
      </p:pic>
      <p:sp>
        <p:nvSpPr>
          <p:cNvPr id="16" name="Shape 8"/>
          <p:cNvSpPr/>
          <p:nvPr/>
        </p:nvSpPr>
        <p:spPr>
          <a:xfrm>
            <a:off x="5040496" y="895619"/>
            <a:ext cx="3470826" cy="539010"/>
          </a:xfrm>
          <a:custGeom>
            <a:avLst/>
            <a:gdLst/>
            <a:ahLst/>
            <a:cxnLst/>
            <a:rect l="l" t="t" r="r" b="b"/>
            <a:pathLst>
              <a:path w="3470826" h="539010">
                <a:moveTo>
                  <a:pt x="0" y="0"/>
                </a:moveTo>
                <a:lnTo>
                  <a:pt x="3470826" y="0"/>
                </a:lnTo>
                <a:lnTo>
                  <a:pt x="3470826" y="539010"/>
                </a:lnTo>
                <a:lnTo>
                  <a:pt x="0" y="539010"/>
                </a:lnTo>
                <a:close/>
              </a:path>
            </a:pathLst>
          </a:custGeom>
          <a:solidFill>
            <a:srgbClr val="FFFFFF">
              <a:alpha val="0"/>
            </a:srgbClr>
          </a:solidFill>
          <a:ln/>
        </p:spPr>
      </p:sp>
      <p:sp>
        <p:nvSpPr>
          <p:cNvPr id="17" name="Text 9"/>
          <p:cNvSpPr/>
          <p:nvPr/>
        </p:nvSpPr>
        <p:spPr>
          <a:xfrm>
            <a:off x="5040496" y="895619"/>
            <a:ext cx="3470826" cy="539010"/>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a:off x="5040496" y="895619"/>
            <a:ext cx="3470826" cy="539010"/>
          </a:xfrm>
          <a:custGeom>
            <a:avLst/>
            <a:gdLst/>
            <a:ahLst/>
            <a:cxnLst/>
            <a:rect l="l" t="t" r="r" b="b"/>
            <a:pathLst>
              <a:path w="3470826" h="539010">
                <a:moveTo>
                  <a:pt x="0" y="0"/>
                </a:moveTo>
                <a:lnTo>
                  <a:pt x="3470826" y="0"/>
                </a:lnTo>
                <a:lnTo>
                  <a:pt x="3470826" y="539010"/>
                </a:lnTo>
                <a:lnTo>
                  <a:pt x="0" y="539010"/>
                </a:lnTo>
                <a:close/>
              </a:path>
            </a:pathLst>
          </a:custGeom>
          <a:solidFill>
            <a:srgbClr val="000000">
              <a:alpha val="0"/>
            </a:srgbClr>
          </a:solidFill>
          <a:ln/>
        </p:spPr>
      </p:sp>
      <p:sp>
        <p:nvSpPr>
          <p:cNvPr id="19" name="Text 11"/>
          <p:cNvSpPr/>
          <p:nvPr/>
        </p:nvSpPr>
        <p:spPr>
          <a:xfrm>
            <a:off x="5040496" y="895619"/>
            <a:ext cx="3470826" cy="53901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0" name="Image 6" descr="./images\slide1_img13.png">    </p:cNvPr>
          <p:cNvPicPr>
            <a:picLocks noChangeAspect="1"/>
          </p:cNvPicPr>
          <p:nvPr/>
        </p:nvPicPr>
        <p:blipFill>
          <a:blip r:embed="rId7"/>
          <a:stretch>
            <a:fillRect/>
          </a:stretch>
        </p:blipFill>
        <p:spPr>
          <a:xfrm>
            <a:off x="5040496" y="895619"/>
            <a:ext cx="3470826" cy="539010"/>
          </a:xfrm>
          <a:prstGeom prst="rect">
            <a:avLst/>
          </a:prstGeom>
        </p:spPr>
      </p:pic>
      <p:pic>
        <p:nvPicPr>
          <p:cNvPr id="21" name="Image 7" descr="./images\slide1_img14.png">    </p:cNvPr>
          <p:cNvPicPr>
            <a:picLocks noChangeAspect="1"/>
          </p:cNvPicPr>
          <p:nvPr/>
        </p:nvPicPr>
        <p:blipFill>
          <a:blip r:embed="rId8"/>
          <a:stretch>
            <a:fillRect/>
          </a:stretch>
        </p:blipFill>
        <p:spPr>
          <a:xfrm>
            <a:off x="4972050" y="792000"/>
            <a:ext cx="3657600" cy="764771"/>
          </a:xfrm>
          <a:prstGeom prst="rect">
            <a:avLst/>
          </a:prstGeom>
        </p:spPr>
      </p:pic>
      <p:sp>
        <p:nvSpPr>
          <p:cNvPr id="22" name="Shape 12"/>
          <p:cNvSpPr/>
          <p:nvPr/>
        </p:nvSpPr>
        <p:spPr>
          <a:xfrm>
            <a:off x="4972050" y="792000"/>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FFFFFF">
              <a:alpha val="0"/>
            </a:srgbClr>
          </a:solidFill>
          <a:ln/>
        </p:spPr>
      </p:sp>
      <p:sp>
        <p:nvSpPr>
          <p:cNvPr id="23" name="Text 13"/>
          <p:cNvSpPr/>
          <p:nvPr/>
        </p:nvSpPr>
        <p:spPr>
          <a:xfrm>
            <a:off x="4972050" y="792000"/>
            <a:ext cx="3657600" cy="764771"/>
          </a:xfrm>
          <a:prstGeom prst="rect">
            <a:avLst/>
          </a:prstGeom>
          <a:noFill/>
          <a:ln/>
        </p:spPr>
        <p:txBody>
          <a:bodyPr wrap="square" rtlCol="0" anchor="t"/>
          <a:lstStyle/>
          <a:p>
            <a:pPr indent="0" marL="0">
              <a:spcBef>
                <a:spcPts val="375"/>
              </a:spcBef>
              <a:buNone/>
            </a:pPr>
            <a:endParaRPr lang="en-US" sz="1050" dirty="0"/>
          </a:p>
        </p:txBody>
      </p:sp>
      <p:sp>
        <p:nvSpPr>
          <p:cNvPr id="24" name="Shape 14"/>
          <p:cNvSpPr/>
          <p:nvPr/>
        </p:nvSpPr>
        <p:spPr>
          <a:xfrm>
            <a:off x="4972050" y="792000"/>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000000">
              <a:alpha val="0"/>
            </a:srgbClr>
          </a:solidFill>
          <a:ln/>
        </p:spPr>
      </p:sp>
      <p:sp>
        <p:nvSpPr>
          <p:cNvPr id="25" name="Text 15"/>
          <p:cNvSpPr/>
          <p:nvPr/>
        </p:nvSpPr>
        <p:spPr>
          <a:xfrm>
            <a:off x="4972050" y="792000"/>
            <a:ext cx="3657600" cy="76477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6" name="Image 8" descr="./images\slide1_img15.png">    </p:cNvPr>
          <p:cNvPicPr>
            <a:picLocks noChangeAspect="1"/>
          </p:cNvPicPr>
          <p:nvPr/>
        </p:nvPicPr>
        <p:blipFill>
          <a:blip r:embed="rId9"/>
          <a:stretch>
            <a:fillRect/>
          </a:stretch>
        </p:blipFill>
        <p:spPr>
          <a:xfrm>
            <a:off x="4972050" y="792000"/>
            <a:ext cx="3657600" cy="764771"/>
          </a:xfrm>
          <a:prstGeom prst="rect">
            <a:avLst/>
          </a:prstGeom>
        </p:spPr>
      </p:pic>
      <p:pic>
        <p:nvPicPr>
          <p:cNvPr id="27" name="Image 9" descr="./images\slide1_img16.png">    </p:cNvPr>
          <p:cNvPicPr>
            <a:picLocks noChangeAspect="1"/>
          </p:cNvPicPr>
          <p:nvPr/>
        </p:nvPicPr>
        <p:blipFill>
          <a:blip r:embed="rId10"/>
          <a:stretch>
            <a:fillRect/>
          </a:stretch>
        </p:blipFill>
        <p:spPr>
          <a:xfrm>
            <a:off x="4972050" y="3456202"/>
            <a:ext cx="3657600" cy="764771"/>
          </a:xfrm>
          <a:prstGeom prst="rect">
            <a:avLst/>
          </a:prstGeom>
        </p:spPr>
      </p:pic>
      <p:sp>
        <p:nvSpPr>
          <p:cNvPr id="28" name="Shape 16"/>
          <p:cNvSpPr/>
          <p:nvPr/>
        </p:nvSpPr>
        <p:spPr>
          <a:xfrm>
            <a:off x="4972050" y="3456202"/>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FFFFFF">
              <a:alpha val="0"/>
            </a:srgbClr>
          </a:solidFill>
          <a:ln/>
        </p:spPr>
      </p:sp>
      <p:sp>
        <p:nvSpPr>
          <p:cNvPr id="29" name="Text 17"/>
          <p:cNvSpPr/>
          <p:nvPr/>
        </p:nvSpPr>
        <p:spPr>
          <a:xfrm>
            <a:off x="4972050" y="3456202"/>
            <a:ext cx="3657600" cy="764771"/>
          </a:xfrm>
          <a:prstGeom prst="rect">
            <a:avLst/>
          </a:prstGeom>
          <a:noFill/>
          <a:ln/>
        </p:spPr>
        <p:txBody>
          <a:bodyPr wrap="square" rtlCol="0" anchor="t"/>
          <a:lstStyle/>
          <a:p>
            <a:pPr indent="0" marL="0">
              <a:spcBef>
                <a:spcPts val="375"/>
              </a:spcBef>
              <a:buNone/>
            </a:pPr>
            <a:endParaRPr lang="en-US" sz="1050" dirty="0"/>
          </a:p>
        </p:txBody>
      </p:sp>
      <p:sp>
        <p:nvSpPr>
          <p:cNvPr id="30" name="Shape 18"/>
          <p:cNvSpPr/>
          <p:nvPr/>
        </p:nvSpPr>
        <p:spPr>
          <a:xfrm>
            <a:off x="4972050" y="3456202"/>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000000">
              <a:alpha val="0"/>
            </a:srgbClr>
          </a:solidFill>
          <a:ln/>
        </p:spPr>
      </p:sp>
      <p:sp>
        <p:nvSpPr>
          <p:cNvPr id="31" name="Text 19"/>
          <p:cNvSpPr/>
          <p:nvPr/>
        </p:nvSpPr>
        <p:spPr>
          <a:xfrm>
            <a:off x="4972050" y="3456202"/>
            <a:ext cx="3657600" cy="76477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2" name="Image 10" descr="./images\slide1_img17.png">    </p:cNvPr>
          <p:cNvPicPr>
            <a:picLocks noChangeAspect="1"/>
          </p:cNvPicPr>
          <p:nvPr/>
        </p:nvPicPr>
        <p:blipFill>
          <a:blip r:embed="rId11"/>
          <a:stretch>
            <a:fillRect/>
          </a:stretch>
        </p:blipFill>
        <p:spPr>
          <a:xfrm>
            <a:off x="4972050" y="3456202"/>
            <a:ext cx="3657600" cy="764771"/>
          </a:xfrm>
          <a:prstGeom prst="rect">
            <a:avLst/>
          </a:prstGeom>
        </p:spPr>
      </p:pic>
      <p:pic>
        <p:nvPicPr>
          <p:cNvPr id="33" name="Image 11" descr="./images\slide1_img18.png">    </p:cNvPr>
          <p:cNvPicPr>
            <a:picLocks noChangeAspect="1"/>
          </p:cNvPicPr>
          <p:nvPr/>
        </p:nvPicPr>
        <p:blipFill>
          <a:blip r:embed="rId12"/>
          <a:stretch>
            <a:fillRect/>
          </a:stretch>
        </p:blipFill>
        <p:spPr>
          <a:xfrm>
            <a:off x="4972050" y="2098877"/>
            <a:ext cx="3657600" cy="764771"/>
          </a:xfrm>
          <a:prstGeom prst="rect">
            <a:avLst/>
          </a:prstGeom>
        </p:spPr>
      </p:pic>
      <p:sp>
        <p:nvSpPr>
          <p:cNvPr id="34" name="Shape 20"/>
          <p:cNvSpPr/>
          <p:nvPr/>
        </p:nvSpPr>
        <p:spPr>
          <a:xfrm>
            <a:off x="4972050" y="2098877"/>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FFFFFF">
              <a:alpha val="0"/>
            </a:srgbClr>
          </a:solidFill>
          <a:ln/>
        </p:spPr>
      </p:sp>
      <p:sp>
        <p:nvSpPr>
          <p:cNvPr id="35" name="Text 21"/>
          <p:cNvSpPr/>
          <p:nvPr/>
        </p:nvSpPr>
        <p:spPr>
          <a:xfrm>
            <a:off x="4972050" y="2098877"/>
            <a:ext cx="3657600" cy="764771"/>
          </a:xfrm>
          <a:prstGeom prst="rect">
            <a:avLst/>
          </a:prstGeom>
          <a:noFill/>
          <a:ln/>
        </p:spPr>
        <p:txBody>
          <a:bodyPr wrap="square" rtlCol="0" anchor="t"/>
          <a:lstStyle/>
          <a:p>
            <a:pPr indent="0" marL="0">
              <a:spcBef>
                <a:spcPts val="375"/>
              </a:spcBef>
              <a:buNone/>
            </a:pPr>
            <a:endParaRPr lang="en-US" sz="1050" dirty="0"/>
          </a:p>
        </p:txBody>
      </p:sp>
      <p:sp>
        <p:nvSpPr>
          <p:cNvPr id="36" name="Shape 22"/>
          <p:cNvSpPr/>
          <p:nvPr/>
        </p:nvSpPr>
        <p:spPr>
          <a:xfrm>
            <a:off x="4972050" y="2098877"/>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000000">
              <a:alpha val="0"/>
            </a:srgbClr>
          </a:solidFill>
          <a:ln/>
        </p:spPr>
      </p:sp>
      <p:sp>
        <p:nvSpPr>
          <p:cNvPr id="37" name="Text 23"/>
          <p:cNvSpPr/>
          <p:nvPr/>
        </p:nvSpPr>
        <p:spPr>
          <a:xfrm>
            <a:off x="4972050" y="2098877"/>
            <a:ext cx="3657600" cy="76477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8" name="Image 12" descr="./images\slide1_img19.png">    </p:cNvPr>
          <p:cNvPicPr>
            <a:picLocks noChangeAspect="1"/>
          </p:cNvPicPr>
          <p:nvPr/>
        </p:nvPicPr>
        <p:blipFill>
          <a:blip r:embed="rId13"/>
          <a:stretch>
            <a:fillRect/>
          </a:stretch>
        </p:blipFill>
        <p:spPr>
          <a:xfrm>
            <a:off x="4972050" y="2098877"/>
            <a:ext cx="3657600" cy="764771"/>
          </a:xfrm>
          <a:prstGeom prst="rect">
            <a:avLst/>
          </a:prstGeom>
        </p:spPr>
      </p:pic>
      <p:sp>
        <p:nvSpPr>
          <p:cNvPr id="39" name="Shape 24"/>
          <p:cNvSpPr/>
          <p:nvPr/>
        </p:nvSpPr>
        <p:spPr>
          <a:xfrm>
            <a:off x="87167" y="744598"/>
            <a:ext cx="3918345" cy="514350"/>
          </a:xfrm>
          <a:custGeom>
            <a:avLst/>
            <a:gdLst/>
            <a:ahLst/>
            <a:cxnLst/>
            <a:rect l="l" t="t" r="r" b="b"/>
            <a:pathLst>
              <a:path w="3918345" h="514350">
                <a:moveTo>
                  <a:pt x="0" y="0"/>
                </a:moveTo>
                <a:lnTo>
                  <a:pt x="3918345" y="0"/>
                </a:lnTo>
                <a:lnTo>
                  <a:pt x="3918345" y="514350"/>
                </a:lnTo>
                <a:lnTo>
                  <a:pt x="0" y="514350"/>
                </a:lnTo>
                <a:close/>
              </a:path>
            </a:pathLst>
          </a:custGeom>
          <a:solidFill>
            <a:srgbClr val="FFFFFF">
              <a:alpha val="0"/>
            </a:srgbClr>
          </a:solidFill>
          <a:ln/>
        </p:spPr>
      </p:sp>
      <p:sp>
        <p:nvSpPr>
          <p:cNvPr id="40" name="Text 25"/>
          <p:cNvSpPr/>
          <p:nvPr/>
        </p:nvSpPr>
        <p:spPr>
          <a:xfrm>
            <a:off x="87167" y="744598"/>
            <a:ext cx="3918345" cy="514350"/>
          </a:xfrm>
          <a:prstGeom prst="rect">
            <a:avLst/>
          </a:prstGeom>
          <a:noFill/>
          <a:ln/>
        </p:spPr>
        <p:txBody>
          <a:bodyPr wrap="square" rtlCol="0" anchor="t"/>
          <a:lstStyle/>
          <a:p>
            <a:pPr indent="0" marL="0">
              <a:spcBef>
                <a:spcPts val="375"/>
              </a:spcBef>
              <a:buNone/>
            </a:pPr>
            <a:endParaRPr lang="en-US" sz="1050" dirty="0"/>
          </a:p>
        </p:txBody>
      </p:sp>
      <p:sp>
        <p:nvSpPr>
          <p:cNvPr id="41" name="Shape 26"/>
          <p:cNvSpPr/>
          <p:nvPr/>
        </p:nvSpPr>
        <p:spPr>
          <a:xfrm>
            <a:off x="87167" y="744598"/>
            <a:ext cx="3918345" cy="514350"/>
          </a:xfrm>
          <a:custGeom>
            <a:avLst/>
            <a:gdLst/>
            <a:ahLst/>
            <a:cxnLst/>
            <a:rect l="l" t="t" r="r" b="b"/>
            <a:pathLst>
              <a:path w="3918345" h="514350">
                <a:moveTo>
                  <a:pt x="0" y="0"/>
                </a:moveTo>
                <a:lnTo>
                  <a:pt x="3918345" y="0"/>
                </a:lnTo>
                <a:lnTo>
                  <a:pt x="3918345" y="514350"/>
                </a:lnTo>
                <a:lnTo>
                  <a:pt x="0" y="514350"/>
                </a:lnTo>
                <a:close/>
              </a:path>
            </a:pathLst>
          </a:custGeom>
          <a:solidFill>
            <a:srgbClr val="000000">
              <a:alpha val="0"/>
            </a:srgbClr>
          </a:solidFill>
          <a:ln/>
        </p:spPr>
      </p:sp>
      <p:sp>
        <p:nvSpPr>
          <p:cNvPr id="42" name="Text 27"/>
          <p:cNvSpPr/>
          <p:nvPr/>
        </p:nvSpPr>
        <p:spPr>
          <a:xfrm>
            <a:off x="87167" y="744598"/>
            <a:ext cx="3918345" cy="514350"/>
          </a:xfrm>
          <a:prstGeom prst="rect">
            <a:avLst/>
          </a:prstGeom>
          <a:noFill/>
          <a:ln/>
        </p:spPr>
        <p:txBody>
          <a:bodyPr wrap="square" rtlCol="0" anchor="t"/>
          <a:lstStyle/>
          <a:p>
            <a:pPr algn="l" indent="0" marL="0">
              <a:spcBef>
                <a:spcPts val="375"/>
              </a:spcBef>
              <a:buNone/>
            </a:pPr>
            <a:r>
              <a:rPr lang="en-US" sz="3300" dirty="0">
                <a:solidFill>
                  <a:srgbClr val="45464D"/>
                </a:solidFill>
                <a:latin typeface="Caveat Brush" pitchFamily="34" charset="0"/>
                <a:ea typeface="Caveat Brush" pitchFamily="34" charset="-122"/>
                <a:cs typeface="Caveat Brush" pitchFamily="34" charset="-120"/>
              </a:rPr>
              <a:t>Reja: </a:t>
            </a:r>
            <a:endParaRPr lang="en-US" sz="1050" dirty="0"/>
          </a:p>
        </p:txBody>
      </p:sp>
      <p:sp>
        <p:nvSpPr>
          <p:cNvPr id="43" name="Shape 28"/>
          <p:cNvSpPr/>
          <p:nvPr/>
        </p:nvSpPr>
        <p:spPr>
          <a:xfrm>
            <a:off x="4339822" y="789952"/>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FFFFFF">
              <a:alpha val="0"/>
            </a:srgbClr>
          </a:solidFill>
          <a:ln/>
        </p:spPr>
      </p:sp>
      <p:sp>
        <p:nvSpPr>
          <p:cNvPr id="44" name="Text 29"/>
          <p:cNvSpPr/>
          <p:nvPr/>
        </p:nvSpPr>
        <p:spPr>
          <a:xfrm>
            <a:off x="4339822" y="789952"/>
            <a:ext cx="519060" cy="828675"/>
          </a:xfrm>
          <a:prstGeom prst="rect">
            <a:avLst/>
          </a:prstGeom>
          <a:noFill/>
          <a:ln/>
        </p:spPr>
        <p:txBody>
          <a:bodyPr wrap="square" rtlCol="0" anchor="t"/>
          <a:lstStyle/>
          <a:p>
            <a:pPr indent="0" marL="0">
              <a:spcBef>
                <a:spcPts val="375"/>
              </a:spcBef>
              <a:buNone/>
            </a:pPr>
            <a:endParaRPr lang="en-US" sz="1050" dirty="0"/>
          </a:p>
        </p:txBody>
      </p:sp>
      <p:sp>
        <p:nvSpPr>
          <p:cNvPr id="45" name="Shape 30"/>
          <p:cNvSpPr/>
          <p:nvPr/>
        </p:nvSpPr>
        <p:spPr>
          <a:xfrm>
            <a:off x="4339822" y="789952"/>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000000">
              <a:alpha val="0"/>
            </a:srgbClr>
          </a:solidFill>
          <a:ln/>
        </p:spPr>
      </p:sp>
      <p:sp>
        <p:nvSpPr>
          <p:cNvPr id="46" name="Text 31"/>
          <p:cNvSpPr/>
          <p:nvPr/>
        </p:nvSpPr>
        <p:spPr>
          <a:xfrm>
            <a:off x="4339822" y="789952"/>
            <a:ext cx="519060" cy="828675"/>
          </a:xfrm>
          <a:prstGeom prst="rect">
            <a:avLst/>
          </a:prstGeom>
          <a:noFill/>
          <a:ln/>
        </p:spPr>
        <p:txBody>
          <a:bodyPr wrap="square" rtlCol="0" anchor="t"/>
          <a:lstStyle/>
          <a:p>
            <a:pPr algn="l" indent="0" marL="0">
              <a:spcBef>
                <a:spcPts val="375"/>
              </a:spcBef>
              <a:buNone/>
            </a:pPr>
            <a:r>
              <a:rPr lang="en-US" sz="5775" dirty="0">
                <a:solidFill>
                  <a:srgbClr val="45464D"/>
                </a:solidFill>
                <a:latin typeface="Caveat Brush" pitchFamily="34" charset="0"/>
                <a:ea typeface="Caveat Brush" pitchFamily="34" charset="-122"/>
                <a:cs typeface="Caveat Brush" pitchFamily="34" charset="-120"/>
              </a:rPr>
              <a:t>1</a:t>
            </a:r>
            <a:endParaRPr lang="en-US" sz="1050" dirty="0"/>
          </a:p>
        </p:txBody>
      </p:sp>
      <p:sp>
        <p:nvSpPr>
          <p:cNvPr id="47" name="Shape 32"/>
          <p:cNvSpPr/>
          <p:nvPr/>
        </p:nvSpPr>
        <p:spPr>
          <a:xfrm>
            <a:off x="4339822" y="2147277"/>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FFFFFF">
              <a:alpha val="0"/>
            </a:srgbClr>
          </a:solidFill>
          <a:ln/>
        </p:spPr>
      </p:sp>
      <p:sp>
        <p:nvSpPr>
          <p:cNvPr id="48" name="Text 33"/>
          <p:cNvSpPr/>
          <p:nvPr/>
        </p:nvSpPr>
        <p:spPr>
          <a:xfrm>
            <a:off x="4339822" y="2147277"/>
            <a:ext cx="519060" cy="828675"/>
          </a:xfrm>
          <a:prstGeom prst="rect">
            <a:avLst/>
          </a:prstGeom>
          <a:noFill/>
          <a:ln/>
        </p:spPr>
        <p:txBody>
          <a:bodyPr wrap="square" rtlCol="0" anchor="t"/>
          <a:lstStyle/>
          <a:p>
            <a:pPr indent="0" marL="0">
              <a:spcBef>
                <a:spcPts val="375"/>
              </a:spcBef>
              <a:buNone/>
            </a:pPr>
            <a:endParaRPr lang="en-US" sz="1050" dirty="0"/>
          </a:p>
        </p:txBody>
      </p:sp>
      <p:sp>
        <p:nvSpPr>
          <p:cNvPr id="49" name="Shape 34"/>
          <p:cNvSpPr/>
          <p:nvPr/>
        </p:nvSpPr>
        <p:spPr>
          <a:xfrm>
            <a:off x="4339822" y="2147277"/>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000000">
              <a:alpha val="0"/>
            </a:srgbClr>
          </a:solidFill>
          <a:ln/>
        </p:spPr>
      </p:sp>
      <p:sp>
        <p:nvSpPr>
          <p:cNvPr id="50" name="Text 35"/>
          <p:cNvSpPr/>
          <p:nvPr/>
        </p:nvSpPr>
        <p:spPr>
          <a:xfrm>
            <a:off x="4339822" y="2147277"/>
            <a:ext cx="519060" cy="828675"/>
          </a:xfrm>
          <a:prstGeom prst="rect">
            <a:avLst/>
          </a:prstGeom>
          <a:noFill/>
          <a:ln/>
        </p:spPr>
        <p:txBody>
          <a:bodyPr wrap="square" rtlCol="0" anchor="t"/>
          <a:lstStyle/>
          <a:p>
            <a:pPr algn="l" indent="0" marL="0">
              <a:spcBef>
                <a:spcPts val="375"/>
              </a:spcBef>
              <a:buNone/>
            </a:pPr>
            <a:r>
              <a:rPr lang="en-US" sz="5775" dirty="0">
                <a:solidFill>
                  <a:srgbClr val="45464D"/>
                </a:solidFill>
                <a:latin typeface="Caveat Brush" pitchFamily="34" charset="0"/>
                <a:ea typeface="Caveat Brush" pitchFamily="34" charset="-122"/>
                <a:cs typeface="Caveat Brush" pitchFamily="34" charset="-120"/>
              </a:rPr>
              <a:t>2</a:t>
            </a:r>
            <a:endParaRPr lang="en-US" sz="1050" dirty="0"/>
          </a:p>
        </p:txBody>
      </p:sp>
      <p:sp>
        <p:nvSpPr>
          <p:cNvPr id="51" name="Shape 36"/>
          <p:cNvSpPr/>
          <p:nvPr/>
        </p:nvSpPr>
        <p:spPr>
          <a:xfrm>
            <a:off x="4339822" y="3504602"/>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FFFFFF">
              <a:alpha val="0"/>
            </a:srgbClr>
          </a:solidFill>
          <a:ln/>
        </p:spPr>
      </p:sp>
      <p:sp>
        <p:nvSpPr>
          <p:cNvPr id="52" name="Text 37"/>
          <p:cNvSpPr/>
          <p:nvPr/>
        </p:nvSpPr>
        <p:spPr>
          <a:xfrm>
            <a:off x="4339822" y="3504602"/>
            <a:ext cx="519060" cy="828675"/>
          </a:xfrm>
          <a:prstGeom prst="rect">
            <a:avLst/>
          </a:prstGeom>
          <a:noFill/>
          <a:ln/>
        </p:spPr>
        <p:txBody>
          <a:bodyPr wrap="square" rtlCol="0" anchor="t"/>
          <a:lstStyle/>
          <a:p>
            <a:pPr indent="0" marL="0">
              <a:spcBef>
                <a:spcPts val="375"/>
              </a:spcBef>
              <a:buNone/>
            </a:pPr>
            <a:endParaRPr lang="en-US" sz="1050" dirty="0"/>
          </a:p>
        </p:txBody>
      </p:sp>
      <p:sp>
        <p:nvSpPr>
          <p:cNvPr id="53" name="Shape 38"/>
          <p:cNvSpPr/>
          <p:nvPr/>
        </p:nvSpPr>
        <p:spPr>
          <a:xfrm>
            <a:off x="4339822" y="3504602"/>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000000">
              <a:alpha val="0"/>
            </a:srgbClr>
          </a:solidFill>
          <a:ln/>
        </p:spPr>
      </p:sp>
      <p:sp>
        <p:nvSpPr>
          <p:cNvPr id="54" name="Text 39"/>
          <p:cNvSpPr/>
          <p:nvPr/>
        </p:nvSpPr>
        <p:spPr>
          <a:xfrm>
            <a:off x="4339822" y="3504602"/>
            <a:ext cx="519060" cy="828675"/>
          </a:xfrm>
          <a:prstGeom prst="rect">
            <a:avLst/>
          </a:prstGeom>
          <a:noFill/>
          <a:ln/>
        </p:spPr>
        <p:txBody>
          <a:bodyPr wrap="square" rtlCol="0" anchor="t"/>
          <a:lstStyle/>
          <a:p>
            <a:pPr algn="l" indent="0" marL="0">
              <a:spcBef>
                <a:spcPts val="375"/>
              </a:spcBef>
              <a:buNone/>
            </a:pPr>
            <a:r>
              <a:rPr lang="en-US" sz="5775" dirty="0">
                <a:solidFill>
                  <a:srgbClr val="45464D"/>
                </a:solidFill>
                <a:latin typeface="Caveat Brush" pitchFamily="34" charset="0"/>
                <a:ea typeface="Caveat Brush" pitchFamily="34" charset="-122"/>
                <a:cs typeface="Caveat Brush" pitchFamily="34" charset="-120"/>
              </a:rPr>
              <a:t>3</a:t>
            </a:r>
            <a:endParaRPr lang="en-US" sz="1050" dirty="0"/>
          </a:p>
        </p:txBody>
      </p:sp>
      <p:sp>
        <p:nvSpPr>
          <p:cNvPr id="55" name="Shape 40"/>
          <p:cNvSpPr/>
          <p:nvPr/>
        </p:nvSpPr>
        <p:spPr>
          <a:xfrm>
            <a:off x="5040496" y="901652"/>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FFFFFF">
              <a:alpha val="0"/>
            </a:srgbClr>
          </a:solidFill>
          <a:ln/>
        </p:spPr>
      </p:sp>
      <p:sp>
        <p:nvSpPr>
          <p:cNvPr id="56" name="Text 41"/>
          <p:cNvSpPr/>
          <p:nvPr/>
        </p:nvSpPr>
        <p:spPr>
          <a:xfrm>
            <a:off x="5040496" y="901652"/>
            <a:ext cx="3470826" cy="285750"/>
          </a:xfrm>
          <a:prstGeom prst="rect">
            <a:avLst/>
          </a:prstGeom>
          <a:noFill/>
          <a:ln/>
        </p:spPr>
        <p:txBody>
          <a:bodyPr wrap="square" rtlCol="0" anchor="t"/>
          <a:lstStyle/>
          <a:p>
            <a:pPr indent="0" marL="0">
              <a:spcBef>
                <a:spcPts val="375"/>
              </a:spcBef>
              <a:buNone/>
            </a:pPr>
            <a:endParaRPr lang="en-US" sz="1050" dirty="0"/>
          </a:p>
        </p:txBody>
      </p:sp>
      <p:sp>
        <p:nvSpPr>
          <p:cNvPr id="57" name="Shape 42"/>
          <p:cNvSpPr/>
          <p:nvPr/>
        </p:nvSpPr>
        <p:spPr>
          <a:xfrm>
            <a:off x="5040496" y="901652"/>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000000">
              <a:alpha val="0"/>
            </a:srgbClr>
          </a:solidFill>
          <a:ln/>
        </p:spPr>
      </p:sp>
      <p:sp>
        <p:nvSpPr>
          <p:cNvPr id="58" name="Text 43"/>
          <p:cNvSpPr/>
          <p:nvPr/>
        </p:nvSpPr>
        <p:spPr>
          <a:xfrm>
            <a:off x="5040496" y="901652"/>
            <a:ext cx="3470826" cy="285750"/>
          </a:xfrm>
          <a:prstGeom prst="rect">
            <a:avLst/>
          </a:prstGeom>
          <a:noFill/>
          <a:ln/>
        </p:spPr>
        <p:txBody>
          <a:bodyPr wrap="square" rtlCol="0" anchor="t"/>
          <a:lstStyle/>
          <a:p>
            <a:pPr algn="l" indent="0" marL="0">
              <a:spcBef>
                <a:spcPts val="375"/>
              </a:spcBef>
              <a:buNone/>
            </a:pPr>
            <a:r>
              <a:rPr lang="en-US" sz="1500" dirty="0">
                <a:solidFill>
                  <a:srgbClr val="45464D"/>
                </a:solidFill>
                <a:latin typeface="Caveat Brush" pitchFamily="34" charset="0"/>
                <a:ea typeface="Caveat Brush" pitchFamily="34" charset="-122"/>
                <a:cs typeface="Caveat Brush" pitchFamily="34" charset="-120"/>
              </a:rPr>
              <a:t>1. Nerv tizimi o'smalari haqida umumiy ma'lumot</a:t>
            </a:r>
            <a:endParaRPr lang="en-US" sz="1050" dirty="0"/>
          </a:p>
        </p:txBody>
      </p:sp>
      <p:sp>
        <p:nvSpPr>
          <p:cNvPr id="59" name="Shape 44"/>
          <p:cNvSpPr/>
          <p:nvPr/>
        </p:nvSpPr>
        <p:spPr>
          <a:xfrm>
            <a:off x="5040496" y="2208530"/>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FFFFFF">
              <a:alpha val="0"/>
            </a:srgbClr>
          </a:solidFill>
          <a:ln/>
        </p:spPr>
      </p:sp>
      <p:sp>
        <p:nvSpPr>
          <p:cNvPr id="60" name="Text 45"/>
          <p:cNvSpPr/>
          <p:nvPr/>
        </p:nvSpPr>
        <p:spPr>
          <a:xfrm>
            <a:off x="5040496" y="2208530"/>
            <a:ext cx="3470826" cy="285750"/>
          </a:xfrm>
          <a:prstGeom prst="rect">
            <a:avLst/>
          </a:prstGeom>
          <a:noFill/>
          <a:ln/>
        </p:spPr>
        <p:txBody>
          <a:bodyPr wrap="square" rtlCol="0" anchor="t"/>
          <a:lstStyle/>
          <a:p>
            <a:pPr indent="0" marL="0">
              <a:spcBef>
                <a:spcPts val="375"/>
              </a:spcBef>
              <a:buNone/>
            </a:pPr>
            <a:endParaRPr lang="en-US" sz="1050" dirty="0"/>
          </a:p>
        </p:txBody>
      </p:sp>
      <p:sp>
        <p:nvSpPr>
          <p:cNvPr id="61" name="Shape 46"/>
          <p:cNvSpPr/>
          <p:nvPr/>
        </p:nvSpPr>
        <p:spPr>
          <a:xfrm>
            <a:off x="5040496" y="2208530"/>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000000">
              <a:alpha val="0"/>
            </a:srgbClr>
          </a:solidFill>
          <a:ln/>
        </p:spPr>
      </p:sp>
      <p:sp>
        <p:nvSpPr>
          <p:cNvPr id="62" name="Text 47"/>
          <p:cNvSpPr/>
          <p:nvPr/>
        </p:nvSpPr>
        <p:spPr>
          <a:xfrm>
            <a:off x="5040496" y="2208530"/>
            <a:ext cx="3470826" cy="285750"/>
          </a:xfrm>
          <a:prstGeom prst="rect">
            <a:avLst/>
          </a:prstGeom>
          <a:noFill/>
          <a:ln/>
        </p:spPr>
        <p:txBody>
          <a:bodyPr wrap="square" rtlCol="0" anchor="t"/>
          <a:lstStyle/>
          <a:p>
            <a:pPr algn="l" indent="0" marL="0">
              <a:spcBef>
                <a:spcPts val="375"/>
              </a:spcBef>
              <a:buNone/>
            </a:pPr>
            <a:r>
              <a:rPr lang="en-US" sz="1500" dirty="0">
                <a:solidFill>
                  <a:srgbClr val="45464D"/>
                </a:solidFill>
                <a:latin typeface="Caveat Brush" pitchFamily="34" charset="0"/>
                <a:ea typeface="Caveat Brush" pitchFamily="34" charset="-122"/>
                <a:cs typeface="Caveat Brush" pitchFamily="34" charset="-120"/>
              </a:rPr>
              <a:t>2. Nerv tizimi o'smalari turlari va belgilar</a:t>
            </a:r>
            <a:endParaRPr lang="en-US" sz="1050" dirty="0"/>
          </a:p>
        </p:txBody>
      </p:sp>
      <p:sp>
        <p:nvSpPr>
          <p:cNvPr id="63" name="Shape 48"/>
          <p:cNvSpPr/>
          <p:nvPr/>
        </p:nvSpPr>
        <p:spPr>
          <a:xfrm>
            <a:off x="5040496" y="3567401"/>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FFFFFF">
              <a:alpha val="0"/>
            </a:srgbClr>
          </a:solidFill>
          <a:ln/>
        </p:spPr>
      </p:sp>
      <p:sp>
        <p:nvSpPr>
          <p:cNvPr id="64" name="Text 49"/>
          <p:cNvSpPr/>
          <p:nvPr/>
        </p:nvSpPr>
        <p:spPr>
          <a:xfrm>
            <a:off x="5040496" y="3567401"/>
            <a:ext cx="3470826" cy="285750"/>
          </a:xfrm>
          <a:prstGeom prst="rect">
            <a:avLst/>
          </a:prstGeom>
          <a:noFill/>
          <a:ln/>
        </p:spPr>
        <p:txBody>
          <a:bodyPr wrap="square" rtlCol="0" anchor="t"/>
          <a:lstStyle/>
          <a:p>
            <a:pPr indent="0" marL="0">
              <a:spcBef>
                <a:spcPts val="375"/>
              </a:spcBef>
              <a:buNone/>
            </a:pPr>
            <a:endParaRPr lang="en-US" sz="1050" dirty="0"/>
          </a:p>
        </p:txBody>
      </p:sp>
      <p:sp>
        <p:nvSpPr>
          <p:cNvPr id="65" name="Shape 50"/>
          <p:cNvSpPr/>
          <p:nvPr/>
        </p:nvSpPr>
        <p:spPr>
          <a:xfrm>
            <a:off x="5040496" y="3567401"/>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000000">
              <a:alpha val="0"/>
            </a:srgbClr>
          </a:solidFill>
          <a:ln/>
        </p:spPr>
      </p:sp>
      <p:sp>
        <p:nvSpPr>
          <p:cNvPr id="66" name="Text 51"/>
          <p:cNvSpPr/>
          <p:nvPr/>
        </p:nvSpPr>
        <p:spPr>
          <a:xfrm>
            <a:off x="5040496" y="3567401"/>
            <a:ext cx="3470826" cy="285750"/>
          </a:xfrm>
          <a:prstGeom prst="rect">
            <a:avLst/>
          </a:prstGeom>
          <a:noFill/>
          <a:ln/>
        </p:spPr>
        <p:txBody>
          <a:bodyPr wrap="square" rtlCol="0" anchor="t"/>
          <a:lstStyle/>
          <a:p>
            <a:pPr algn="l" indent="0" marL="0">
              <a:spcBef>
                <a:spcPts val="375"/>
              </a:spcBef>
              <a:buNone/>
            </a:pPr>
            <a:r>
              <a:rPr lang="en-US" sz="1500" dirty="0">
                <a:solidFill>
                  <a:srgbClr val="45464D"/>
                </a:solidFill>
                <a:latin typeface="Caveat Brush" pitchFamily="34" charset="0"/>
                <a:ea typeface="Caveat Brush" pitchFamily="34" charset="-122"/>
                <a:cs typeface="Caveat Brush" pitchFamily="34" charset="-120"/>
              </a:rPr>
              <a:t>3. Nerv tizimi o'smalarini davolash usullari</a:t>
            </a:r>
            <a:endParaRPr lang="en-US" sz="1050" dirty="0"/>
          </a:p>
        </p:txBody>
      </p:sp>
      <p:pic>
        <p:nvPicPr>
          <p:cNvPr id="67" name="Image 13" descr="./images\slide1_img20.png">    </p:cNvPr>
          <p:cNvPicPr>
            <a:picLocks noChangeAspect="1"/>
          </p:cNvPicPr>
          <p:nvPr/>
        </p:nvPicPr>
        <p:blipFill>
          <a:blip r:embed="rId14"/>
          <a:stretch>
            <a:fillRect/>
          </a:stretch>
        </p:blipFill>
        <p:spPr>
          <a:xfrm>
            <a:off x="890516" y="2422794"/>
            <a:ext cx="1839121" cy="2072151"/>
          </a:xfrm>
          <a:prstGeom prst="rect">
            <a:avLst/>
          </a:prstGeom>
        </p:spPr>
      </p:pic>
      <p:sp>
        <p:nvSpPr>
          <p:cNvPr id="68" name="Shape 52"/>
          <p:cNvSpPr/>
          <p:nvPr/>
        </p:nvSpPr>
        <p:spPr>
          <a:xfrm>
            <a:off x="890516" y="2422794"/>
            <a:ext cx="1839121" cy="2072151"/>
          </a:xfrm>
          <a:custGeom>
            <a:avLst/>
            <a:gdLst/>
            <a:ahLst/>
            <a:cxnLst/>
            <a:rect l="l" t="t" r="r" b="b"/>
            <a:pathLst>
              <a:path w="1839121" h="2072151">
                <a:moveTo>
                  <a:pt x="0" y="0"/>
                </a:moveTo>
                <a:lnTo>
                  <a:pt x="1839121" y="0"/>
                </a:lnTo>
                <a:lnTo>
                  <a:pt x="1839121" y="2072151"/>
                </a:lnTo>
                <a:lnTo>
                  <a:pt x="0" y="2072151"/>
                </a:lnTo>
                <a:close/>
              </a:path>
            </a:pathLst>
          </a:custGeom>
          <a:solidFill>
            <a:srgbClr val="000000">
              <a:alpha val="0"/>
            </a:srgbClr>
          </a:solidFill>
          <a:ln/>
        </p:spPr>
      </p:sp>
      <p:sp>
        <p:nvSpPr>
          <p:cNvPr id="69" name="Text 53"/>
          <p:cNvSpPr/>
          <p:nvPr/>
        </p:nvSpPr>
        <p:spPr>
          <a:xfrm>
            <a:off x="890516" y="2422794"/>
            <a:ext cx="1839121" cy="207215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70" name="Shape 54"/>
          <p:cNvSpPr/>
          <p:nvPr/>
        </p:nvSpPr>
        <p:spPr>
          <a:xfrm>
            <a:off x="890516" y="2422794"/>
            <a:ext cx="1839121" cy="2072151"/>
          </a:xfrm>
          <a:custGeom>
            <a:avLst/>
            <a:gdLst/>
            <a:ahLst/>
            <a:cxnLst/>
            <a:rect l="l" t="t" r="r" b="b"/>
            <a:pathLst>
              <a:path w="1839121" h="2072151">
                <a:moveTo>
                  <a:pt x="0" y="0"/>
                </a:moveTo>
                <a:lnTo>
                  <a:pt x="1839121" y="0"/>
                </a:lnTo>
                <a:lnTo>
                  <a:pt x="1839121" y="2072151"/>
                </a:lnTo>
                <a:lnTo>
                  <a:pt x="0" y="2072151"/>
                </a:lnTo>
                <a:close/>
              </a:path>
            </a:pathLst>
          </a:custGeom>
          <a:solidFill>
            <a:srgbClr val="FFFFFF">
              <a:alpha val="0"/>
            </a:srgbClr>
          </a:solidFill>
          <a:ln/>
        </p:spPr>
      </p:sp>
      <p:sp>
        <p:nvSpPr>
          <p:cNvPr id="71" name="Text 55"/>
          <p:cNvSpPr/>
          <p:nvPr/>
        </p:nvSpPr>
        <p:spPr>
          <a:xfrm>
            <a:off x="890516" y="2422794"/>
            <a:ext cx="1839121" cy="2072151"/>
          </a:xfrm>
          <a:prstGeom prst="rect">
            <a:avLst/>
          </a:prstGeom>
          <a:noFill/>
          <a:ln/>
        </p:spPr>
        <p:txBody>
          <a:bodyPr wrap="square" rtlCol="0" anchor="t"/>
          <a:lstStyle/>
          <a:p>
            <a:pPr indent="0" marL="0">
              <a:spcBef>
                <a:spcPts val="375"/>
              </a:spcBef>
              <a:buNone/>
            </a:pPr>
            <a:endParaRPr lang="en-US" sz="1050" dirty="0"/>
          </a:p>
        </p:txBody>
      </p:sp>
      <p:sp>
        <p:nvSpPr>
          <p:cNvPr id="72" name="Shape 56"/>
          <p:cNvSpPr/>
          <p:nvPr/>
        </p:nvSpPr>
        <p:spPr>
          <a:xfrm>
            <a:off x="890516" y="2422794"/>
            <a:ext cx="1839121" cy="2072151"/>
          </a:xfrm>
          <a:custGeom>
            <a:avLst/>
            <a:gdLst/>
            <a:ahLst/>
            <a:cxnLst/>
            <a:rect l="l" t="t" r="r" b="b"/>
            <a:pathLst>
              <a:path w="1839121" h="2072151">
                <a:moveTo>
                  <a:pt x="0" y="0"/>
                </a:moveTo>
                <a:lnTo>
                  <a:pt x="1839121" y="0"/>
                </a:lnTo>
                <a:lnTo>
                  <a:pt x="1839121" y="2072151"/>
                </a:lnTo>
                <a:lnTo>
                  <a:pt x="0" y="2072151"/>
                </a:lnTo>
                <a:close/>
              </a:path>
            </a:pathLst>
          </a:custGeom>
          <a:solidFill>
            <a:srgbClr val="000000">
              <a:alpha val="0"/>
            </a:srgbClr>
          </a:solidFill>
          <a:ln/>
        </p:spPr>
      </p:sp>
      <p:sp>
        <p:nvSpPr>
          <p:cNvPr id="73" name="Text 57"/>
          <p:cNvSpPr/>
          <p:nvPr/>
        </p:nvSpPr>
        <p:spPr>
          <a:xfrm>
            <a:off x="890516" y="2422794"/>
            <a:ext cx="1839121" cy="207215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74" name="Image 14" descr="./images\slide1_img21.png">    </p:cNvPr>
          <p:cNvPicPr>
            <a:picLocks noChangeAspect="1"/>
          </p:cNvPicPr>
          <p:nvPr/>
        </p:nvPicPr>
        <p:blipFill>
          <a:blip r:embed="rId15"/>
          <a:stretch>
            <a:fillRect/>
          </a:stretch>
        </p:blipFill>
        <p:spPr>
          <a:xfrm>
            <a:off x="890516" y="2422794"/>
            <a:ext cx="1839121" cy="207215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F1F1"/>
        </a:solidFill>
      </p:bgPr>
    </p:bg>
    <p:spTree>
      <p:nvGrpSpPr>
        <p:cNvPr id="1" name=""/>
        <p:cNvGrpSpPr/>
        <p:nvPr/>
      </p:nvGrpSpPr>
      <p:grpSpPr>
        <a:xfrm>
          <a:off x="0" y="0"/>
          <a:ext cx="0" cy="0"/>
          <a:chOff x="0" y="0"/>
          <a:chExt cx="0" cy="0"/>
        </a:xfrm>
      </p:grpSpPr>
      <p:pic>
        <p:nvPicPr>
          <p:cNvPr id="2" name="Image 0" descr="./images\slide4_img51.png">    </p:cNvPr>
          <p:cNvPicPr>
            <a:picLocks noChangeAspect="1"/>
          </p:cNvPicPr>
          <p:nvPr/>
        </p:nvPicPr>
        <p:blipFill>
          <a:blip r:embed="rId1"/>
          <a:stretch>
            <a:fillRect/>
          </a:stretch>
        </p:blipFill>
        <p:spPr>
          <a:xfrm>
            <a:off x="0" y="0"/>
            <a:ext cx="9144000" cy="5143500"/>
          </a:xfrm>
          <a:prstGeom prst="rect">
            <a:avLst/>
          </a:prstGeom>
        </p:spPr>
      </p:pic>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998465" y="1137012"/>
          <a:ext cx="7147070" cy="2771477"/>
        </p:xfrm>
        <a:graphic>
          <a:graphicData uri="http://schemas.openxmlformats.org/drawingml/2006/table">
            <a:tbl>
              <a:tblPr/>
              <a:tblGrid>
                <a:gridCol w="2382357"/>
                <a:gridCol w="2382357"/>
                <a:gridCol w="2382357"/>
              </a:tblGrid>
              <a:tr h="692869">
                <a:tc>
                  <a:txBody>
                    <a:bodyPr/>
                    <a:lstStyle/>
                    <a:p>
                      <a:pPr algn="l" indent="0" marL="0">
                        <a:buNone/>
                      </a:pPr>
                      <a:r>
                        <a:rPr lang="en-US" sz="900" u="none" dirty="0">
                          <a:solidFill>
                            <a:srgbClr val="000000"/>
                          </a:solidFill>
                          <a:latin typeface="Nunito" pitchFamily="34" charset="0"/>
                          <a:ea typeface="Nunito" pitchFamily="34" charset="-122"/>
                          <a:cs typeface="Nunito" pitchFamily="34" charset="-120"/>
                        </a:rPr>
                        <a:t>O'sma nomi</a:t>
                      </a:r>
                      <a:endParaRPr lang="en-US" sz="900" dirty="0">
                        <a:latin typeface="Nunito" charset="0"/>
                        <a:ea typeface="Nunito" charset="0"/>
                        <a:cs typeface="Nunito"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solidFill>
                      <a:srgbClr val="C1C5D4"/>
                    </a:solidFill>
                  </a:tcPr>
                </a:tc>
                <a:tc>
                  <a:txBody>
                    <a:bodyPr/>
                    <a:lstStyle/>
                    <a:p>
                      <a:pPr algn="l" indent="0" marL="0">
                        <a:buNone/>
                      </a:pPr>
                      <a:r>
                        <a:rPr lang="en-US" sz="900" u="none" dirty="0">
                          <a:solidFill>
                            <a:srgbClr val="000000"/>
                          </a:solidFill>
                          <a:latin typeface="Nunito" pitchFamily="34" charset="0"/>
                          <a:ea typeface="Nunito" pitchFamily="34" charset="-122"/>
                          <a:cs typeface="Nunito" pitchFamily="34" charset="-120"/>
                        </a:rPr>
                        <a:t>Turi</a:t>
                      </a:r>
                      <a:endParaRPr lang="en-US" sz="900" dirty="0">
                        <a:latin typeface="Nunito" charset="0"/>
                        <a:ea typeface="Nunito" charset="0"/>
                        <a:cs typeface="Nunito"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solidFill>
                      <a:srgbClr val="C1C5D4"/>
                    </a:solidFill>
                  </a:tcPr>
                </a:tc>
                <a:tc>
                  <a:txBody>
                    <a:bodyPr/>
                    <a:lstStyle/>
                    <a:p>
                      <a:pPr algn="l" indent="0" marL="0">
                        <a:buNone/>
                      </a:pPr>
                      <a:r>
                        <a:rPr lang="en-US" sz="900" u="none" dirty="0">
                          <a:solidFill>
                            <a:srgbClr val="000000"/>
                          </a:solidFill>
                          <a:latin typeface="Nunito" pitchFamily="34" charset="0"/>
                          <a:ea typeface="Nunito" pitchFamily="34" charset="-122"/>
                          <a:cs typeface="Nunito" pitchFamily="34" charset="-120"/>
                        </a:rPr>
                        <a:t>Joylashuvi</a:t>
                      </a:r>
                      <a:endParaRPr lang="en-US" sz="900" dirty="0">
                        <a:latin typeface="Nunito" charset="0"/>
                        <a:ea typeface="Nunito" charset="0"/>
                        <a:cs typeface="Nunito"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solidFill>
                      <a:srgbClr val="C1C5D4"/>
                    </a:solidFill>
                  </a:tcPr>
                </a:tc>
              </a:tr>
              <a:tr h="692869">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Astrositoma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Benign</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Miya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r h="692869">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Meningioma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Benign</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Miya qoplamasi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r h="692869">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Neuroblastoma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Malign</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Nerv tizimi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bl>
          </a:graphicData>
        </a:graphic>
      </p:graphicFrame>
      <p:sp>
        <p:nvSpPr>
          <p:cNvPr id="4" name="Shape 0"/>
          <p:cNvSpPr/>
          <p:nvPr/>
        </p:nvSpPr>
        <p:spPr>
          <a:xfrm>
            <a:off x="874050" y="246298"/>
            <a:ext cx="7395900" cy="666750"/>
          </a:xfrm>
          <a:custGeom>
            <a:avLst/>
            <a:gdLst/>
            <a:ahLst/>
            <a:cxnLst/>
            <a:rect l="l" t="t" r="r" b="b"/>
            <a:pathLst>
              <a:path w="7395900" h="666750">
                <a:moveTo>
                  <a:pt x="0" y="0"/>
                </a:moveTo>
                <a:lnTo>
                  <a:pt x="7395900" y="0"/>
                </a:lnTo>
                <a:lnTo>
                  <a:pt x="7395900" y="666750"/>
                </a:lnTo>
                <a:lnTo>
                  <a:pt x="0" y="666750"/>
                </a:lnTo>
                <a:close/>
              </a:path>
            </a:pathLst>
          </a:custGeom>
          <a:solidFill>
            <a:srgbClr val="FFFFFF">
              <a:alpha val="0"/>
            </a:srgbClr>
          </a:solidFill>
          <a:ln/>
        </p:spPr>
      </p:sp>
      <p:sp>
        <p:nvSpPr>
          <p:cNvPr id="5" name="Text 1"/>
          <p:cNvSpPr/>
          <p:nvPr/>
        </p:nvSpPr>
        <p:spPr>
          <a:xfrm>
            <a:off x="874050" y="246298"/>
            <a:ext cx="7395900" cy="6667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874050" y="246298"/>
            <a:ext cx="7395900" cy="666750"/>
          </a:xfrm>
          <a:custGeom>
            <a:avLst/>
            <a:gdLst/>
            <a:ahLst/>
            <a:cxnLst/>
            <a:rect l="l" t="t" r="r" b="b"/>
            <a:pathLst>
              <a:path w="7395900" h="666750">
                <a:moveTo>
                  <a:pt x="0" y="0"/>
                </a:moveTo>
                <a:lnTo>
                  <a:pt x="7395900" y="0"/>
                </a:lnTo>
                <a:lnTo>
                  <a:pt x="7395900" y="666750"/>
                </a:lnTo>
                <a:lnTo>
                  <a:pt x="0" y="666750"/>
                </a:lnTo>
                <a:close/>
              </a:path>
            </a:pathLst>
          </a:custGeom>
          <a:solidFill>
            <a:srgbClr val="000000">
              <a:alpha val="0"/>
            </a:srgbClr>
          </a:solidFill>
          <a:ln/>
        </p:spPr>
      </p:sp>
      <p:sp>
        <p:nvSpPr>
          <p:cNvPr id="7" name="Text 3"/>
          <p:cNvSpPr/>
          <p:nvPr/>
        </p:nvSpPr>
        <p:spPr>
          <a:xfrm>
            <a:off x="874050" y="246298"/>
            <a:ext cx="7395900" cy="6667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Nerv tizimi o'smalari turlari</a:t>
            </a:r>
            <a:endParaRPr lang="en-US" sz="1050" dirty="0"/>
          </a:p>
        </p:txBody>
      </p:sp>
      <p:pic>
        <p:nvPicPr>
          <p:cNvPr id="8" name="Image 1" descr="./images\slide4_img52.png">    </p:cNvPr>
          <p:cNvPicPr>
            <a:picLocks noChangeAspect="1"/>
          </p:cNvPicPr>
          <p:nvPr/>
        </p:nvPicPr>
        <p:blipFill>
          <a:blip r:embed="rId2"/>
          <a:stretch>
            <a:fillRect/>
          </a:stretch>
        </p:blipFill>
        <p:spPr>
          <a:xfrm rot="-1800000">
            <a:off x="7936523" y="1969549"/>
            <a:ext cx="1198261" cy="1707367"/>
          </a:xfrm>
          <a:prstGeom prst="rect">
            <a:avLst/>
          </a:prstGeom>
        </p:spPr>
      </p:pic>
      <p:sp>
        <p:nvSpPr>
          <p:cNvPr id="9" name="Shape 4"/>
          <p:cNvSpPr/>
          <p:nvPr/>
        </p:nvSpPr>
        <p:spPr>
          <a:xfrm rot="-1800000">
            <a:off x="7936523" y="1969549"/>
            <a:ext cx="1198261" cy="1707367"/>
          </a:xfrm>
          <a:custGeom>
            <a:avLst/>
            <a:gdLst/>
            <a:ahLst/>
            <a:cxnLst/>
            <a:rect l="l" t="t" r="r" b="b"/>
            <a:pathLst>
              <a:path w="1198261" h="1707367">
                <a:moveTo>
                  <a:pt x="0" y="0"/>
                </a:moveTo>
                <a:lnTo>
                  <a:pt x="1198261" y="0"/>
                </a:lnTo>
                <a:lnTo>
                  <a:pt x="1198261" y="1707367"/>
                </a:lnTo>
                <a:lnTo>
                  <a:pt x="0" y="1707367"/>
                </a:lnTo>
                <a:close/>
              </a:path>
            </a:pathLst>
          </a:custGeom>
          <a:solidFill>
            <a:srgbClr val="FFFFFF">
              <a:alpha val="0"/>
            </a:srgbClr>
          </a:solidFill>
          <a:ln/>
        </p:spPr>
      </p:sp>
      <p:sp>
        <p:nvSpPr>
          <p:cNvPr id="10" name="Text 5"/>
          <p:cNvSpPr/>
          <p:nvPr/>
        </p:nvSpPr>
        <p:spPr>
          <a:xfrm rot="-1800000">
            <a:off x="7936523" y="1969549"/>
            <a:ext cx="1198261" cy="1707367"/>
          </a:xfrm>
          <a:prstGeom prst="rect">
            <a:avLst/>
          </a:prstGeom>
          <a:noFill/>
          <a:ln/>
        </p:spPr>
        <p:txBody>
          <a:bodyPr wrap="square" rtlCol="0" anchor="t"/>
          <a:lstStyle/>
          <a:p>
            <a:pPr indent="0" marL="0">
              <a:spcBef>
                <a:spcPts val="375"/>
              </a:spcBef>
              <a:buNone/>
            </a:pPr>
            <a:endParaRPr lang="en-US" sz="1050" dirty="0"/>
          </a:p>
        </p:txBody>
      </p:sp>
      <p:sp>
        <p:nvSpPr>
          <p:cNvPr id="11" name="Shape 6"/>
          <p:cNvSpPr/>
          <p:nvPr/>
        </p:nvSpPr>
        <p:spPr>
          <a:xfrm rot="-1800000">
            <a:off x="7936523" y="1969549"/>
            <a:ext cx="1198261" cy="1707367"/>
          </a:xfrm>
          <a:custGeom>
            <a:avLst/>
            <a:gdLst/>
            <a:ahLst/>
            <a:cxnLst/>
            <a:rect l="l" t="t" r="r" b="b"/>
            <a:pathLst>
              <a:path w="1198261" h="1707367">
                <a:moveTo>
                  <a:pt x="0" y="0"/>
                </a:moveTo>
                <a:lnTo>
                  <a:pt x="1198261" y="0"/>
                </a:lnTo>
                <a:lnTo>
                  <a:pt x="1198261" y="1707367"/>
                </a:lnTo>
                <a:lnTo>
                  <a:pt x="0" y="1707367"/>
                </a:lnTo>
                <a:close/>
              </a:path>
            </a:pathLst>
          </a:custGeom>
          <a:solidFill>
            <a:srgbClr val="000000">
              <a:alpha val="0"/>
            </a:srgbClr>
          </a:solidFill>
          <a:ln/>
        </p:spPr>
      </p:sp>
      <p:sp>
        <p:nvSpPr>
          <p:cNvPr id="12" name="Text 7"/>
          <p:cNvSpPr/>
          <p:nvPr/>
        </p:nvSpPr>
        <p:spPr>
          <a:xfrm rot="-1800000">
            <a:off x="7936523" y="1969549"/>
            <a:ext cx="1198261" cy="1707367"/>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3" name="Image 2" descr="./images\slide4_img53.png">    </p:cNvPr>
          <p:cNvPicPr>
            <a:picLocks noChangeAspect="1"/>
          </p:cNvPicPr>
          <p:nvPr/>
        </p:nvPicPr>
        <p:blipFill>
          <a:blip r:embed="rId3"/>
          <a:stretch>
            <a:fillRect/>
          </a:stretch>
        </p:blipFill>
        <p:spPr>
          <a:xfrm rot="-1800000">
            <a:off x="7936523" y="1969549"/>
            <a:ext cx="1198261" cy="1707367"/>
          </a:xfrm>
          <a:prstGeom prst="rect">
            <a:avLst/>
          </a:prstGeom>
        </p:spPr>
      </p:pic>
      <p:pic>
        <p:nvPicPr>
          <p:cNvPr id="14" name="Image 3" descr="./images\slide4_img54.png">    </p:cNvPr>
          <p:cNvPicPr>
            <a:picLocks noChangeAspect="1"/>
          </p:cNvPicPr>
          <p:nvPr/>
        </p:nvPicPr>
        <p:blipFill>
          <a:blip r:embed="rId4"/>
          <a:stretch>
            <a:fillRect/>
          </a:stretch>
        </p:blipFill>
        <p:spPr>
          <a:xfrm rot="4620000">
            <a:off x="-282748" y="3452461"/>
            <a:ext cx="1086318" cy="1547864"/>
          </a:xfrm>
          <a:prstGeom prst="rect">
            <a:avLst/>
          </a:prstGeom>
        </p:spPr>
      </p:pic>
      <p:sp>
        <p:nvSpPr>
          <p:cNvPr id="15" name="Shape 8"/>
          <p:cNvSpPr/>
          <p:nvPr/>
        </p:nvSpPr>
        <p:spPr>
          <a:xfrm rot="4620000">
            <a:off x="-282748" y="3452461"/>
            <a:ext cx="1086318" cy="1547864"/>
          </a:xfrm>
          <a:custGeom>
            <a:avLst/>
            <a:gdLst/>
            <a:ahLst/>
            <a:cxnLst/>
            <a:rect l="l" t="t" r="r" b="b"/>
            <a:pathLst>
              <a:path w="1086318" h="1547864">
                <a:moveTo>
                  <a:pt x="0" y="0"/>
                </a:moveTo>
                <a:lnTo>
                  <a:pt x="1086318" y="0"/>
                </a:lnTo>
                <a:lnTo>
                  <a:pt x="1086318" y="1547864"/>
                </a:lnTo>
                <a:lnTo>
                  <a:pt x="0" y="1547864"/>
                </a:lnTo>
                <a:close/>
              </a:path>
            </a:pathLst>
          </a:custGeom>
          <a:solidFill>
            <a:srgbClr val="FFFFFF">
              <a:alpha val="0"/>
            </a:srgbClr>
          </a:solidFill>
          <a:ln/>
        </p:spPr>
      </p:sp>
      <p:sp>
        <p:nvSpPr>
          <p:cNvPr id="16" name="Text 9"/>
          <p:cNvSpPr/>
          <p:nvPr/>
        </p:nvSpPr>
        <p:spPr>
          <a:xfrm rot="4620000">
            <a:off x="-282748" y="3452461"/>
            <a:ext cx="1086318" cy="1547864"/>
          </a:xfrm>
          <a:prstGeom prst="rect">
            <a:avLst/>
          </a:prstGeom>
          <a:noFill/>
          <a:ln/>
        </p:spPr>
        <p:txBody>
          <a:bodyPr wrap="square" rtlCol="0" anchor="t"/>
          <a:lstStyle/>
          <a:p>
            <a:pPr indent="0" marL="0">
              <a:spcBef>
                <a:spcPts val="375"/>
              </a:spcBef>
              <a:buNone/>
            </a:pPr>
            <a:endParaRPr lang="en-US" sz="1050" dirty="0"/>
          </a:p>
        </p:txBody>
      </p:sp>
      <p:sp>
        <p:nvSpPr>
          <p:cNvPr id="17" name="Shape 10"/>
          <p:cNvSpPr/>
          <p:nvPr/>
        </p:nvSpPr>
        <p:spPr>
          <a:xfrm rot="4620000">
            <a:off x="-282748" y="3452461"/>
            <a:ext cx="1086318" cy="1547864"/>
          </a:xfrm>
          <a:custGeom>
            <a:avLst/>
            <a:gdLst/>
            <a:ahLst/>
            <a:cxnLst/>
            <a:rect l="l" t="t" r="r" b="b"/>
            <a:pathLst>
              <a:path w="1086318" h="1547864">
                <a:moveTo>
                  <a:pt x="0" y="0"/>
                </a:moveTo>
                <a:lnTo>
                  <a:pt x="1086318" y="0"/>
                </a:lnTo>
                <a:lnTo>
                  <a:pt x="1086318" y="1547864"/>
                </a:lnTo>
                <a:lnTo>
                  <a:pt x="0" y="1547864"/>
                </a:lnTo>
                <a:close/>
              </a:path>
            </a:pathLst>
          </a:custGeom>
          <a:solidFill>
            <a:srgbClr val="000000">
              <a:alpha val="0"/>
            </a:srgbClr>
          </a:solidFill>
          <a:ln/>
        </p:spPr>
      </p:sp>
      <p:sp>
        <p:nvSpPr>
          <p:cNvPr id="18" name="Text 11"/>
          <p:cNvSpPr/>
          <p:nvPr/>
        </p:nvSpPr>
        <p:spPr>
          <a:xfrm rot="4620000">
            <a:off x="-282748" y="3452461"/>
            <a:ext cx="1086318" cy="154786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9" name="Image 4" descr="./images\slide4_img55.png">    </p:cNvPr>
          <p:cNvPicPr>
            <a:picLocks noChangeAspect="1"/>
          </p:cNvPicPr>
          <p:nvPr/>
        </p:nvPicPr>
        <p:blipFill>
          <a:blip r:embed="rId5"/>
          <a:stretch>
            <a:fillRect/>
          </a:stretch>
        </p:blipFill>
        <p:spPr>
          <a:xfrm rot="4620000">
            <a:off x="-282748" y="3452461"/>
            <a:ext cx="1086318" cy="15478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1F1"/>
        </a:solidFill>
      </p:bgPr>
    </p:bg>
    <p:spTree>
      <p:nvGrpSpPr>
        <p:cNvPr id="1" name=""/>
        <p:cNvGrpSpPr/>
        <p:nvPr/>
      </p:nvGrpSpPr>
      <p:grpSpPr>
        <a:xfrm>
          <a:off x="0" y="0"/>
          <a:ext cx="0" cy="0"/>
          <a:chOff x="0" y="0"/>
          <a:chExt cx="0" cy="0"/>
        </a:xfrm>
      </p:grpSpPr>
      <p:pic>
        <p:nvPicPr>
          <p:cNvPr id="2" name="Image 0" descr="./images\slide5_img56.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5_img57.png">    </p:cNvPr>
          <p:cNvPicPr>
            <a:picLocks noChangeAspect="1"/>
          </p:cNvPicPr>
          <p:nvPr/>
        </p:nvPicPr>
        <p:blipFill>
          <a:blip r:embed="rId2"/>
          <a:stretch>
            <a:fillRect/>
          </a:stretch>
        </p:blipFill>
        <p:spPr>
          <a:xfrm>
            <a:off x="3385895" y="1452747"/>
            <a:ext cx="2299344" cy="2299344"/>
          </a:xfrm>
          <a:prstGeom prst="rect">
            <a:avLst/>
          </a:prstGeom>
        </p:spPr>
      </p:pic>
      <p:sp>
        <p:nvSpPr>
          <p:cNvPr id="4" name="Shape 0"/>
          <p:cNvSpPr/>
          <p:nvPr/>
        </p:nvSpPr>
        <p:spPr>
          <a:xfrm>
            <a:off x="3385895"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5" name="Text 1"/>
          <p:cNvSpPr/>
          <p:nvPr/>
        </p:nvSpPr>
        <p:spPr>
          <a:xfrm>
            <a:off x="3385895"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3385895"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7" name="Text 3"/>
          <p:cNvSpPr/>
          <p:nvPr/>
        </p:nvSpPr>
        <p:spPr>
          <a:xfrm>
            <a:off x="3385895"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5_img58.png">    </p:cNvPr>
          <p:cNvPicPr>
            <a:picLocks noChangeAspect="1"/>
          </p:cNvPicPr>
          <p:nvPr/>
        </p:nvPicPr>
        <p:blipFill>
          <a:blip r:embed="rId3"/>
          <a:stretch>
            <a:fillRect/>
          </a:stretch>
        </p:blipFill>
        <p:spPr>
          <a:xfrm>
            <a:off x="3385895" y="1452747"/>
            <a:ext cx="2299344" cy="2299344"/>
          </a:xfrm>
          <a:prstGeom prst="rect">
            <a:avLst/>
          </a:prstGeom>
        </p:spPr>
      </p:pic>
      <p:pic>
        <p:nvPicPr>
          <p:cNvPr id="9" name="Image 3" descr="./images\slide5_img59.png">    </p:cNvPr>
          <p:cNvPicPr>
            <a:picLocks noChangeAspect="1"/>
          </p:cNvPicPr>
          <p:nvPr/>
        </p:nvPicPr>
        <p:blipFill>
          <a:blip r:embed="rId4"/>
          <a:stretch>
            <a:fillRect/>
          </a:stretch>
        </p:blipFill>
        <p:spPr>
          <a:xfrm>
            <a:off x="6193097" y="1452747"/>
            <a:ext cx="2299344" cy="2299344"/>
          </a:xfrm>
          <a:prstGeom prst="rect">
            <a:avLst/>
          </a:prstGeom>
        </p:spPr>
      </p:pic>
      <p:sp>
        <p:nvSpPr>
          <p:cNvPr id="10" name="Shape 4"/>
          <p:cNvSpPr/>
          <p:nvPr/>
        </p:nvSpPr>
        <p:spPr>
          <a:xfrm>
            <a:off x="6193097"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11" name="Text 5"/>
          <p:cNvSpPr/>
          <p:nvPr/>
        </p:nvSpPr>
        <p:spPr>
          <a:xfrm>
            <a:off x="6193097"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6193097"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13" name="Text 7"/>
          <p:cNvSpPr/>
          <p:nvPr/>
        </p:nvSpPr>
        <p:spPr>
          <a:xfrm>
            <a:off x="6193097"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5_img60.png">    </p:cNvPr>
          <p:cNvPicPr>
            <a:picLocks noChangeAspect="1"/>
          </p:cNvPicPr>
          <p:nvPr/>
        </p:nvPicPr>
        <p:blipFill>
          <a:blip r:embed="rId5"/>
          <a:stretch>
            <a:fillRect/>
          </a:stretch>
        </p:blipFill>
        <p:spPr>
          <a:xfrm>
            <a:off x="6193097" y="1452747"/>
            <a:ext cx="2299344" cy="2299344"/>
          </a:xfrm>
          <a:prstGeom prst="rect">
            <a:avLst/>
          </a:prstGeom>
        </p:spPr>
      </p:pic>
      <p:pic>
        <p:nvPicPr>
          <p:cNvPr id="15" name="Image 5" descr="./images\slide5_img61.png">    </p:cNvPr>
          <p:cNvPicPr>
            <a:picLocks noChangeAspect="1"/>
          </p:cNvPicPr>
          <p:nvPr/>
        </p:nvPicPr>
        <p:blipFill>
          <a:blip r:embed="rId6"/>
          <a:stretch>
            <a:fillRect/>
          </a:stretch>
        </p:blipFill>
        <p:spPr>
          <a:xfrm>
            <a:off x="651178" y="1452747"/>
            <a:ext cx="2299344" cy="2299344"/>
          </a:xfrm>
          <a:prstGeom prst="rect">
            <a:avLst/>
          </a:prstGeom>
        </p:spPr>
      </p:pic>
      <p:sp>
        <p:nvSpPr>
          <p:cNvPr id="16" name="Shape 8"/>
          <p:cNvSpPr/>
          <p:nvPr/>
        </p:nvSpPr>
        <p:spPr>
          <a:xfrm>
            <a:off x="651178"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17" name="Text 9"/>
          <p:cNvSpPr/>
          <p:nvPr/>
        </p:nvSpPr>
        <p:spPr>
          <a:xfrm>
            <a:off x="651178"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a:off x="651178"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19" name="Text 11"/>
          <p:cNvSpPr/>
          <p:nvPr/>
        </p:nvSpPr>
        <p:spPr>
          <a:xfrm>
            <a:off x="651178"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0" name="Image 6" descr="./images\slide5_img62.png">    </p:cNvPr>
          <p:cNvPicPr>
            <a:picLocks noChangeAspect="1"/>
          </p:cNvPicPr>
          <p:nvPr/>
        </p:nvPicPr>
        <p:blipFill>
          <a:blip r:embed="rId7"/>
          <a:stretch>
            <a:fillRect/>
          </a:stretch>
        </p:blipFill>
        <p:spPr>
          <a:xfrm>
            <a:off x="651178" y="1452747"/>
            <a:ext cx="2299344" cy="2299344"/>
          </a:xfrm>
          <a:prstGeom prst="rect">
            <a:avLst/>
          </a:prstGeom>
        </p:spPr>
      </p:pic>
      <p:pic>
        <p:nvPicPr>
          <p:cNvPr id="21" name="Image 7" descr="./images\slide5_img63.png">    </p:cNvPr>
          <p:cNvPicPr>
            <a:picLocks noChangeAspect="1"/>
          </p:cNvPicPr>
          <p:nvPr/>
        </p:nvPicPr>
        <p:blipFill>
          <a:blip r:embed="rId8"/>
          <a:stretch>
            <a:fillRect/>
          </a:stretch>
        </p:blipFill>
        <p:spPr>
          <a:xfrm>
            <a:off x="551228" y="1377789"/>
            <a:ext cx="2499245" cy="2449260"/>
          </a:xfrm>
          <a:prstGeom prst="rect">
            <a:avLst/>
          </a:prstGeom>
        </p:spPr>
      </p:pic>
      <p:sp>
        <p:nvSpPr>
          <p:cNvPr id="22" name="Shape 12"/>
          <p:cNvSpPr/>
          <p:nvPr/>
        </p:nvSpPr>
        <p:spPr>
          <a:xfrm>
            <a:off x="5512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23" name="Text 13"/>
          <p:cNvSpPr/>
          <p:nvPr/>
        </p:nvSpPr>
        <p:spPr>
          <a:xfrm>
            <a:off x="55122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24" name="Shape 14"/>
          <p:cNvSpPr/>
          <p:nvPr/>
        </p:nvSpPr>
        <p:spPr>
          <a:xfrm>
            <a:off x="5512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25" name="Text 15"/>
          <p:cNvSpPr/>
          <p:nvPr/>
        </p:nvSpPr>
        <p:spPr>
          <a:xfrm>
            <a:off x="55122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6" name="Image 8" descr="./images\slide5_img64.png">    </p:cNvPr>
          <p:cNvPicPr>
            <a:picLocks noChangeAspect="1"/>
          </p:cNvPicPr>
          <p:nvPr/>
        </p:nvPicPr>
        <p:blipFill>
          <a:blip r:embed="rId9"/>
          <a:stretch>
            <a:fillRect/>
          </a:stretch>
        </p:blipFill>
        <p:spPr>
          <a:xfrm>
            <a:off x="551228" y="1377789"/>
            <a:ext cx="2499245" cy="2449260"/>
          </a:xfrm>
          <a:prstGeom prst="rect">
            <a:avLst/>
          </a:prstGeom>
        </p:spPr>
      </p:pic>
      <p:pic>
        <p:nvPicPr>
          <p:cNvPr id="27" name="Image 9" descr="./images\slide5_img65.png">    </p:cNvPr>
          <p:cNvPicPr>
            <a:picLocks noChangeAspect="1"/>
          </p:cNvPicPr>
          <p:nvPr/>
        </p:nvPicPr>
        <p:blipFill>
          <a:blip r:embed="rId10"/>
          <a:stretch>
            <a:fillRect/>
          </a:stretch>
        </p:blipFill>
        <p:spPr>
          <a:xfrm>
            <a:off x="3322378" y="1377789"/>
            <a:ext cx="2499245" cy="2449260"/>
          </a:xfrm>
          <a:prstGeom prst="rect">
            <a:avLst/>
          </a:prstGeom>
        </p:spPr>
      </p:pic>
      <p:sp>
        <p:nvSpPr>
          <p:cNvPr id="28" name="Shape 16"/>
          <p:cNvSpPr/>
          <p:nvPr/>
        </p:nvSpPr>
        <p:spPr>
          <a:xfrm>
            <a:off x="332237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29" name="Text 17"/>
          <p:cNvSpPr/>
          <p:nvPr/>
        </p:nvSpPr>
        <p:spPr>
          <a:xfrm>
            <a:off x="332237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30" name="Shape 18"/>
          <p:cNvSpPr/>
          <p:nvPr/>
        </p:nvSpPr>
        <p:spPr>
          <a:xfrm>
            <a:off x="332237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31" name="Text 19"/>
          <p:cNvSpPr/>
          <p:nvPr/>
        </p:nvSpPr>
        <p:spPr>
          <a:xfrm>
            <a:off x="332237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2" name="Image 10" descr="./images\slide5_img66.png">    </p:cNvPr>
          <p:cNvPicPr>
            <a:picLocks noChangeAspect="1"/>
          </p:cNvPicPr>
          <p:nvPr/>
        </p:nvPicPr>
        <p:blipFill>
          <a:blip r:embed="rId11"/>
          <a:stretch>
            <a:fillRect/>
          </a:stretch>
        </p:blipFill>
        <p:spPr>
          <a:xfrm>
            <a:off x="3322378" y="1377789"/>
            <a:ext cx="2499245" cy="2449260"/>
          </a:xfrm>
          <a:prstGeom prst="rect">
            <a:avLst/>
          </a:prstGeom>
        </p:spPr>
      </p:pic>
      <p:pic>
        <p:nvPicPr>
          <p:cNvPr id="33" name="Image 11" descr="./images\slide5_img67.png">    </p:cNvPr>
          <p:cNvPicPr>
            <a:picLocks noChangeAspect="1"/>
          </p:cNvPicPr>
          <p:nvPr/>
        </p:nvPicPr>
        <p:blipFill>
          <a:blip r:embed="rId12"/>
          <a:stretch>
            <a:fillRect/>
          </a:stretch>
        </p:blipFill>
        <p:spPr>
          <a:xfrm>
            <a:off x="6093528" y="1377789"/>
            <a:ext cx="2499245" cy="2449260"/>
          </a:xfrm>
          <a:prstGeom prst="rect">
            <a:avLst/>
          </a:prstGeom>
        </p:spPr>
      </p:pic>
      <p:sp>
        <p:nvSpPr>
          <p:cNvPr id="34" name="Shape 20"/>
          <p:cNvSpPr/>
          <p:nvPr/>
        </p:nvSpPr>
        <p:spPr>
          <a:xfrm>
            <a:off x="60935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35" name="Text 21"/>
          <p:cNvSpPr/>
          <p:nvPr/>
        </p:nvSpPr>
        <p:spPr>
          <a:xfrm>
            <a:off x="609352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36" name="Shape 22"/>
          <p:cNvSpPr/>
          <p:nvPr/>
        </p:nvSpPr>
        <p:spPr>
          <a:xfrm>
            <a:off x="60935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37" name="Text 23"/>
          <p:cNvSpPr/>
          <p:nvPr/>
        </p:nvSpPr>
        <p:spPr>
          <a:xfrm>
            <a:off x="609352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8" name="Image 12" descr="./images\slide5_img68.png">    </p:cNvPr>
          <p:cNvPicPr>
            <a:picLocks noChangeAspect="1"/>
          </p:cNvPicPr>
          <p:nvPr/>
        </p:nvPicPr>
        <p:blipFill>
          <a:blip r:embed="rId13"/>
          <a:stretch>
            <a:fillRect/>
          </a:stretch>
        </p:blipFill>
        <p:spPr>
          <a:xfrm>
            <a:off x="6093528" y="1377789"/>
            <a:ext cx="2499245" cy="2449260"/>
          </a:xfrm>
          <a:prstGeom prst="rect">
            <a:avLst/>
          </a:prstGeom>
        </p:spPr>
      </p:pic>
      <p:sp>
        <p:nvSpPr>
          <p:cNvPr id="39" name="Shape 24"/>
          <p:cNvSpPr/>
          <p:nvPr/>
        </p:nvSpPr>
        <p:spPr>
          <a:xfrm>
            <a:off x="874042" y="197820"/>
            <a:ext cx="7395900" cy="552450"/>
          </a:xfrm>
          <a:custGeom>
            <a:avLst/>
            <a:gdLst/>
            <a:ahLst/>
            <a:cxnLst/>
            <a:rect l="l" t="t" r="r" b="b"/>
            <a:pathLst>
              <a:path w="7395900" h="552450">
                <a:moveTo>
                  <a:pt x="0" y="0"/>
                </a:moveTo>
                <a:lnTo>
                  <a:pt x="7395900" y="0"/>
                </a:lnTo>
                <a:lnTo>
                  <a:pt x="7395900" y="552450"/>
                </a:lnTo>
                <a:lnTo>
                  <a:pt x="0" y="552450"/>
                </a:lnTo>
                <a:close/>
              </a:path>
            </a:pathLst>
          </a:custGeom>
          <a:solidFill>
            <a:srgbClr val="FFFFFF">
              <a:alpha val="0"/>
            </a:srgbClr>
          </a:solidFill>
          <a:ln/>
        </p:spPr>
      </p:sp>
      <p:sp>
        <p:nvSpPr>
          <p:cNvPr id="40" name="Text 25"/>
          <p:cNvSpPr/>
          <p:nvPr/>
        </p:nvSpPr>
        <p:spPr>
          <a:xfrm>
            <a:off x="874042" y="197820"/>
            <a:ext cx="7395900" cy="552450"/>
          </a:xfrm>
          <a:prstGeom prst="rect">
            <a:avLst/>
          </a:prstGeom>
          <a:noFill/>
          <a:ln/>
        </p:spPr>
        <p:txBody>
          <a:bodyPr wrap="square" rtlCol="0" anchor="t"/>
          <a:lstStyle/>
          <a:p>
            <a:pPr indent="0" marL="0">
              <a:spcBef>
                <a:spcPts val="375"/>
              </a:spcBef>
              <a:buNone/>
            </a:pPr>
            <a:endParaRPr lang="en-US" sz="1050" dirty="0"/>
          </a:p>
        </p:txBody>
      </p:sp>
      <p:sp>
        <p:nvSpPr>
          <p:cNvPr id="41" name="Shape 26"/>
          <p:cNvSpPr/>
          <p:nvPr/>
        </p:nvSpPr>
        <p:spPr>
          <a:xfrm>
            <a:off x="874042" y="197820"/>
            <a:ext cx="7395900" cy="552450"/>
          </a:xfrm>
          <a:custGeom>
            <a:avLst/>
            <a:gdLst/>
            <a:ahLst/>
            <a:cxnLst/>
            <a:rect l="l" t="t" r="r" b="b"/>
            <a:pathLst>
              <a:path w="7395900" h="552450">
                <a:moveTo>
                  <a:pt x="0" y="0"/>
                </a:moveTo>
                <a:lnTo>
                  <a:pt x="7395900" y="0"/>
                </a:lnTo>
                <a:lnTo>
                  <a:pt x="7395900" y="552450"/>
                </a:lnTo>
                <a:lnTo>
                  <a:pt x="0" y="552450"/>
                </a:lnTo>
                <a:close/>
              </a:path>
            </a:pathLst>
          </a:custGeom>
          <a:solidFill>
            <a:srgbClr val="000000">
              <a:alpha val="0"/>
            </a:srgbClr>
          </a:solidFill>
          <a:ln/>
        </p:spPr>
      </p:sp>
      <p:sp>
        <p:nvSpPr>
          <p:cNvPr id="42" name="Text 27"/>
          <p:cNvSpPr/>
          <p:nvPr/>
        </p:nvSpPr>
        <p:spPr>
          <a:xfrm>
            <a:off x="874042" y="197820"/>
            <a:ext cx="7395900" cy="5524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Nerv tizimi o'smalari turlari</a:t>
            </a:r>
            <a:endParaRPr lang="en-US" sz="1050" dirty="0"/>
          </a:p>
        </p:txBody>
      </p:sp>
      <p:sp>
        <p:nvSpPr>
          <p:cNvPr id="43" name="Shape 28"/>
          <p:cNvSpPr/>
          <p:nvPr/>
        </p:nvSpPr>
        <p:spPr>
          <a:xfrm>
            <a:off x="651178" y="1478873"/>
            <a:ext cx="2269341" cy="603796"/>
          </a:xfrm>
          <a:custGeom>
            <a:avLst/>
            <a:gdLst/>
            <a:ahLst/>
            <a:cxnLst/>
            <a:rect l="l" t="t" r="r" b="b"/>
            <a:pathLst>
              <a:path w="2269341" h="603796">
                <a:moveTo>
                  <a:pt x="0" y="0"/>
                </a:moveTo>
                <a:lnTo>
                  <a:pt x="2269341" y="0"/>
                </a:lnTo>
                <a:lnTo>
                  <a:pt x="2269341" y="603796"/>
                </a:lnTo>
                <a:lnTo>
                  <a:pt x="0" y="603796"/>
                </a:lnTo>
                <a:close/>
              </a:path>
            </a:pathLst>
          </a:custGeom>
          <a:solidFill>
            <a:srgbClr val="FFFFFF">
              <a:alpha val="0"/>
            </a:srgbClr>
          </a:solidFill>
          <a:ln/>
        </p:spPr>
      </p:sp>
      <p:sp>
        <p:nvSpPr>
          <p:cNvPr id="44" name="Text 29"/>
          <p:cNvSpPr/>
          <p:nvPr/>
        </p:nvSpPr>
        <p:spPr>
          <a:xfrm>
            <a:off x="651178" y="1478873"/>
            <a:ext cx="2269341" cy="603796"/>
          </a:xfrm>
          <a:prstGeom prst="rect">
            <a:avLst/>
          </a:prstGeom>
          <a:noFill/>
          <a:ln/>
        </p:spPr>
        <p:txBody>
          <a:bodyPr wrap="square" rtlCol="0" anchor="t"/>
          <a:lstStyle/>
          <a:p>
            <a:pPr indent="0" marL="0">
              <a:spcBef>
                <a:spcPts val="375"/>
              </a:spcBef>
              <a:buNone/>
            </a:pPr>
            <a:endParaRPr lang="en-US" sz="1050" dirty="0"/>
          </a:p>
        </p:txBody>
      </p:sp>
      <p:sp>
        <p:nvSpPr>
          <p:cNvPr id="45" name="Shape 30"/>
          <p:cNvSpPr/>
          <p:nvPr/>
        </p:nvSpPr>
        <p:spPr>
          <a:xfrm>
            <a:off x="651178" y="1478873"/>
            <a:ext cx="2269341" cy="603796"/>
          </a:xfrm>
          <a:custGeom>
            <a:avLst/>
            <a:gdLst/>
            <a:ahLst/>
            <a:cxnLst/>
            <a:rect l="l" t="t" r="r" b="b"/>
            <a:pathLst>
              <a:path w="2269341" h="603796">
                <a:moveTo>
                  <a:pt x="0" y="0"/>
                </a:moveTo>
                <a:lnTo>
                  <a:pt x="2269341" y="0"/>
                </a:lnTo>
                <a:lnTo>
                  <a:pt x="2269341" y="603796"/>
                </a:lnTo>
                <a:lnTo>
                  <a:pt x="0" y="603796"/>
                </a:lnTo>
                <a:close/>
              </a:path>
            </a:pathLst>
          </a:custGeom>
          <a:solidFill>
            <a:srgbClr val="000000">
              <a:alpha val="0"/>
            </a:srgbClr>
          </a:solidFill>
          <a:ln/>
        </p:spPr>
      </p:sp>
      <p:sp>
        <p:nvSpPr>
          <p:cNvPr id="46" name="Text 31"/>
          <p:cNvSpPr/>
          <p:nvPr/>
        </p:nvSpPr>
        <p:spPr>
          <a:xfrm>
            <a:off x="651178" y="1478873"/>
            <a:ext cx="2269341" cy="60379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 asosan uch turga bo'linadi: benign, malign, va metastatik. Har bir tur o'ziga xos belgilarga ega.</a:t>
            </a:r>
            <a:endParaRPr lang="en-US" sz="1050" dirty="0"/>
          </a:p>
        </p:txBody>
      </p:sp>
      <p:sp>
        <p:nvSpPr>
          <p:cNvPr id="47" name="Shape 32"/>
          <p:cNvSpPr/>
          <p:nvPr/>
        </p:nvSpPr>
        <p:spPr>
          <a:xfrm>
            <a:off x="3385895" y="1537943"/>
            <a:ext cx="2216616" cy="603796"/>
          </a:xfrm>
          <a:custGeom>
            <a:avLst/>
            <a:gdLst/>
            <a:ahLst/>
            <a:cxnLst/>
            <a:rect l="l" t="t" r="r" b="b"/>
            <a:pathLst>
              <a:path w="2216616" h="603796">
                <a:moveTo>
                  <a:pt x="0" y="0"/>
                </a:moveTo>
                <a:lnTo>
                  <a:pt x="2216616" y="0"/>
                </a:lnTo>
                <a:lnTo>
                  <a:pt x="2216616" y="603796"/>
                </a:lnTo>
                <a:lnTo>
                  <a:pt x="0" y="603796"/>
                </a:lnTo>
                <a:close/>
              </a:path>
            </a:pathLst>
          </a:custGeom>
          <a:solidFill>
            <a:srgbClr val="FFFFFF">
              <a:alpha val="0"/>
            </a:srgbClr>
          </a:solidFill>
          <a:ln/>
        </p:spPr>
      </p:sp>
      <p:sp>
        <p:nvSpPr>
          <p:cNvPr id="48" name="Text 33"/>
          <p:cNvSpPr/>
          <p:nvPr/>
        </p:nvSpPr>
        <p:spPr>
          <a:xfrm>
            <a:off x="3385895" y="1537943"/>
            <a:ext cx="2216616" cy="603796"/>
          </a:xfrm>
          <a:prstGeom prst="rect">
            <a:avLst/>
          </a:prstGeom>
          <a:noFill/>
          <a:ln/>
        </p:spPr>
        <p:txBody>
          <a:bodyPr wrap="square" rtlCol="0" anchor="t"/>
          <a:lstStyle/>
          <a:p>
            <a:pPr indent="0" marL="0">
              <a:spcBef>
                <a:spcPts val="375"/>
              </a:spcBef>
              <a:buNone/>
            </a:pPr>
            <a:endParaRPr lang="en-US" sz="1050" dirty="0"/>
          </a:p>
        </p:txBody>
      </p:sp>
      <p:sp>
        <p:nvSpPr>
          <p:cNvPr id="49" name="Shape 34"/>
          <p:cNvSpPr/>
          <p:nvPr/>
        </p:nvSpPr>
        <p:spPr>
          <a:xfrm>
            <a:off x="3385895" y="1537943"/>
            <a:ext cx="2216616" cy="603796"/>
          </a:xfrm>
          <a:custGeom>
            <a:avLst/>
            <a:gdLst/>
            <a:ahLst/>
            <a:cxnLst/>
            <a:rect l="l" t="t" r="r" b="b"/>
            <a:pathLst>
              <a:path w="2216616" h="603796">
                <a:moveTo>
                  <a:pt x="0" y="0"/>
                </a:moveTo>
                <a:lnTo>
                  <a:pt x="2216616" y="0"/>
                </a:lnTo>
                <a:lnTo>
                  <a:pt x="2216616" y="603796"/>
                </a:lnTo>
                <a:lnTo>
                  <a:pt x="0" y="603796"/>
                </a:lnTo>
                <a:close/>
              </a:path>
            </a:pathLst>
          </a:custGeom>
          <a:solidFill>
            <a:srgbClr val="000000">
              <a:alpha val="0"/>
            </a:srgbClr>
          </a:solidFill>
          <a:ln/>
        </p:spPr>
      </p:sp>
      <p:sp>
        <p:nvSpPr>
          <p:cNvPr id="50" name="Text 35"/>
          <p:cNvSpPr/>
          <p:nvPr/>
        </p:nvSpPr>
        <p:spPr>
          <a:xfrm>
            <a:off x="3385895" y="1537943"/>
            <a:ext cx="2216616" cy="60379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Belgilari orasida bosh og'rig'i, ko'ngil aynishi, va asabiylashish kabi simptomlar mavjud. Ular kasallikning turiga qarab o'zgaradi.</a:t>
            </a:r>
            <a:endParaRPr lang="en-US" sz="1050" dirty="0"/>
          </a:p>
        </p:txBody>
      </p:sp>
      <p:sp>
        <p:nvSpPr>
          <p:cNvPr id="51" name="Shape 36"/>
          <p:cNvSpPr/>
          <p:nvPr/>
        </p:nvSpPr>
        <p:spPr>
          <a:xfrm>
            <a:off x="6234269" y="1597013"/>
            <a:ext cx="2228813" cy="603796"/>
          </a:xfrm>
          <a:custGeom>
            <a:avLst/>
            <a:gdLst/>
            <a:ahLst/>
            <a:cxnLst/>
            <a:rect l="l" t="t" r="r" b="b"/>
            <a:pathLst>
              <a:path w="2228813" h="603796">
                <a:moveTo>
                  <a:pt x="0" y="0"/>
                </a:moveTo>
                <a:lnTo>
                  <a:pt x="2228813" y="0"/>
                </a:lnTo>
                <a:lnTo>
                  <a:pt x="2228813" y="603796"/>
                </a:lnTo>
                <a:lnTo>
                  <a:pt x="0" y="603796"/>
                </a:lnTo>
                <a:close/>
              </a:path>
            </a:pathLst>
          </a:custGeom>
          <a:solidFill>
            <a:srgbClr val="FFFFFF">
              <a:alpha val="0"/>
            </a:srgbClr>
          </a:solidFill>
          <a:ln/>
        </p:spPr>
      </p:sp>
      <p:sp>
        <p:nvSpPr>
          <p:cNvPr id="52" name="Text 37"/>
          <p:cNvSpPr/>
          <p:nvPr/>
        </p:nvSpPr>
        <p:spPr>
          <a:xfrm>
            <a:off x="6234269" y="1597013"/>
            <a:ext cx="2228813" cy="603796"/>
          </a:xfrm>
          <a:prstGeom prst="rect">
            <a:avLst/>
          </a:prstGeom>
          <a:noFill/>
          <a:ln/>
        </p:spPr>
        <p:txBody>
          <a:bodyPr wrap="square" rtlCol="0" anchor="t"/>
          <a:lstStyle/>
          <a:p>
            <a:pPr indent="0" marL="0">
              <a:spcBef>
                <a:spcPts val="375"/>
              </a:spcBef>
              <a:buNone/>
            </a:pPr>
            <a:endParaRPr lang="en-US" sz="1050" dirty="0"/>
          </a:p>
        </p:txBody>
      </p:sp>
      <p:sp>
        <p:nvSpPr>
          <p:cNvPr id="53" name="Shape 38"/>
          <p:cNvSpPr/>
          <p:nvPr/>
        </p:nvSpPr>
        <p:spPr>
          <a:xfrm>
            <a:off x="6234269" y="1597013"/>
            <a:ext cx="2228813" cy="603796"/>
          </a:xfrm>
          <a:custGeom>
            <a:avLst/>
            <a:gdLst/>
            <a:ahLst/>
            <a:cxnLst/>
            <a:rect l="l" t="t" r="r" b="b"/>
            <a:pathLst>
              <a:path w="2228813" h="603796">
                <a:moveTo>
                  <a:pt x="0" y="0"/>
                </a:moveTo>
                <a:lnTo>
                  <a:pt x="2228813" y="0"/>
                </a:lnTo>
                <a:lnTo>
                  <a:pt x="2228813" y="603796"/>
                </a:lnTo>
                <a:lnTo>
                  <a:pt x="0" y="603796"/>
                </a:lnTo>
                <a:close/>
              </a:path>
            </a:pathLst>
          </a:custGeom>
          <a:solidFill>
            <a:srgbClr val="000000">
              <a:alpha val="0"/>
            </a:srgbClr>
          </a:solidFill>
          <a:ln/>
        </p:spPr>
      </p:sp>
      <p:sp>
        <p:nvSpPr>
          <p:cNvPr id="54" name="Text 39"/>
          <p:cNvSpPr/>
          <p:nvPr/>
        </p:nvSpPr>
        <p:spPr>
          <a:xfrm>
            <a:off x="6234269" y="1597013"/>
            <a:ext cx="2228813" cy="603796"/>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O'smalarni aniqlash uchun turli tadqiqot usullari qo'llaniladi, masalan, tomografiya va biyopsiya. Bu usullar kasallikni erta aniqlashda muhimdir.</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1F1F1"/>
        </a:solidFill>
      </p:bgPr>
    </p:bg>
    <p:spTree>
      <p:nvGrpSpPr>
        <p:cNvPr id="1" name=""/>
        <p:cNvGrpSpPr/>
        <p:nvPr/>
      </p:nvGrpSpPr>
      <p:grpSpPr>
        <a:xfrm>
          <a:off x="0" y="0"/>
          <a:ext cx="0" cy="0"/>
          <a:chOff x="0" y="0"/>
          <a:chExt cx="0" cy="0"/>
        </a:xfrm>
      </p:grpSpPr>
      <p:pic>
        <p:nvPicPr>
          <p:cNvPr id="2" name="Image 0" descr="./images\slide6_img69.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6_img70.png">    </p:cNvPr>
          <p:cNvPicPr>
            <a:picLocks noChangeAspect="1"/>
          </p:cNvPicPr>
          <p:nvPr/>
        </p:nvPicPr>
        <p:blipFill>
          <a:blip r:embed="rId2"/>
          <a:stretch>
            <a:fillRect/>
          </a:stretch>
        </p:blipFill>
        <p:spPr>
          <a:xfrm>
            <a:off x="3116890" y="1094737"/>
            <a:ext cx="2910220" cy="3713738"/>
          </a:xfrm>
          <a:prstGeom prst="rect">
            <a:avLst/>
          </a:prstGeom>
        </p:spPr>
      </p:pic>
      <p:sp>
        <p:nvSpPr>
          <p:cNvPr id="4" name="Shape 0"/>
          <p:cNvSpPr/>
          <p:nvPr/>
        </p:nvSpPr>
        <p:spPr>
          <a:xfrm>
            <a:off x="1401482" y="161274"/>
            <a:ext cx="6341100" cy="476250"/>
          </a:xfrm>
          <a:custGeom>
            <a:avLst/>
            <a:gdLst/>
            <a:ahLst/>
            <a:cxnLst/>
            <a:rect l="l" t="t" r="r" b="b"/>
            <a:pathLst>
              <a:path w="6341100" h="476250">
                <a:moveTo>
                  <a:pt x="0" y="0"/>
                </a:moveTo>
                <a:lnTo>
                  <a:pt x="6341100" y="0"/>
                </a:lnTo>
                <a:lnTo>
                  <a:pt x="6341100" y="476250"/>
                </a:lnTo>
                <a:lnTo>
                  <a:pt x="0" y="476250"/>
                </a:lnTo>
                <a:close/>
              </a:path>
            </a:pathLst>
          </a:custGeom>
          <a:solidFill>
            <a:srgbClr val="FFFFFF">
              <a:alpha val="0"/>
            </a:srgbClr>
          </a:solidFill>
          <a:ln/>
        </p:spPr>
      </p:sp>
      <p:sp>
        <p:nvSpPr>
          <p:cNvPr id="5" name="Text 1"/>
          <p:cNvSpPr/>
          <p:nvPr/>
        </p:nvSpPr>
        <p:spPr>
          <a:xfrm>
            <a:off x="1401482" y="161274"/>
            <a:ext cx="6341100" cy="4762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1401482" y="161274"/>
            <a:ext cx="6341100" cy="476250"/>
          </a:xfrm>
          <a:custGeom>
            <a:avLst/>
            <a:gdLst/>
            <a:ahLst/>
            <a:cxnLst/>
            <a:rect l="l" t="t" r="r" b="b"/>
            <a:pathLst>
              <a:path w="6341100" h="476250">
                <a:moveTo>
                  <a:pt x="0" y="0"/>
                </a:moveTo>
                <a:lnTo>
                  <a:pt x="6341100" y="0"/>
                </a:lnTo>
                <a:lnTo>
                  <a:pt x="6341100" y="476250"/>
                </a:lnTo>
                <a:lnTo>
                  <a:pt x="0" y="476250"/>
                </a:lnTo>
                <a:close/>
              </a:path>
            </a:pathLst>
          </a:custGeom>
          <a:solidFill>
            <a:srgbClr val="000000">
              <a:alpha val="0"/>
            </a:srgbClr>
          </a:solidFill>
          <a:ln/>
        </p:spPr>
      </p:sp>
      <p:sp>
        <p:nvSpPr>
          <p:cNvPr id="7" name="Text 3"/>
          <p:cNvSpPr/>
          <p:nvPr/>
        </p:nvSpPr>
        <p:spPr>
          <a:xfrm>
            <a:off x="1401482" y="161274"/>
            <a:ext cx="6341100"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Nerv tizimi o'smalari turlari</a:t>
            </a:r>
            <a:endParaRPr lang="en-US" sz="1050" dirty="0"/>
          </a:p>
        </p:txBody>
      </p:sp>
      <p:sp>
        <p:nvSpPr>
          <p:cNvPr id="8" name="Shape 4"/>
          <p:cNvSpPr/>
          <p:nvPr/>
        </p:nvSpPr>
        <p:spPr>
          <a:xfrm>
            <a:off x="6517040" y="2139780"/>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9" name="Text 5"/>
          <p:cNvSpPr/>
          <p:nvPr/>
        </p:nvSpPr>
        <p:spPr>
          <a:xfrm>
            <a:off x="6517040" y="2139780"/>
            <a:ext cx="2026650" cy="349523"/>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6517040" y="2139780"/>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11" name="Text 7"/>
          <p:cNvSpPr/>
          <p:nvPr/>
        </p:nvSpPr>
        <p:spPr>
          <a:xfrm>
            <a:off x="6517040" y="2139780"/>
            <a:ext cx="2026650" cy="34952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 asosan o'smalar, o'simliklar va hujayralardan iboratdir. Ular turli xil belgilarga ega bo'lishi mumkin.</a:t>
            </a:r>
            <a:endParaRPr lang="en-US" sz="1050" dirty="0"/>
          </a:p>
        </p:txBody>
      </p:sp>
      <p:sp>
        <p:nvSpPr>
          <p:cNvPr id="12" name="Shape 8"/>
          <p:cNvSpPr/>
          <p:nvPr/>
        </p:nvSpPr>
        <p:spPr>
          <a:xfrm>
            <a:off x="6446157" y="1520039"/>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13" name="Text 9"/>
          <p:cNvSpPr/>
          <p:nvPr/>
        </p:nvSpPr>
        <p:spPr>
          <a:xfrm>
            <a:off x="6446157" y="1520039"/>
            <a:ext cx="2026650" cy="241399"/>
          </a:xfrm>
          <a:prstGeom prst="rect">
            <a:avLst/>
          </a:prstGeom>
          <a:noFill/>
          <a:ln/>
        </p:spPr>
        <p:txBody>
          <a:bodyPr wrap="square" rtlCol="0" anchor="t"/>
          <a:lstStyle/>
          <a:p>
            <a:pPr indent="0" marL="0">
              <a:spcBef>
                <a:spcPts val="375"/>
              </a:spcBef>
              <a:buNone/>
            </a:pPr>
            <a:endParaRPr lang="en-US" sz="1050" dirty="0"/>
          </a:p>
        </p:txBody>
      </p:sp>
      <p:sp>
        <p:nvSpPr>
          <p:cNvPr id="14" name="Shape 10"/>
          <p:cNvSpPr/>
          <p:nvPr/>
        </p:nvSpPr>
        <p:spPr>
          <a:xfrm>
            <a:off x="6446157" y="1520039"/>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15" name="Text 11"/>
          <p:cNvSpPr/>
          <p:nvPr/>
        </p:nvSpPr>
        <p:spPr>
          <a:xfrm>
            <a:off x="6446157" y="1520039"/>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O'smalarning turlari</a:t>
            </a:r>
            <a:endParaRPr lang="en-US" sz="1050" dirty="0"/>
          </a:p>
        </p:txBody>
      </p:sp>
      <p:sp>
        <p:nvSpPr>
          <p:cNvPr id="16" name="Shape 12"/>
          <p:cNvSpPr/>
          <p:nvPr/>
        </p:nvSpPr>
        <p:spPr>
          <a:xfrm>
            <a:off x="6517040" y="392370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17" name="Text 13"/>
          <p:cNvSpPr/>
          <p:nvPr/>
        </p:nvSpPr>
        <p:spPr>
          <a:xfrm>
            <a:off x="6517040" y="3923708"/>
            <a:ext cx="2026650" cy="349523"/>
          </a:xfrm>
          <a:prstGeom prst="rect">
            <a:avLst/>
          </a:prstGeom>
          <a:noFill/>
          <a:ln/>
        </p:spPr>
        <p:txBody>
          <a:bodyPr wrap="square" rtlCol="0" anchor="t"/>
          <a:lstStyle/>
          <a:p>
            <a:pPr indent="0" marL="0">
              <a:spcBef>
                <a:spcPts val="375"/>
              </a:spcBef>
              <a:buNone/>
            </a:pPr>
            <a:endParaRPr lang="en-US" sz="1050" dirty="0"/>
          </a:p>
        </p:txBody>
      </p:sp>
      <p:sp>
        <p:nvSpPr>
          <p:cNvPr id="18" name="Shape 14"/>
          <p:cNvSpPr/>
          <p:nvPr/>
        </p:nvSpPr>
        <p:spPr>
          <a:xfrm>
            <a:off x="6517040" y="392370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19" name="Text 15"/>
          <p:cNvSpPr/>
          <p:nvPr/>
        </p:nvSpPr>
        <p:spPr>
          <a:xfrm>
            <a:off x="6517040" y="3923708"/>
            <a:ext cx="2026650" cy="349523"/>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O'smalar benign va malign bo'lishi mumkin. Har bir turi o'ziga xos alomatlarni ko'rsatadi.</a:t>
            </a:r>
            <a:endParaRPr lang="en-US" sz="1050" dirty="0"/>
          </a:p>
        </p:txBody>
      </p:sp>
      <p:sp>
        <p:nvSpPr>
          <p:cNvPr id="20" name="Shape 16"/>
          <p:cNvSpPr/>
          <p:nvPr/>
        </p:nvSpPr>
        <p:spPr>
          <a:xfrm>
            <a:off x="6481599"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21" name="Text 17"/>
          <p:cNvSpPr/>
          <p:nvPr/>
        </p:nvSpPr>
        <p:spPr>
          <a:xfrm>
            <a:off x="6481599" y="3307470"/>
            <a:ext cx="2026650" cy="241399"/>
          </a:xfrm>
          <a:prstGeom prst="rect">
            <a:avLst/>
          </a:prstGeom>
          <a:noFill/>
          <a:ln/>
        </p:spPr>
        <p:txBody>
          <a:bodyPr wrap="square" rtlCol="0" anchor="t"/>
          <a:lstStyle/>
          <a:p>
            <a:pPr indent="0" marL="0">
              <a:spcBef>
                <a:spcPts val="375"/>
              </a:spcBef>
              <a:buNone/>
            </a:pPr>
            <a:endParaRPr lang="en-US" sz="1050" dirty="0"/>
          </a:p>
        </p:txBody>
      </p:sp>
      <p:sp>
        <p:nvSpPr>
          <p:cNvPr id="22" name="Shape 18"/>
          <p:cNvSpPr/>
          <p:nvPr/>
        </p:nvSpPr>
        <p:spPr>
          <a:xfrm>
            <a:off x="6481599"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23" name="Text 19"/>
          <p:cNvSpPr/>
          <p:nvPr/>
        </p:nvSpPr>
        <p:spPr>
          <a:xfrm>
            <a:off x="6481599" y="3307470"/>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O'smalar belgilari</a:t>
            </a:r>
            <a:endParaRPr lang="en-US" sz="1050" dirty="0"/>
          </a:p>
        </p:txBody>
      </p:sp>
      <p:sp>
        <p:nvSpPr>
          <p:cNvPr id="24" name="Shape 20"/>
          <p:cNvSpPr/>
          <p:nvPr/>
        </p:nvSpPr>
        <p:spPr>
          <a:xfrm>
            <a:off x="600373" y="2018613"/>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25" name="Text 21"/>
          <p:cNvSpPr/>
          <p:nvPr/>
        </p:nvSpPr>
        <p:spPr>
          <a:xfrm>
            <a:off x="600373" y="2018613"/>
            <a:ext cx="2026650" cy="349523"/>
          </a:xfrm>
          <a:prstGeom prst="rect">
            <a:avLst/>
          </a:prstGeom>
          <a:noFill/>
          <a:ln/>
        </p:spPr>
        <p:txBody>
          <a:bodyPr wrap="square" rtlCol="0" anchor="t"/>
          <a:lstStyle/>
          <a:p>
            <a:pPr indent="0" marL="0">
              <a:spcBef>
                <a:spcPts val="375"/>
              </a:spcBef>
              <a:buNone/>
            </a:pPr>
            <a:endParaRPr lang="en-US" sz="1050" dirty="0"/>
          </a:p>
        </p:txBody>
      </p:sp>
      <p:sp>
        <p:nvSpPr>
          <p:cNvPr id="26" name="Shape 22"/>
          <p:cNvSpPr/>
          <p:nvPr/>
        </p:nvSpPr>
        <p:spPr>
          <a:xfrm>
            <a:off x="600373" y="2018613"/>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27" name="Text 23"/>
          <p:cNvSpPr/>
          <p:nvPr/>
        </p:nvSpPr>
        <p:spPr>
          <a:xfrm>
            <a:off x="600373" y="2018613"/>
            <a:ext cx="2026650" cy="34952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Asosiy belgilari: og'riq, shish va harakat cheklanishi.</a:t>
            </a:r>
            <a:endParaRPr lang="en-US" sz="1050" dirty="0"/>
          </a:p>
        </p:txBody>
      </p:sp>
      <p:sp>
        <p:nvSpPr>
          <p:cNvPr id="28" name="Shape 24"/>
          <p:cNvSpPr/>
          <p:nvPr/>
        </p:nvSpPr>
        <p:spPr>
          <a:xfrm>
            <a:off x="600373" y="1456867"/>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29" name="Text 25"/>
          <p:cNvSpPr/>
          <p:nvPr/>
        </p:nvSpPr>
        <p:spPr>
          <a:xfrm>
            <a:off x="600373" y="1456867"/>
            <a:ext cx="2026650" cy="241399"/>
          </a:xfrm>
          <a:prstGeom prst="rect">
            <a:avLst/>
          </a:prstGeom>
          <a:noFill/>
          <a:ln/>
        </p:spPr>
        <p:txBody>
          <a:bodyPr wrap="square" rtlCol="0" anchor="t"/>
          <a:lstStyle/>
          <a:p>
            <a:pPr indent="0" marL="0">
              <a:spcBef>
                <a:spcPts val="375"/>
              </a:spcBef>
              <a:buNone/>
            </a:pPr>
            <a:endParaRPr lang="en-US" sz="1050" dirty="0"/>
          </a:p>
        </p:txBody>
      </p:sp>
      <p:sp>
        <p:nvSpPr>
          <p:cNvPr id="30" name="Shape 26"/>
          <p:cNvSpPr/>
          <p:nvPr/>
        </p:nvSpPr>
        <p:spPr>
          <a:xfrm>
            <a:off x="600373" y="1456867"/>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31" name="Text 27"/>
          <p:cNvSpPr/>
          <p:nvPr/>
        </p:nvSpPr>
        <p:spPr>
          <a:xfrm>
            <a:off x="600373" y="1456867"/>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O'smalarni aniqlash usullari</a:t>
            </a:r>
            <a:endParaRPr lang="en-US" sz="1050" dirty="0"/>
          </a:p>
        </p:txBody>
      </p:sp>
      <p:sp>
        <p:nvSpPr>
          <p:cNvPr id="32" name="Shape 28"/>
          <p:cNvSpPr/>
          <p:nvPr/>
        </p:nvSpPr>
        <p:spPr>
          <a:xfrm>
            <a:off x="600373" y="386655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33" name="Text 29"/>
          <p:cNvSpPr/>
          <p:nvPr/>
        </p:nvSpPr>
        <p:spPr>
          <a:xfrm>
            <a:off x="600373" y="3866558"/>
            <a:ext cx="2026650" cy="349523"/>
          </a:xfrm>
          <a:prstGeom prst="rect">
            <a:avLst/>
          </a:prstGeom>
          <a:noFill/>
          <a:ln/>
        </p:spPr>
        <p:txBody>
          <a:bodyPr wrap="square" rtlCol="0" anchor="t"/>
          <a:lstStyle/>
          <a:p>
            <a:pPr indent="0" marL="0">
              <a:spcBef>
                <a:spcPts val="375"/>
              </a:spcBef>
              <a:buNone/>
            </a:pPr>
            <a:endParaRPr lang="en-US" sz="1050" dirty="0"/>
          </a:p>
        </p:txBody>
      </p:sp>
      <p:sp>
        <p:nvSpPr>
          <p:cNvPr id="34" name="Shape 30"/>
          <p:cNvSpPr/>
          <p:nvPr/>
        </p:nvSpPr>
        <p:spPr>
          <a:xfrm>
            <a:off x="600373" y="386655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35" name="Text 31"/>
          <p:cNvSpPr/>
          <p:nvPr/>
        </p:nvSpPr>
        <p:spPr>
          <a:xfrm>
            <a:off x="600373" y="3866558"/>
            <a:ext cx="2026650" cy="349523"/>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Tahlil: tomografiya, rentgen va biopsiya. Bu usullar o'smalarni aniqlashda muhim.</a:t>
            </a:r>
            <a:endParaRPr lang="en-US" sz="1050" dirty="0"/>
          </a:p>
        </p:txBody>
      </p:sp>
      <p:sp>
        <p:nvSpPr>
          <p:cNvPr id="36" name="Shape 32"/>
          <p:cNvSpPr/>
          <p:nvPr/>
        </p:nvSpPr>
        <p:spPr>
          <a:xfrm>
            <a:off x="482233"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37" name="Text 33"/>
          <p:cNvSpPr/>
          <p:nvPr/>
        </p:nvSpPr>
        <p:spPr>
          <a:xfrm>
            <a:off x="482233" y="3307470"/>
            <a:ext cx="2026650" cy="241399"/>
          </a:xfrm>
          <a:prstGeom prst="rect">
            <a:avLst/>
          </a:prstGeom>
          <a:noFill/>
          <a:ln/>
        </p:spPr>
        <p:txBody>
          <a:bodyPr wrap="square" rtlCol="0" anchor="t"/>
          <a:lstStyle/>
          <a:p>
            <a:pPr indent="0" marL="0">
              <a:spcBef>
                <a:spcPts val="375"/>
              </a:spcBef>
              <a:buNone/>
            </a:pPr>
            <a:endParaRPr lang="en-US" sz="1050" dirty="0"/>
          </a:p>
        </p:txBody>
      </p:sp>
      <p:sp>
        <p:nvSpPr>
          <p:cNvPr id="38" name="Shape 34"/>
          <p:cNvSpPr/>
          <p:nvPr/>
        </p:nvSpPr>
        <p:spPr>
          <a:xfrm>
            <a:off x="482233"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39" name="Text 35"/>
          <p:cNvSpPr/>
          <p:nvPr/>
        </p:nvSpPr>
        <p:spPr>
          <a:xfrm>
            <a:off x="482233" y="3307470"/>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Davolash usullari</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1F1"/>
        </a:solidFill>
      </p:bgPr>
    </p:bg>
    <p:spTree>
      <p:nvGrpSpPr>
        <p:cNvPr id="1" name=""/>
        <p:cNvGrpSpPr/>
        <p:nvPr/>
      </p:nvGrpSpPr>
      <p:grpSpPr>
        <a:xfrm>
          <a:off x="0" y="0"/>
          <a:ext cx="0" cy="0"/>
          <a:chOff x="0" y="0"/>
          <a:chExt cx="0" cy="0"/>
        </a:xfrm>
      </p:grpSpPr>
      <p:pic>
        <p:nvPicPr>
          <p:cNvPr id="2" name="Image 0" descr="./images\slide12_img108.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2_img109.jpeg">    </p:cNvPr>
          <p:cNvPicPr>
            <a:picLocks noChangeAspect="1"/>
          </p:cNvPicPr>
          <p:nvPr/>
        </p:nvPicPr>
        <p:blipFill>
          <a:blip r:embed="rId2"/>
          <a:srcRect l="0" r="45747" t="4269" b="81232"/>
          <a:stretch/>
        </p:blipFill>
        <p:spPr>
          <a:xfrm>
            <a:off x="0" y="0"/>
            <a:ext cx="8778240" cy="1797420"/>
          </a:xfrm>
          <a:prstGeom prst="rect">
            <a:avLst/>
          </a:prstGeom>
        </p:spPr>
      </p:pic>
      <p:sp>
        <p:nvSpPr>
          <p:cNvPr id="4" name="Shape 0"/>
          <p:cNvSpPr/>
          <p:nvPr/>
        </p:nvSpPr>
        <p:spPr>
          <a:xfrm>
            <a:off x="614136" y="1912706"/>
            <a:ext cx="7826859" cy="476250"/>
          </a:xfrm>
          <a:custGeom>
            <a:avLst/>
            <a:gdLst/>
            <a:ahLst/>
            <a:cxnLst/>
            <a:rect l="l" t="t" r="r" b="b"/>
            <a:pathLst>
              <a:path w="7826859" h="476250">
                <a:moveTo>
                  <a:pt x="0" y="0"/>
                </a:moveTo>
                <a:lnTo>
                  <a:pt x="7826859" y="0"/>
                </a:lnTo>
                <a:lnTo>
                  <a:pt x="7826859" y="476250"/>
                </a:lnTo>
                <a:lnTo>
                  <a:pt x="0" y="476250"/>
                </a:lnTo>
                <a:close/>
              </a:path>
            </a:pathLst>
          </a:custGeom>
          <a:solidFill>
            <a:srgbClr val="FFFFFF">
              <a:alpha val="0"/>
            </a:srgbClr>
          </a:solidFill>
          <a:ln/>
        </p:spPr>
      </p:sp>
      <p:sp>
        <p:nvSpPr>
          <p:cNvPr id="5" name="Text 1"/>
          <p:cNvSpPr/>
          <p:nvPr/>
        </p:nvSpPr>
        <p:spPr>
          <a:xfrm>
            <a:off x="614136" y="1912706"/>
            <a:ext cx="7826859" cy="4762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614136" y="1912706"/>
            <a:ext cx="7826859" cy="476250"/>
          </a:xfrm>
          <a:custGeom>
            <a:avLst/>
            <a:gdLst/>
            <a:ahLst/>
            <a:cxnLst/>
            <a:rect l="l" t="t" r="r" b="b"/>
            <a:pathLst>
              <a:path w="7826859" h="476250">
                <a:moveTo>
                  <a:pt x="0" y="0"/>
                </a:moveTo>
                <a:lnTo>
                  <a:pt x="7826859" y="0"/>
                </a:lnTo>
                <a:lnTo>
                  <a:pt x="7826859" y="476250"/>
                </a:lnTo>
                <a:lnTo>
                  <a:pt x="0" y="476250"/>
                </a:lnTo>
                <a:close/>
              </a:path>
            </a:pathLst>
          </a:custGeom>
          <a:solidFill>
            <a:srgbClr val="000000">
              <a:alpha val="0"/>
            </a:srgbClr>
          </a:solidFill>
          <a:ln/>
        </p:spPr>
      </p:sp>
      <p:sp>
        <p:nvSpPr>
          <p:cNvPr id="7" name="Text 3"/>
          <p:cNvSpPr/>
          <p:nvPr/>
        </p:nvSpPr>
        <p:spPr>
          <a:xfrm>
            <a:off x="614136" y="1912706"/>
            <a:ext cx="7826859"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Nerv tizimi o'smalarini davolash usullari</a:t>
            </a:r>
            <a:endParaRPr lang="en-US" sz="1050" dirty="0"/>
          </a:p>
        </p:txBody>
      </p:sp>
      <p:sp>
        <p:nvSpPr>
          <p:cNvPr id="8" name="Shape 4"/>
          <p:cNvSpPr/>
          <p:nvPr/>
        </p:nvSpPr>
        <p:spPr>
          <a:xfrm>
            <a:off x="661391" y="2388956"/>
            <a:ext cx="7779603" cy="2454473"/>
          </a:xfrm>
          <a:custGeom>
            <a:avLst/>
            <a:gdLst/>
            <a:ahLst/>
            <a:cxnLst/>
            <a:rect l="l" t="t" r="r" b="b"/>
            <a:pathLst>
              <a:path w="7779603" h="2454473">
                <a:moveTo>
                  <a:pt x="0" y="0"/>
                </a:moveTo>
                <a:lnTo>
                  <a:pt x="7779603" y="0"/>
                </a:lnTo>
                <a:lnTo>
                  <a:pt x="7779603" y="2454473"/>
                </a:lnTo>
                <a:lnTo>
                  <a:pt x="0" y="2454473"/>
                </a:lnTo>
                <a:close/>
              </a:path>
            </a:pathLst>
          </a:custGeom>
          <a:solidFill>
            <a:srgbClr val="FFFFFF">
              <a:alpha val="0"/>
            </a:srgbClr>
          </a:solidFill>
          <a:ln/>
        </p:spPr>
      </p:sp>
      <p:sp>
        <p:nvSpPr>
          <p:cNvPr id="9" name="Text 5"/>
          <p:cNvSpPr/>
          <p:nvPr/>
        </p:nvSpPr>
        <p:spPr>
          <a:xfrm>
            <a:off x="661391" y="2388956"/>
            <a:ext cx="7779603" cy="2454473"/>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661391" y="2388956"/>
            <a:ext cx="7779603" cy="2454473"/>
          </a:xfrm>
          <a:custGeom>
            <a:avLst/>
            <a:gdLst/>
            <a:ahLst/>
            <a:cxnLst/>
            <a:rect l="l" t="t" r="r" b="b"/>
            <a:pathLst>
              <a:path w="7779603" h="2454473">
                <a:moveTo>
                  <a:pt x="0" y="0"/>
                </a:moveTo>
                <a:lnTo>
                  <a:pt x="7779603" y="0"/>
                </a:lnTo>
                <a:lnTo>
                  <a:pt x="7779603" y="2454473"/>
                </a:lnTo>
                <a:lnTo>
                  <a:pt x="0" y="2454473"/>
                </a:lnTo>
                <a:close/>
              </a:path>
            </a:pathLst>
          </a:custGeom>
          <a:solidFill>
            <a:srgbClr val="000000">
              <a:alpha val="0"/>
            </a:srgbClr>
          </a:solidFill>
          <a:ln/>
        </p:spPr>
      </p:sp>
      <p:sp>
        <p:nvSpPr>
          <p:cNvPr id="11" name="Text 7"/>
          <p:cNvSpPr/>
          <p:nvPr/>
        </p:nvSpPr>
        <p:spPr>
          <a:xfrm>
            <a:off x="661391" y="2388956"/>
            <a:ext cx="7779603" cy="245447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 uchun davolash usullari ko'plab yondashuvlarni o'z ichiga oladi. Eng ommabop usullar qatoriga jarrohlik, radioterapiya va kimyoterapiya kiradi. Har bir usulning o'ziga xos afzalliklari va kamchiliklari mavjud. Jarrohlik asosan o'smani olib tashlashda qo'llaniladi. Radioterapiya o'sma hujayralarini yo'q qilish uchun yuqori energiyali nurlarni ishlatadi. Kimyoterapiya esa dori vositalarini qo'llab, o'sma hujayralarining o'sishini to'xtatishga yordam beradi. Har bir bemor uchun eng mos davolash rejasi individual ravishda belgilanadi.</a:t>
            </a:r>
            <a:endParaRPr lang="en-US" sz="1050" dirty="0"/>
          </a:p>
          <a:p>
            <a:pPr algn="l" indent="0" marL="0">
              <a:spcBef>
                <a:spcPts val="375"/>
              </a:spcBef>
              <a:buNone/>
            </a:pPr>
            <a:r>
              <a:rPr lang="en-US" sz="1800" dirty="0">
                <a:solidFill>
                  <a:srgbClr val="333333"/>
                </a:solidFill>
                <a:latin typeface="Calibri" pitchFamily="34" charset="0"/>
                <a:ea typeface="Calibri" pitchFamily="34" charset="-122"/>
                <a:cs typeface="Calibri" pitchFamily="34" charset="-120"/>
              </a:rPr>
              <a:t> </a:t>
            </a:r>
            <a:endParaRPr lang="en-US" sz="1050" dirty="0"/>
          </a:p>
          <a:p>
            <a:pPr algn="l" indent="0" marL="0">
              <a:spcBef>
                <a:spcPts val="375"/>
              </a:spcBef>
              <a:buNone/>
            </a:pPr>
            <a:r>
              <a:rPr lang="en-US" sz="1800" dirty="0">
                <a:solidFill>
                  <a:srgbClr val="333333"/>
                </a:solidFill>
                <a:latin typeface="Calibri" pitchFamily="34" charset="0"/>
                <a:ea typeface="Calibri" pitchFamily="34" charset="-122"/>
                <a:cs typeface="Calibri" pitchFamily="34" charset="-120"/>
              </a:rPr>
              <a:t> </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1F1"/>
        </a:solidFill>
      </p:bgPr>
    </p:bg>
    <p:spTree>
      <p:nvGrpSpPr>
        <p:cNvPr id="1" name=""/>
        <p:cNvGrpSpPr/>
        <p:nvPr/>
      </p:nvGrpSpPr>
      <p:grpSpPr>
        <a:xfrm>
          <a:off x="0" y="0"/>
          <a:ext cx="0" cy="0"/>
          <a:chOff x="0" y="0"/>
          <a:chExt cx="0" cy="0"/>
        </a:xfrm>
      </p:grpSpPr>
      <p:pic>
        <p:nvPicPr>
          <p:cNvPr id="2" name="Image 0" descr="./images\slide14_img117.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4_img118.png">    </p:cNvPr>
          <p:cNvPicPr>
            <a:picLocks noChangeAspect="1"/>
          </p:cNvPicPr>
          <p:nvPr/>
        </p:nvPicPr>
        <p:blipFill>
          <a:blip r:embed="rId2"/>
          <a:stretch>
            <a:fillRect/>
          </a:stretch>
        </p:blipFill>
        <p:spPr>
          <a:xfrm>
            <a:off x="419387" y="1645896"/>
            <a:ext cx="2957551" cy="3098256"/>
          </a:xfrm>
          <a:prstGeom prst="rect">
            <a:avLst/>
          </a:prstGeom>
        </p:spPr>
      </p:pic>
      <p:sp>
        <p:nvSpPr>
          <p:cNvPr id="4" name="Shape 0"/>
          <p:cNvSpPr/>
          <p:nvPr/>
        </p:nvSpPr>
        <p:spPr>
          <a:xfrm>
            <a:off x="419387"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FFFFFF">
              <a:alpha val="0"/>
            </a:srgbClr>
          </a:solidFill>
          <a:ln/>
        </p:spPr>
      </p:sp>
      <p:sp>
        <p:nvSpPr>
          <p:cNvPr id="5" name="Text 1"/>
          <p:cNvSpPr/>
          <p:nvPr/>
        </p:nvSpPr>
        <p:spPr>
          <a:xfrm>
            <a:off x="419387" y="1645896"/>
            <a:ext cx="2957551" cy="3098256"/>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419387"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000000">
              <a:alpha val="0"/>
            </a:srgbClr>
          </a:solidFill>
          <a:ln/>
        </p:spPr>
      </p:sp>
      <p:sp>
        <p:nvSpPr>
          <p:cNvPr id="7" name="Text 3"/>
          <p:cNvSpPr/>
          <p:nvPr/>
        </p:nvSpPr>
        <p:spPr>
          <a:xfrm>
            <a:off x="419387" y="1645896"/>
            <a:ext cx="2957551" cy="3098256"/>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14_img119.png">    </p:cNvPr>
          <p:cNvPicPr>
            <a:picLocks noChangeAspect="1"/>
          </p:cNvPicPr>
          <p:nvPr/>
        </p:nvPicPr>
        <p:blipFill>
          <a:blip r:embed="rId3"/>
          <a:stretch>
            <a:fillRect/>
          </a:stretch>
        </p:blipFill>
        <p:spPr>
          <a:xfrm>
            <a:off x="419387" y="1645896"/>
            <a:ext cx="2957551" cy="3098256"/>
          </a:xfrm>
          <a:prstGeom prst="rect">
            <a:avLst/>
          </a:prstGeom>
        </p:spPr>
      </p:pic>
      <p:pic>
        <p:nvPicPr>
          <p:cNvPr id="9" name="Image 3" descr="./images\slide14_img120.png">    </p:cNvPr>
          <p:cNvPicPr>
            <a:picLocks noChangeAspect="1"/>
          </p:cNvPicPr>
          <p:nvPr/>
        </p:nvPicPr>
        <p:blipFill>
          <a:blip r:embed="rId4"/>
          <a:stretch>
            <a:fillRect/>
          </a:stretch>
        </p:blipFill>
        <p:spPr>
          <a:xfrm>
            <a:off x="1614449" y="1645896"/>
            <a:ext cx="2957551" cy="3098256"/>
          </a:xfrm>
          <a:prstGeom prst="rect">
            <a:avLst/>
          </a:prstGeom>
        </p:spPr>
      </p:pic>
      <p:sp>
        <p:nvSpPr>
          <p:cNvPr id="10" name="Shape 4"/>
          <p:cNvSpPr/>
          <p:nvPr/>
        </p:nvSpPr>
        <p:spPr>
          <a:xfrm>
            <a:off x="1614449"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FFFFFF">
              <a:alpha val="0"/>
            </a:srgbClr>
          </a:solidFill>
          <a:ln/>
        </p:spPr>
      </p:sp>
      <p:sp>
        <p:nvSpPr>
          <p:cNvPr id="11" name="Text 5"/>
          <p:cNvSpPr/>
          <p:nvPr/>
        </p:nvSpPr>
        <p:spPr>
          <a:xfrm>
            <a:off x="1614449" y="1645896"/>
            <a:ext cx="2957551" cy="3098256"/>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1614449"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000000">
              <a:alpha val="0"/>
            </a:srgbClr>
          </a:solidFill>
          <a:ln/>
        </p:spPr>
      </p:sp>
      <p:sp>
        <p:nvSpPr>
          <p:cNvPr id="13" name="Text 7"/>
          <p:cNvSpPr/>
          <p:nvPr/>
        </p:nvSpPr>
        <p:spPr>
          <a:xfrm>
            <a:off x="1614449" y="1645896"/>
            <a:ext cx="2957551" cy="3098256"/>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14_img121.png">    </p:cNvPr>
          <p:cNvPicPr>
            <a:picLocks noChangeAspect="1"/>
          </p:cNvPicPr>
          <p:nvPr/>
        </p:nvPicPr>
        <p:blipFill>
          <a:blip r:embed="rId5"/>
          <a:stretch>
            <a:fillRect/>
          </a:stretch>
        </p:blipFill>
        <p:spPr>
          <a:xfrm>
            <a:off x="1614449" y="1645896"/>
            <a:ext cx="2957551" cy="3098256"/>
          </a:xfrm>
          <a:prstGeom prst="rect">
            <a:avLst/>
          </a:prstGeom>
        </p:spPr>
      </p:pic>
      <p:pic>
        <p:nvPicPr>
          <p:cNvPr id="15" name="Image 5" descr="./images\slide14_img122.jpeg">    </p:cNvPr>
          <p:cNvPicPr>
            <a:picLocks noChangeAspect="1"/>
          </p:cNvPicPr>
          <p:nvPr/>
        </p:nvPicPr>
        <p:blipFill>
          <a:blip r:embed="rId6"/>
          <a:srcRect l="2217" r="47786" t="0" b="45747"/>
          <a:stretch/>
        </p:blipFill>
        <p:spPr>
          <a:xfrm>
            <a:off x="534644" y="1797247"/>
            <a:ext cx="3699955" cy="2676661"/>
          </a:xfrm>
          <a:prstGeom prst="rect">
            <a:avLst/>
          </a:prstGeom>
        </p:spPr>
      </p:pic>
      <p:sp>
        <p:nvSpPr>
          <p:cNvPr id="16" name="Shape 8"/>
          <p:cNvSpPr/>
          <p:nvPr/>
        </p:nvSpPr>
        <p:spPr>
          <a:xfrm>
            <a:off x="874042" y="289968"/>
            <a:ext cx="7395900" cy="476250"/>
          </a:xfrm>
          <a:custGeom>
            <a:avLst/>
            <a:gdLst/>
            <a:ahLst/>
            <a:cxnLst/>
            <a:rect l="l" t="t" r="r" b="b"/>
            <a:pathLst>
              <a:path w="7395900" h="476250">
                <a:moveTo>
                  <a:pt x="0" y="0"/>
                </a:moveTo>
                <a:lnTo>
                  <a:pt x="7395900" y="0"/>
                </a:lnTo>
                <a:lnTo>
                  <a:pt x="7395900" y="476250"/>
                </a:lnTo>
                <a:lnTo>
                  <a:pt x="0" y="476250"/>
                </a:lnTo>
                <a:close/>
              </a:path>
            </a:pathLst>
          </a:custGeom>
          <a:solidFill>
            <a:srgbClr val="FFFFFF">
              <a:alpha val="0"/>
            </a:srgbClr>
          </a:solidFill>
          <a:ln/>
        </p:spPr>
      </p:sp>
      <p:sp>
        <p:nvSpPr>
          <p:cNvPr id="17" name="Text 9"/>
          <p:cNvSpPr/>
          <p:nvPr/>
        </p:nvSpPr>
        <p:spPr>
          <a:xfrm>
            <a:off x="874042" y="289968"/>
            <a:ext cx="7395900" cy="476250"/>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a:off x="874042" y="289968"/>
            <a:ext cx="7395900" cy="476250"/>
          </a:xfrm>
          <a:custGeom>
            <a:avLst/>
            <a:gdLst/>
            <a:ahLst/>
            <a:cxnLst/>
            <a:rect l="l" t="t" r="r" b="b"/>
            <a:pathLst>
              <a:path w="7395900" h="476250">
                <a:moveTo>
                  <a:pt x="0" y="0"/>
                </a:moveTo>
                <a:lnTo>
                  <a:pt x="7395900" y="0"/>
                </a:lnTo>
                <a:lnTo>
                  <a:pt x="7395900" y="476250"/>
                </a:lnTo>
                <a:lnTo>
                  <a:pt x="0" y="476250"/>
                </a:lnTo>
                <a:close/>
              </a:path>
            </a:pathLst>
          </a:custGeom>
          <a:solidFill>
            <a:srgbClr val="000000">
              <a:alpha val="0"/>
            </a:srgbClr>
          </a:solidFill>
          <a:ln/>
        </p:spPr>
      </p:sp>
      <p:sp>
        <p:nvSpPr>
          <p:cNvPr id="19" name="Text 11"/>
          <p:cNvSpPr/>
          <p:nvPr/>
        </p:nvSpPr>
        <p:spPr>
          <a:xfrm>
            <a:off x="874042" y="289968"/>
            <a:ext cx="7395900"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Nerv tizimi o'smalari davolash</a:t>
            </a:r>
            <a:endParaRPr lang="en-US" sz="1050" dirty="0"/>
          </a:p>
        </p:txBody>
      </p:sp>
      <p:sp>
        <p:nvSpPr>
          <p:cNvPr id="20" name="Shape 12"/>
          <p:cNvSpPr/>
          <p:nvPr/>
        </p:nvSpPr>
        <p:spPr>
          <a:xfrm>
            <a:off x="4572000" y="1768209"/>
            <a:ext cx="1448190" cy="476250"/>
          </a:xfrm>
          <a:custGeom>
            <a:avLst/>
            <a:gdLst/>
            <a:ahLst/>
            <a:cxnLst/>
            <a:rect l="l" t="t" r="r" b="b"/>
            <a:pathLst>
              <a:path w="1448190" h="476250">
                <a:moveTo>
                  <a:pt x="0" y="0"/>
                </a:moveTo>
                <a:lnTo>
                  <a:pt x="1448190" y="0"/>
                </a:lnTo>
                <a:lnTo>
                  <a:pt x="1448190" y="476250"/>
                </a:lnTo>
                <a:lnTo>
                  <a:pt x="0" y="476250"/>
                </a:lnTo>
                <a:close/>
              </a:path>
            </a:pathLst>
          </a:custGeom>
          <a:solidFill>
            <a:srgbClr val="FFFFFF">
              <a:alpha val="0"/>
            </a:srgbClr>
          </a:solidFill>
          <a:ln/>
        </p:spPr>
      </p:sp>
      <p:sp>
        <p:nvSpPr>
          <p:cNvPr id="21" name="Text 13"/>
          <p:cNvSpPr/>
          <p:nvPr/>
        </p:nvSpPr>
        <p:spPr>
          <a:xfrm>
            <a:off x="4572000" y="1768209"/>
            <a:ext cx="1448190" cy="476250"/>
          </a:xfrm>
          <a:prstGeom prst="rect">
            <a:avLst/>
          </a:prstGeom>
          <a:noFill/>
          <a:ln/>
        </p:spPr>
        <p:txBody>
          <a:bodyPr wrap="square" rtlCol="0" anchor="t"/>
          <a:lstStyle/>
          <a:p>
            <a:pPr indent="0" marL="0">
              <a:spcBef>
                <a:spcPts val="375"/>
              </a:spcBef>
              <a:buNone/>
            </a:pPr>
            <a:endParaRPr lang="en-US" sz="1050" dirty="0"/>
          </a:p>
        </p:txBody>
      </p:sp>
      <p:sp>
        <p:nvSpPr>
          <p:cNvPr id="22" name="Shape 14"/>
          <p:cNvSpPr/>
          <p:nvPr/>
        </p:nvSpPr>
        <p:spPr>
          <a:xfrm>
            <a:off x="4572000" y="1768209"/>
            <a:ext cx="1448190" cy="476250"/>
          </a:xfrm>
          <a:custGeom>
            <a:avLst/>
            <a:gdLst/>
            <a:ahLst/>
            <a:cxnLst/>
            <a:rect l="l" t="t" r="r" b="b"/>
            <a:pathLst>
              <a:path w="1448190" h="476250">
                <a:moveTo>
                  <a:pt x="0" y="0"/>
                </a:moveTo>
                <a:lnTo>
                  <a:pt x="1448190" y="0"/>
                </a:lnTo>
                <a:lnTo>
                  <a:pt x="1448190" y="476250"/>
                </a:lnTo>
                <a:lnTo>
                  <a:pt x="0" y="476250"/>
                </a:lnTo>
                <a:close/>
              </a:path>
            </a:pathLst>
          </a:custGeom>
          <a:solidFill>
            <a:srgbClr val="000000">
              <a:alpha val="0"/>
            </a:srgbClr>
          </a:solidFill>
          <a:ln/>
        </p:spPr>
      </p:sp>
      <p:sp>
        <p:nvSpPr>
          <p:cNvPr id="23" name="Text 15"/>
          <p:cNvSpPr/>
          <p:nvPr/>
        </p:nvSpPr>
        <p:spPr>
          <a:xfrm>
            <a:off x="4572000" y="1768209"/>
            <a:ext cx="1448190" cy="4762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Birinchi</a:t>
            </a:r>
            <a:endParaRPr lang="en-US" sz="1050" dirty="0"/>
          </a:p>
        </p:txBody>
      </p:sp>
      <p:sp>
        <p:nvSpPr>
          <p:cNvPr id="24" name="Shape 16"/>
          <p:cNvSpPr/>
          <p:nvPr/>
        </p:nvSpPr>
        <p:spPr>
          <a:xfrm>
            <a:off x="4572000" y="2582210"/>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FFFFFF">
              <a:alpha val="0"/>
            </a:srgbClr>
          </a:solidFill>
          <a:ln/>
        </p:spPr>
      </p:sp>
      <p:sp>
        <p:nvSpPr>
          <p:cNvPr id="25" name="Text 17"/>
          <p:cNvSpPr/>
          <p:nvPr/>
        </p:nvSpPr>
        <p:spPr>
          <a:xfrm>
            <a:off x="4572000" y="2582210"/>
            <a:ext cx="1319049" cy="476250"/>
          </a:xfrm>
          <a:prstGeom prst="rect">
            <a:avLst/>
          </a:prstGeom>
          <a:noFill/>
          <a:ln/>
        </p:spPr>
        <p:txBody>
          <a:bodyPr wrap="square" rtlCol="0" anchor="t"/>
          <a:lstStyle/>
          <a:p>
            <a:pPr indent="0" marL="0">
              <a:spcBef>
                <a:spcPts val="375"/>
              </a:spcBef>
              <a:buNone/>
            </a:pPr>
            <a:endParaRPr lang="en-US" sz="1050" dirty="0"/>
          </a:p>
        </p:txBody>
      </p:sp>
      <p:sp>
        <p:nvSpPr>
          <p:cNvPr id="26" name="Shape 18"/>
          <p:cNvSpPr/>
          <p:nvPr/>
        </p:nvSpPr>
        <p:spPr>
          <a:xfrm>
            <a:off x="4572000" y="2582210"/>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000000">
              <a:alpha val="0"/>
            </a:srgbClr>
          </a:solidFill>
          <a:ln/>
        </p:spPr>
      </p:sp>
      <p:sp>
        <p:nvSpPr>
          <p:cNvPr id="27" name="Text 19"/>
          <p:cNvSpPr/>
          <p:nvPr/>
        </p:nvSpPr>
        <p:spPr>
          <a:xfrm>
            <a:off x="4572000" y="2582210"/>
            <a:ext cx="1319049" cy="4762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Ikkinchi</a:t>
            </a:r>
            <a:endParaRPr lang="en-US" sz="1050" dirty="0"/>
          </a:p>
        </p:txBody>
      </p:sp>
      <p:sp>
        <p:nvSpPr>
          <p:cNvPr id="28" name="Shape 20"/>
          <p:cNvSpPr/>
          <p:nvPr/>
        </p:nvSpPr>
        <p:spPr>
          <a:xfrm>
            <a:off x="4572000" y="3663928"/>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FFFFFF">
              <a:alpha val="0"/>
            </a:srgbClr>
          </a:solidFill>
          <a:ln/>
        </p:spPr>
      </p:sp>
      <p:sp>
        <p:nvSpPr>
          <p:cNvPr id="29" name="Text 21"/>
          <p:cNvSpPr/>
          <p:nvPr/>
        </p:nvSpPr>
        <p:spPr>
          <a:xfrm>
            <a:off x="4572000" y="3663928"/>
            <a:ext cx="1319049" cy="476250"/>
          </a:xfrm>
          <a:prstGeom prst="rect">
            <a:avLst/>
          </a:prstGeom>
          <a:noFill/>
          <a:ln/>
        </p:spPr>
        <p:txBody>
          <a:bodyPr wrap="square" rtlCol="0" anchor="t"/>
          <a:lstStyle/>
          <a:p>
            <a:pPr indent="0" marL="0">
              <a:spcBef>
                <a:spcPts val="375"/>
              </a:spcBef>
              <a:buNone/>
            </a:pPr>
            <a:endParaRPr lang="en-US" sz="1050" dirty="0"/>
          </a:p>
        </p:txBody>
      </p:sp>
      <p:sp>
        <p:nvSpPr>
          <p:cNvPr id="30" name="Shape 22"/>
          <p:cNvSpPr/>
          <p:nvPr/>
        </p:nvSpPr>
        <p:spPr>
          <a:xfrm>
            <a:off x="4572000" y="3663928"/>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000000">
              <a:alpha val="0"/>
            </a:srgbClr>
          </a:solidFill>
          <a:ln/>
        </p:spPr>
      </p:sp>
      <p:sp>
        <p:nvSpPr>
          <p:cNvPr id="31" name="Text 23"/>
          <p:cNvSpPr/>
          <p:nvPr/>
        </p:nvSpPr>
        <p:spPr>
          <a:xfrm>
            <a:off x="4572000" y="3663928"/>
            <a:ext cx="1319049" cy="4762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Uchinchi</a:t>
            </a:r>
            <a:endParaRPr lang="en-US" sz="1050" dirty="0"/>
          </a:p>
        </p:txBody>
      </p:sp>
      <p:sp>
        <p:nvSpPr>
          <p:cNvPr id="32" name="Shape 24"/>
          <p:cNvSpPr/>
          <p:nvPr/>
        </p:nvSpPr>
        <p:spPr>
          <a:xfrm>
            <a:off x="6052785" y="1736990"/>
            <a:ext cx="3091215" cy="1016499"/>
          </a:xfrm>
          <a:custGeom>
            <a:avLst/>
            <a:gdLst/>
            <a:ahLst/>
            <a:cxnLst/>
            <a:rect l="l" t="t" r="r" b="b"/>
            <a:pathLst>
              <a:path w="3091215" h="1016499">
                <a:moveTo>
                  <a:pt x="0" y="0"/>
                </a:moveTo>
                <a:lnTo>
                  <a:pt x="3091215" y="0"/>
                </a:lnTo>
                <a:lnTo>
                  <a:pt x="3091215" y="1016499"/>
                </a:lnTo>
                <a:lnTo>
                  <a:pt x="0" y="1016499"/>
                </a:lnTo>
                <a:close/>
              </a:path>
            </a:pathLst>
          </a:custGeom>
          <a:solidFill>
            <a:srgbClr val="FFFFFF">
              <a:alpha val="0"/>
            </a:srgbClr>
          </a:solidFill>
          <a:ln/>
        </p:spPr>
      </p:sp>
      <p:sp>
        <p:nvSpPr>
          <p:cNvPr id="33" name="Text 25"/>
          <p:cNvSpPr/>
          <p:nvPr/>
        </p:nvSpPr>
        <p:spPr>
          <a:xfrm>
            <a:off x="6052785" y="1736990"/>
            <a:ext cx="3091215" cy="1016499"/>
          </a:xfrm>
          <a:prstGeom prst="rect">
            <a:avLst/>
          </a:prstGeom>
          <a:noFill/>
          <a:ln/>
        </p:spPr>
        <p:txBody>
          <a:bodyPr wrap="square" rtlCol="0" anchor="t"/>
          <a:lstStyle/>
          <a:p>
            <a:pPr indent="0" marL="0">
              <a:spcBef>
                <a:spcPts val="375"/>
              </a:spcBef>
              <a:buNone/>
            </a:pPr>
            <a:endParaRPr lang="en-US" sz="1050" dirty="0"/>
          </a:p>
        </p:txBody>
      </p:sp>
      <p:sp>
        <p:nvSpPr>
          <p:cNvPr id="34" name="Shape 26"/>
          <p:cNvSpPr/>
          <p:nvPr/>
        </p:nvSpPr>
        <p:spPr>
          <a:xfrm>
            <a:off x="6052785" y="1736990"/>
            <a:ext cx="3091215" cy="1016499"/>
          </a:xfrm>
          <a:custGeom>
            <a:avLst/>
            <a:gdLst/>
            <a:ahLst/>
            <a:cxnLst/>
            <a:rect l="l" t="t" r="r" b="b"/>
            <a:pathLst>
              <a:path w="3091215" h="1016499">
                <a:moveTo>
                  <a:pt x="0" y="0"/>
                </a:moveTo>
                <a:lnTo>
                  <a:pt x="3091215" y="0"/>
                </a:lnTo>
                <a:lnTo>
                  <a:pt x="3091215" y="1016499"/>
                </a:lnTo>
                <a:lnTo>
                  <a:pt x="0" y="1016499"/>
                </a:lnTo>
                <a:close/>
              </a:path>
            </a:pathLst>
          </a:custGeom>
          <a:solidFill>
            <a:srgbClr val="000000">
              <a:alpha val="0"/>
            </a:srgbClr>
          </a:solidFill>
          <a:ln/>
        </p:spPr>
      </p:sp>
      <p:sp>
        <p:nvSpPr>
          <p:cNvPr id="35" name="Text 27"/>
          <p:cNvSpPr/>
          <p:nvPr/>
        </p:nvSpPr>
        <p:spPr>
          <a:xfrm>
            <a:off x="6052785" y="1736990"/>
            <a:ext cx="3091215" cy="101649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o'smalarini davolashda dastlabki bosqichda kasallikni aniqlash juda muhimdir. O'sma turlari va ularning joylashuvi muhim rol o'ynaydi. Davolash usullari o'smaning xususiyatlariga qarab tanlanadi. Har bir bemor uchun individual yondashuv zarur.</a:t>
            </a:r>
            <a:endParaRPr lang="en-US" sz="1050" dirty="0"/>
          </a:p>
        </p:txBody>
      </p:sp>
      <p:sp>
        <p:nvSpPr>
          <p:cNvPr id="36" name="Shape 28"/>
          <p:cNvSpPr/>
          <p:nvPr/>
        </p:nvSpPr>
        <p:spPr>
          <a:xfrm>
            <a:off x="6052785" y="2753489"/>
            <a:ext cx="3091215" cy="910439"/>
          </a:xfrm>
          <a:custGeom>
            <a:avLst/>
            <a:gdLst/>
            <a:ahLst/>
            <a:cxnLst/>
            <a:rect l="l" t="t" r="r" b="b"/>
            <a:pathLst>
              <a:path w="3091215" h="910439">
                <a:moveTo>
                  <a:pt x="0" y="0"/>
                </a:moveTo>
                <a:lnTo>
                  <a:pt x="3091215" y="0"/>
                </a:lnTo>
                <a:lnTo>
                  <a:pt x="3091215" y="910439"/>
                </a:lnTo>
                <a:lnTo>
                  <a:pt x="0" y="910439"/>
                </a:lnTo>
                <a:close/>
              </a:path>
            </a:pathLst>
          </a:custGeom>
          <a:solidFill>
            <a:srgbClr val="FFFFFF">
              <a:alpha val="0"/>
            </a:srgbClr>
          </a:solidFill>
          <a:ln/>
        </p:spPr>
      </p:sp>
      <p:sp>
        <p:nvSpPr>
          <p:cNvPr id="37" name="Text 29"/>
          <p:cNvSpPr/>
          <p:nvPr/>
        </p:nvSpPr>
        <p:spPr>
          <a:xfrm>
            <a:off x="6052785" y="2753489"/>
            <a:ext cx="3091215" cy="910439"/>
          </a:xfrm>
          <a:prstGeom prst="rect">
            <a:avLst/>
          </a:prstGeom>
          <a:noFill/>
          <a:ln/>
        </p:spPr>
        <p:txBody>
          <a:bodyPr wrap="square" rtlCol="0" anchor="t"/>
          <a:lstStyle/>
          <a:p>
            <a:pPr indent="0" marL="0">
              <a:spcBef>
                <a:spcPts val="375"/>
              </a:spcBef>
              <a:buNone/>
            </a:pPr>
            <a:endParaRPr lang="en-US" sz="1050" dirty="0"/>
          </a:p>
        </p:txBody>
      </p:sp>
      <p:sp>
        <p:nvSpPr>
          <p:cNvPr id="38" name="Shape 30"/>
          <p:cNvSpPr/>
          <p:nvPr/>
        </p:nvSpPr>
        <p:spPr>
          <a:xfrm>
            <a:off x="6052785" y="2753489"/>
            <a:ext cx="3091215" cy="910439"/>
          </a:xfrm>
          <a:custGeom>
            <a:avLst/>
            <a:gdLst/>
            <a:ahLst/>
            <a:cxnLst/>
            <a:rect l="l" t="t" r="r" b="b"/>
            <a:pathLst>
              <a:path w="3091215" h="910439">
                <a:moveTo>
                  <a:pt x="0" y="0"/>
                </a:moveTo>
                <a:lnTo>
                  <a:pt x="3091215" y="0"/>
                </a:lnTo>
                <a:lnTo>
                  <a:pt x="3091215" y="910439"/>
                </a:lnTo>
                <a:lnTo>
                  <a:pt x="0" y="910439"/>
                </a:lnTo>
                <a:close/>
              </a:path>
            </a:pathLst>
          </a:custGeom>
          <a:solidFill>
            <a:srgbClr val="000000">
              <a:alpha val="0"/>
            </a:srgbClr>
          </a:solidFill>
          <a:ln/>
        </p:spPr>
      </p:sp>
      <p:sp>
        <p:nvSpPr>
          <p:cNvPr id="39" name="Text 31"/>
          <p:cNvSpPr/>
          <p:nvPr/>
        </p:nvSpPr>
        <p:spPr>
          <a:xfrm>
            <a:off x="6052785" y="2753489"/>
            <a:ext cx="3091215" cy="91043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Asosiy davolash usullari: jarrohlik, radioterapiya va kemoterapiya. Ularning har biri o'zining afzalliklari va kamchiliklariga ega. Davolash strategiyasi o'smaning rivojlanish bosqichiga qarab belgilanadi. Tegishli mutaxassislar bilan maslahatlashish muhimdir.</a:t>
            </a:r>
            <a:endParaRPr lang="en-US" sz="1050" dirty="0"/>
          </a:p>
        </p:txBody>
      </p:sp>
      <p:sp>
        <p:nvSpPr>
          <p:cNvPr id="40" name="Shape 32"/>
          <p:cNvSpPr/>
          <p:nvPr/>
        </p:nvSpPr>
        <p:spPr>
          <a:xfrm>
            <a:off x="6052785" y="3847022"/>
            <a:ext cx="3091215" cy="981843"/>
          </a:xfrm>
          <a:custGeom>
            <a:avLst/>
            <a:gdLst/>
            <a:ahLst/>
            <a:cxnLst/>
            <a:rect l="l" t="t" r="r" b="b"/>
            <a:pathLst>
              <a:path w="3091215" h="981843">
                <a:moveTo>
                  <a:pt x="0" y="0"/>
                </a:moveTo>
                <a:lnTo>
                  <a:pt x="3091215" y="0"/>
                </a:lnTo>
                <a:lnTo>
                  <a:pt x="3091215" y="981843"/>
                </a:lnTo>
                <a:lnTo>
                  <a:pt x="0" y="981843"/>
                </a:lnTo>
                <a:close/>
              </a:path>
            </a:pathLst>
          </a:custGeom>
          <a:solidFill>
            <a:srgbClr val="FFFFFF">
              <a:alpha val="0"/>
            </a:srgbClr>
          </a:solidFill>
          <a:ln/>
        </p:spPr>
      </p:sp>
      <p:sp>
        <p:nvSpPr>
          <p:cNvPr id="41" name="Text 33"/>
          <p:cNvSpPr/>
          <p:nvPr/>
        </p:nvSpPr>
        <p:spPr>
          <a:xfrm>
            <a:off x="6052785" y="3847022"/>
            <a:ext cx="3091215" cy="981843"/>
          </a:xfrm>
          <a:prstGeom prst="rect">
            <a:avLst/>
          </a:prstGeom>
          <a:noFill/>
          <a:ln/>
        </p:spPr>
        <p:txBody>
          <a:bodyPr wrap="square" rtlCol="0" anchor="t"/>
          <a:lstStyle/>
          <a:p>
            <a:pPr indent="0" marL="0">
              <a:spcBef>
                <a:spcPts val="375"/>
              </a:spcBef>
              <a:buNone/>
            </a:pPr>
            <a:endParaRPr lang="en-US" sz="1050" dirty="0"/>
          </a:p>
        </p:txBody>
      </p:sp>
      <p:sp>
        <p:nvSpPr>
          <p:cNvPr id="42" name="Shape 34"/>
          <p:cNvSpPr/>
          <p:nvPr/>
        </p:nvSpPr>
        <p:spPr>
          <a:xfrm>
            <a:off x="6052785" y="3847022"/>
            <a:ext cx="3091215" cy="981843"/>
          </a:xfrm>
          <a:custGeom>
            <a:avLst/>
            <a:gdLst/>
            <a:ahLst/>
            <a:cxnLst/>
            <a:rect l="l" t="t" r="r" b="b"/>
            <a:pathLst>
              <a:path w="3091215" h="981843">
                <a:moveTo>
                  <a:pt x="0" y="0"/>
                </a:moveTo>
                <a:lnTo>
                  <a:pt x="3091215" y="0"/>
                </a:lnTo>
                <a:lnTo>
                  <a:pt x="3091215" y="981843"/>
                </a:lnTo>
                <a:lnTo>
                  <a:pt x="0" y="981843"/>
                </a:lnTo>
                <a:close/>
              </a:path>
            </a:pathLst>
          </a:custGeom>
          <a:solidFill>
            <a:srgbClr val="000000">
              <a:alpha val="0"/>
            </a:srgbClr>
          </a:solidFill>
          <a:ln/>
        </p:spPr>
      </p:sp>
      <p:sp>
        <p:nvSpPr>
          <p:cNvPr id="43" name="Text 35"/>
          <p:cNvSpPr/>
          <p:nvPr/>
        </p:nvSpPr>
        <p:spPr>
          <a:xfrm>
            <a:off x="6052785" y="3847022"/>
            <a:ext cx="3091215" cy="98184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O'smalarni davolashda qo'shimcha terapiyalardan ham foydalaniladi. Masalan, immunoterapiya yoki maqsadli terapiyalar. Ushbu usullar o'sma hujayralarining o'sishini to'xtatishga yordam beradi. Barcha davolash usullari mutaxassislar tomonidan nazorat qilinishi lozim.</a:t>
            </a:r>
            <a:endParaRPr lang="en-US" sz="1050" dirty="0"/>
          </a:p>
        </p:txBody>
      </p:sp>
      <p:pic>
        <p:nvPicPr>
          <p:cNvPr id="44" name="Image 6" descr="./images\slide14_img123.png">    </p:cNvPr>
          <p:cNvPicPr>
            <a:picLocks noChangeAspect="1"/>
          </p:cNvPicPr>
          <p:nvPr/>
        </p:nvPicPr>
        <p:blipFill>
          <a:blip r:embed="rId7"/>
          <a:stretch>
            <a:fillRect/>
          </a:stretch>
        </p:blipFill>
        <p:spPr>
          <a:xfrm rot="-780000">
            <a:off x="-308256" y="617196"/>
            <a:ext cx="1713253" cy="20574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1F1F1"/>
        </a:solidFill>
      </p:bgPr>
    </p:bg>
    <p:spTree>
      <p:nvGrpSpPr>
        <p:cNvPr id="1" name=""/>
        <p:cNvGrpSpPr/>
        <p:nvPr/>
      </p:nvGrpSpPr>
      <p:grpSpPr>
        <a:xfrm>
          <a:off x="0" y="0"/>
          <a:ext cx="0" cy="0"/>
          <a:chOff x="0" y="0"/>
          <a:chExt cx="0" cy="0"/>
        </a:xfrm>
      </p:grpSpPr>
      <p:pic>
        <p:nvPicPr>
          <p:cNvPr id="2" name="Image 0" descr="./images\slide15_img124.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5_img125.jpeg">    </p:cNvPr>
          <p:cNvPicPr>
            <a:picLocks noChangeAspect="1"/>
          </p:cNvPicPr>
          <p:nvPr/>
        </p:nvPicPr>
        <p:blipFill>
          <a:blip r:embed="rId2"/>
          <a:srcRect l="0" r="45747" t="4269" b="81232"/>
          <a:stretch/>
        </p:blipFill>
        <p:spPr>
          <a:xfrm>
            <a:off x="0" y="0"/>
            <a:ext cx="8778240" cy="1797420"/>
          </a:xfrm>
          <a:prstGeom prst="rect">
            <a:avLst/>
          </a:prstGeom>
        </p:spPr>
      </p:pic>
      <p:sp>
        <p:nvSpPr>
          <p:cNvPr id="4" name="Shape 0"/>
          <p:cNvSpPr/>
          <p:nvPr/>
        </p:nvSpPr>
        <p:spPr>
          <a:xfrm>
            <a:off x="614136" y="2207981"/>
            <a:ext cx="7826859" cy="552450"/>
          </a:xfrm>
          <a:custGeom>
            <a:avLst/>
            <a:gdLst/>
            <a:ahLst/>
            <a:cxnLst/>
            <a:rect l="l" t="t" r="r" b="b"/>
            <a:pathLst>
              <a:path w="7826859" h="552450">
                <a:moveTo>
                  <a:pt x="0" y="0"/>
                </a:moveTo>
                <a:lnTo>
                  <a:pt x="7826859" y="0"/>
                </a:lnTo>
                <a:lnTo>
                  <a:pt x="7826859" y="552450"/>
                </a:lnTo>
                <a:lnTo>
                  <a:pt x="0" y="552450"/>
                </a:lnTo>
                <a:close/>
              </a:path>
            </a:pathLst>
          </a:custGeom>
          <a:solidFill>
            <a:srgbClr val="FFFFFF">
              <a:alpha val="0"/>
            </a:srgbClr>
          </a:solidFill>
          <a:ln/>
        </p:spPr>
      </p:sp>
      <p:sp>
        <p:nvSpPr>
          <p:cNvPr id="5" name="Text 1"/>
          <p:cNvSpPr/>
          <p:nvPr/>
        </p:nvSpPr>
        <p:spPr>
          <a:xfrm>
            <a:off x="614136" y="2207981"/>
            <a:ext cx="7826859" cy="5524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614136" y="2207981"/>
            <a:ext cx="7826859" cy="552450"/>
          </a:xfrm>
          <a:custGeom>
            <a:avLst/>
            <a:gdLst/>
            <a:ahLst/>
            <a:cxnLst/>
            <a:rect l="l" t="t" r="r" b="b"/>
            <a:pathLst>
              <a:path w="7826859" h="552450">
                <a:moveTo>
                  <a:pt x="0" y="0"/>
                </a:moveTo>
                <a:lnTo>
                  <a:pt x="7826859" y="0"/>
                </a:lnTo>
                <a:lnTo>
                  <a:pt x="7826859" y="552450"/>
                </a:lnTo>
                <a:lnTo>
                  <a:pt x="0" y="552450"/>
                </a:lnTo>
                <a:close/>
              </a:path>
            </a:pathLst>
          </a:custGeom>
          <a:solidFill>
            <a:srgbClr val="000000">
              <a:alpha val="0"/>
            </a:srgbClr>
          </a:solidFill>
          <a:ln/>
        </p:spPr>
      </p:sp>
      <p:sp>
        <p:nvSpPr>
          <p:cNvPr id="7" name="Text 3"/>
          <p:cNvSpPr/>
          <p:nvPr/>
        </p:nvSpPr>
        <p:spPr>
          <a:xfrm>
            <a:off x="614136" y="2207981"/>
            <a:ext cx="7826859" cy="552450"/>
          </a:xfrm>
          <a:prstGeom prst="rect">
            <a:avLst/>
          </a:prstGeom>
          <a:noFill/>
          <a:ln/>
        </p:spPr>
        <p:txBody>
          <a:bodyPr wrap="square" rtlCol="0" anchor="t"/>
          <a:lstStyle/>
          <a:p>
            <a:pPr algn="ctr" indent="0" marL="0">
              <a:spcBef>
                <a:spcPts val="375"/>
              </a:spcBef>
              <a:buNone/>
            </a:pPr>
            <a:r>
              <a:rPr lang="en-US" sz="1800" dirty="0">
                <a:solidFill>
                  <a:srgbClr val="333333"/>
                </a:solidFill>
                <a:latin typeface="微软雅黑" pitchFamily="34" charset="0"/>
                <a:ea typeface="微软雅黑" pitchFamily="34" charset="-122"/>
                <a:cs typeface="微软雅黑" pitchFamily="34" charset="-120"/>
              </a:rPr>
              <a:t>Xulosa</a:t>
            </a:r>
            <a:endParaRPr lang="en-US" sz="1050" dirty="0"/>
          </a:p>
        </p:txBody>
      </p:sp>
      <p:sp>
        <p:nvSpPr>
          <p:cNvPr id="8" name="Shape 4"/>
          <p:cNvSpPr/>
          <p:nvPr/>
        </p:nvSpPr>
        <p:spPr>
          <a:xfrm>
            <a:off x="661391" y="2684231"/>
            <a:ext cx="7779603" cy="2159198"/>
          </a:xfrm>
          <a:custGeom>
            <a:avLst/>
            <a:gdLst/>
            <a:ahLst/>
            <a:cxnLst/>
            <a:rect l="l" t="t" r="r" b="b"/>
            <a:pathLst>
              <a:path w="7779603" h="2159198">
                <a:moveTo>
                  <a:pt x="0" y="0"/>
                </a:moveTo>
                <a:lnTo>
                  <a:pt x="7779603" y="0"/>
                </a:lnTo>
                <a:lnTo>
                  <a:pt x="7779603" y="2159198"/>
                </a:lnTo>
                <a:lnTo>
                  <a:pt x="0" y="2159198"/>
                </a:lnTo>
                <a:close/>
              </a:path>
            </a:pathLst>
          </a:custGeom>
          <a:solidFill>
            <a:srgbClr val="FFFFFF">
              <a:alpha val="0"/>
            </a:srgbClr>
          </a:solidFill>
          <a:ln/>
        </p:spPr>
      </p:sp>
      <p:sp>
        <p:nvSpPr>
          <p:cNvPr id="9" name="Text 5"/>
          <p:cNvSpPr/>
          <p:nvPr/>
        </p:nvSpPr>
        <p:spPr>
          <a:xfrm>
            <a:off x="661391" y="2684231"/>
            <a:ext cx="7779603" cy="2159198"/>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661391" y="2684231"/>
            <a:ext cx="7779603" cy="2159198"/>
          </a:xfrm>
          <a:custGeom>
            <a:avLst/>
            <a:gdLst/>
            <a:ahLst/>
            <a:cxnLst/>
            <a:rect l="l" t="t" r="r" b="b"/>
            <a:pathLst>
              <a:path w="7779603" h="2159198">
                <a:moveTo>
                  <a:pt x="0" y="0"/>
                </a:moveTo>
                <a:lnTo>
                  <a:pt x="7779603" y="0"/>
                </a:lnTo>
                <a:lnTo>
                  <a:pt x="7779603" y="2159198"/>
                </a:lnTo>
                <a:lnTo>
                  <a:pt x="0" y="2159198"/>
                </a:lnTo>
                <a:close/>
              </a:path>
            </a:pathLst>
          </a:custGeom>
          <a:solidFill>
            <a:srgbClr val="000000">
              <a:alpha val="0"/>
            </a:srgbClr>
          </a:solidFill>
          <a:ln/>
        </p:spPr>
      </p:sp>
      <p:sp>
        <p:nvSpPr>
          <p:cNvPr id="11" name="Text 7"/>
          <p:cNvSpPr/>
          <p:nvPr/>
        </p:nvSpPr>
        <p:spPr>
          <a:xfrm>
            <a:off x="661391" y="2684231"/>
            <a:ext cx="7779603" cy="2159198"/>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 asab tizimining turli qismlarida rivojlanadigan benign yoki malignant o'smalardir. Ushbu o'smalar asab hujayralaridan, myelindan yoki glial hujayralardan paydo bo'lishi mumkin. O'smalarning belgilari keng qamrovli bo'lib, bosh og'rig'i, muvofiqlikni boshqarishdagi qiyinchilik, his-tuyg'u o'zgarishlari va boshqa nevrologik simptomlar orqali namoyon bo'lishi mumkin. Diagnostika asosan MRI, CT skanerlash va biopsiya yordamida amalga oshiriladi. Davolash usullari esa jarrohlik, radioterapiya va kimyoterapiyani o'z ichiga oladi. O'smalarning tipiga ko'ra, davolash strategiyalari har xil bo'ladi va har bir bemorda individual yondashuv talab etiladi.</a:t>
            </a:r>
            <a:endParaRPr lang="en-US" sz="1050" dirty="0"/>
          </a:p>
          <a:p>
            <a:pPr algn="l" indent="0" marL="0">
              <a:spcBef>
                <a:spcPts val="375"/>
              </a:spcBef>
              <a:buNone/>
            </a:pPr>
            <a:r>
              <a:rPr lang="en-US" sz="1800" dirty="0">
                <a:solidFill>
                  <a:srgbClr val="333333"/>
                </a:solidFill>
                <a:latin typeface="Calibri" pitchFamily="34" charset="0"/>
                <a:ea typeface="Calibri" pitchFamily="34" charset="-122"/>
                <a:cs typeface="Calibri" pitchFamily="34" charset="-120"/>
              </a:rPr>
              <a:t> </a:t>
            </a:r>
            <a:endParaRPr lang="en-US" sz="1050" dirty="0"/>
          </a:p>
          <a:p>
            <a:pPr algn="l" indent="0" marL="0">
              <a:spcBef>
                <a:spcPts val="375"/>
              </a:spcBef>
              <a:buNone/>
            </a:pPr>
            <a:r>
              <a:rPr lang="en-US" sz="1800" dirty="0">
                <a:solidFill>
                  <a:srgbClr val="333333"/>
                </a:solidFill>
                <a:latin typeface="Calibri" pitchFamily="34" charset="0"/>
                <a:ea typeface="Calibri" pitchFamily="34" charset="-122"/>
                <a:cs typeface="Calibri" pitchFamily="34" charset="-120"/>
              </a:rPr>
              <a:t> </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F1F1"/>
        </a:solidFill>
      </p:bgPr>
    </p:bg>
    <p:spTree>
      <p:nvGrpSpPr>
        <p:cNvPr id="1" name=""/>
        <p:cNvGrpSpPr/>
        <p:nvPr/>
      </p:nvGrpSpPr>
      <p:grpSpPr>
        <a:xfrm>
          <a:off x="0" y="0"/>
          <a:ext cx="0" cy="0"/>
          <a:chOff x="0" y="0"/>
          <a:chExt cx="0" cy="0"/>
        </a:xfrm>
      </p:grpSpPr>
      <p:pic>
        <p:nvPicPr>
          <p:cNvPr id="2" name="Image 0" descr="./images\slide16_img126.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6_img127.png">    </p:cNvPr>
          <p:cNvPicPr>
            <a:picLocks noChangeAspect="1"/>
          </p:cNvPicPr>
          <p:nvPr/>
        </p:nvPicPr>
        <p:blipFill>
          <a:blip r:embed="rId2"/>
          <a:stretch>
            <a:fillRect/>
          </a:stretch>
        </p:blipFill>
        <p:spPr>
          <a:xfrm>
            <a:off x="514350" y="469150"/>
            <a:ext cx="8115300" cy="4205201"/>
          </a:xfrm>
          <a:prstGeom prst="rect">
            <a:avLst/>
          </a:prstGeom>
        </p:spPr>
      </p:pic>
      <p:pic>
        <p:nvPicPr>
          <p:cNvPr id="4" name="Image 2" descr="./images\slide16_img128.png">    </p:cNvPr>
          <p:cNvPicPr>
            <a:picLocks noChangeAspect="1"/>
          </p:cNvPicPr>
          <p:nvPr/>
        </p:nvPicPr>
        <p:blipFill>
          <a:blip r:embed="rId3"/>
          <a:stretch>
            <a:fillRect/>
          </a:stretch>
        </p:blipFill>
        <p:spPr>
          <a:xfrm>
            <a:off x="3212221" y="3000774"/>
            <a:ext cx="2719558" cy="442634"/>
          </a:xfrm>
          <a:prstGeom prst="rect">
            <a:avLst/>
          </a:prstGeom>
        </p:spPr>
      </p:pic>
      <p:sp>
        <p:nvSpPr>
          <p:cNvPr id="5" name="Shape 0"/>
          <p:cNvSpPr/>
          <p:nvPr/>
        </p:nvSpPr>
        <p:spPr>
          <a:xfrm>
            <a:off x="3212221" y="3000774"/>
            <a:ext cx="2719558" cy="442634"/>
          </a:xfrm>
          <a:custGeom>
            <a:avLst/>
            <a:gdLst/>
            <a:ahLst/>
            <a:cxnLst/>
            <a:rect l="l" t="t" r="r" b="b"/>
            <a:pathLst>
              <a:path w="2719558" h="442634">
                <a:moveTo>
                  <a:pt x="0" y="0"/>
                </a:moveTo>
                <a:lnTo>
                  <a:pt x="2719558" y="0"/>
                </a:lnTo>
                <a:lnTo>
                  <a:pt x="2719558" y="442634"/>
                </a:lnTo>
                <a:lnTo>
                  <a:pt x="0" y="442634"/>
                </a:lnTo>
                <a:close/>
              </a:path>
            </a:pathLst>
          </a:custGeom>
          <a:solidFill>
            <a:srgbClr val="FFFFFF">
              <a:alpha val="0"/>
            </a:srgbClr>
          </a:solidFill>
          <a:ln/>
        </p:spPr>
      </p:sp>
      <p:sp>
        <p:nvSpPr>
          <p:cNvPr id="6" name="Text 1"/>
          <p:cNvSpPr/>
          <p:nvPr/>
        </p:nvSpPr>
        <p:spPr>
          <a:xfrm>
            <a:off x="3212221" y="3000774"/>
            <a:ext cx="2719558" cy="442634"/>
          </a:xfrm>
          <a:prstGeom prst="rect">
            <a:avLst/>
          </a:prstGeom>
          <a:noFill/>
          <a:ln/>
        </p:spPr>
        <p:txBody>
          <a:bodyPr wrap="square" rtlCol="0" anchor="t"/>
          <a:lstStyle/>
          <a:p>
            <a:pPr indent="0" marL="0">
              <a:spcBef>
                <a:spcPts val="375"/>
              </a:spcBef>
              <a:buNone/>
            </a:pPr>
            <a:endParaRPr lang="en-US" sz="1050" dirty="0"/>
          </a:p>
        </p:txBody>
      </p:sp>
      <p:sp>
        <p:nvSpPr>
          <p:cNvPr id="7" name="Shape 2"/>
          <p:cNvSpPr/>
          <p:nvPr/>
        </p:nvSpPr>
        <p:spPr>
          <a:xfrm>
            <a:off x="3212221" y="3000774"/>
            <a:ext cx="2719558" cy="442634"/>
          </a:xfrm>
          <a:custGeom>
            <a:avLst/>
            <a:gdLst/>
            <a:ahLst/>
            <a:cxnLst/>
            <a:rect l="l" t="t" r="r" b="b"/>
            <a:pathLst>
              <a:path w="2719558" h="442634">
                <a:moveTo>
                  <a:pt x="0" y="0"/>
                </a:moveTo>
                <a:lnTo>
                  <a:pt x="2719558" y="0"/>
                </a:lnTo>
                <a:lnTo>
                  <a:pt x="2719558" y="442634"/>
                </a:lnTo>
                <a:lnTo>
                  <a:pt x="0" y="442634"/>
                </a:lnTo>
                <a:close/>
              </a:path>
            </a:pathLst>
          </a:custGeom>
          <a:solidFill>
            <a:srgbClr val="000000">
              <a:alpha val="0"/>
            </a:srgbClr>
          </a:solidFill>
          <a:ln/>
        </p:spPr>
      </p:sp>
      <p:sp>
        <p:nvSpPr>
          <p:cNvPr id="8" name="Text 3"/>
          <p:cNvSpPr/>
          <p:nvPr/>
        </p:nvSpPr>
        <p:spPr>
          <a:xfrm>
            <a:off x="3212221" y="3000774"/>
            <a:ext cx="2719558" cy="44263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9" name="Image 3" descr="./images\slide16_img129.png">    </p:cNvPr>
          <p:cNvPicPr>
            <a:picLocks noChangeAspect="1"/>
          </p:cNvPicPr>
          <p:nvPr/>
        </p:nvPicPr>
        <p:blipFill>
          <a:blip r:embed="rId4"/>
          <a:stretch>
            <a:fillRect/>
          </a:stretch>
        </p:blipFill>
        <p:spPr>
          <a:xfrm>
            <a:off x="3212221" y="3000774"/>
            <a:ext cx="2719558" cy="442634"/>
          </a:xfrm>
          <a:prstGeom prst="rect">
            <a:avLst/>
          </a:prstGeom>
        </p:spPr>
      </p:pic>
      <p:sp>
        <p:nvSpPr>
          <p:cNvPr id="10" name="Shape 4"/>
          <p:cNvSpPr/>
          <p:nvPr/>
        </p:nvSpPr>
        <p:spPr>
          <a:xfrm>
            <a:off x="561975" y="783461"/>
            <a:ext cx="8115300" cy="476250"/>
          </a:xfrm>
          <a:custGeom>
            <a:avLst/>
            <a:gdLst/>
            <a:ahLst/>
            <a:cxnLst/>
            <a:rect l="l" t="t" r="r" b="b"/>
            <a:pathLst>
              <a:path w="8115300" h="476250">
                <a:moveTo>
                  <a:pt x="0" y="0"/>
                </a:moveTo>
                <a:lnTo>
                  <a:pt x="8115300" y="0"/>
                </a:lnTo>
                <a:lnTo>
                  <a:pt x="8115300" y="476250"/>
                </a:lnTo>
                <a:lnTo>
                  <a:pt x="0" y="476250"/>
                </a:lnTo>
                <a:close/>
              </a:path>
            </a:pathLst>
          </a:custGeom>
          <a:solidFill>
            <a:srgbClr val="FFFFFF">
              <a:alpha val="0"/>
            </a:srgbClr>
          </a:solidFill>
          <a:ln/>
        </p:spPr>
      </p:sp>
      <p:sp>
        <p:nvSpPr>
          <p:cNvPr id="11" name="Text 5"/>
          <p:cNvSpPr/>
          <p:nvPr/>
        </p:nvSpPr>
        <p:spPr>
          <a:xfrm>
            <a:off x="561975" y="783461"/>
            <a:ext cx="8115300" cy="476250"/>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561975" y="783461"/>
            <a:ext cx="8115300" cy="476250"/>
          </a:xfrm>
          <a:custGeom>
            <a:avLst/>
            <a:gdLst/>
            <a:ahLst/>
            <a:cxnLst/>
            <a:rect l="l" t="t" r="r" b="b"/>
            <a:pathLst>
              <a:path w="8115300" h="476250">
                <a:moveTo>
                  <a:pt x="0" y="0"/>
                </a:moveTo>
                <a:lnTo>
                  <a:pt x="8115300" y="0"/>
                </a:lnTo>
                <a:lnTo>
                  <a:pt x="8115300" y="476250"/>
                </a:lnTo>
                <a:lnTo>
                  <a:pt x="0" y="476250"/>
                </a:lnTo>
                <a:close/>
              </a:path>
            </a:pathLst>
          </a:custGeom>
          <a:solidFill>
            <a:srgbClr val="000000">
              <a:alpha val="0"/>
            </a:srgbClr>
          </a:solidFill>
          <a:ln/>
        </p:spPr>
      </p:sp>
      <p:sp>
        <p:nvSpPr>
          <p:cNvPr id="13" name="Text 7"/>
          <p:cNvSpPr/>
          <p:nvPr/>
        </p:nvSpPr>
        <p:spPr>
          <a:xfrm>
            <a:off x="561975" y="783461"/>
            <a:ext cx="8115300" cy="476250"/>
          </a:xfrm>
          <a:prstGeom prst="rect">
            <a:avLst/>
          </a:prstGeom>
          <a:noFill/>
          <a:ln/>
        </p:spPr>
        <p:txBody>
          <a:bodyPr wrap="square" rtlCol="0" anchor="t"/>
          <a:lstStyle/>
          <a:p>
            <a:pPr algn="ctr" indent="0" marL="0">
              <a:spcBef>
                <a:spcPts val="375"/>
              </a:spcBef>
              <a:buNone/>
            </a:pPr>
            <a:r>
              <a:rPr lang="en-US" sz="1800" dirty="0">
                <a:solidFill>
                  <a:srgbClr val="333333"/>
                </a:solidFill>
                <a:latin typeface="微软雅黑" pitchFamily="34" charset="0"/>
                <a:ea typeface="微软雅黑" pitchFamily="34" charset="-122"/>
                <a:cs typeface="微软雅黑" pitchFamily="34" charset="-120"/>
              </a:rPr>
              <a:t>Adabiyotlar ro'yxati</a:t>
            </a:r>
            <a:endParaRPr lang="en-US" sz="1050" dirty="0"/>
          </a:p>
        </p:txBody>
      </p:sp>
      <p:sp>
        <p:nvSpPr>
          <p:cNvPr id="14" name="Shape 8"/>
          <p:cNvSpPr/>
          <p:nvPr/>
        </p:nvSpPr>
        <p:spPr>
          <a:xfrm>
            <a:off x="561975" y="1307657"/>
            <a:ext cx="8115300" cy="2883502"/>
          </a:xfrm>
          <a:custGeom>
            <a:avLst/>
            <a:gdLst/>
            <a:ahLst/>
            <a:cxnLst/>
            <a:rect l="l" t="t" r="r" b="b"/>
            <a:pathLst>
              <a:path w="8115300" h="2883502">
                <a:moveTo>
                  <a:pt x="0" y="0"/>
                </a:moveTo>
                <a:lnTo>
                  <a:pt x="8115300" y="0"/>
                </a:lnTo>
                <a:lnTo>
                  <a:pt x="8115300" y="2883502"/>
                </a:lnTo>
                <a:lnTo>
                  <a:pt x="0" y="2883502"/>
                </a:lnTo>
                <a:close/>
              </a:path>
            </a:pathLst>
          </a:custGeom>
          <a:solidFill>
            <a:srgbClr val="FFFFFF">
              <a:alpha val="0"/>
            </a:srgbClr>
          </a:solidFill>
          <a:ln/>
        </p:spPr>
      </p:sp>
      <p:sp>
        <p:nvSpPr>
          <p:cNvPr id="15" name="Text 9"/>
          <p:cNvSpPr/>
          <p:nvPr/>
        </p:nvSpPr>
        <p:spPr>
          <a:xfrm>
            <a:off x="561975" y="1307657"/>
            <a:ext cx="8115300" cy="2883502"/>
          </a:xfrm>
          <a:prstGeom prst="rect">
            <a:avLst/>
          </a:prstGeom>
          <a:noFill/>
          <a:ln/>
        </p:spPr>
        <p:txBody>
          <a:bodyPr wrap="square" rtlCol="0" anchor="t"/>
          <a:lstStyle/>
          <a:p>
            <a:pPr indent="0" marL="0">
              <a:spcBef>
                <a:spcPts val="375"/>
              </a:spcBef>
              <a:buNone/>
            </a:pPr>
            <a:endParaRPr lang="en-US" sz="1050" dirty="0"/>
          </a:p>
        </p:txBody>
      </p:sp>
      <p:sp>
        <p:nvSpPr>
          <p:cNvPr id="16" name="Shape 10"/>
          <p:cNvSpPr/>
          <p:nvPr/>
        </p:nvSpPr>
        <p:spPr>
          <a:xfrm>
            <a:off x="561975" y="1307657"/>
            <a:ext cx="8115300" cy="2883502"/>
          </a:xfrm>
          <a:custGeom>
            <a:avLst/>
            <a:gdLst/>
            <a:ahLst/>
            <a:cxnLst/>
            <a:rect l="l" t="t" r="r" b="b"/>
            <a:pathLst>
              <a:path w="8115300" h="2883502">
                <a:moveTo>
                  <a:pt x="0" y="0"/>
                </a:moveTo>
                <a:lnTo>
                  <a:pt x="8115300" y="0"/>
                </a:lnTo>
                <a:lnTo>
                  <a:pt x="8115300" y="2883502"/>
                </a:lnTo>
                <a:lnTo>
                  <a:pt x="0" y="2883502"/>
                </a:lnTo>
                <a:close/>
              </a:path>
            </a:pathLst>
          </a:custGeom>
          <a:solidFill>
            <a:srgbClr val="000000">
              <a:alpha val="0"/>
            </a:srgbClr>
          </a:solidFill>
          <a:ln/>
        </p:spPr>
      </p:sp>
      <p:sp>
        <p:nvSpPr>
          <p:cNvPr id="17" name="Text 11"/>
          <p:cNvSpPr/>
          <p:nvPr/>
        </p:nvSpPr>
        <p:spPr>
          <a:xfrm>
            <a:off x="561975" y="1307657"/>
            <a:ext cx="8115300" cy="2883502"/>
          </a:xfrm>
          <a:prstGeom prst="rect">
            <a:avLst/>
          </a:prstGeom>
          <a:noFill/>
          <a:ln/>
        </p:spPr>
        <p:txBody>
          <a:bodyPr wrap="square" rtlCol="0" anchor="t"/>
          <a:lstStyle/>
          <a:p>
            <a:pPr algn="l" indent="0" marL="0">
              <a:spcBef>
                <a:spcPts val="375"/>
              </a:spcBef>
              <a:buNone/>
            </a:pPr>
            <a:r>
              <a:rPr lang="en-US" sz="1350" dirty="0">
                <a:solidFill>
                  <a:srgbClr val="333333"/>
                </a:solidFill>
                <a:latin typeface="微软雅黑" pitchFamily="34" charset="0"/>
                <a:ea typeface="微软雅黑" pitchFamily="34" charset="-122"/>
                <a:cs typeface="微软雅黑" pitchFamily="34" charset="-120"/>
              </a:rPr>
              <a:t>1. Abdullayev A. A., Mirzaev R. M. Nerv tizimi o'smalari va ularning davolash usullari. 2020. Tibbiyot nashrlari.2. krijanov S. Y., Shabanov A. R. Nerv tizimi o'smalari kasalliklari. 2019. O'zbekiston Tibbiyot Akademiyasi.3. Nurmurodova Z. U. Asab tizimi va o'smalari: Xavflar va oldini olish. 2021. Noshirlar engraving.4. Qodirov I. S., Mullaev O. F. Onkologiya asoslari. Nerv tizimidagi o'smalar. 2018. Tibbiyot ilmiy jurnali.5. Turg'unov Sh. Kh. Asab tizimidagi o'smalar va ularni aniq tadqiq qilish. 2022. O'zbekiston Fanlar Akademiyasi.</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1F1"/>
        </a:solidFill>
      </p:bgPr>
    </p:bg>
    <p:spTree>
      <p:nvGrpSpPr>
        <p:cNvPr id="1" name=""/>
        <p:cNvGrpSpPr/>
        <p:nvPr/>
      </p:nvGrpSpPr>
      <p:grpSpPr>
        <a:xfrm>
          <a:off x="0" y="0"/>
          <a:ext cx="0" cy="0"/>
          <a:chOff x="0" y="0"/>
          <a:chExt cx="0" cy="0"/>
        </a:xfrm>
      </p:grpSpPr>
      <p:pic>
        <p:nvPicPr>
          <p:cNvPr id="2" name="Image 0" descr="./images\slide17_img130.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43466" y="2047554"/>
            <a:ext cx="8115300" cy="666750"/>
          </a:xfrm>
          <a:custGeom>
            <a:avLst/>
            <a:gdLst/>
            <a:ahLst/>
            <a:cxnLst/>
            <a:rect l="l" t="t" r="r" b="b"/>
            <a:pathLst>
              <a:path w="8115300" h="666750">
                <a:moveTo>
                  <a:pt x="0" y="0"/>
                </a:moveTo>
                <a:lnTo>
                  <a:pt x="8115300" y="0"/>
                </a:lnTo>
                <a:lnTo>
                  <a:pt x="8115300" y="666750"/>
                </a:lnTo>
                <a:lnTo>
                  <a:pt x="0" y="666750"/>
                </a:lnTo>
                <a:close/>
              </a:path>
            </a:pathLst>
          </a:custGeom>
          <a:solidFill>
            <a:srgbClr val="FFFFFF">
              <a:alpha val="0"/>
            </a:srgbClr>
          </a:solidFill>
          <a:ln/>
        </p:spPr>
      </p:sp>
      <p:sp>
        <p:nvSpPr>
          <p:cNvPr id="4" name="Text 1"/>
          <p:cNvSpPr/>
          <p:nvPr/>
        </p:nvSpPr>
        <p:spPr>
          <a:xfrm>
            <a:off x="443466" y="2047554"/>
            <a:ext cx="8115300" cy="666750"/>
          </a:xfrm>
          <a:prstGeom prst="rect">
            <a:avLst/>
          </a:prstGeom>
          <a:noFill/>
          <a:ln/>
        </p:spPr>
        <p:txBody>
          <a:bodyPr wrap="square" rtlCol="0" anchor="t"/>
          <a:lstStyle/>
          <a:p>
            <a:pPr indent="0" marL="0">
              <a:spcBef>
                <a:spcPts val="375"/>
              </a:spcBef>
              <a:buNone/>
            </a:pPr>
            <a:endParaRPr lang="en-US" sz="1050" dirty="0"/>
          </a:p>
        </p:txBody>
      </p:sp>
      <p:sp>
        <p:nvSpPr>
          <p:cNvPr id="5" name="Shape 2"/>
          <p:cNvSpPr/>
          <p:nvPr/>
        </p:nvSpPr>
        <p:spPr>
          <a:xfrm>
            <a:off x="443466" y="2047554"/>
            <a:ext cx="8115300" cy="666750"/>
          </a:xfrm>
          <a:custGeom>
            <a:avLst/>
            <a:gdLst/>
            <a:ahLst/>
            <a:cxnLst/>
            <a:rect l="l" t="t" r="r" b="b"/>
            <a:pathLst>
              <a:path w="8115300" h="666750">
                <a:moveTo>
                  <a:pt x="0" y="0"/>
                </a:moveTo>
                <a:lnTo>
                  <a:pt x="8115300" y="0"/>
                </a:lnTo>
                <a:lnTo>
                  <a:pt x="8115300" y="666750"/>
                </a:lnTo>
                <a:lnTo>
                  <a:pt x="0" y="666750"/>
                </a:lnTo>
                <a:close/>
              </a:path>
            </a:pathLst>
          </a:custGeom>
          <a:solidFill>
            <a:srgbClr val="000000">
              <a:alpha val="0"/>
            </a:srgbClr>
          </a:solidFill>
          <a:ln/>
        </p:spPr>
      </p:sp>
      <p:sp>
        <p:nvSpPr>
          <p:cNvPr id="6" name="Text 3"/>
          <p:cNvSpPr/>
          <p:nvPr/>
        </p:nvSpPr>
        <p:spPr>
          <a:xfrm>
            <a:off x="443466" y="2047554"/>
            <a:ext cx="8115300" cy="666750"/>
          </a:xfrm>
          <a:prstGeom prst="rect">
            <a:avLst/>
          </a:prstGeom>
          <a:noFill/>
          <a:ln/>
        </p:spPr>
        <p:txBody>
          <a:bodyPr wrap="square" rtlCol="0" anchor="t"/>
          <a:lstStyle/>
          <a:p>
            <a:pPr algn="l" indent="0" marL="0">
              <a:spcBef>
                <a:spcPts val="375"/>
              </a:spcBef>
              <a:buNone/>
            </a:pPr>
            <a:r>
              <a:rPr lang="en-US" sz="4500" dirty="0">
                <a:solidFill>
                  <a:srgbClr val="333333"/>
                </a:solidFill>
                <a:latin typeface="微软雅黑" pitchFamily="34" charset="0"/>
                <a:ea typeface="微软雅黑" pitchFamily="34" charset="-122"/>
                <a:cs typeface="微软雅黑" pitchFamily="34" charset="-120"/>
              </a:rPr>
              <a:t>Etiboringiz uchun rahmat!</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2025-10-03T15:40:37Z</dcterms:created>
  <dcterms:modified xsi:type="dcterms:W3CDTF">2025-10-03T15:40:37Z</dcterms:modified>
</cp:coreProperties>
</file>