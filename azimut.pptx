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image" Target="../media/image-5-4.jpeg"/><Relationship Id="rId5" Type="http://schemas.openxmlformats.org/officeDocument/2006/relationships/image" Target="../media/image-5-5.jpe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FFF"/>
        </a:solidFill>
      </p:bgPr>
    </p:bg>
    <p:spTree>
      <p:nvGrpSpPr>
        <p:cNvPr id="1" name=""/>
        <p:cNvGrpSpPr/>
        <p:nvPr/>
      </p:nvGrpSpPr>
      <p:grpSpPr>
        <a:xfrm>
          <a:off x="0" y="0"/>
          <a:ext cx="0" cy="0"/>
          <a:chOff x="0" y="0"/>
          <a:chExt cx="0" cy="0"/>
        </a:xfrm>
      </p:grpSpPr>
      <p:sp>
        <p:nvSpPr>
          <p:cNvPr id="2" name="Shape 0"/>
          <p:cNvSpPr/>
          <p:nvPr/>
        </p:nvSpPr>
        <p:spPr>
          <a:xfrm>
            <a:off x="523875" y="434790"/>
            <a:ext cx="2964416" cy="552450"/>
          </a:xfrm>
          <a:custGeom>
            <a:avLst/>
            <a:gdLst/>
            <a:ahLst/>
            <a:cxnLst/>
            <a:rect l="l" t="t" r="r" b="b"/>
            <a:pathLst>
              <a:path w="2964416" h="552450">
                <a:moveTo>
                  <a:pt x="0" y="0"/>
                </a:moveTo>
                <a:lnTo>
                  <a:pt x="2964416" y="0"/>
                </a:lnTo>
                <a:lnTo>
                  <a:pt x="2964416" y="552450"/>
                </a:lnTo>
                <a:lnTo>
                  <a:pt x="0" y="552450"/>
                </a:lnTo>
                <a:close/>
              </a:path>
            </a:pathLst>
          </a:custGeom>
          <a:solidFill>
            <a:srgbClr val="000000">
              <a:alpha val="0"/>
            </a:srgbClr>
          </a:solidFill>
          <a:ln/>
        </p:spPr>
      </p:sp>
      <p:sp>
        <p:nvSpPr>
          <p:cNvPr id="3" name="Text 1"/>
          <p:cNvSpPr/>
          <p:nvPr/>
        </p:nvSpPr>
        <p:spPr>
          <a:xfrm>
            <a:off x="523875" y="434790"/>
            <a:ext cx="2964416" cy="552450"/>
          </a:xfrm>
          <a:prstGeom prst="rect">
            <a:avLst/>
          </a:prstGeom>
          <a:noFill/>
          <a:ln/>
        </p:spPr>
        <p:txBody>
          <a:bodyPr wrap="square" rtlCol="0" anchor="t"/>
          <a:lstStyle/>
          <a:p>
            <a:pPr algn="l" indent="0" marL="0">
              <a:spcBef>
                <a:spcPts val="375"/>
              </a:spcBef>
              <a:buNone/>
            </a:pPr>
            <a:r>
              <a:rPr lang="en-US" sz="3600" b="1" dirty="0">
                <a:solidFill>
                  <a:srgbClr val="333333"/>
                </a:solidFill>
                <a:latin typeface="微软雅黑" pitchFamily="34" charset="0"/>
                <a:ea typeface="微软雅黑" pitchFamily="34" charset="-122"/>
                <a:cs typeface="微软雅黑" pitchFamily="34" charset="-120"/>
              </a:rPr>
              <a:t>Amir Temur</a:t>
            </a:r>
            <a:endParaRPr lang="en-US" sz="1050" dirty="0"/>
          </a:p>
        </p:txBody>
      </p:sp>
      <p:sp>
        <p:nvSpPr>
          <p:cNvPr id="4" name="Shape 2"/>
          <p:cNvSpPr/>
          <p:nvPr/>
        </p:nvSpPr>
        <p:spPr>
          <a:xfrm>
            <a:off x="6208174" y="1270258"/>
            <a:ext cx="2726350" cy="381000"/>
          </a:xfrm>
          <a:custGeom>
            <a:avLst/>
            <a:gdLst/>
            <a:ahLst/>
            <a:cxnLst/>
            <a:rect l="l" t="t" r="r" b="b"/>
            <a:pathLst>
              <a:path w="2726350" h="381000">
                <a:moveTo>
                  <a:pt x="0" y="0"/>
                </a:moveTo>
                <a:lnTo>
                  <a:pt x="2726350" y="0"/>
                </a:lnTo>
                <a:lnTo>
                  <a:pt x="2726350" y="381000"/>
                </a:lnTo>
                <a:lnTo>
                  <a:pt x="0" y="381000"/>
                </a:lnTo>
                <a:close/>
              </a:path>
            </a:pathLst>
          </a:custGeom>
          <a:solidFill>
            <a:srgbClr val="000000">
              <a:alpha val="0"/>
            </a:srgbClr>
          </a:solidFill>
          <a:ln/>
        </p:spPr>
      </p:sp>
      <p:sp>
        <p:nvSpPr>
          <p:cNvPr id="5" name="Text 3"/>
          <p:cNvSpPr/>
          <p:nvPr/>
        </p:nvSpPr>
        <p:spPr>
          <a:xfrm>
            <a:off x="6208174" y="1270258"/>
            <a:ext cx="2726350" cy="381000"/>
          </a:xfrm>
          <a:prstGeom prst="rect">
            <a:avLst/>
          </a:prstGeom>
          <a:noFill/>
          <a:ln/>
        </p:spPr>
        <p:txBody>
          <a:bodyPr wrap="square" rtlCol="0" anchor="t"/>
          <a:lstStyle/>
          <a:p>
            <a:pPr algn="l" indent="0" marL="0">
              <a:spcBef>
                <a:spcPts val="375"/>
              </a:spcBef>
              <a:buNone/>
            </a:pPr>
            <a:r>
              <a:rPr lang="en-US" sz="2250" b="1" dirty="0">
                <a:solidFill>
                  <a:srgbClr val="333333"/>
                </a:solidFill>
                <a:latin typeface="微软雅黑" pitchFamily="34" charset="0"/>
                <a:ea typeface="微软雅黑" pitchFamily="34" charset="-122"/>
                <a:cs typeface="微软雅黑" pitchFamily="34" charset="-120"/>
              </a:rPr>
              <a:t>Azizjon Aliqulov</a:t>
            </a:r>
            <a:endParaRPr lang="en-US" sz="1050" dirty="0"/>
          </a:p>
        </p:txBody>
      </p:sp>
      <p:pic>
        <p:nvPicPr>
          <p:cNvPr id="6" name="Image 0" descr="./images\slide0_img1.png">    </p:cNvPr>
          <p:cNvPicPr>
            <a:picLocks noChangeAspect="1"/>
          </p:cNvPicPr>
          <p:nvPr/>
        </p:nvPicPr>
        <p:blipFill>
          <a:blip r:embed="rId1"/>
          <a:stretch>
            <a:fillRect/>
          </a:stretch>
        </p:blipFill>
        <p:spPr>
          <a:xfrm>
            <a:off x="523875" y="4909660"/>
            <a:ext cx="8105775" cy="233840"/>
          </a:xfrm>
          <a:prstGeom prst="rect">
            <a:avLst/>
          </a:prstGeom>
        </p:spPr>
      </p:pic>
      <p:sp>
        <p:nvSpPr>
          <p:cNvPr id="7" name="Shape 4"/>
          <p:cNvSpPr/>
          <p:nvPr/>
        </p:nvSpPr>
        <p:spPr>
          <a:xfrm>
            <a:off x="523875" y="4909660"/>
            <a:ext cx="8105775" cy="233840"/>
          </a:xfrm>
          <a:custGeom>
            <a:avLst/>
            <a:gdLst/>
            <a:ahLst/>
            <a:cxnLst/>
            <a:rect l="l" t="t" r="r" b="b"/>
            <a:pathLst>
              <a:path w="8105775" h="233840">
                <a:moveTo>
                  <a:pt x="0" y="0"/>
                </a:moveTo>
                <a:lnTo>
                  <a:pt x="8105775" y="0"/>
                </a:lnTo>
                <a:lnTo>
                  <a:pt x="8105775" y="233840"/>
                </a:lnTo>
                <a:lnTo>
                  <a:pt x="0" y="233840"/>
                </a:lnTo>
                <a:close/>
              </a:path>
            </a:pathLst>
          </a:custGeom>
          <a:solidFill>
            <a:srgbClr val="000000">
              <a:alpha val="0"/>
            </a:srgbClr>
          </a:solidFill>
          <a:ln/>
        </p:spPr>
      </p:sp>
      <p:sp>
        <p:nvSpPr>
          <p:cNvPr id="8" name="Text 5"/>
          <p:cNvSpPr/>
          <p:nvPr/>
        </p:nvSpPr>
        <p:spPr>
          <a:xfrm>
            <a:off x="523875" y="4909660"/>
            <a:ext cx="8105775" cy="23384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9" name="Shape 6"/>
          <p:cNvSpPr/>
          <p:nvPr/>
        </p:nvSpPr>
        <p:spPr>
          <a:xfrm>
            <a:off x="523875" y="4837330"/>
            <a:ext cx="8105775" cy="215875"/>
          </a:xfrm>
          <a:custGeom>
            <a:avLst/>
            <a:gdLst/>
            <a:ahLst/>
            <a:cxnLst/>
            <a:rect l="l" t="t" r="r" b="b"/>
            <a:pathLst>
              <a:path w="8105775" h="215875">
                <a:moveTo>
                  <a:pt x="0" y="0"/>
                </a:moveTo>
                <a:lnTo>
                  <a:pt x="8105775" y="0"/>
                </a:lnTo>
                <a:lnTo>
                  <a:pt x="8105775" y="215875"/>
                </a:lnTo>
                <a:lnTo>
                  <a:pt x="0" y="215875"/>
                </a:lnTo>
                <a:close/>
              </a:path>
            </a:pathLst>
          </a:custGeom>
          <a:solidFill>
            <a:srgbClr val="000000">
              <a:alpha val="0"/>
            </a:srgbClr>
          </a:solidFill>
          <a:ln/>
        </p:spPr>
      </p:sp>
      <p:sp>
        <p:nvSpPr>
          <p:cNvPr id="10" name="Text 7"/>
          <p:cNvSpPr/>
          <p:nvPr/>
        </p:nvSpPr>
        <p:spPr>
          <a:xfrm>
            <a:off x="523875" y="4837330"/>
            <a:ext cx="8105775"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11" name="Image 1" descr="./images\slide0_img2.png">    </p:cNvPr>
          <p:cNvPicPr>
            <a:picLocks noChangeAspect="1"/>
          </p:cNvPicPr>
          <p:nvPr/>
        </p:nvPicPr>
        <p:blipFill>
          <a:blip r:embed="rId2"/>
          <a:stretch>
            <a:fillRect/>
          </a:stretch>
        </p:blipFill>
        <p:spPr>
          <a:xfrm>
            <a:off x="68595" y="1701619"/>
            <a:ext cx="9025860" cy="344188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B2683"/>
        </a:solidFill>
      </p:bgPr>
    </p:bg>
    <p:spTree>
      <p:nvGrpSpPr>
        <p:cNvPr id="1" name=""/>
        <p:cNvGrpSpPr/>
        <p:nvPr/>
      </p:nvGrpSpPr>
      <p:grpSpPr>
        <a:xfrm>
          <a:off x="0" y="0"/>
          <a:ext cx="0" cy="0"/>
          <a:chOff x="0" y="0"/>
          <a:chExt cx="0" cy="0"/>
        </a:xfrm>
      </p:grpSpPr>
      <p:pic>
        <p:nvPicPr>
          <p:cNvPr id="2" name="Image 0" descr="./images\slide1_img3.png">    </p:cNvPr>
          <p:cNvPicPr>
            <a:picLocks noChangeAspect="1"/>
          </p:cNvPicPr>
          <p:nvPr/>
        </p:nvPicPr>
        <p:blipFill>
          <a:blip r:embed="rId1"/>
          <a:stretch>
            <a:fillRect/>
          </a:stretch>
        </p:blipFill>
        <p:spPr>
          <a:xfrm>
            <a:off x="4722715" y="0"/>
            <a:ext cx="3906935" cy="5143500"/>
          </a:xfrm>
          <a:prstGeom prst="rect">
            <a:avLst/>
          </a:prstGeom>
        </p:spPr>
      </p:pic>
      <p:sp>
        <p:nvSpPr>
          <p:cNvPr id="3" name="Shape 0"/>
          <p:cNvSpPr/>
          <p:nvPr/>
        </p:nvSpPr>
        <p:spPr>
          <a:xfrm>
            <a:off x="4722715" y="0"/>
            <a:ext cx="3906935" cy="5143500"/>
          </a:xfrm>
          <a:custGeom>
            <a:avLst/>
            <a:gdLst/>
            <a:ahLst/>
            <a:cxnLst/>
            <a:rect l="l" t="t" r="r" b="b"/>
            <a:pathLst>
              <a:path w="3906935" h="5143500">
                <a:moveTo>
                  <a:pt x="0" y="0"/>
                </a:moveTo>
                <a:lnTo>
                  <a:pt x="3906935" y="0"/>
                </a:lnTo>
                <a:lnTo>
                  <a:pt x="3906935" y="5143500"/>
                </a:lnTo>
                <a:lnTo>
                  <a:pt x="0" y="5143500"/>
                </a:lnTo>
                <a:close/>
              </a:path>
            </a:pathLst>
          </a:custGeom>
          <a:solidFill>
            <a:srgbClr val="000000">
              <a:alpha val="0"/>
            </a:srgbClr>
          </a:solidFill>
          <a:ln/>
        </p:spPr>
      </p:sp>
      <p:sp>
        <p:nvSpPr>
          <p:cNvPr id="4" name="Text 1"/>
          <p:cNvSpPr/>
          <p:nvPr/>
        </p:nvSpPr>
        <p:spPr>
          <a:xfrm>
            <a:off x="4722715" y="0"/>
            <a:ext cx="3906935" cy="514350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 name="Shape 2"/>
          <p:cNvSpPr/>
          <p:nvPr/>
        </p:nvSpPr>
        <p:spPr>
          <a:xfrm>
            <a:off x="4722715" y="-72330"/>
            <a:ext cx="3906935" cy="215875"/>
          </a:xfrm>
          <a:custGeom>
            <a:avLst/>
            <a:gdLst/>
            <a:ahLst/>
            <a:cxnLst/>
            <a:rect l="l" t="t" r="r" b="b"/>
            <a:pathLst>
              <a:path w="3906935" h="215875">
                <a:moveTo>
                  <a:pt x="0" y="0"/>
                </a:moveTo>
                <a:lnTo>
                  <a:pt x="3906935" y="0"/>
                </a:lnTo>
                <a:lnTo>
                  <a:pt x="3906935" y="215875"/>
                </a:lnTo>
                <a:lnTo>
                  <a:pt x="0" y="215875"/>
                </a:lnTo>
                <a:close/>
              </a:path>
            </a:pathLst>
          </a:custGeom>
          <a:solidFill>
            <a:srgbClr val="000000">
              <a:alpha val="0"/>
            </a:srgbClr>
          </a:solidFill>
          <a:ln/>
        </p:spPr>
      </p:sp>
      <p:sp>
        <p:nvSpPr>
          <p:cNvPr id="6" name="Text 3"/>
          <p:cNvSpPr/>
          <p:nvPr/>
        </p:nvSpPr>
        <p:spPr>
          <a:xfrm>
            <a:off x="4722715" y="-72330"/>
            <a:ext cx="3906935"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7" name="Shape 4"/>
          <p:cNvSpPr/>
          <p:nvPr/>
        </p:nvSpPr>
        <p:spPr>
          <a:xfrm>
            <a:off x="320574" y="2286792"/>
            <a:ext cx="4057650" cy="730076"/>
          </a:xfrm>
          <a:custGeom>
            <a:avLst/>
            <a:gdLst/>
            <a:ahLst/>
            <a:cxnLst/>
            <a:rect l="l" t="t" r="r" b="b"/>
            <a:pathLst>
              <a:path w="4057650" h="730076">
                <a:moveTo>
                  <a:pt x="0" y="0"/>
                </a:moveTo>
                <a:lnTo>
                  <a:pt x="4057650" y="0"/>
                </a:lnTo>
                <a:lnTo>
                  <a:pt x="4057650" y="730076"/>
                </a:lnTo>
                <a:lnTo>
                  <a:pt x="0" y="730076"/>
                </a:lnTo>
                <a:close/>
              </a:path>
            </a:pathLst>
          </a:custGeom>
          <a:solidFill>
            <a:srgbClr val="000000">
              <a:alpha val="0"/>
            </a:srgbClr>
          </a:solidFill>
          <a:ln/>
        </p:spPr>
      </p:sp>
      <p:sp>
        <p:nvSpPr>
          <p:cNvPr id="8" name="Text 5"/>
          <p:cNvSpPr/>
          <p:nvPr/>
        </p:nvSpPr>
        <p:spPr>
          <a:xfrm>
            <a:off x="320574" y="2286792"/>
            <a:ext cx="4057650" cy="730076"/>
          </a:xfrm>
          <a:prstGeom prst="rect">
            <a:avLst/>
          </a:prstGeom>
          <a:noFill/>
          <a:ln/>
        </p:spPr>
        <p:txBody>
          <a:bodyPr wrap="square" rtlCol="0" anchor="t"/>
          <a:lstStyle/>
          <a:p>
            <a:pPr algn="ctr" indent="0" marL="0">
              <a:spcBef>
                <a:spcPts val="375"/>
              </a:spcBef>
              <a:buNone/>
            </a:pPr>
            <a:r>
              <a:rPr lang="en-US" sz="4950" b="1" dirty="0">
                <a:solidFill>
                  <a:srgbClr val="FFFFFF"/>
                </a:solidFill>
                <a:latin typeface="Montserrat" pitchFamily="34" charset="0"/>
                <a:ea typeface="Montserrat" pitchFamily="34" charset="-122"/>
                <a:cs typeface="Montserrat" pitchFamily="34" charset="-120"/>
              </a:rPr>
              <a:t>Reja:</a:t>
            </a:r>
            <a:endParaRPr lang="en-US" sz="1050" dirty="0"/>
          </a:p>
        </p:txBody>
      </p:sp>
      <p:sp>
        <p:nvSpPr>
          <p:cNvPr id="9" name="Shape 6"/>
          <p:cNvSpPr/>
          <p:nvPr/>
        </p:nvSpPr>
        <p:spPr>
          <a:xfrm>
            <a:off x="4750118" y="788612"/>
            <a:ext cx="3692819" cy="438150"/>
          </a:xfrm>
          <a:custGeom>
            <a:avLst/>
            <a:gdLst/>
            <a:ahLst/>
            <a:cxnLst/>
            <a:rect l="l" t="t" r="r" b="b"/>
            <a:pathLst>
              <a:path w="3692819" h="438150">
                <a:moveTo>
                  <a:pt x="0" y="0"/>
                </a:moveTo>
                <a:lnTo>
                  <a:pt x="3692819" y="0"/>
                </a:lnTo>
                <a:lnTo>
                  <a:pt x="3692819" y="438150"/>
                </a:lnTo>
                <a:lnTo>
                  <a:pt x="0" y="438150"/>
                </a:lnTo>
                <a:close/>
              </a:path>
            </a:pathLst>
          </a:custGeom>
          <a:solidFill>
            <a:srgbClr val="000000">
              <a:alpha val="0"/>
            </a:srgbClr>
          </a:solidFill>
          <a:ln/>
        </p:spPr>
      </p:sp>
      <p:sp>
        <p:nvSpPr>
          <p:cNvPr id="10" name="Text 7"/>
          <p:cNvSpPr/>
          <p:nvPr/>
        </p:nvSpPr>
        <p:spPr>
          <a:xfrm>
            <a:off x="4750118" y="788612"/>
            <a:ext cx="3692819" cy="438150"/>
          </a:xfrm>
          <a:prstGeom prst="rect">
            <a:avLst/>
          </a:prstGeom>
          <a:noFill/>
          <a:ln/>
        </p:spPr>
        <p:txBody>
          <a:bodyPr wrap="square" rtlCol="0" anchor="t"/>
          <a:lstStyle/>
          <a:p>
            <a:pPr algn="l" indent="0" marL="0">
              <a:spcBef>
                <a:spcPts val="375"/>
              </a:spcBef>
              <a:buNone/>
            </a:pPr>
            <a:r>
              <a:rPr lang="en-US" sz="1350" dirty="0">
                <a:solidFill>
                  <a:srgbClr val="4B2683"/>
                </a:solidFill>
                <a:latin typeface="Montserrat" pitchFamily="34" charset="0"/>
                <a:ea typeface="Montserrat" pitchFamily="34" charset="-122"/>
                <a:cs typeface="Montserrat" pitchFamily="34" charset="-120"/>
              </a:rPr>
              <a:t>1.Navoiyning hayoti va ijodining asosiy nuqtalari</a:t>
            </a:r>
            <a:endParaRPr lang="en-US" sz="1050" dirty="0"/>
          </a:p>
        </p:txBody>
      </p:sp>
      <p:sp>
        <p:nvSpPr>
          <p:cNvPr id="11" name="Shape 8"/>
          <p:cNvSpPr/>
          <p:nvPr/>
        </p:nvSpPr>
        <p:spPr>
          <a:xfrm>
            <a:off x="4750118" y="1381523"/>
            <a:ext cx="3692819" cy="438150"/>
          </a:xfrm>
          <a:custGeom>
            <a:avLst/>
            <a:gdLst/>
            <a:ahLst/>
            <a:cxnLst/>
            <a:rect l="l" t="t" r="r" b="b"/>
            <a:pathLst>
              <a:path w="3692819" h="438150">
                <a:moveTo>
                  <a:pt x="0" y="0"/>
                </a:moveTo>
                <a:lnTo>
                  <a:pt x="3692819" y="0"/>
                </a:lnTo>
                <a:lnTo>
                  <a:pt x="3692819" y="438150"/>
                </a:lnTo>
                <a:lnTo>
                  <a:pt x="0" y="438150"/>
                </a:lnTo>
                <a:close/>
              </a:path>
            </a:pathLst>
          </a:custGeom>
          <a:solidFill>
            <a:srgbClr val="000000">
              <a:alpha val="0"/>
            </a:srgbClr>
          </a:solidFill>
          <a:ln/>
        </p:spPr>
      </p:sp>
      <p:sp>
        <p:nvSpPr>
          <p:cNvPr id="12" name="Text 9"/>
          <p:cNvSpPr/>
          <p:nvPr/>
        </p:nvSpPr>
        <p:spPr>
          <a:xfrm>
            <a:off x="4750118" y="1381523"/>
            <a:ext cx="3692819" cy="438150"/>
          </a:xfrm>
          <a:prstGeom prst="rect">
            <a:avLst/>
          </a:prstGeom>
          <a:noFill/>
          <a:ln/>
        </p:spPr>
        <p:txBody>
          <a:bodyPr wrap="square" rtlCol="0" anchor="t"/>
          <a:lstStyle/>
          <a:p>
            <a:pPr algn="l" indent="0" marL="0">
              <a:spcBef>
                <a:spcPts val="375"/>
              </a:spcBef>
              <a:buNone/>
            </a:pPr>
            <a:r>
              <a:rPr lang="en-US" sz="1350" dirty="0">
                <a:solidFill>
                  <a:srgbClr val="4B2683"/>
                </a:solidFill>
                <a:latin typeface="Montserrat" pitchFamily="34" charset="0"/>
                <a:ea typeface="Montserrat" pitchFamily="34" charset="-122"/>
                <a:cs typeface="Montserrat" pitchFamily="34" charset="-120"/>
              </a:rPr>
              <a:t>2.Navoiyning hayoti va ijodining asosiy nuqtalari</a:t>
            </a:r>
            <a:endParaRPr lang="en-US" sz="1050" dirty="0"/>
          </a:p>
        </p:txBody>
      </p:sp>
      <p:sp>
        <p:nvSpPr>
          <p:cNvPr id="13" name="Shape 10"/>
          <p:cNvSpPr/>
          <p:nvPr/>
        </p:nvSpPr>
        <p:spPr>
          <a:xfrm>
            <a:off x="4829773" y="2019845"/>
            <a:ext cx="3692819" cy="438150"/>
          </a:xfrm>
          <a:custGeom>
            <a:avLst/>
            <a:gdLst/>
            <a:ahLst/>
            <a:cxnLst/>
            <a:rect l="l" t="t" r="r" b="b"/>
            <a:pathLst>
              <a:path w="3692819" h="438150">
                <a:moveTo>
                  <a:pt x="0" y="0"/>
                </a:moveTo>
                <a:lnTo>
                  <a:pt x="3692819" y="0"/>
                </a:lnTo>
                <a:lnTo>
                  <a:pt x="3692819" y="438150"/>
                </a:lnTo>
                <a:lnTo>
                  <a:pt x="0" y="438150"/>
                </a:lnTo>
                <a:close/>
              </a:path>
            </a:pathLst>
          </a:custGeom>
          <a:solidFill>
            <a:srgbClr val="000000">
              <a:alpha val="0"/>
            </a:srgbClr>
          </a:solidFill>
          <a:ln/>
        </p:spPr>
      </p:sp>
      <p:sp>
        <p:nvSpPr>
          <p:cNvPr id="14" name="Text 11"/>
          <p:cNvSpPr/>
          <p:nvPr/>
        </p:nvSpPr>
        <p:spPr>
          <a:xfrm>
            <a:off x="4829773" y="2019845"/>
            <a:ext cx="3692819" cy="438150"/>
          </a:xfrm>
          <a:prstGeom prst="rect">
            <a:avLst/>
          </a:prstGeom>
          <a:noFill/>
          <a:ln/>
        </p:spPr>
        <p:txBody>
          <a:bodyPr wrap="square" rtlCol="0" anchor="t"/>
          <a:lstStyle/>
          <a:p>
            <a:pPr algn="l" indent="0" marL="0">
              <a:spcBef>
                <a:spcPts val="375"/>
              </a:spcBef>
              <a:buNone/>
            </a:pPr>
            <a:r>
              <a:rPr lang="en-US" sz="1350" dirty="0">
                <a:solidFill>
                  <a:srgbClr val="4B2683"/>
                </a:solidFill>
                <a:latin typeface="Montserrat" pitchFamily="34" charset="0"/>
                <a:ea typeface="Montserrat" pitchFamily="34" charset="-122"/>
                <a:cs typeface="Montserrat" pitchFamily="34" charset="-120"/>
              </a:rPr>
              <a:t>3.Navoiyning hayoti va ijodining asosiy nuqtalari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FFF"/>
        </a:solidFill>
      </p:bgPr>
    </p:bg>
    <p:spTree>
      <p:nvGrpSpPr>
        <p:cNvPr id="1" name=""/>
        <p:cNvGrpSpPr/>
        <p:nvPr/>
      </p:nvGrpSpPr>
      <p:grpSpPr>
        <a:xfrm>
          <a:off x="0" y="0"/>
          <a:ext cx="0" cy="0"/>
          <a:chOff x="0" y="0"/>
          <a:chExt cx="0" cy="0"/>
        </a:xfrm>
      </p:grpSpPr>
      <p:pic>
        <p:nvPicPr>
          <p:cNvPr id="2" name="Image 0" descr="./images\slide2_img4.png">    </p:cNvPr>
          <p:cNvPicPr>
            <a:picLocks noChangeAspect="1"/>
          </p:cNvPicPr>
          <p:nvPr/>
        </p:nvPicPr>
        <p:blipFill>
          <a:blip r:embed="rId1"/>
          <a:stretch>
            <a:fillRect/>
          </a:stretch>
        </p:blipFill>
        <p:spPr>
          <a:xfrm>
            <a:off x="514350" y="514350"/>
            <a:ext cx="8115300" cy="980755"/>
          </a:xfrm>
          <a:prstGeom prst="rect">
            <a:avLst/>
          </a:prstGeom>
        </p:spPr>
      </p:pic>
      <p:sp>
        <p:nvSpPr>
          <p:cNvPr id="3" name="Shape 0"/>
          <p:cNvSpPr/>
          <p:nvPr/>
        </p:nvSpPr>
        <p:spPr>
          <a:xfrm>
            <a:off x="514350" y="514350"/>
            <a:ext cx="8115300" cy="980755"/>
          </a:xfrm>
          <a:custGeom>
            <a:avLst/>
            <a:gdLst/>
            <a:ahLst/>
            <a:cxnLst/>
            <a:rect l="l" t="t" r="r" b="b"/>
            <a:pathLst>
              <a:path w="8115300" h="980755">
                <a:moveTo>
                  <a:pt x="0" y="0"/>
                </a:moveTo>
                <a:lnTo>
                  <a:pt x="8115300" y="0"/>
                </a:lnTo>
                <a:lnTo>
                  <a:pt x="8115300" y="980755"/>
                </a:lnTo>
                <a:lnTo>
                  <a:pt x="0" y="980755"/>
                </a:lnTo>
                <a:close/>
              </a:path>
            </a:pathLst>
          </a:custGeom>
          <a:solidFill>
            <a:srgbClr val="000000">
              <a:alpha val="0"/>
            </a:srgbClr>
          </a:solidFill>
          <a:ln/>
        </p:spPr>
      </p:sp>
      <p:sp>
        <p:nvSpPr>
          <p:cNvPr id="4" name="Text 1"/>
          <p:cNvSpPr/>
          <p:nvPr/>
        </p:nvSpPr>
        <p:spPr>
          <a:xfrm>
            <a:off x="514350" y="514350"/>
            <a:ext cx="8115300" cy="9807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 name="Shape 2"/>
          <p:cNvSpPr/>
          <p:nvPr/>
        </p:nvSpPr>
        <p:spPr>
          <a:xfrm>
            <a:off x="514350" y="442019"/>
            <a:ext cx="8115300" cy="215875"/>
          </a:xfrm>
          <a:custGeom>
            <a:avLst/>
            <a:gdLst/>
            <a:ahLst/>
            <a:cxnLst/>
            <a:rect l="l" t="t" r="r" b="b"/>
            <a:pathLst>
              <a:path w="8115300" h="215875">
                <a:moveTo>
                  <a:pt x="0" y="0"/>
                </a:moveTo>
                <a:lnTo>
                  <a:pt x="8115300" y="0"/>
                </a:lnTo>
                <a:lnTo>
                  <a:pt x="8115300" y="215875"/>
                </a:lnTo>
                <a:lnTo>
                  <a:pt x="0" y="215875"/>
                </a:lnTo>
                <a:close/>
              </a:path>
            </a:pathLst>
          </a:custGeom>
          <a:solidFill>
            <a:srgbClr val="000000">
              <a:alpha val="0"/>
            </a:srgbClr>
          </a:solidFill>
          <a:ln/>
        </p:spPr>
      </p:sp>
      <p:sp>
        <p:nvSpPr>
          <p:cNvPr id="6" name="Text 3"/>
          <p:cNvSpPr/>
          <p:nvPr/>
        </p:nvSpPr>
        <p:spPr>
          <a:xfrm>
            <a:off x="514350" y="442019"/>
            <a:ext cx="81153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7" name="Shape 4"/>
          <p:cNvSpPr/>
          <p:nvPr/>
        </p:nvSpPr>
        <p:spPr>
          <a:xfrm>
            <a:off x="514350" y="782477"/>
            <a:ext cx="8115300" cy="603349"/>
          </a:xfrm>
          <a:custGeom>
            <a:avLst/>
            <a:gdLst/>
            <a:ahLst/>
            <a:cxnLst/>
            <a:rect l="l" t="t" r="r" b="b"/>
            <a:pathLst>
              <a:path w="8115300" h="603349">
                <a:moveTo>
                  <a:pt x="0" y="0"/>
                </a:moveTo>
                <a:lnTo>
                  <a:pt x="8115300" y="0"/>
                </a:lnTo>
                <a:lnTo>
                  <a:pt x="8115300" y="603349"/>
                </a:lnTo>
                <a:lnTo>
                  <a:pt x="0" y="603349"/>
                </a:lnTo>
                <a:close/>
              </a:path>
            </a:pathLst>
          </a:custGeom>
          <a:solidFill>
            <a:srgbClr val="000000">
              <a:alpha val="0"/>
            </a:srgbClr>
          </a:solidFill>
          <a:ln/>
        </p:spPr>
      </p:sp>
      <p:sp>
        <p:nvSpPr>
          <p:cNvPr id="8" name="Text 5"/>
          <p:cNvSpPr/>
          <p:nvPr/>
        </p:nvSpPr>
        <p:spPr>
          <a:xfrm>
            <a:off x="514350" y="782477"/>
            <a:ext cx="8115300" cy="603349"/>
          </a:xfrm>
          <a:prstGeom prst="rect">
            <a:avLst/>
          </a:prstGeom>
          <a:noFill/>
          <a:ln/>
        </p:spPr>
        <p:txBody>
          <a:bodyPr wrap="square" rtlCol="0" anchor="t"/>
          <a:lstStyle/>
          <a:p>
            <a:pPr algn="ctr" indent="0" marL="0">
              <a:spcBef>
                <a:spcPts val="375"/>
              </a:spcBef>
              <a:buNone/>
            </a:pPr>
            <a:r>
              <a:rPr lang="en-US" sz="3975" b="1" dirty="0">
                <a:solidFill>
                  <a:srgbClr val="FFFFFF"/>
                </a:solidFill>
                <a:latin typeface="Montserrat" pitchFamily="34" charset="0"/>
                <a:ea typeface="Montserrat" pitchFamily="34" charset="-122"/>
                <a:cs typeface="Montserrat" pitchFamily="34" charset="-120"/>
              </a:rPr>
              <a:t>KIRISH</a:t>
            </a:r>
            <a:endParaRPr lang="en-US" sz="1050" dirty="0"/>
          </a:p>
        </p:txBody>
      </p:sp>
      <p:pic>
        <p:nvPicPr>
          <p:cNvPr id="9" name="Image 1" descr="./images\slide2_img5.png">    </p:cNvPr>
          <p:cNvPicPr>
            <a:picLocks noChangeAspect="1"/>
          </p:cNvPicPr>
          <p:nvPr/>
        </p:nvPicPr>
        <p:blipFill>
          <a:blip r:embed="rId2"/>
          <a:stretch>
            <a:fillRect/>
          </a:stretch>
        </p:blipFill>
        <p:spPr>
          <a:xfrm>
            <a:off x="514350" y="1638940"/>
            <a:ext cx="8115300" cy="2990210"/>
          </a:xfrm>
          <a:prstGeom prst="rect">
            <a:avLst/>
          </a:prstGeom>
        </p:spPr>
      </p:pic>
      <p:sp>
        <p:nvSpPr>
          <p:cNvPr id="10" name="Shape 6"/>
          <p:cNvSpPr/>
          <p:nvPr/>
        </p:nvSpPr>
        <p:spPr>
          <a:xfrm>
            <a:off x="514350" y="1638940"/>
            <a:ext cx="8115300" cy="2990210"/>
          </a:xfrm>
          <a:custGeom>
            <a:avLst/>
            <a:gdLst/>
            <a:ahLst/>
            <a:cxnLst/>
            <a:rect l="l" t="t" r="r" b="b"/>
            <a:pathLst>
              <a:path w="8115300" h="2990210">
                <a:moveTo>
                  <a:pt x="0" y="0"/>
                </a:moveTo>
                <a:lnTo>
                  <a:pt x="8115300" y="0"/>
                </a:lnTo>
                <a:lnTo>
                  <a:pt x="8115300" y="2990210"/>
                </a:lnTo>
                <a:lnTo>
                  <a:pt x="0" y="2990210"/>
                </a:lnTo>
                <a:close/>
              </a:path>
            </a:pathLst>
          </a:custGeom>
          <a:solidFill>
            <a:srgbClr val="000000">
              <a:alpha val="0"/>
            </a:srgbClr>
          </a:solidFill>
          <a:ln/>
        </p:spPr>
      </p:sp>
      <p:sp>
        <p:nvSpPr>
          <p:cNvPr id="11" name="Text 7"/>
          <p:cNvSpPr/>
          <p:nvPr/>
        </p:nvSpPr>
        <p:spPr>
          <a:xfrm>
            <a:off x="514350" y="1638940"/>
            <a:ext cx="8115300" cy="29902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12" name="Shape 8"/>
          <p:cNvSpPr/>
          <p:nvPr/>
        </p:nvSpPr>
        <p:spPr>
          <a:xfrm>
            <a:off x="514350" y="1566609"/>
            <a:ext cx="8115300" cy="215875"/>
          </a:xfrm>
          <a:custGeom>
            <a:avLst/>
            <a:gdLst/>
            <a:ahLst/>
            <a:cxnLst/>
            <a:rect l="l" t="t" r="r" b="b"/>
            <a:pathLst>
              <a:path w="8115300" h="215875">
                <a:moveTo>
                  <a:pt x="0" y="0"/>
                </a:moveTo>
                <a:lnTo>
                  <a:pt x="8115300" y="0"/>
                </a:lnTo>
                <a:lnTo>
                  <a:pt x="8115300" y="215875"/>
                </a:lnTo>
                <a:lnTo>
                  <a:pt x="0" y="215875"/>
                </a:lnTo>
                <a:close/>
              </a:path>
            </a:pathLst>
          </a:custGeom>
          <a:solidFill>
            <a:srgbClr val="000000">
              <a:alpha val="0"/>
            </a:srgbClr>
          </a:solidFill>
          <a:ln/>
        </p:spPr>
      </p:sp>
      <p:sp>
        <p:nvSpPr>
          <p:cNvPr id="13" name="Text 9"/>
          <p:cNvSpPr/>
          <p:nvPr/>
        </p:nvSpPr>
        <p:spPr>
          <a:xfrm>
            <a:off x="514350" y="1566609"/>
            <a:ext cx="81153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4" name="Shape 10"/>
          <p:cNvSpPr/>
          <p:nvPr/>
        </p:nvSpPr>
        <p:spPr>
          <a:xfrm>
            <a:off x="1011075" y="1995092"/>
            <a:ext cx="7121850" cy="1516410"/>
          </a:xfrm>
          <a:custGeom>
            <a:avLst/>
            <a:gdLst/>
            <a:ahLst/>
            <a:cxnLst/>
            <a:rect l="l" t="t" r="r" b="b"/>
            <a:pathLst>
              <a:path w="7121850" h="1516410">
                <a:moveTo>
                  <a:pt x="0" y="0"/>
                </a:moveTo>
                <a:lnTo>
                  <a:pt x="7121850" y="0"/>
                </a:lnTo>
                <a:lnTo>
                  <a:pt x="7121850" y="1516410"/>
                </a:lnTo>
                <a:lnTo>
                  <a:pt x="0" y="1516410"/>
                </a:lnTo>
                <a:close/>
              </a:path>
            </a:pathLst>
          </a:custGeom>
          <a:solidFill>
            <a:srgbClr val="000000">
              <a:alpha val="0"/>
            </a:srgbClr>
          </a:solidFill>
          <a:ln/>
        </p:spPr>
      </p:sp>
      <p:sp>
        <p:nvSpPr>
          <p:cNvPr id="15" name="Text 11"/>
          <p:cNvSpPr/>
          <p:nvPr/>
        </p:nvSpPr>
        <p:spPr>
          <a:xfrm>
            <a:off x="1011075" y="1995092"/>
            <a:ext cx="7121850" cy="1516410"/>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Ushbu taqdimotda biz kirish jarayonini va uning ahamiyatini muhokama qilamiz. Kirish, biror soha yoki mavzuga kirish nuqtasi bo'lib, u bizga asosiy tushunchalarni va muhim ma'lumotlarni taqdim etadi. Shuningdek, kirish, o'zaro aloqalar va dastlabki qadamlarni belgilashda muhim rol o'ynaydi. Bu jarayon orqali biz yangi ma'lumotlarni o'zlashtirishga tayyor bo'lamiz.</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FFF"/>
        </a:solidFill>
      </p:bgPr>
    </p:bg>
    <p:spTree>
      <p:nvGrpSpPr>
        <p:cNvPr id="1" name=""/>
        <p:cNvGrpSpPr/>
        <p:nvPr/>
      </p:nvGrpSpPr>
      <p:grpSpPr>
        <a:xfrm>
          <a:off x="0" y="0"/>
          <a:ext cx="0" cy="0"/>
          <a:chOff x="0" y="0"/>
          <a:chExt cx="0" cy="0"/>
        </a:xfrm>
      </p:grpSpPr>
      <p:sp>
        <p:nvSpPr>
          <p:cNvPr id="2" name="Shape 0"/>
          <p:cNvSpPr/>
          <p:nvPr/>
        </p:nvSpPr>
        <p:spPr>
          <a:xfrm>
            <a:off x="780906" y="826420"/>
            <a:ext cx="3212550" cy="1135335"/>
          </a:xfrm>
          <a:custGeom>
            <a:avLst/>
            <a:gdLst/>
            <a:ahLst/>
            <a:cxnLst/>
            <a:rect l="l" t="t" r="r" b="b"/>
            <a:pathLst>
              <a:path w="3212550" h="1135335">
                <a:moveTo>
                  <a:pt x="0" y="0"/>
                </a:moveTo>
                <a:lnTo>
                  <a:pt x="3212550" y="0"/>
                </a:lnTo>
                <a:lnTo>
                  <a:pt x="3212550" y="1135335"/>
                </a:lnTo>
                <a:lnTo>
                  <a:pt x="0" y="1135335"/>
                </a:lnTo>
                <a:close/>
              </a:path>
            </a:pathLst>
          </a:custGeom>
          <a:solidFill>
            <a:srgbClr val="000000">
              <a:alpha val="0"/>
            </a:srgbClr>
          </a:solidFill>
          <a:ln/>
        </p:spPr>
      </p:sp>
      <p:sp>
        <p:nvSpPr>
          <p:cNvPr id="3" name="Text 1"/>
          <p:cNvSpPr/>
          <p:nvPr/>
        </p:nvSpPr>
        <p:spPr>
          <a:xfrm>
            <a:off x="780906" y="826420"/>
            <a:ext cx="3212550" cy="1135335"/>
          </a:xfrm>
          <a:prstGeom prst="rect">
            <a:avLst/>
          </a:prstGeom>
          <a:noFill/>
          <a:ln/>
        </p:spPr>
        <p:txBody>
          <a:bodyPr wrap="square" rtlCol="0" anchor="t"/>
          <a:lstStyle/>
          <a:p>
            <a:pPr algn="ctr" indent="0" marL="0">
              <a:spcBef>
                <a:spcPts val="375"/>
              </a:spcBef>
              <a:buNone/>
            </a:pPr>
            <a:r>
              <a:rPr lang="en-US" sz="3975" b="1" dirty="0">
                <a:solidFill>
                  <a:srgbClr val="4B2683"/>
                </a:solidFill>
                <a:latin typeface="Montserrat" pitchFamily="34" charset="0"/>
                <a:ea typeface="Montserrat" pitchFamily="34" charset="-122"/>
                <a:cs typeface="Montserrat" pitchFamily="34" charset="-120"/>
              </a:rPr>
              <a:t>Nerv Tizimi O'smalari</a:t>
            </a:r>
            <a:endParaRPr lang="en-US" sz="1050" dirty="0"/>
          </a:p>
        </p:txBody>
      </p:sp>
      <p:pic>
        <p:nvPicPr>
          <p:cNvPr id="4" name="Image 0" descr="./images\slide4_img9.png">    </p:cNvPr>
          <p:cNvPicPr>
            <a:picLocks noChangeAspect="1"/>
          </p:cNvPicPr>
          <p:nvPr/>
        </p:nvPicPr>
        <p:blipFill>
          <a:blip r:embed="rId1"/>
          <a:stretch>
            <a:fillRect/>
          </a:stretch>
        </p:blipFill>
        <p:spPr>
          <a:xfrm>
            <a:off x="4883978" y="514350"/>
            <a:ext cx="3745672" cy="921671"/>
          </a:xfrm>
          <a:prstGeom prst="rect">
            <a:avLst/>
          </a:prstGeom>
        </p:spPr>
      </p:pic>
      <p:sp>
        <p:nvSpPr>
          <p:cNvPr id="5" name="Shape 2"/>
          <p:cNvSpPr/>
          <p:nvPr/>
        </p:nvSpPr>
        <p:spPr>
          <a:xfrm>
            <a:off x="4883978" y="514350"/>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6" name="Text 3"/>
          <p:cNvSpPr/>
          <p:nvPr/>
        </p:nvSpPr>
        <p:spPr>
          <a:xfrm>
            <a:off x="4883978" y="514350"/>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7" name="Shape 4"/>
          <p:cNvSpPr/>
          <p:nvPr/>
        </p:nvSpPr>
        <p:spPr>
          <a:xfrm>
            <a:off x="4883978" y="44201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8" name="Text 5"/>
          <p:cNvSpPr/>
          <p:nvPr/>
        </p:nvSpPr>
        <p:spPr>
          <a:xfrm>
            <a:off x="4883978" y="44201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9" name="Image 1" descr="./images\slide4_img10.png">    </p:cNvPr>
          <p:cNvPicPr>
            <a:picLocks noChangeAspect="1"/>
          </p:cNvPicPr>
          <p:nvPr/>
        </p:nvPicPr>
        <p:blipFill>
          <a:blip r:embed="rId2"/>
          <a:stretch>
            <a:fillRect/>
          </a:stretch>
        </p:blipFill>
        <p:spPr>
          <a:xfrm>
            <a:off x="4883978" y="1578726"/>
            <a:ext cx="3745672" cy="921671"/>
          </a:xfrm>
          <a:prstGeom prst="rect">
            <a:avLst/>
          </a:prstGeom>
        </p:spPr>
      </p:pic>
      <p:sp>
        <p:nvSpPr>
          <p:cNvPr id="10" name="Shape 6"/>
          <p:cNvSpPr/>
          <p:nvPr/>
        </p:nvSpPr>
        <p:spPr>
          <a:xfrm>
            <a:off x="4883978" y="1578726"/>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11" name="Text 7"/>
          <p:cNvSpPr/>
          <p:nvPr/>
        </p:nvSpPr>
        <p:spPr>
          <a:xfrm>
            <a:off x="4883978" y="1578726"/>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12" name="Shape 8"/>
          <p:cNvSpPr/>
          <p:nvPr/>
        </p:nvSpPr>
        <p:spPr>
          <a:xfrm>
            <a:off x="4883978" y="1506396"/>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3" name="Text 9"/>
          <p:cNvSpPr/>
          <p:nvPr/>
        </p:nvSpPr>
        <p:spPr>
          <a:xfrm>
            <a:off x="4883978" y="1506396"/>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14" name="Image 2" descr="./images\slide4_img11.png">    </p:cNvPr>
          <p:cNvPicPr>
            <a:picLocks noChangeAspect="1"/>
          </p:cNvPicPr>
          <p:nvPr/>
        </p:nvPicPr>
        <p:blipFill>
          <a:blip r:embed="rId3"/>
          <a:stretch>
            <a:fillRect/>
          </a:stretch>
        </p:blipFill>
        <p:spPr>
          <a:xfrm>
            <a:off x="4883978" y="2643103"/>
            <a:ext cx="3745672" cy="921671"/>
          </a:xfrm>
          <a:prstGeom prst="rect">
            <a:avLst/>
          </a:prstGeom>
        </p:spPr>
      </p:pic>
      <p:sp>
        <p:nvSpPr>
          <p:cNvPr id="15" name="Shape 10"/>
          <p:cNvSpPr/>
          <p:nvPr/>
        </p:nvSpPr>
        <p:spPr>
          <a:xfrm>
            <a:off x="4883978" y="2643103"/>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16" name="Text 11"/>
          <p:cNvSpPr/>
          <p:nvPr/>
        </p:nvSpPr>
        <p:spPr>
          <a:xfrm>
            <a:off x="4883978" y="2643103"/>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17" name="Shape 12"/>
          <p:cNvSpPr/>
          <p:nvPr/>
        </p:nvSpPr>
        <p:spPr>
          <a:xfrm>
            <a:off x="4883978" y="2570772"/>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8" name="Text 13"/>
          <p:cNvSpPr/>
          <p:nvPr/>
        </p:nvSpPr>
        <p:spPr>
          <a:xfrm>
            <a:off x="4883978" y="2570772"/>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19" name="Image 3" descr="./images\slide4_img12.png">    </p:cNvPr>
          <p:cNvPicPr>
            <a:picLocks noChangeAspect="1"/>
          </p:cNvPicPr>
          <p:nvPr/>
        </p:nvPicPr>
        <p:blipFill>
          <a:blip r:embed="rId4"/>
          <a:stretch>
            <a:fillRect/>
          </a:stretch>
        </p:blipFill>
        <p:spPr>
          <a:xfrm>
            <a:off x="514350" y="2643103"/>
            <a:ext cx="3745672" cy="921671"/>
          </a:xfrm>
          <a:prstGeom prst="rect">
            <a:avLst/>
          </a:prstGeom>
        </p:spPr>
      </p:pic>
      <p:sp>
        <p:nvSpPr>
          <p:cNvPr id="20" name="Shape 14"/>
          <p:cNvSpPr/>
          <p:nvPr/>
        </p:nvSpPr>
        <p:spPr>
          <a:xfrm>
            <a:off x="514350" y="2643103"/>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21" name="Text 15"/>
          <p:cNvSpPr/>
          <p:nvPr/>
        </p:nvSpPr>
        <p:spPr>
          <a:xfrm>
            <a:off x="514350" y="2643103"/>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2" name="Shape 16"/>
          <p:cNvSpPr/>
          <p:nvPr/>
        </p:nvSpPr>
        <p:spPr>
          <a:xfrm>
            <a:off x="514350" y="2570772"/>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23" name="Text 17"/>
          <p:cNvSpPr/>
          <p:nvPr/>
        </p:nvSpPr>
        <p:spPr>
          <a:xfrm>
            <a:off x="514350" y="2570772"/>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24" name="Image 4" descr="./images\slide4_img13.png">    </p:cNvPr>
          <p:cNvPicPr>
            <a:picLocks noChangeAspect="1"/>
          </p:cNvPicPr>
          <p:nvPr/>
        </p:nvPicPr>
        <p:blipFill>
          <a:blip r:embed="rId5"/>
          <a:stretch>
            <a:fillRect/>
          </a:stretch>
        </p:blipFill>
        <p:spPr>
          <a:xfrm>
            <a:off x="4883978" y="3707479"/>
            <a:ext cx="3745672" cy="921671"/>
          </a:xfrm>
          <a:prstGeom prst="rect">
            <a:avLst/>
          </a:prstGeom>
        </p:spPr>
      </p:pic>
      <p:sp>
        <p:nvSpPr>
          <p:cNvPr id="25" name="Shape 18"/>
          <p:cNvSpPr/>
          <p:nvPr/>
        </p:nvSpPr>
        <p:spPr>
          <a:xfrm>
            <a:off x="4883978" y="3707479"/>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26" name="Text 19"/>
          <p:cNvSpPr/>
          <p:nvPr/>
        </p:nvSpPr>
        <p:spPr>
          <a:xfrm>
            <a:off x="4883978" y="3707479"/>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7" name="Shape 20"/>
          <p:cNvSpPr/>
          <p:nvPr/>
        </p:nvSpPr>
        <p:spPr>
          <a:xfrm>
            <a:off x="4883978" y="363514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28" name="Text 21"/>
          <p:cNvSpPr/>
          <p:nvPr/>
        </p:nvSpPr>
        <p:spPr>
          <a:xfrm>
            <a:off x="4883978" y="363514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29" name="Image 5" descr="./images\slide4_img14.png">    </p:cNvPr>
          <p:cNvPicPr>
            <a:picLocks noChangeAspect="1"/>
          </p:cNvPicPr>
          <p:nvPr/>
        </p:nvPicPr>
        <p:blipFill>
          <a:blip r:embed="rId6"/>
          <a:stretch>
            <a:fillRect/>
          </a:stretch>
        </p:blipFill>
        <p:spPr>
          <a:xfrm>
            <a:off x="514350" y="3707479"/>
            <a:ext cx="3745672" cy="921671"/>
          </a:xfrm>
          <a:prstGeom prst="rect">
            <a:avLst/>
          </a:prstGeom>
        </p:spPr>
      </p:pic>
      <p:sp>
        <p:nvSpPr>
          <p:cNvPr id="30" name="Shape 22"/>
          <p:cNvSpPr/>
          <p:nvPr/>
        </p:nvSpPr>
        <p:spPr>
          <a:xfrm>
            <a:off x="514350" y="3707479"/>
            <a:ext cx="3745672" cy="921671"/>
          </a:xfrm>
          <a:custGeom>
            <a:avLst/>
            <a:gdLst/>
            <a:ahLst/>
            <a:cxnLst/>
            <a:rect l="l" t="t" r="r" b="b"/>
            <a:pathLst>
              <a:path w="3745672" h="921671">
                <a:moveTo>
                  <a:pt x="0" y="0"/>
                </a:moveTo>
                <a:lnTo>
                  <a:pt x="3745672" y="0"/>
                </a:lnTo>
                <a:lnTo>
                  <a:pt x="3745672" y="921671"/>
                </a:lnTo>
                <a:lnTo>
                  <a:pt x="0" y="921671"/>
                </a:lnTo>
                <a:close/>
              </a:path>
            </a:pathLst>
          </a:custGeom>
          <a:solidFill>
            <a:srgbClr val="000000">
              <a:alpha val="0"/>
            </a:srgbClr>
          </a:solidFill>
          <a:ln/>
        </p:spPr>
      </p:sp>
      <p:sp>
        <p:nvSpPr>
          <p:cNvPr id="31" name="Text 23"/>
          <p:cNvSpPr/>
          <p:nvPr/>
        </p:nvSpPr>
        <p:spPr>
          <a:xfrm>
            <a:off x="514350" y="3707479"/>
            <a:ext cx="3745672" cy="9216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2" name="Shape 24"/>
          <p:cNvSpPr/>
          <p:nvPr/>
        </p:nvSpPr>
        <p:spPr>
          <a:xfrm>
            <a:off x="514350" y="363514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33" name="Text 25"/>
          <p:cNvSpPr/>
          <p:nvPr/>
        </p:nvSpPr>
        <p:spPr>
          <a:xfrm>
            <a:off x="514350" y="363514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34" name="Shape 26"/>
          <p:cNvSpPr/>
          <p:nvPr/>
        </p:nvSpPr>
        <p:spPr>
          <a:xfrm>
            <a:off x="834312" y="2850255"/>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35" name="Text 27"/>
          <p:cNvSpPr/>
          <p:nvPr/>
        </p:nvSpPr>
        <p:spPr>
          <a:xfrm>
            <a:off x="834312" y="2850255"/>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Nerv tizimi o'smalari asosan genetik omillar, atrof muhit ta'siri va immun tizimidagi muammolar natijasida yuzaga keladi.</a:t>
            </a:r>
            <a:endParaRPr lang="en-US" sz="1050" dirty="0"/>
          </a:p>
        </p:txBody>
      </p:sp>
      <p:sp>
        <p:nvSpPr>
          <p:cNvPr id="36" name="Shape 28"/>
          <p:cNvSpPr/>
          <p:nvPr/>
        </p:nvSpPr>
        <p:spPr>
          <a:xfrm>
            <a:off x="834312" y="3914632"/>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37" name="Text 29"/>
          <p:cNvSpPr/>
          <p:nvPr/>
        </p:nvSpPr>
        <p:spPr>
          <a:xfrm>
            <a:off x="834312" y="3914632"/>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O'smalarning rivojlanishiga olib keladigan sabablar orasida stress, toksinlar va radiatsiya mavjud.</a:t>
            </a:r>
            <a:endParaRPr lang="en-US" sz="1050" dirty="0"/>
          </a:p>
        </p:txBody>
      </p:sp>
      <p:sp>
        <p:nvSpPr>
          <p:cNvPr id="38" name="Shape 30"/>
          <p:cNvSpPr/>
          <p:nvPr/>
        </p:nvSpPr>
        <p:spPr>
          <a:xfrm>
            <a:off x="5203940" y="721503"/>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39" name="Text 31"/>
          <p:cNvSpPr/>
          <p:nvPr/>
        </p:nvSpPr>
        <p:spPr>
          <a:xfrm>
            <a:off x="5203940" y="721503"/>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Genetik omillar</a:t>
            </a:r>
            <a:endParaRPr lang="en-US" sz="1050" dirty="0"/>
          </a:p>
        </p:txBody>
      </p:sp>
      <p:sp>
        <p:nvSpPr>
          <p:cNvPr id="40" name="Shape 32"/>
          <p:cNvSpPr/>
          <p:nvPr/>
        </p:nvSpPr>
        <p:spPr>
          <a:xfrm>
            <a:off x="5203940" y="1785879"/>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41" name="Text 33"/>
          <p:cNvSpPr/>
          <p:nvPr/>
        </p:nvSpPr>
        <p:spPr>
          <a:xfrm>
            <a:off x="5203940" y="1785879"/>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Atrof muhit ta'siri</a:t>
            </a:r>
            <a:endParaRPr lang="en-US" sz="1050" dirty="0"/>
          </a:p>
        </p:txBody>
      </p:sp>
      <p:sp>
        <p:nvSpPr>
          <p:cNvPr id="42" name="Shape 34"/>
          <p:cNvSpPr/>
          <p:nvPr/>
        </p:nvSpPr>
        <p:spPr>
          <a:xfrm>
            <a:off x="5203940" y="2848059"/>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43" name="Text 35"/>
          <p:cNvSpPr/>
          <p:nvPr/>
        </p:nvSpPr>
        <p:spPr>
          <a:xfrm>
            <a:off x="5203940" y="2848059"/>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Immun tizimi muammolari</a:t>
            </a:r>
            <a:endParaRPr lang="en-US" sz="1050" dirty="0"/>
          </a:p>
        </p:txBody>
      </p:sp>
      <p:sp>
        <p:nvSpPr>
          <p:cNvPr id="44" name="Shape 36"/>
          <p:cNvSpPr/>
          <p:nvPr/>
        </p:nvSpPr>
        <p:spPr>
          <a:xfrm>
            <a:off x="5203940" y="3912436"/>
            <a:ext cx="3105750" cy="450503"/>
          </a:xfrm>
          <a:custGeom>
            <a:avLst/>
            <a:gdLst/>
            <a:ahLst/>
            <a:cxnLst/>
            <a:rect l="l" t="t" r="r" b="b"/>
            <a:pathLst>
              <a:path w="3105750" h="450503">
                <a:moveTo>
                  <a:pt x="0" y="0"/>
                </a:moveTo>
                <a:lnTo>
                  <a:pt x="3105750" y="0"/>
                </a:lnTo>
                <a:lnTo>
                  <a:pt x="3105750" y="450503"/>
                </a:lnTo>
                <a:lnTo>
                  <a:pt x="0" y="450503"/>
                </a:lnTo>
                <a:close/>
              </a:path>
            </a:pathLst>
          </a:custGeom>
          <a:solidFill>
            <a:srgbClr val="000000">
              <a:alpha val="0"/>
            </a:srgbClr>
          </a:solidFill>
          <a:ln/>
        </p:spPr>
      </p:sp>
      <p:sp>
        <p:nvSpPr>
          <p:cNvPr id="45" name="Text 37"/>
          <p:cNvSpPr/>
          <p:nvPr/>
        </p:nvSpPr>
        <p:spPr>
          <a:xfrm>
            <a:off x="5203940" y="3912436"/>
            <a:ext cx="3105750" cy="450503"/>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Toksik moddalar va stress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B2683"/>
        </a:solidFill>
      </p:bgPr>
    </p:bg>
    <p:spTree>
      <p:nvGrpSpPr>
        <p:cNvPr id="1" name=""/>
        <p:cNvGrpSpPr/>
        <p:nvPr/>
      </p:nvGrpSpPr>
      <p:grpSpPr>
        <a:xfrm>
          <a:off x="0" y="0"/>
          <a:ext cx="0" cy="0"/>
          <a:chOff x="0" y="0"/>
          <a:chExt cx="0" cy="0"/>
        </a:xfrm>
      </p:grpSpPr>
      <p:pic>
        <p:nvPicPr>
          <p:cNvPr id="2" name="Image 0" descr="./images\slide6_img17.png">    </p:cNvPr>
          <p:cNvPicPr>
            <a:picLocks noChangeAspect="1"/>
          </p:cNvPicPr>
          <p:nvPr/>
        </p:nvPicPr>
        <p:blipFill>
          <a:blip r:embed="rId1"/>
          <a:stretch>
            <a:fillRect/>
          </a:stretch>
        </p:blipFill>
        <p:spPr>
          <a:xfrm>
            <a:off x="0" y="3485424"/>
            <a:ext cx="9143998" cy="1316102"/>
          </a:xfrm>
          <a:prstGeom prst="rect">
            <a:avLst/>
          </a:prstGeom>
        </p:spPr>
      </p:pic>
      <p:sp>
        <p:nvSpPr>
          <p:cNvPr id="3" name="Shape 0"/>
          <p:cNvSpPr/>
          <p:nvPr/>
        </p:nvSpPr>
        <p:spPr>
          <a:xfrm>
            <a:off x="0" y="3485424"/>
            <a:ext cx="9143998" cy="1316102"/>
          </a:xfrm>
          <a:custGeom>
            <a:avLst/>
            <a:gdLst/>
            <a:ahLst/>
            <a:cxnLst/>
            <a:rect l="l" t="t" r="r" b="b"/>
            <a:pathLst>
              <a:path w="9143998" h="1316102">
                <a:moveTo>
                  <a:pt x="0" y="0"/>
                </a:moveTo>
                <a:lnTo>
                  <a:pt x="9143998" y="0"/>
                </a:lnTo>
                <a:lnTo>
                  <a:pt x="9143998" y="1316102"/>
                </a:lnTo>
                <a:lnTo>
                  <a:pt x="0" y="1316102"/>
                </a:lnTo>
                <a:close/>
              </a:path>
            </a:pathLst>
          </a:custGeom>
          <a:solidFill>
            <a:srgbClr val="000000">
              <a:alpha val="0"/>
            </a:srgbClr>
          </a:solidFill>
          <a:ln/>
        </p:spPr>
      </p:sp>
      <p:sp>
        <p:nvSpPr>
          <p:cNvPr id="4" name="Text 1"/>
          <p:cNvSpPr/>
          <p:nvPr/>
        </p:nvSpPr>
        <p:spPr>
          <a:xfrm>
            <a:off x="0" y="3485424"/>
            <a:ext cx="9143998" cy="1316102"/>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 name="Shape 2"/>
          <p:cNvSpPr/>
          <p:nvPr/>
        </p:nvSpPr>
        <p:spPr>
          <a:xfrm>
            <a:off x="0" y="3413093"/>
            <a:ext cx="9144000" cy="215875"/>
          </a:xfrm>
          <a:custGeom>
            <a:avLst/>
            <a:gdLst/>
            <a:ahLst/>
            <a:cxnLst/>
            <a:rect l="l" t="t" r="r" b="b"/>
            <a:pathLst>
              <a:path w="9144000" h="215875">
                <a:moveTo>
                  <a:pt x="0" y="0"/>
                </a:moveTo>
                <a:lnTo>
                  <a:pt x="9144000" y="0"/>
                </a:lnTo>
                <a:lnTo>
                  <a:pt x="9144000" y="215875"/>
                </a:lnTo>
                <a:lnTo>
                  <a:pt x="0" y="215875"/>
                </a:lnTo>
                <a:close/>
              </a:path>
            </a:pathLst>
          </a:custGeom>
          <a:solidFill>
            <a:srgbClr val="000000">
              <a:alpha val="0"/>
            </a:srgbClr>
          </a:solidFill>
          <a:ln/>
        </p:spPr>
      </p:sp>
      <p:sp>
        <p:nvSpPr>
          <p:cNvPr id="6" name="Text 3"/>
          <p:cNvSpPr/>
          <p:nvPr/>
        </p:nvSpPr>
        <p:spPr>
          <a:xfrm>
            <a:off x="0" y="3413093"/>
            <a:ext cx="91440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7" name="Image 1" descr="./images\slide6_img18.jpeg">    </p:cNvPr>
          <p:cNvPicPr>
            <a:picLocks noChangeAspect="1"/>
          </p:cNvPicPr>
          <p:nvPr/>
        </p:nvPicPr>
        <p:blipFill>
          <a:blip r:embed="rId2"/>
          <a:srcRect l="10635" r="57702" t="0" b="47917"/>
          <a:stretch/>
        </p:blipFill>
        <p:spPr>
          <a:xfrm>
            <a:off x="803108" y="1379575"/>
            <a:ext cx="1657968" cy="2021615"/>
          </a:xfrm>
          <a:prstGeom prst="rect">
            <a:avLst/>
          </a:prstGeom>
        </p:spPr>
      </p:pic>
      <p:pic>
        <p:nvPicPr>
          <p:cNvPr id="8" name="Image 2" descr="./images\slide6_img19.jpeg">    </p:cNvPr>
          <p:cNvPicPr>
            <a:picLocks noChangeAspect="1"/>
          </p:cNvPicPr>
          <p:nvPr/>
        </p:nvPicPr>
        <p:blipFill>
          <a:blip r:embed="rId3"/>
          <a:srcRect l="14139" r="57402" t="0" b="47917"/>
          <a:stretch/>
        </p:blipFill>
        <p:spPr>
          <a:xfrm>
            <a:off x="2740019" y="1379575"/>
            <a:ext cx="1657968" cy="2021615"/>
          </a:xfrm>
          <a:prstGeom prst="rect">
            <a:avLst/>
          </a:prstGeom>
        </p:spPr>
      </p:pic>
      <p:pic>
        <p:nvPicPr>
          <p:cNvPr id="9" name="Image 3" descr="./images\slide6_img20.jpeg">    </p:cNvPr>
          <p:cNvPicPr>
            <a:picLocks noChangeAspect="1"/>
          </p:cNvPicPr>
          <p:nvPr/>
        </p:nvPicPr>
        <p:blipFill>
          <a:blip r:embed="rId4"/>
          <a:srcRect l="10660" r="60880" t="0" b="47917"/>
          <a:stretch/>
        </p:blipFill>
        <p:spPr>
          <a:xfrm>
            <a:off x="4676930" y="1379575"/>
            <a:ext cx="1657968" cy="2021615"/>
          </a:xfrm>
          <a:prstGeom prst="rect">
            <a:avLst/>
          </a:prstGeom>
        </p:spPr>
      </p:pic>
      <p:pic>
        <p:nvPicPr>
          <p:cNvPr id="10" name="Image 4" descr="./images\slide6_img21.jpeg">    </p:cNvPr>
          <p:cNvPicPr>
            <a:picLocks noChangeAspect="1"/>
          </p:cNvPicPr>
          <p:nvPr/>
        </p:nvPicPr>
        <p:blipFill>
          <a:blip r:embed="rId5"/>
          <a:srcRect l="7833" r="55129" t="21330" b="48525"/>
          <a:stretch/>
        </p:blipFill>
        <p:spPr>
          <a:xfrm>
            <a:off x="6613842" y="1379575"/>
            <a:ext cx="1657968" cy="2021614"/>
          </a:xfrm>
          <a:prstGeom prst="rect">
            <a:avLst/>
          </a:prstGeom>
        </p:spPr>
      </p:pic>
      <p:sp>
        <p:nvSpPr>
          <p:cNvPr id="11" name="Shape 4"/>
          <p:cNvSpPr/>
          <p:nvPr/>
        </p:nvSpPr>
        <p:spPr>
          <a:xfrm>
            <a:off x="2965721" y="438150"/>
            <a:ext cx="3212550" cy="603349"/>
          </a:xfrm>
          <a:custGeom>
            <a:avLst/>
            <a:gdLst/>
            <a:ahLst/>
            <a:cxnLst/>
            <a:rect l="l" t="t" r="r" b="b"/>
            <a:pathLst>
              <a:path w="3212550" h="603349">
                <a:moveTo>
                  <a:pt x="0" y="0"/>
                </a:moveTo>
                <a:lnTo>
                  <a:pt x="3212550" y="0"/>
                </a:lnTo>
                <a:lnTo>
                  <a:pt x="3212550" y="603349"/>
                </a:lnTo>
                <a:lnTo>
                  <a:pt x="0" y="603349"/>
                </a:lnTo>
                <a:close/>
              </a:path>
            </a:pathLst>
          </a:custGeom>
          <a:solidFill>
            <a:srgbClr val="000000">
              <a:alpha val="0"/>
            </a:srgbClr>
          </a:solidFill>
          <a:ln/>
        </p:spPr>
      </p:sp>
      <p:sp>
        <p:nvSpPr>
          <p:cNvPr id="12" name="Text 5"/>
          <p:cNvSpPr/>
          <p:nvPr/>
        </p:nvSpPr>
        <p:spPr>
          <a:xfrm>
            <a:off x="2965721" y="438150"/>
            <a:ext cx="3212550" cy="603349"/>
          </a:xfrm>
          <a:prstGeom prst="rect">
            <a:avLst/>
          </a:prstGeom>
          <a:noFill/>
          <a:ln/>
        </p:spPr>
        <p:txBody>
          <a:bodyPr wrap="square" rtlCol="0" anchor="t"/>
          <a:lstStyle/>
          <a:p>
            <a:pPr algn="ctr" indent="0" marL="0">
              <a:spcBef>
                <a:spcPts val="375"/>
              </a:spcBef>
              <a:buNone/>
            </a:pPr>
            <a:r>
              <a:rPr lang="en-US" sz="3975" b="1" dirty="0">
                <a:solidFill>
                  <a:srgbClr val="FFFFFF"/>
                </a:solidFill>
                <a:latin typeface="Montserrat" pitchFamily="34" charset="0"/>
                <a:ea typeface="Montserrat" pitchFamily="34" charset="-122"/>
                <a:cs typeface="Montserrat" pitchFamily="34" charset="-120"/>
              </a:rPr>
              <a:t>Nerv tizimi o'smalari alomatlari</a:t>
            </a:r>
            <a:endParaRPr lang="en-US" sz="1050" dirty="0"/>
          </a:p>
        </p:txBody>
      </p:sp>
      <p:sp>
        <p:nvSpPr>
          <p:cNvPr id="13" name="Shape 6"/>
          <p:cNvSpPr/>
          <p:nvPr/>
        </p:nvSpPr>
        <p:spPr>
          <a:xfrm>
            <a:off x="803108" y="3988937"/>
            <a:ext cx="1727100" cy="533846"/>
          </a:xfrm>
          <a:custGeom>
            <a:avLst/>
            <a:gdLst/>
            <a:ahLst/>
            <a:cxnLst/>
            <a:rect l="l" t="t" r="r" b="b"/>
            <a:pathLst>
              <a:path w="1727100" h="533846">
                <a:moveTo>
                  <a:pt x="0" y="0"/>
                </a:moveTo>
                <a:lnTo>
                  <a:pt x="1727100" y="0"/>
                </a:lnTo>
                <a:lnTo>
                  <a:pt x="1727100" y="533846"/>
                </a:lnTo>
                <a:lnTo>
                  <a:pt x="0" y="533846"/>
                </a:lnTo>
                <a:close/>
              </a:path>
            </a:pathLst>
          </a:custGeom>
          <a:solidFill>
            <a:srgbClr val="000000">
              <a:alpha val="0"/>
            </a:srgbClr>
          </a:solidFill>
          <a:ln/>
        </p:spPr>
      </p:sp>
      <p:sp>
        <p:nvSpPr>
          <p:cNvPr id="14" name="Text 7"/>
          <p:cNvSpPr/>
          <p:nvPr/>
        </p:nvSpPr>
        <p:spPr>
          <a:xfrm>
            <a:off x="803108" y="3988937"/>
            <a:ext cx="1727100" cy="533846"/>
          </a:xfrm>
          <a:prstGeom prst="rect">
            <a:avLst/>
          </a:prstGeom>
          <a:noFill/>
          <a:ln/>
        </p:spPr>
        <p:txBody>
          <a:bodyPr wrap="square" rtlCol="0" anchor="t"/>
          <a:lstStyle/>
          <a:p>
            <a:pPr algn="ctr" indent="0" marL="0">
              <a:spcBef>
                <a:spcPts val="375"/>
              </a:spcBef>
              <a:buNone/>
            </a:pPr>
            <a:r>
              <a:rPr lang="en-US" sz="1125" dirty="0">
                <a:solidFill>
                  <a:srgbClr val="4B2683"/>
                </a:solidFill>
                <a:latin typeface="Montserrat" pitchFamily="34" charset="0"/>
                <a:ea typeface="Montserrat" pitchFamily="34" charset="-122"/>
                <a:cs typeface="Montserrat" pitchFamily="34" charset="-120"/>
              </a:rPr>
              <a:t>Nerv tizimi o'smalari ko'p turli alomatlar bilan namoyon bo'ladi. Ularning ba'zilari og'riq, bosh aylanishi va asabiylashuvni o'z ichiga oladi.</a:t>
            </a:r>
            <a:endParaRPr lang="en-US" sz="1050" dirty="0"/>
          </a:p>
        </p:txBody>
      </p:sp>
      <p:sp>
        <p:nvSpPr>
          <p:cNvPr id="15" name="Shape 8"/>
          <p:cNvSpPr/>
          <p:nvPr/>
        </p:nvSpPr>
        <p:spPr>
          <a:xfrm>
            <a:off x="803108" y="3684285"/>
            <a:ext cx="1727050" cy="253826"/>
          </a:xfrm>
          <a:custGeom>
            <a:avLst/>
            <a:gdLst/>
            <a:ahLst/>
            <a:cxnLst/>
            <a:rect l="l" t="t" r="r" b="b"/>
            <a:pathLst>
              <a:path w="1727050" h="253826">
                <a:moveTo>
                  <a:pt x="0" y="0"/>
                </a:moveTo>
                <a:lnTo>
                  <a:pt x="1727050" y="0"/>
                </a:lnTo>
                <a:lnTo>
                  <a:pt x="1727050" y="253826"/>
                </a:lnTo>
                <a:lnTo>
                  <a:pt x="0" y="253826"/>
                </a:lnTo>
                <a:close/>
              </a:path>
            </a:pathLst>
          </a:custGeom>
          <a:solidFill>
            <a:srgbClr val="000000">
              <a:alpha val="0"/>
            </a:srgbClr>
          </a:solidFill>
          <a:ln/>
        </p:spPr>
      </p:sp>
      <p:sp>
        <p:nvSpPr>
          <p:cNvPr id="16" name="Text 9"/>
          <p:cNvSpPr/>
          <p:nvPr/>
        </p:nvSpPr>
        <p:spPr>
          <a:xfrm>
            <a:off x="803108" y="3684285"/>
            <a:ext cx="1727050" cy="253826"/>
          </a:xfrm>
          <a:prstGeom prst="rect">
            <a:avLst/>
          </a:prstGeom>
          <a:noFill/>
          <a:ln/>
        </p:spPr>
        <p:txBody>
          <a:bodyPr wrap="square" rtlCol="0" anchor="t"/>
          <a:lstStyle/>
          <a:p>
            <a:pPr algn="ctr" indent="0" marL="0">
              <a:spcBef>
                <a:spcPts val="375"/>
              </a:spcBef>
              <a:buNone/>
            </a:pPr>
            <a:r>
              <a:rPr lang="en-US" sz="1200" b="1" dirty="0">
                <a:solidFill>
                  <a:srgbClr val="4B2683"/>
                </a:solidFill>
                <a:latin typeface="Montserrat" pitchFamily="34" charset="0"/>
                <a:ea typeface="Montserrat" pitchFamily="34" charset="-122"/>
                <a:cs typeface="Montserrat" pitchFamily="34" charset="-120"/>
              </a:rPr>
              <a:t>Og'riq</a:t>
            </a:r>
            <a:endParaRPr lang="en-US" sz="1050" dirty="0"/>
          </a:p>
        </p:txBody>
      </p:sp>
      <p:sp>
        <p:nvSpPr>
          <p:cNvPr id="17" name="Shape 10"/>
          <p:cNvSpPr/>
          <p:nvPr/>
        </p:nvSpPr>
        <p:spPr>
          <a:xfrm>
            <a:off x="2740019" y="3988937"/>
            <a:ext cx="1727100" cy="533846"/>
          </a:xfrm>
          <a:custGeom>
            <a:avLst/>
            <a:gdLst/>
            <a:ahLst/>
            <a:cxnLst/>
            <a:rect l="l" t="t" r="r" b="b"/>
            <a:pathLst>
              <a:path w="1727100" h="533846">
                <a:moveTo>
                  <a:pt x="0" y="0"/>
                </a:moveTo>
                <a:lnTo>
                  <a:pt x="1727100" y="0"/>
                </a:lnTo>
                <a:lnTo>
                  <a:pt x="1727100" y="533846"/>
                </a:lnTo>
                <a:lnTo>
                  <a:pt x="0" y="533846"/>
                </a:lnTo>
                <a:close/>
              </a:path>
            </a:pathLst>
          </a:custGeom>
          <a:solidFill>
            <a:srgbClr val="000000">
              <a:alpha val="0"/>
            </a:srgbClr>
          </a:solidFill>
          <a:ln/>
        </p:spPr>
      </p:sp>
      <p:sp>
        <p:nvSpPr>
          <p:cNvPr id="18" name="Text 11"/>
          <p:cNvSpPr/>
          <p:nvPr/>
        </p:nvSpPr>
        <p:spPr>
          <a:xfrm>
            <a:off x="2740019" y="3988937"/>
            <a:ext cx="1727100" cy="533846"/>
          </a:xfrm>
          <a:prstGeom prst="rect">
            <a:avLst/>
          </a:prstGeom>
          <a:noFill/>
          <a:ln/>
        </p:spPr>
        <p:txBody>
          <a:bodyPr wrap="square" rtlCol="0" anchor="t"/>
          <a:lstStyle/>
          <a:p>
            <a:pPr algn="ctr" indent="0" marL="0">
              <a:spcBef>
                <a:spcPts val="375"/>
              </a:spcBef>
              <a:buNone/>
            </a:pPr>
            <a:r>
              <a:rPr lang="en-US" sz="1125" dirty="0">
                <a:solidFill>
                  <a:srgbClr val="4B2683"/>
                </a:solidFill>
                <a:latin typeface="Montserrat" pitchFamily="34" charset="0"/>
                <a:ea typeface="Montserrat" pitchFamily="34" charset="-122"/>
                <a:cs typeface="Montserrat" pitchFamily="34" charset="-120"/>
              </a:rPr>
              <a:t>Nerv tizimidagi o'smalar og'riq keltirib chiqarishi mumkin, ayniqsa, o'sma joylashgan joyga qarab.</a:t>
            </a:r>
            <a:endParaRPr lang="en-US" sz="1050" dirty="0"/>
          </a:p>
        </p:txBody>
      </p:sp>
      <p:sp>
        <p:nvSpPr>
          <p:cNvPr id="19" name="Shape 12"/>
          <p:cNvSpPr/>
          <p:nvPr/>
        </p:nvSpPr>
        <p:spPr>
          <a:xfrm>
            <a:off x="2740019" y="3684285"/>
            <a:ext cx="1727050" cy="253826"/>
          </a:xfrm>
          <a:custGeom>
            <a:avLst/>
            <a:gdLst/>
            <a:ahLst/>
            <a:cxnLst/>
            <a:rect l="l" t="t" r="r" b="b"/>
            <a:pathLst>
              <a:path w="1727050" h="253826">
                <a:moveTo>
                  <a:pt x="0" y="0"/>
                </a:moveTo>
                <a:lnTo>
                  <a:pt x="1727050" y="0"/>
                </a:lnTo>
                <a:lnTo>
                  <a:pt x="1727050" y="253826"/>
                </a:lnTo>
                <a:lnTo>
                  <a:pt x="0" y="253826"/>
                </a:lnTo>
                <a:close/>
              </a:path>
            </a:pathLst>
          </a:custGeom>
          <a:solidFill>
            <a:srgbClr val="000000">
              <a:alpha val="0"/>
            </a:srgbClr>
          </a:solidFill>
          <a:ln/>
        </p:spPr>
      </p:sp>
      <p:sp>
        <p:nvSpPr>
          <p:cNvPr id="20" name="Text 13"/>
          <p:cNvSpPr/>
          <p:nvPr/>
        </p:nvSpPr>
        <p:spPr>
          <a:xfrm>
            <a:off x="2740019" y="3684285"/>
            <a:ext cx="1727050" cy="253826"/>
          </a:xfrm>
          <a:prstGeom prst="rect">
            <a:avLst/>
          </a:prstGeom>
          <a:noFill/>
          <a:ln/>
        </p:spPr>
        <p:txBody>
          <a:bodyPr wrap="square" rtlCol="0" anchor="t"/>
          <a:lstStyle/>
          <a:p>
            <a:pPr algn="ctr" indent="0" marL="0">
              <a:spcBef>
                <a:spcPts val="375"/>
              </a:spcBef>
              <a:buNone/>
            </a:pPr>
            <a:r>
              <a:rPr lang="en-US" sz="1200" b="1" dirty="0">
                <a:solidFill>
                  <a:srgbClr val="4B2683"/>
                </a:solidFill>
                <a:latin typeface="Montserrat" pitchFamily="34" charset="0"/>
                <a:ea typeface="Montserrat" pitchFamily="34" charset="-122"/>
                <a:cs typeface="Montserrat" pitchFamily="34" charset="-120"/>
              </a:rPr>
              <a:t>Bosh aylanishi</a:t>
            </a:r>
            <a:endParaRPr lang="en-US" sz="1050" dirty="0"/>
          </a:p>
        </p:txBody>
      </p:sp>
      <p:sp>
        <p:nvSpPr>
          <p:cNvPr id="21" name="Shape 14"/>
          <p:cNvSpPr/>
          <p:nvPr/>
        </p:nvSpPr>
        <p:spPr>
          <a:xfrm>
            <a:off x="4676930" y="3988937"/>
            <a:ext cx="1727100" cy="533846"/>
          </a:xfrm>
          <a:custGeom>
            <a:avLst/>
            <a:gdLst/>
            <a:ahLst/>
            <a:cxnLst/>
            <a:rect l="l" t="t" r="r" b="b"/>
            <a:pathLst>
              <a:path w="1727100" h="533846">
                <a:moveTo>
                  <a:pt x="0" y="0"/>
                </a:moveTo>
                <a:lnTo>
                  <a:pt x="1727100" y="0"/>
                </a:lnTo>
                <a:lnTo>
                  <a:pt x="1727100" y="533846"/>
                </a:lnTo>
                <a:lnTo>
                  <a:pt x="0" y="533846"/>
                </a:lnTo>
                <a:close/>
              </a:path>
            </a:pathLst>
          </a:custGeom>
          <a:solidFill>
            <a:srgbClr val="000000">
              <a:alpha val="0"/>
            </a:srgbClr>
          </a:solidFill>
          <a:ln/>
        </p:spPr>
      </p:sp>
      <p:sp>
        <p:nvSpPr>
          <p:cNvPr id="22" name="Text 15"/>
          <p:cNvSpPr/>
          <p:nvPr/>
        </p:nvSpPr>
        <p:spPr>
          <a:xfrm>
            <a:off x="4676930" y="3988937"/>
            <a:ext cx="1727100" cy="533846"/>
          </a:xfrm>
          <a:prstGeom prst="rect">
            <a:avLst/>
          </a:prstGeom>
          <a:noFill/>
          <a:ln/>
        </p:spPr>
        <p:txBody>
          <a:bodyPr wrap="square" rtlCol="0" anchor="t"/>
          <a:lstStyle/>
          <a:p>
            <a:pPr algn="ctr" indent="0" marL="0">
              <a:spcBef>
                <a:spcPts val="375"/>
              </a:spcBef>
              <a:buNone/>
            </a:pPr>
            <a:r>
              <a:rPr lang="en-US" sz="1125" dirty="0">
                <a:solidFill>
                  <a:srgbClr val="4B2683"/>
                </a:solidFill>
                <a:latin typeface="Montserrat" pitchFamily="34" charset="0"/>
                <a:ea typeface="Montserrat" pitchFamily="34" charset="-122"/>
                <a:cs typeface="Montserrat" pitchFamily="34" charset="-120"/>
              </a:rPr>
              <a:t>Nerv tizimida o'smalar bosh aylanishiga sabab bo'lishi mumkin, bu esa muvofiqlik va qulaylikni yo'qotishga olib keladi.</a:t>
            </a:r>
            <a:endParaRPr lang="en-US" sz="1050" dirty="0"/>
          </a:p>
        </p:txBody>
      </p:sp>
      <p:sp>
        <p:nvSpPr>
          <p:cNvPr id="23" name="Shape 16"/>
          <p:cNvSpPr/>
          <p:nvPr/>
        </p:nvSpPr>
        <p:spPr>
          <a:xfrm>
            <a:off x="4676930" y="3684285"/>
            <a:ext cx="1727050" cy="253826"/>
          </a:xfrm>
          <a:custGeom>
            <a:avLst/>
            <a:gdLst/>
            <a:ahLst/>
            <a:cxnLst/>
            <a:rect l="l" t="t" r="r" b="b"/>
            <a:pathLst>
              <a:path w="1727050" h="253826">
                <a:moveTo>
                  <a:pt x="0" y="0"/>
                </a:moveTo>
                <a:lnTo>
                  <a:pt x="1727050" y="0"/>
                </a:lnTo>
                <a:lnTo>
                  <a:pt x="1727050" y="253826"/>
                </a:lnTo>
                <a:lnTo>
                  <a:pt x="0" y="253826"/>
                </a:lnTo>
                <a:close/>
              </a:path>
            </a:pathLst>
          </a:custGeom>
          <a:solidFill>
            <a:srgbClr val="000000">
              <a:alpha val="0"/>
            </a:srgbClr>
          </a:solidFill>
          <a:ln/>
        </p:spPr>
      </p:sp>
      <p:sp>
        <p:nvSpPr>
          <p:cNvPr id="24" name="Text 17"/>
          <p:cNvSpPr/>
          <p:nvPr/>
        </p:nvSpPr>
        <p:spPr>
          <a:xfrm>
            <a:off x="4676930" y="3684285"/>
            <a:ext cx="1727050" cy="253826"/>
          </a:xfrm>
          <a:prstGeom prst="rect">
            <a:avLst/>
          </a:prstGeom>
          <a:noFill/>
          <a:ln/>
        </p:spPr>
        <p:txBody>
          <a:bodyPr wrap="square" rtlCol="0" anchor="t"/>
          <a:lstStyle/>
          <a:p>
            <a:pPr algn="ctr" indent="0" marL="0">
              <a:spcBef>
                <a:spcPts val="375"/>
              </a:spcBef>
              <a:buNone/>
            </a:pPr>
            <a:r>
              <a:rPr lang="en-US" sz="1200" b="1" dirty="0">
                <a:solidFill>
                  <a:srgbClr val="4B2683"/>
                </a:solidFill>
                <a:latin typeface="Montserrat" pitchFamily="34" charset="0"/>
                <a:ea typeface="Montserrat" pitchFamily="34" charset="-122"/>
                <a:cs typeface="Montserrat" pitchFamily="34" charset="-120"/>
              </a:rPr>
              <a:t>Asabiylashuv</a:t>
            </a:r>
            <a:endParaRPr lang="en-US" sz="1050" dirty="0"/>
          </a:p>
        </p:txBody>
      </p:sp>
      <p:sp>
        <p:nvSpPr>
          <p:cNvPr id="25" name="Shape 18"/>
          <p:cNvSpPr/>
          <p:nvPr/>
        </p:nvSpPr>
        <p:spPr>
          <a:xfrm>
            <a:off x="6613531" y="3988937"/>
            <a:ext cx="1727100" cy="533846"/>
          </a:xfrm>
          <a:custGeom>
            <a:avLst/>
            <a:gdLst/>
            <a:ahLst/>
            <a:cxnLst/>
            <a:rect l="l" t="t" r="r" b="b"/>
            <a:pathLst>
              <a:path w="1727100" h="533846">
                <a:moveTo>
                  <a:pt x="0" y="0"/>
                </a:moveTo>
                <a:lnTo>
                  <a:pt x="1727100" y="0"/>
                </a:lnTo>
                <a:lnTo>
                  <a:pt x="1727100" y="533846"/>
                </a:lnTo>
                <a:lnTo>
                  <a:pt x="0" y="533846"/>
                </a:lnTo>
                <a:close/>
              </a:path>
            </a:pathLst>
          </a:custGeom>
          <a:solidFill>
            <a:srgbClr val="000000">
              <a:alpha val="0"/>
            </a:srgbClr>
          </a:solidFill>
          <a:ln/>
        </p:spPr>
      </p:sp>
      <p:sp>
        <p:nvSpPr>
          <p:cNvPr id="26" name="Text 19"/>
          <p:cNvSpPr/>
          <p:nvPr/>
        </p:nvSpPr>
        <p:spPr>
          <a:xfrm>
            <a:off x="6613531" y="3988937"/>
            <a:ext cx="1727100" cy="533846"/>
          </a:xfrm>
          <a:prstGeom prst="rect">
            <a:avLst/>
          </a:prstGeom>
          <a:noFill/>
          <a:ln/>
        </p:spPr>
        <p:txBody>
          <a:bodyPr wrap="square" rtlCol="0" anchor="t"/>
          <a:lstStyle/>
          <a:p>
            <a:pPr algn="ctr" indent="0" marL="0">
              <a:spcBef>
                <a:spcPts val="375"/>
              </a:spcBef>
              <a:buNone/>
            </a:pPr>
            <a:r>
              <a:rPr lang="en-US" sz="1125" dirty="0">
                <a:solidFill>
                  <a:srgbClr val="4B2683"/>
                </a:solidFill>
                <a:latin typeface="Montserrat" pitchFamily="34" charset="0"/>
                <a:ea typeface="Montserrat" pitchFamily="34" charset="-122"/>
                <a:cs typeface="Montserrat" pitchFamily="34" charset="-120"/>
              </a:rPr>
              <a:t>O'smalar asab tizimida asabiylashuv va depressiya kabi alomatlarni kuchaytirishi mumkin.</a:t>
            </a:r>
            <a:endParaRPr lang="en-US" sz="1050" dirty="0"/>
          </a:p>
        </p:txBody>
      </p:sp>
      <p:sp>
        <p:nvSpPr>
          <p:cNvPr id="27" name="Shape 20"/>
          <p:cNvSpPr/>
          <p:nvPr/>
        </p:nvSpPr>
        <p:spPr>
          <a:xfrm>
            <a:off x="6613531" y="3684285"/>
            <a:ext cx="1727050" cy="253826"/>
          </a:xfrm>
          <a:custGeom>
            <a:avLst/>
            <a:gdLst/>
            <a:ahLst/>
            <a:cxnLst/>
            <a:rect l="l" t="t" r="r" b="b"/>
            <a:pathLst>
              <a:path w="1727050" h="253826">
                <a:moveTo>
                  <a:pt x="0" y="0"/>
                </a:moveTo>
                <a:lnTo>
                  <a:pt x="1727050" y="0"/>
                </a:lnTo>
                <a:lnTo>
                  <a:pt x="1727050" y="253826"/>
                </a:lnTo>
                <a:lnTo>
                  <a:pt x="0" y="253826"/>
                </a:lnTo>
                <a:close/>
              </a:path>
            </a:pathLst>
          </a:custGeom>
          <a:solidFill>
            <a:srgbClr val="000000">
              <a:alpha val="0"/>
            </a:srgbClr>
          </a:solidFill>
          <a:ln/>
        </p:spPr>
      </p:sp>
      <p:sp>
        <p:nvSpPr>
          <p:cNvPr id="28" name="Text 21"/>
          <p:cNvSpPr/>
          <p:nvPr/>
        </p:nvSpPr>
        <p:spPr>
          <a:xfrm>
            <a:off x="6613531" y="3684285"/>
            <a:ext cx="1727050" cy="253826"/>
          </a:xfrm>
          <a:prstGeom prst="rect">
            <a:avLst/>
          </a:prstGeom>
          <a:noFill/>
          <a:ln/>
        </p:spPr>
        <p:txBody>
          <a:bodyPr wrap="square" rtlCol="0" anchor="t"/>
          <a:lstStyle/>
          <a:p>
            <a:pPr algn="ctr" indent="0" marL="0">
              <a:spcBef>
                <a:spcPts val="375"/>
              </a:spcBef>
              <a:buNone/>
            </a:pPr>
            <a:r>
              <a:rPr lang="en-US" sz="1200" b="1" dirty="0">
                <a:solidFill>
                  <a:srgbClr val="4B2683"/>
                </a:solidFill>
                <a:latin typeface="Montserrat" pitchFamily="34" charset="0"/>
                <a:ea typeface="Montserrat" pitchFamily="34" charset="-122"/>
                <a:cs typeface="Montserrat" pitchFamily="34" charset="-120"/>
              </a:rPr>
              <a:t>Konsentratsiya muammolari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B2683"/>
        </a:solidFill>
      </p:bgPr>
    </p:bg>
    <p:spTree>
      <p:nvGrpSpPr>
        <p:cNvPr id="1" name=""/>
        <p:cNvGrpSpPr/>
        <p:nvPr/>
      </p:nvGrpSpPr>
      <p:grpSpPr>
        <a:xfrm>
          <a:off x="0" y="0"/>
          <a:ext cx="0" cy="0"/>
          <a:chOff x="0" y="0"/>
          <a:chExt cx="0" cy="0"/>
        </a:xfrm>
      </p:grpSpPr>
      <p:pic>
        <p:nvPicPr>
          <p:cNvPr id="2" name="Image 0" descr="./images\slide7_img22.png">    </p:cNvPr>
          <p:cNvPicPr>
            <a:picLocks noChangeAspect="1"/>
          </p:cNvPicPr>
          <p:nvPr/>
        </p:nvPicPr>
        <p:blipFill>
          <a:blip r:embed="rId1"/>
          <a:stretch>
            <a:fillRect/>
          </a:stretch>
        </p:blipFill>
        <p:spPr>
          <a:xfrm>
            <a:off x="0" y="779826"/>
            <a:ext cx="4382807" cy="4363674"/>
          </a:xfrm>
          <a:prstGeom prst="rect">
            <a:avLst/>
          </a:prstGeom>
        </p:spPr>
      </p:pic>
      <p:sp>
        <p:nvSpPr>
          <p:cNvPr id="3" name="Shape 0"/>
          <p:cNvSpPr/>
          <p:nvPr/>
        </p:nvSpPr>
        <p:spPr>
          <a:xfrm>
            <a:off x="0" y="779826"/>
            <a:ext cx="4382807" cy="4363674"/>
          </a:xfrm>
          <a:custGeom>
            <a:avLst/>
            <a:gdLst/>
            <a:ahLst/>
            <a:cxnLst/>
            <a:rect l="l" t="t" r="r" b="b"/>
            <a:pathLst>
              <a:path w="4382807" h="4363674">
                <a:moveTo>
                  <a:pt x="0" y="0"/>
                </a:moveTo>
                <a:lnTo>
                  <a:pt x="4382807" y="0"/>
                </a:lnTo>
                <a:lnTo>
                  <a:pt x="4382807" y="4363674"/>
                </a:lnTo>
                <a:lnTo>
                  <a:pt x="0" y="4363674"/>
                </a:lnTo>
                <a:close/>
              </a:path>
            </a:pathLst>
          </a:custGeom>
          <a:solidFill>
            <a:srgbClr val="000000">
              <a:alpha val="0"/>
            </a:srgbClr>
          </a:solidFill>
          <a:ln/>
        </p:spPr>
      </p:sp>
      <p:sp>
        <p:nvSpPr>
          <p:cNvPr id="4" name="Text 1"/>
          <p:cNvSpPr/>
          <p:nvPr/>
        </p:nvSpPr>
        <p:spPr>
          <a:xfrm>
            <a:off x="0" y="779826"/>
            <a:ext cx="4382807" cy="436367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 name="Image 1" descr="./images\slide7_img23.jpeg">    </p:cNvPr>
          <p:cNvPicPr>
            <a:picLocks noChangeAspect="1"/>
          </p:cNvPicPr>
          <p:nvPr/>
        </p:nvPicPr>
        <p:blipFill>
          <a:blip r:embed="rId2"/>
          <a:stretch>
            <a:fillRect/>
          </a:stretch>
        </p:blipFill>
        <p:spPr>
          <a:xfrm>
            <a:off x="0" y="779826"/>
            <a:ext cx="4382807" cy="4363674"/>
          </a:xfrm>
          <a:prstGeom prst="rect">
            <a:avLst/>
          </a:prstGeom>
        </p:spPr>
      </p:pic>
      <p:pic>
        <p:nvPicPr>
          <p:cNvPr id="6" name="Image 2" descr="./images\slide7_img24.png">    </p:cNvPr>
          <p:cNvPicPr>
            <a:picLocks noChangeAspect="1"/>
          </p:cNvPicPr>
          <p:nvPr/>
        </p:nvPicPr>
        <p:blipFill>
          <a:blip r:embed="rId3"/>
          <a:stretch>
            <a:fillRect/>
          </a:stretch>
        </p:blipFill>
        <p:spPr>
          <a:xfrm>
            <a:off x="4779230" y="0"/>
            <a:ext cx="4406416" cy="4363675"/>
          </a:xfrm>
          <a:prstGeom prst="rect">
            <a:avLst/>
          </a:prstGeom>
        </p:spPr>
      </p:pic>
      <p:sp>
        <p:nvSpPr>
          <p:cNvPr id="7" name="Shape 2"/>
          <p:cNvSpPr/>
          <p:nvPr/>
        </p:nvSpPr>
        <p:spPr>
          <a:xfrm>
            <a:off x="4779230" y="0"/>
            <a:ext cx="4406416" cy="4363675"/>
          </a:xfrm>
          <a:custGeom>
            <a:avLst/>
            <a:gdLst/>
            <a:ahLst/>
            <a:cxnLst/>
            <a:rect l="l" t="t" r="r" b="b"/>
            <a:pathLst>
              <a:path w="4406416" h="4363675">
                <a:moveTo>
                  <a:pt x="0" y="0"/>
                </a:moveTo>
                <a:lnTo>
                  <a:pt x="4406416" y="0"/>
                </a:lnTo>
                <a:lnTo>
                  <a:pt x="4406416" y="4363675"/>
                </a:lnTo>
                <a:lnTo>
                  <a:pt x="0" y="4363675"/>
                </a:lnTo>
                <a:close/>
              </a:path>
            </a:pathLst>
          </a:custGeom>
          <a:solidFill>
            <a:srgbClr val="000000">
              <a:alpha val="0"/>
            </a:srgbClr>
          </a:solidFill>
          <a:ln/>
        </p:spPr>
      </p:sp>
      <p:sp>
        <p:nvSpPr>
          <p:cNvPr id="8" name="Text 3"/>
          <p:cNvSpPr/>
          <p:nvPr/>
        </p:nvSpPr>
        <p:spPr>
          <a:xfrm>
            <a:off x="4779230" y="0"/>
            <a:ext cx="4406416" cy="43636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9" name="Shape 4"/>
          <p:cNvSpPr/>
          <p:nvPr/>
        </p:nvSpPr>
        <p:spPr>
          <a:xfrm>
            <a:off x="4779230" y="-72330"/>
            <a:ext cx="4406416" cy="215875"/>
          </a:xfrm>
          <a:custGeom>
            <a:avLst/>
            <a:gdLst/>
            <a:ahLst/>
            <a:cxnLst/>
            <a:rect l="l" t="t" r="r" b="b"/>
            <a:pathLst>
              <a:path w="4406416" h="215875">
                <a:moveTo>
                  <a:pt x="0" y="0"/>
                </a:moveTo>
                <a:lnTo>
                  <a:pt x="4406416" y="0"/>
                </a:lnTo>
                <a:lnTo>
                  <a:pt x="4406416" y="215875"/>
                </a:lnTo>
                <a:lnTo>
                  <a:pt x="0" y="215875"/>
                </a:lnTo>
                <a:close/>
              </a:path>
            </a:pathLst>
          </a:custGeom>
          <a:solidFill>
            <a:srgbClr val="000000">
              <a:alpha val="0"/>
            </a:srgbClr>
          </a:solidFill>
          <a:ln/>
        </p:spPr>
      </p:sp>
      <p:sp>
        <p:nvSpPr>
          <p:cNvPr id="10" name="Text 5"/>
          <p:cNvSpPr/>
          <p:nvPr/>
        </p:nvSpPr>
        <p:spPr>
          <a:xfrm>
            <a:off x="4779230" y="-72330"/>
            <a:ext cx="4406416"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1" name="Shape 6"/>
          <p:cNvSpPr/>
          <p:nvPr/>
        </p:nvSpPr>
        <p:spPr>
          <a:xfrm>
            <a:off x="5231311" y="1417932"/>
            <a:ext cx="3502200" cy="1694111"/>
          </a:xfrm>
          <a:custGeom>
            <a:avLst/>
            <a:gdLst/>
            <a:ahLst/>
            <a:cxnLst/>
            <a:rect l="l" t="t" r="r" b="b"/>
            <a:pathLst>
              <a:path w="3502200" h="1694111">
                <a:moveTo>
                  <a:pt x="0" y="0"/>
                </a:moveTo>
                <a:lnTo>
                  <a:pt x="3502200" y="0"/>
                </a:lnTo>
                <a:lnTo>
                  <a:pt x="3502200" y="1694111"/>
                </a:lnTo>
                <a:lnTo>
                  <a:pt x="0" y="1694111"/>
                </a:lnTo>
                <a:close/>
              </a:path>
            </a:pathLst>
          </a:custGeom>
          <a:solidFill>
            <a:srgbClr val="000000">
              <a:alpha val="0"/>
            </a:srgbClr>
          </a:solidFill>
          <a:ln/>
        </p:spPr>
      </p:sp>
      <p:sp>
        <p:nvSpPr>
          <p:cNvPr id="12" name="Text 7"/>
          <p:cNvSpPr/>
          <p:nvPr/>
        </p:nvSpPr>
        <p:spPr>
          <a:xfrm>
            <a:off x="5231311" y="1417932"/>
            <a:ext cx="3502200" cy="1694111"/>
          </a:xfrm>
          <a:prstGeom prst="rect">
            <a:avLst/>
          </a:prstGeom>
          <a:noFill/>
          <a:ln/>
        </p:spPr>
        <p:txBody>
          <a:bodyPr wrap="square" rtlCol="0" anchor="t"/>
          <a:lstStyle/>
          <a:p>
            <a:pPr algn="just" indent="0" marL="0">
              <a:spcBef>
                <a:spcPts val="375"/>
              </a:spcBef>
              <a:buNone/>
            </a:pPr>
            <a:r>
              <a:rPr lang="en-US" sz="1350" dirty="0">
                <a:solidFill>
                  <a:srgbClr val="4B2683"/>
                </a:solidFill>
                <a:latin typeface="Montserrat" pitchFamily="34" charset="0"/>
                <a:ea typeface="Montserrat" pitchFamily="34" charset="-122"/>
                <a:cs typeface="Montserrat" pitchFamily="34" charset="-120"/>
              </a:rPr>
              <a:t>Nerv tizimi o'smalari davolash usullari: zamonaviy yondashuvlar va tadqiqotlar. Ushbu o'smalarni davolashda muhim metodlar, xususan, jarrohlik, radioterapiya va kimyoterapiya haqida ma'lumot beriladi. Har bir usulning afzalliklari va kamchiliklarini ko'rib chiqamiz, shuningdek, bemorlarni qo'llab-quvvatlash strategiyalari ham muhokama qilinadi.</a:t>
            </a:r>
            <a:endParaRPr lang="en-US" sz="1050" dirty="0"/>
          </a:p>
        </p:txBody>
      </p:sp>
      <p:sp>
        <p:nvSpPr>
          <p:cNvPr id="13" name="Shape 8"/>
          <p:cNvSpPr/>
          <p:nvPr/>
        </p:nvSpPr>
        <p:spPr>
          <a:xfrm>
            <a:off x="5231311" y="514350"/>
            <a:ext cx="3502251" cy="603349"/>
          </a:xfrm>
          <a:custGeom>
            <a:avLst/>
            <a:gdLst/>
            <a:ahLst/>
            <a:cxnLst/>
            <a:rect l="l" t="t" r="r" b="b"/>
            <a:pathLst>
              <a:path w="3502251" h="603349">
                <a:moveTo>
                  <a:pt x="0" y="0"/>
                </a:moveTo>
                <a:lnTo>
                  <a:pt x="3502251" y="0"/>
                </a:lnTo>
                <a:lnTo>
                  <a:pt x="3502251" y="603349"/>
                </a:lnTo>
                <a:lnTo>
                  <a:pt x="0" y="603349"/>
                </a:lnTo>
                <a:close/>
              </a:path>
            </a:pathLst>
          </a:custGeom>
          <a:solidFill>
            <a:srgbClr val="000000">
              <a:alpha val="0"/>
            </a:srgbClr>
          </a:solidFill>
          <a:ln/>
        </p:spPr>
      </p:sp>
      <p:sp>
        <p:nvSpPr>
          <p:cNvPr id="14" name="Text 9"/>
          <p:cNvSpPr/>
          <p:nvPr/>
        </p:nvSpPr>
        <p:spPr>
          <a:xfrm>
            <a:off x="5231311" y="514350"/>
            <a:ext cx="3502251" cy="603349"/>
          </a:xfrm>
          <a:prstGeom prst="rect">
            <a:avLst/>
          </a:prstGeom>
          <a:noFill/>
          <a:ln/>
        </p:spPr>
        <p:txBody>
          <a:bodyPr wrap="square" rtlCol="0" anchor="t"/>
          <a:lstStyle/>
          <a:p>
            <a:pPr algn="ctr" indent="0" marL="0">
              <a:spcBef>
                <a:spcPts val="375"/>
              </a:spcBef>
              <a:buNone/>
            </a:pPr>
            <a:r>
              <a:rPr lang="en-US" sz="3975" b="1" dirty="0">
                <a:solidFill>
                  <a:srgbClr val="4B2683"/>
                </a:solidFill>
                <a:latin typeface="Montserrat" pitchFamily="34" charset="0"/>
                <a:ea typeface="Montserrat" pitchFamily="34" charset="-122"/>
                <a:cs typeface="Montserrat" pitchFamily="34" charset="-120"/>
              </a:rPr>
              <a:t>Davolash usullari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FFF"/>
        </a:solidFill>
      </p:bgPr>
    </p:bg>
    <p:spTree>
      <p:nvGrpSpPr>
        <p:cNvPr id="1" name=""/>
        <p:cNvGrpSpPr/>
        <p:nvPr/>
      </p:nvGrpSpPr>
      <p:grpSpPr>
        <a:xfrm>
          <a:off x="0" y="0"/>
          <a:ext cx="0" cy="0"/>
          <a:chOff x="0" y="0"/>
          <a:chExt cx="0" cy="0"/>
        </a:xfrm>
      </p:grpSpPr>
      <p:sp>
        <p:nvSpPr>
          <p:cNvPr id="2" name="Shape 0"/>
          <p:cNvSpPr/>
          <p:nvPr/>
        </p:nvSpPr>
        <p:spPr>
          <a:xfrm>
            <a:off x="780906" y="421608"/>
            <a:ext cx="8044457" cy="352425"/>
          </a:xfrm>
          <a:custGeom>
            <a:avLst/>
            <a:gdLst/>
            <a:ahLst/>
            <a:cxnLst/>
            <a:rect l="l" t="t" r="r" b="b"/>
            <a:pathLst>
              <a:path w="8044457" h="352425">
                <a:moveTo>
                  <a:pt x="0" y="0"/>
                </a:moveTo>
                <a:lnTo>
                  <a:pt x="8044457" y="0"/>
                </a:lnTo>
                <a:lnTo>
                  <a:pt x="8044457" y="352425"/>
                </a:lnTo>
                <a:lnTo>
                  <a:pt x="0" y="352425"/>
                </a:lnTo>
                <a:close/>
              </a:path>
            </a:pathLst>
          </a:custGeom>
          <a:solidFill>
            <a:srgbClr val="000000">
              <a:alpha val="0"/>
            </a:srgbClr>
          </a:solidFill>
          <a:ln/>
        </p:spPr>
      </p:sp>
      <p:sp>
        <p:nvSpPr>
          <p:cNvPr id="3" name="Text 1"/>
          <p:cNvSpPr/>
          <p:nvPr/>
        </p:nvSpPr>
        <p:spPr>
          <a:xfrm>
            <a:off x="780906" y="421608"/>
            <a:ext cx="8044457" cy="352425"/>
          </a:xfrm>
          <a:prstGeom prst="rect">
            <a:avLst/>
          </a:prstGeom>
          <a:noFill/>
          <a:ln/>
        </p:spPr>
        <p:txBody>
          <a:bodyPr wrap="square" rtlCol="0" anchor="t"/>
          <a:lstStyle/>
          <a:p>
            <a:pPr algn="ctr" indent="0" marL="0">
              <a:spcBef>
                <a:spcPts val="375"/>
              </a:spcBef>
              <a:buNone/>
            </a:pPr>
            <a:r>
              <a:rPr lang="en-US" sz="2025" dirty="0">
                <a:solidFill>
                  <a:srgbClr val="333333"/>
                </a:solidFill>
                <a:latin typeface="微软雅黑" pitchFamily="34" charset="0"/>
                <a:ea typeface="微软雅黑" pitchFamily="34" charset="-122"/>
                <a:cs typeface="微软雅黑" pitchFamily="34" charset="-120"/>
              </a:rPr>
              <a:t>Ta'sirlar va Ularning Ta'siri</a:t>
            </a:r>
            <a:endParaRPr lang="en-US" sz="1050" dirty="0"/>
          </a:p>
        </p:txBody>
      </p:sp>
      <p:sp>
        <p:nvSpPr>
          <p:cNvPr id="4" name="Shape 2"/>
          <p:cNvSpPr/>
          <p:nvPr/>
        </p:nvSpPr>
        <p:spPr>
          <a:xfrm>
            <a:off x="4883978" y="44201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5" name="Text 3"/>
          <p:cNvSpPr/>
          <p:nvPr/>
        </p:nvSpPr>
        <p:spPr>
          <a:xfrm>
            <a:off x="4883978" y="44201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6" name="Image 0" descr="./images\slide5_img15.png">    </p:cNvPr>
          <p:cNvPicPr>
            <a:picLocks noChangeAspect="1"/>
          </p:cNvPicPr>
          <p:nvPr/>
        </p:nvPicPr>
        <p:blipFill>
          <a:blip r:embed="rId1"/>
          <a:stretch>
            <a:fillRect/>
          </a:stretch>
        </p:blipFill>
        <p:spPr>
          <a:xfrm>
            <a:off x="4883978" y="1473522"/>
            <a:ext cx="3745672" cy="3105805"/>
          </a:xfrm>
          <a:prstGeom prst="rect">
            <a:avLst/>
          </a:prstGeom>
        </p:spPr>
      </p:pic>
      <p:sp>
        <p:nvSpPr>
          <p:cNvPr id="7" name="Shape 4"/>
          <p:cNvSpPr/>
          <p:nvPr/>
        </p:nvSpPr>
        <p:spPr>
          <a:xfrm>
            <a:off x="4883978" y="1473522"/>
            <a:ext cx="3745672" cy="3105805"/>
          </a:xfrm>
          <a:custGeom>
            <a:avLst/>
            <a:gdLst/>
            <a:ahLst/>
            <a:cxnLst/>
            <a:rect l="l" t="t" r="r" b="b"/>
            <a:pathLst>
              <a:path w="3745672" h="3105805">
                <a:moveTo>
                  <a:pt x="0" y="0"/>
                </a:moveTo>
                <a:lnTo>
                  <a:pt x="3745672" y="0"/>
                </a:lnTo>
                <a:lnTo>
                  <a:pt x="3745672" y="3105805"/>
                </a:lnTo>
                <a:lnTo>
                  <a:pt x="0" y="3105805"/>
                </a:lnTo>
                <a:close/>
              </a:path>
            </a:pathLst>
          </a:custGeom>
          <a:solidFill>
            <a:srgbClr val="000000">
              <a:alpha val="0"/>
            </a:srgbClr>
          </a:solidFill>
          <a:ln/>
        </p:spPr>
      </p:sp>
      <p:sp>
        <p:nvSpPr>
          <p:cNvPr id="8" name="Text 5"/>
          <p:cNvSpPr/>
          <p:nvPr/>
        </p:nvSpPr>
        <p:spPr>
          <a:xfrm>
            <a:off x="4883978" y="1473522"/>
            <a:ext cx="3745672" cy="310580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9" name="Shape 6"/>
          <p:cNvSpPr/>
          <p:nvPr/>
        </p:nvSpPr>
        <p:spPr>
          <a:xfrm>
            <a:off x="4883978" y="2570772"/>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0" name="Text 7"/>
          <p:cNvSpPr/>
          <p:nvPr/>
        </p:nvSpPr>
        <p:spPr>
          <a:xfrm>
            <a:off x="4883978" y="2570772"/>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pic>
        <p:nvPicPr>
          <p:cNvPr id="11" name="Image 1" descr="./images\slide5_img16.png">    </p:cNvPr>
          <p:cNvPicPr>
            <a:picLocks noChangeAspect="1"/>
          </p:cNvPicPr>
          <p:nvPr/>
        </p:nvPicPr>
        <p:blipFill>
          <a:blip r:embed="rId2"/>
          <a:stretch>
            <a:fillRect/>
          </a:stretch>
        </p:blipFill>
        <p:spPr>
          <a:xfrm>
            <a:off x="597048" y="1436633"/>
            <a:ext cx="3745672" cy="3142694"/>
          </a:xfrm>
          <a:prstGeom prst="rect">
            <a:avLst/>
          </a:prstGeom>
        </p:spPr>
      </p:pic>
      <p:sp>
        <p:nvSpPr>
          <p:cNvPr id="12" name="Shape 8"/>
          <p:cNvSpPr/>
          <p:nvPr/>
        </p:nvSpPr>
        <p:spPr>
          <a:xfrm>
            <a:off x="597048" y="1436633"/>
            <a:ext cx="3745672" cy="3142694"/>
          </a:xfrm>
          <a:custGeom>
            <a:avLst/>
            <a:gdLst/>
            <a:ahLst/>
            <a:cxnLst/>
            <a:rect l="l" t="t" r="r" b="b"/>
            <a:pathLst>
              <a:path w="3745672" h="3142694">
                <a:moveTo>
                  <a:pt x="0" y="0"/>
                </a:moveTo>
                <a:lnTo>
                  <a:pt x="3745672" y="0"/>
                </a:lnTo>
                <a:lnTo>
                  <a:pt x="3745672" y="3142694"/>
                </a:lnTo>
                <a:lnTo>
                  <a:pt x="0" y="3142694"/>
                </a:lnTo>
                <a:close/>
              </a:path>
            </a:pathLst>
          </a:custGeom>
          <a:solidFill>
            <a:srgbClr val="000000">
              <a:alpha val="0"/>
            </a:srgbClr>
          </a:solidFill>
          <a:ln/>
        </p:spPr>
      </p:sp>
      <p:sp>
        <p:nvSpPr>
          <p:cNvPr id="13" name="Text 9"/>
          <p:cNvSpPr/>
          <p:nvPr/>
        </p:nvSpPr>
        <p:spPr>
          <a:xfrm>
            <a:off x="597048" y="1436633"/>
            <a:ext cx="3745672" cy="314269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14" name="Shape 10"/>
          <p:cNvSpPr/>
          <p:nvPr/>
        </p:nvSpPr>
        <p:spPr>
          <a:xfrm>
            <a:off x="597048" y="1436633"/>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5" name="Text 11"/>
          <p:cNvSpPr/>
          <p:nvPr/>
        </p:nvSpPr>
        <p:spPr>
          <a:xfrm>
            <a:off x="597048" y="1436633"/>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6" name="Shape 12"/>
          <p:cNvSpPr/>
          <p:nvPr/>
        </p:nvSpPr>
        <p:spPr>
          <a:xfrm>
            <a:off x="4883978" y="363514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7" name="Text 13"/>
          <p:cNvSpPr/>
          <p:nvPr/>
        </p:nvSpPr>
        <p:spPr>
          <a:xfrm>
            <a:off x="4883978" y="363514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8" name="Shape 14"/>
          <p:cNvSpPr/>
          <p:nvPr/>
        </p:nvSpPr>
        <p:spPr>
          <a:xfrm>
            <a:off x="514350" y="3635149"/>
            <a:ext cx="3745672" cy="215875"/>
          </a:xfrm>
          <a:custGeom>
            <a:avLst/>
            <a:gdLst/>
            <a:ahLst/>
            <a:cxnLst/>
            <a:rect l="l" t="t" r="r" b="b"/>
            <a:pathLst>
              <a:path w="3745672" h="215875">
                <a:moveTo>
                  <a:pt x="0" y="0"/>
                </a:moveTo>
                <a:lnTo>
                  <a:pt x="3745672" y="0"/>
                </a:lnTo>
                <a:lnTo>
                  <a:pt x="3745672" y="215875"/>
                </a:lnTo>
                <a:lnTo>
                  <a:pt x="0" y="215875"/>
                </a:lnTo>
                <a:close/>
              </a:path>
            </a:pathLst>
          </a:custGeom>
          <a:solidFill>
            <a:srgbClr val="000000">
              <a:alpha val="0"/>
            </a:srgbClr>
          </a:solidFill>
          <a:ln/>
        </p:spPr>
      </p:sp>
      <p:sp>
        <p:nvSpPr>
          <p:cNvPr id="19" name="Text 15"/>
          <p:cNvSpPr/>
          <p:nvPr/>
        </p:nvSpPr>
        <p:spPr>
          <a:xfrm>
            <a:off x="514350" y="3635149"/>
            <a:ext cx="3745672"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20" name="Shape 16"/>
          <p:cNvSpPr/>
          <p:nvPr/>
        </p:nvSpPr>
        <p:spPr>
          <a:xfrm>
            <a:off x="822498" y="1723717"/>
            <a:ext cx="3377471" cy="2226841"/>
          </a:xfrm>
          <a:custGeom>
            <a:avLst/>
            <a:gdLst/>
            <a:ahLst/>
            <a:cxnLst/>
            <a:rect l="l" t="t" r="r" b="b"/>
            <a:pathLst>
              <a:path w="3377471" h="2226841">
                <a:moveTo>
                  <a:pt x="0" y="0"/>
                </a:moveTo>
                <a:lnTo>
                  <a:pt x="3377471" y="0"/>
                </a:lnTo>
                <a:lnTo>
                  <a:pt x="3377471" y="2226841"/>
                </a:lnTo>
                <a:lnTo>
                  <a:pt x="0" y="2226841"/>
                </a:lnTo>
                <a:close/>
              </a:path>
            </a:pathLst>
          </a:custGeom>
          <a:solidFill>
            <a:srgbClr val="000000">
              <a:alpha val="0"/>
            </a:srgbClr>
          </a:solidFill>
          <a:ln/>
        </p:spPr>
      </p:sp>
      <p:sp>
        <p:nvSpPr>
          <p:cNvPr id="21" name="Text 17"/>
          <p:cNvSpPr/>
          <p:nvPr/>
        </p:nvSpPr>
        <p:spPr>
          <a:xfrm>
            <a:off x="822498" y="1723717"/>
            <a:ext cx="3377471" cy="2226841"/>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Ta'sirlar, inson hayoti va jamiyatda muhim rol o'ynaydi. Ular bizning fikrlarimiz, his-tuyg'ularimiz va qarorlarimizga ta'sir qiladi. Har bir inson o'z atrofidagi muhitdan ta'sirlanadi, bu esa ijtimoiy o'zgarishlarga olib keladi. Ta'sirlar ijtimoiy normativlar, madaniyat va shaxsiy tajribalar orqali shakllanadi. Shuning uchun, ularni tushunish va tahlil qilish muhimdir.</a:t>
            </a:r>
            <a:endParaRPr lang="en-US" sz="1050" dirty="0"/>
          </a:p>
        </p:txBody>
      </p:sp>
      <p:sp>
        <p:nvSpPr>
          <p:cNvPr id="22" name="Shape 18"/>
          <p:cNvSpPr/>
          <p:nvPr/>
        </p:nvSpPr>
        <p:spPr>
          <a:xfrm>
            <a:off x="5168499" y="1652508"/>
            <a:ext cx="3330215" cy="2493318"/>
          </a:xfrm>
          <a:custGeom>
            <a:avLst/>
            <a:gdLst/>
            <a:ahLst/>
            <a:cxnLst/>
            <a:rect l="l" t="t" r="r" b="b"/>
            <a:pathLst>
              <a:path w="3330215" h="2493318">
                <a:moveTo>
                  <a:pt x="0" y="0"/>
                </a:moveTo>
                <a:lnTo>
                  <a:pt x="3330215" y="0"/>
                </a:lnTo>
                <a:lnTo>
                  <a:pt x="3330215" y="2493318"/>
                </a:lnTo>
                <a:lnTo>
                  <a:pt x="0" y="2493318"/>
                </a:lnTo>
                <a:close/>
              </a:path>
            </a:pathLst>
          </a:custGeom>
          <a:solidFill>
            <a:srgbClr val="000000">
              <a:alpha val="0"/>
            </a:srgbClr>
          </a:solidFill>
          <a:ln/>
        </p:spPr>
      </p:sp>
      <p:sp>
        <p:nvSpPr>
          <p:cNvPr id="23" name="Text 19"/>
          <p:cNvSpPr/>
          <p:nvPr/>
        </p:nvSpPr>
        <p:spPr>
          <a:xfrm>
            <a:off x="5168499" y="1652508"/>
            <a:ext cx="3330215" cy="2493318"/>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Ta'sirlarning turlari:- Ijtimoiy ta'sir- Madaniy ta'sir- O'z-o'zini ta'sir etish- Psixologik ta'sir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B2683"/>
        </a:solidFill>
      </p:bgPr>
    </p:bg>
    <p:spTree>
      <p:nvGrpSpPr>
        <p:cNvPr id="1" name=""/>
        <p:cNvGrpSpPr/>
        <p:nvPr/>
      </p:nvGrpSpPr>
      <p:grpSpPr>
        <a:xfrm>
          <a:off x="0" y="0"/>
          <a:ext cx="0" cy="0"/>
          <a:chOff x="0" y="0"/>
          <a:chExt cx="0" cy="0"/>
        </a:xfrm>
      </p:grpSpPr>
      <p:pic>
        <p:nvPicPr>
          <p:cNvPr id="2" name="Image 0" descr="./images\slide8_img25.png">    </p:cNvPr>
          <p:cNvPicPr>
            <a:picLocks noChangeAspect="1"/>
          </p:cNvPicPr>
          <p:nvPr/>
        </p:nvPicPr>
        <p:blipFill>
          <a:blip r:embed="rId1"/>
          <a:stretch>
            <a:fillRect/>
          </a:stretch>
        </p:blipFill>
        <p:spPr>
          <a:xfrm>
            <a:off x="-35442" y="549792"/>
            <a:ext cx="4572000" cy="4114800"/>
          </a:xfrm>
          <a:prstGeom prst="rect">
            <a:avLst/>
          </a:prstGeom>
        </p:spPr>
      </p:pic>
      <p:sp>
        <p:nvSpPr>
          <p:cNvPr id="3" name="Shape 0"/>
          <p:cNvSpPr/>
          <p:nvPr/>
        </p:nvSpPr>
        <p:spPr>
          <a:xfrm>
            <a:off x="-35442" y="549792"/>
            <a:ext cx="4572000" cy="4114800"/>
          </a:xfrm>
          <a:custGeom>
            <a:avLst/>
            <a:gdLst/>
            <a:ahLst/>
            <a:cxnLst/>
            <a:rect l="l" t="t" r="r" b="b"/>
            <a:pathLst>
              <a:path w="4572000" h="4114800">
                <a:moveTo>
                  <a:pt x="0" y="0"/>
                </a:moveTo>
                <a:lnTo>
                  <a:pt x="4572000" y="0"/>
                </a:lnTo>
                <a:lnTo>
                  <a:pt x="4572000" y="4114800"/>
                </a:lnTo>
                <a:lnTo>
                  <a:pt x="0" y="4114800"/>
                </a:lnTo>
                <a:close/>
              </a:path>
            </a:pathLst>
          </a:custGeom>
          <a:solidFill>
            <a:srgbClr val="000000">
              <a:alpha val="0"/>
            </a:srgbClr>
          </a:solidFill>
          <a:ln/>
        </p:spPr>
      </p:sp>
      <p:sp>
        <p:nvSpPr>
          <p:cNvPr id="4" name="Text 1"/>
          <p:cNvSpPr/>
          <p:nvPr/>
        </p:nvSpPr>
        <p:spPr>
          <a:xfrm>
            <a:off x="-35442" y="549792"/>
            <a:ext cx="4572000" cy="411480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5" name="Image 1" descr="./images\slide8_img26.jpeg">    </p:cNvPr>
          <p:cNvPicPr>
            <a:picLocks noChangeAspect="1"/>
          </p:cNvPicPr>
          <p:nvPr/>
        </p:nvPicPr>
        <p:blipFill>
          <a:blip r:embed="rId2"/>
          <a:stretch>
            <a:fillRect/>
          </a:stretch>
        </p:blipFill>
        <p:spPr>
          <a:xfrm>
            <a:off x="-35442" y="549792"/>
            <a:ext cx="4572000" cy="4114800"/>
          </a:xfrm>
          <a:prstGeom prst="rect">
            <a:avLst/>
          </a:prstGeom>
        </p:spPr>
      </p:pic>
      <p:pic>
        <p:nvPicPr>
          <p:cNvPr id="6" name="Image 2" descr="./images\slide8_img27.png">    </p:cNvPr>
          <p:cNvPicPr>
            <a:picLocks noChangeAspect="1"/>
          </p:cNvPicPr>
          <p:nvPr/>
        </p:nvPicPr>
        <p:blipFill>
          <a:blip r:embed="rId3"/>
          <a:stretch>
            <a:fillRect/>
          </a:stretch>
        </p:blipFill>
        <p:spPr>
          <a:xfrm>
            <a:off x="4572000" y="0"/>
            <a:ext cx="4572000" cy="5143500"/>
          </a:xfrm>
          <a:prstGeom prst="rect">
            <a:avLst/>
          </a:prstGeom>
        </p:spPr>
      </p:pic>
      <p:sp>
        <p:nvSpPr>
          <p:cNvPr id="7" name="Shape 2"/>
          <p:cNvSpPr/>
          <p:nvPr/>
        </p:nvSpPr>
        <p:spPr>
          <a:xfrm>
            <a:off x="4572000" y="0"/>
            <a:ext cx="4572000" cy="5143500"/>
          </a:xfrm>
          <a:custGeom>
            <a:avLst/>
            <a:gdLst/>
            <a:ahLst/>
            <a:cxnLst/>
            <a:rect l="l" t="t" r="r" b="b"/>
            <a:pathLst>
              <a:path w="4572000" h="5143500">
                <a:moveTo>
                  <a:pt x="0" y="0"/>
                </a:moveTo>
                <a:lnTo>
                  <a:pt x="4572000" y="0"/>
                </a:lnTo>
                <a:lnTo>
                  <a:pt x="4572000" y="5143500"/>
                </a:lnTo>
                <a:lnTo>
                  <a:pt x="0" y="5143500"/>
                </a:lnTo>
                <a:close/>
              </a:path>
            </a:pathLst>
          </a:custGeom>
          <a:solidFill>
            <a:srgbClr val="000000">
              <a:alpha val="0"/>
            </a:srgbClr>
          </a:solidFill>
          <a:ln/>
        </p:spPr>
      </p:sp>
      <p:sp>
        <p:nvSpPr>
          <p:cNvPr id="8" name="Text 3"/>
          <p:cNvSpPr/>
          <p:nvPr/>
        </p:nvSpPr>
        <p:spPr>
          <a:xfrm>
            <a:off x="4572000" y="0"/>
            <a:ext cx="4572000" cy="514350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9" name="Shape 4"/>
          <p:cNvSpPr/>
          <p:nvPr/>
        </p:nvSpPr>
        <p:spPr>
          <a:xfrm>
            <a:off x="4572000" y="-72330"/>
            <a:ext cx="4572000" cy="215875"/>
          </a:xfrm>
          <a:custGeom>
            <a:avLst/>
            <a:gdLst/>
            <a:ahLst/>
            <a:cxnLst/>
            <a:rect l="l" t="t" r="r" b="b"/>
            <a:pathLst>
              <a:path w="4572000" h="215875">
                <a:moveTo>
                  <a:pt x="0" y="0"/>
                </a:moveTo>
                <a:lnTo>
                  <a:pt x="4572000" y="0"/>
                </a:lnTo>
                <a:lnTo>
                  <a:pt x="4572000" y="215875"/>
                </a:lnTo>
                <a:lnTo>
                  <a:pt x="0" y="215875"/>
                </a:lnTo>
                <a:close/>
              </a:path>
            </a:pathLst>
          </a:custGeom>
          <a:solidFill>
            <a:srgbClr val="000000">
              <a:alpha val="0"/>
            </a:srgbClr>
          </a:solidFill>
          <a:ln/>
        </p:spPr>
      </p:sp>
      <p:sp>
        <p:nvSpPr>
          <p:cNvPr id="10" name="Text 5"/>
          <p:cNvSpPr/>
          <p:nvPr/>
        </p:nvSpPr>
        <p:spPr>
          <a:xfrm>
            <a:off x="4572000" y="-72330"/>
            <a:ext cx="45720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1" name="Shape 6"/>
          <p:cNvSpPr/>
          <p:nvPr/>
        </p:nvSpPr>
        <p:spPr>
          <a:xfrm>
            <a:off x="5060047" y="1914990"/>
            <a:ext cx="3648450" cy="1694111"/>
          </a:xfrm>
          <a:custGeom>
            <a:avLst/>
            <a:gdLst/>
            <a:ahLst/>
            <a:cxnLst/>
            <a:rect l="l" t="t" r="r" b="b"/>
            <a:pathLst>
              <a:path w="3648450" h="1694111">
                <a:moveTo>
                  <a:pt x="0" y="0"/>
                </a:moveTo>
                <a:lnTo>
                  <a:pt x="3648450" y="0"/>
                </a:lnTo>
                <a:lnTo>
                  <a:pt x="3648450" y="1694111"/>
                </a:lnTo>
                <a:lnTo>
                  <a:pt x="0" y="1694111"/>
                </a:lnTo>
                <a:close/>
              </a:path>
            </a:pathLst>
          </a:custGeom>
          <a:solidFill>
            <a:srgbClr val="000000">
              <a:alpha val="0"/>
            </a:srgbClr>
          </a:solidFill>
          <a:ln/>
        </p:spPr>
      </p:sp>
      <p:sp>
        <p:nvSpPr>
          <p:cNvPr id="12" name="Text 7"/>
          <p:cNvSpPr/>
          <p:nvPr/>
        </p:nvSpPr>
        <p:spPr>
          <a:xfrm>
            <a:off x="5060047" y="1914990"/>
            <a:ext cx="3648450" cy="1694111"/>
          </a:xfrm>
          <a:prstGeom prst="rect">
            <a:avLst/>
          </a:prstGeom>
          <a:noFill/>
          <a:ln/>
        </p:spPr>
        <p:txBody>
          <a:bodyPr wrap="square" rtlCol="0" anchor="t"/>
          <a:lstStyle/>
          <a:p>
            <a:pPr algn="just" indent="0" marL="0">
              <a:spcBef>
                <a:spcPts val="375"/>
              </a:spcBef>
              <a:buNone/>
            </a:pPr>
            <a:r>
              <a:rPr lang="en-US" sz="1350" dirty="0">
                <a:solidFill>
                  <a:srgbClr val="4B2683"/>
                </a:solidFill>
                <a:latin typeface="Montserrat" pitchFamily="34" charset="0"/>
                <a:ea typeface="Montserrat" pitchFamily="34" charset="-122"/>
                <a:cs typeface="Montserrat" pitchFamily="34" charset="-120"/>
              </a:rPr>
              <a:t>Nerv tizimi o'smalari, asosan, nerv hujayralaridan yoki ularning atrofidagi tuzilmalaridan kelib chiqadi. Ushbu o'smalar benign (yaxshi) yoki malignant (yomon) bo'lishi mumkin. Nerv tizimida o'smalar ko'plab alomatlar bilan kechishi mumkin, jumladan bosh og'rig'i, boshqa hislarni yo'qotish va harakatlarining cheklanishi. Diagnostika asosan tasviriy tekshirish usullari, masalan, MRT yoki KT yordamida amalga oshiriladi. Davolash usullari o'smaning turiga va joylashuviga qarab, jarrohlik, kimyoviy terapiya yoki nurlantirish kabi usullarni o'z ichiga oladi. O'smalarni erta aniqlash va davolash hayotni saqlab qolish uchun juda muhimdir.</a:t>
            </a:r>
            <a:endParaRPr lang="en-US" sz="1050" dirty="0"/>
          </a:p>
        </p:txBody>
      </p:sp>
      <p:sp>
        <p:nvSpPr>
          <p:cNvPr id="13" name="Shape 8"/>
          <p:cNvSpPr/>
          <p:nvPr/>
        </p:nvSpPr>
        <p:spPr>
          <a:xfrm>
            <a:off x="5007440" y="1011408"/>
            <a:ext cx="3648512" cy="603349"/>
          </a:xfrm>
          <a:custGeom>
            <a:avLst/>
            <a:gdLst/>
            <a:ahLst/>
            <a:cxnLst/>
            <a:rect l="l" t="t" r="r" b="b"/>
            <a:pathLst>
              <a:path w="3648512" h="603349">
                <a:moveTo>
                  <a:pt x="0" y="0"/>
                </a:moveTo>
                <a:lnTo>
                  <a:pt x="3648512" y="0"/>
                </a:lnTo>
                <a:lnTo>
                  <a:pt x="3648512" y="603349"/>
                </a:lnTo>
                <a:lnTo>
                  <a:pt x="0" y="603349"/>
                </a:lnTo>
                <a:close/>
              </a:path>
            </a:pathLst>
          </a:custGeom>
          <a:solidFill>
            <a:srgbClr val="000000">
              <a:alpha val="0"/>
            </a:srgbClr>
          </a:solidFill>
          <a:ln/>
        </p:spPr>
      </p:sp>
      <p:sp>
        <p:nvSpPr>
          <p:cNvPr id="14" name="Text 9"/>
          <p:cNvSpPr/>
          <p:nvPr/>
        </p:nvSpPr>
        <p:spPr>
          <a:xfrm>
            <a:off x="5007440" y="1011408"/>
            <a:ext cx="3648512" cy="603349"/>
          </a:xfrm>
          <a:prstGeom prst="rect">
            <a:avLst/>
          </a:prstGeom>
          <a:noFill/>
          <a:ln/>
        </p:spPr>
        <p:txBody>
          <a:bodyPr wrap="square" rtlCol="0" anchor="t"/>
          <a:lstStyle/>
          <a:p>
            <a:pPr algn="ctr" indent="0" marL="0">
              <a:spcBef>
                <a:spcPts val="375"/>
              </a:spcBef>
              <a:buNone/>
            </a:pPr>
            <a:r>
              <a:rPr lang="en-US" sz="3975" b="1" dirty="0">
                <a:solidFill>
                  <a:srgbClr val="4B2683"/>
                </a:solidFill>
                <a:latin typeface="Montserrat" pitchFamily="34" charset="0"/>
                <a:ea typeface="Montserrat" pitchFamily="34" charset="-122"/>
                <a:cs typeface="Montserrat" pitchFamily="34" charset="-120"/>
              </a:rPr>
              <a:t>XULOSA</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FFF"/>
        </a:solidFill>
      </p:bgPr>
    </p:bg>
    <p:spTree>
      <p:nvGrpSpPr>
        <p:cNvPr id="1" name=""/>
        <p:cNvGrpSpPr/>
        <p:nvPr/>
      </p:nvGrpSpPr>
      <p:grpSpPr>
        <a:xfrm>
          <a:off x="0" y="0"/>
          <a:ext cx="0" cy="0"/>
          <a:chOff x="0" y="0"/>
          <a:chExt cx="0" cy="0"/>
        </a:xfrm>
      </p:grpSpPr>
      <p:pic>
        <p:nvPicPr>
          <p:cNvPr id="2" name="Image 0" descr="./images\slide9_img28.png">    </p:cNvPr>
          <p:cNvPicPr>
            <a:picLocks noChangeAspect="1"/>
          </p:cNvPicPr>
          <p:nvPr/>
        </p:nvPicPr>
        <p:blipFill>
          <a:blip r:embed="rId1"/>
          <a:stretch>
            <a:fillRect/>
          </a:stretch>
        </p:blipFill>
        <p:spPr>
          <a:xfrm>
            <a:off x="514350" y="514350"/>
            <a:ext cx="8115300" cy="980755"/>
          </a:xfrm>
          <a:prstGeom prst="rect">
            <a:avLst/>
          </a:prstGeom>
        </p:spPr>
      </p:pic>
      <p:sp>
        <p:nvSpPr>
          <p:cNvPr id="3" name="Shape 0"/>
          <p:cNvSpPr/>
          <p:nvPr/>
        </p:nvSpPr>
        <p:spPr>
          <a:xfrm>
            <a:off x="514350" y="514350"/>
            <a:ext cx="8115300" cy="980755"/>
          </a:xfrm>
          <a:custGeom>
            <a:avLst/>
            <a:gdLst/>
            <a:ahLst/>
            <a:cxnLst/>
            <a:rect l="l" t="t" r="r" b="b"/>
            <a:pathLst>
              <a:path w="8115300" h="980755">
                <a:moveTo>
                  <a:pt x="0" y="0"/>
                </a:moveTo>
                <a:lnTo>
                  <a:pt x="8115300" y="0"/>
                </a:lnTo>
                <a:lnTo>
                  <a:pt x="8115300" y="980755"/>
                </a:lnTo>
                <a:lnTo>
                  <a:pt x="0" y="980755"/>
                </a:lnTo>
                <a:close/>
              </a:path>
            </a:pathLst>
          </a:custGeom>
          <a:solidFill>
            <a:srgbClr val="000000">
              <a:alpha val="0"/>
            </a:srgbClr>
          </a:solidFill>
          <a:ln/>
        </p:spPr>
      </p:sp>
      <p:sp>
        <p:nvSpPr>
          <p:cNvPr id="4" name="Text 1"/>
          <p:cNvSpPr/>
          <p:nvPr/>
        </p:nvSpPr>
        <p:spPr>
          <a:xfrm>
            <a:off x="514350" y="514350"/>
            <a:ext cx="8115300" cy="9807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 name="Shape 2"/>
          <p:cNvSpPr/>
          <p:nvPr/>
        </p:nvSpPr>
        <p:spPr>
          <a:xfrm>
            <a:off x="514350" y="442019"/>
            <a:ext cx="8115300" cy="215875"/>
          </a:xfrm>
          <a:custGeom>
            <a:avLst/>
            <a:gdLst/>
            <a:ahLst/>
            <a:cxnLst/>
            <a:rect l="l" t="t" r="r" b="b"/>
            <a:pathLst>
              <a:path w="8115300" h="215875">
                <a:moveTo>
                  <a:pt x="0" y="0"/>
                </a:moveTo>
                <a:lnTo>
                  <a:pt x="8115300" y="0"/>
                </a:lnTo>
                <a:lnTo>
                  <a:pt x="8115300" y="215875"/>
                </a:lnTo>
                <a:lnTo>
                  <a:pt x="0" y="215875"/>
                </a:lnTo>
                <a:close/>
              </a:path>
            </a:pathLst>
          </a:custGeom>
          <a:solidFill>
            <a:srgbClr val="000000">
              <a:alpha val="0"/>
            </a:srgbClr>
          </a:solidFill>
          <a:ln/>
        </p:spPr>
      </p:sp>
      <p:sp>
        <p:nvSpPr>
          <p:cNvPr id="6" name="Text 3"/>
          <p:cNvSpPr/>
          <p:nvPr/>
        </p:nvSpPr>
        <p:spPr>
          <a:xfrm>
            <a:off x="514350" y="442019"/>
            <a:ext cx="81153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7" name="Shape 4"/>
          <p:cNvSpPr/>
          <p:nvPr/>
        </p:nvSpPr>
        <p:spPr>
          <a:xfrm>
            <a:off x="514350" y="782477"/>
            <a:ext cx="8115300" cy="603349"/>
          </a:xfrm>
          <a:custGeom>
            <a:avLst/>
            <a:gdLst/>
            <a:ahLst/>
            <a:cxnLst/>
            <a:rect l="l" t="t" r="r" b="b"/>
            <a:pathLst>
              <a:path w="8115300" h="603349">
                <a:moveTo>
                  <a:pt x="0" y="0"/>
                </a:moveTo>
                <a:lnTo>
                  <a:pt x="8115300" y="0"/>
                </a:lnTo>
                <a:lnTo>
                  <a:pt x="8115300" y="603349"/>
                </a:lnTo>
                <a:lnTo>
                  <a:pt x="0" y="603349"/>
                </a:lnTo>
                <a:close/>
              </a:path>
            </a:pathLst>
          </a:custGeom>
          <a:solidFill>
            <a:srgbClr val="000000">
              <a:alpha val="0"/>
            </a:srgbClr>
          </a:solidFill>
          <a:ln/>
        </p:spPr>
      </p:sp>
      <p:sp>
        <p:nvSpPr>
          <p:cNvPr id="8" name="Text 5"/>
          <p:cNvSpPr/>
          <p:nvPr/>
        </p:nvSpPr>
        <p:spPr>
          <a:xfrm>
            <a:off x="514350" y="782477"/>
            <a:ext cx="8115300" cy="603349"/>
          </a:xfrm>
          <a:prstGeom prst="rect">
            <a:avLst/>
          </a:prstGeom>
          <a:noFill/>
          <a:ln/>
        </p:spPr>
        <p:txBody>
          <a:bodyPr wrap="square" rtlCol="0" anchor="t"/>
          <a:lstStyle/>
          <a:p>
            <a:pPr algn="ctr" indent="0" marL="0">
              <a:spcBef>
                <a:spcPts val="375"/>
              </a:spcBef>
              <a:buNone/>
            </a:pPr>
            <a:r>
              <a:rPr lang="en-US" sz="3975" b="1" dirty="0">
                <a:solidFill>
                  <a:srgbClr val="FFFFFF"/>
                </a:solidFill>
                <a:latin typeface="Montserrat" pitchFamily="34" charset="0"/>
                <a:ea typeface="Montserrat" pitchFamily="34" charset="-122"/>
                <a:cs typeface="Montserrat" pitchFamily="34" charset="-120"/>
              </a:rPr>
              <a:t>Foydalanilgan adabiyotlar</a:t>
            </a:r>
            <a:endParaRPr lang="en-US" sz="1050" dirty="0"/>
          </a:p>
        </p:txBody>
      </p:sp>
      <p:pic>
        <p:nvPicPr>
          <p:cNvPr id="9" name="Image 1" descr="./images\slide9_img29.png">    </p:cNvPr>
          <p:cNvPicPr>
            <a:picLocks noChangeAspect="1"/>
          </p:cNvPicPr>
          <p:nvPr/>
        </p:nvPicPr>
        <p:blipFill>
          <a:blip r:embed="rId2"/>
          <a:stretch>
            <a:fillRect/>
          </a:stretch>
        </p:blipFill>
        <p:spPr>
          <a:xfrm>
            <a:off x="514350" y="1638940"/>
            <a:ext cx="8115300" cy="2990210"/>
          </a:xfrm>
          <a:prstGeom prst="rect">
            <a:avLst/>
          </a:prstGeom>
        </p:spPr>
      </p:pic>
      <p:sp>
        <p:nvSpPr>
          <p:cNvPr id="10" name="Shape 6"/>
          <p:cNvSpPr/>
          <p:nvPr/>
        </p:nvSpPr>
        <p:spPr>
          <a:xfrm>
            <a:off x="514350" y="1638940"/>
            <a:ext cx="8115300" cy="2990210"/>
          </a:xfrm>
          <a:custGeom>
            <a:avLst/>
            <a:gdLst/>
            <a:ahLst/>
            <a:cxnLst/>
            <a:rect l="l" t="t" r="r" b="b"/>
            <a:pathLst>
              <a:path w="8115300" h="2990210">
                <a:moveTo>
                  <a:pt x="0" y="0"/>
                </a:moveTo>
                <a:lnTo>
                  <a:pt x="8115300" y="0"/>
                </a:lnTo>
                <a:lnTo>
                  <a:pt x="8115300" y="2990210"/>
                </a:lnTo>
                <a:lnTo>
                  <a:pt x="0" y="2990210"/>
                </a:lnTo>
                <a:close/>
              </a:path>
            </a:pathLst>
          </a:custGeom>
          <a:solidFill>
            <a:srgbClr val="000000">
              <a:alpha val="0"/>
            </a:srgbClr>
          </a:solidFill>
          <a:ln/>
        </p:spPr>
      </p:sp>
      <p:sp>
        <p:nvSpPr>
          <p:cNvPr id="11" name="Text 7"/>
          <p:cNvSpPr/>
          <p:nvPr/>
        </p:nvSpPr>
        <p:spPr>
          <a:xfrm>
            <a:off x="514350" y="1638940"/>
            <a:ext cx="8115300" cy="29902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12" name="Shape 8"/>
          <p:cNvSpPr/>
          <p:nvPr/>
        </p:nvSpPr>
        <p:spPr>
          <a:xfrm>
            <a:off x="514350" y="1566609"/>
            <a:ext cx="8115300" cy="215875"/>
          </a:xfrm>
          <a:custGeom>
            <a:avLst/>
            <a:gdLst/>
            <a:ahLst/>
            <a:cxnLst/>
            <a:rect l="l" t="t" r="r" b="b"/>
            <a:pathLst>
              <a:path w="8115300" h="215875">
                <a:moveTo>
                  <a:pt x="0" y="0"/>
                </a:moveTo>
                <a:lnTo>
                  <a:pt x="8115300" y="0"/>
                </a:lnTo>
                <a:lnTo>
                  <a:pt x="8115300" y="215875"/>
                </a:lnTo>
                <a:lnTo>
                  <a:pt x="0" y="215875"/>
                </a:lnTo>
                <a:close/>
              </a:path>
            </a:pathLst>
          </a:custGeom>
          <a:solidFill>
            <a:srgbClr val="000000">
              <a:alpha val="0"/>
            </a:srgbClr>
          </a:solidFill>
          <a:ln/>
        </p:spPr>
      </p:sp>
      <p:sp>
        <p:nvSpPr>
          <p:cNvPr id="13" name="Text 9"/>
          <p:cNvSpPr/>
          <p:nvPr/>
        </p:nvSpPr>
        <p:spPr>
          <a:xfrm>
            <a:off x="514350" y="1566609"/>
            <a:ext cx="8115300" cy="215875"/>
          </a:xfrm>
          <a:prstGeom prst="rect">
            <a:avLst/>
          </a:prstGeom>
          <a:noFill/>
          <a:ln/>
        </p:spPr>
        <p:txBody>
          <a:bodyPr wrap="square" rtlCol="0" anchor="t"/>
          <a:lstStyle/>
          <a:p>
            <a:pPr algn="ctr" indent="0" marL="0">
              <a:spcBef>
                <a:spcPts val="375"/>
              </a:spcBef>
              <a:buNone/>
            </a:pPr>
            <a:r>
              <a:rPr lang="en-US" sz="900" dirty="0">
                <a:solidFill>
                  <a:srgbClr val="333333"/>
                </a:solidFill>
                <a:latin typeface="Arial" pitchFamily="34" charset="0"/>
                <a:ea typeface="Arial" pitchFamily="34" charset="-122"/>
                <a:cs typeface="Arial" pitchFamily="34" charset="-120"/>
              </a:rPr>
              <a:t> </a:t>
            </a:r>
            <a:endParaRPr lang="en-US" sz="1050" dirty="0"/>
          </a:p>
        </p:txBody>
      </p:sp>
      <p:sp>
        <p:nvSpPr>
          <p:cNvPr id="14" name="Shape 10"/>
          <p:cNvSpPr/>
          <p:nvPr/>
        </p:nvSpPr>
        <p:spPr>
          <a:xfrm>
            <a:off x="1011075" y="1995092"/>
            <a:ext cx="7121850" cy="474315"/>
          </a:xfrm>
          <a:custGeom>
            <a:avLst/>
            <a:gdLst/>
            <a:ahLst/>
            <a:cxnLst/>
            <a:rect l="l" t="t" r="r" b="b"/>
            <a:pathLst>
              <a:path w="7121850" h="474315">
                <a:moveTo>
                  <a:pt x="0" y="0"/>
                </a:moveTo>
                <a:lnTo>
                  <a:pt x="7121850" y="0"/>
                </a:lnTo>
                <a:lnTo>
                  <a:pt x="7121850" y="474315"/>
                </a:lnTo>
                <a:lnTo>
                  <a:pt x="0" y="474315"/>
                </a:lnTo>
                <a:close/>
              </a:path>
            </a:pathLst>
          </a:custGeom>
          <a:solidFill>
            <a:srgbClr val="000000">
              <a:alpha val="0"/>
            </a:srgbClr>
          </a:solidFill>
          <a:ln/>
        </p:spPr>
      </p:sp>
      <p:sp>
        <p:nvSpPr>
          <p:cNvPr id="15" name="Text 11"/>
          <p:cNvSpPr/>
          <p:nvPr/>
        </p:nvSpPr>
        <p:spPr>
          <a:xfrm>
            <a:off x="1011075" y="1995092"/>
            <a:ext cx="7121850" cy="474315"/>
          </a:xfrm>
          <a:prstGeom prst="rect">
            <a:avLst/>
          </a:prstGeom>
          <a:noFill/>
          <a:ln/>
        </p:spPr>
        <p:txBody>
          <a:bodyPr wrap="square" rtlCol="0" anchor="t"/>
          <a:lstStyle/>
          <a:p>
            <a:pPr algn="just" indent="0" marL="0">
              <a:spcBef>
                <a:spcPts val="375"/>
              </a:spcBef>
              <a:buNone/>
            </a:pPr>
            <a:r>
              <a:rPr lang="en-US" sz="1350" dirty="0">
                <a:solidFill>
                  <a:srgbClr val="FFFFFF"/>
                </a:solidFill>
                <a:latin typeface="Montserrat" pitchFamily="34" charset="0"/>
                <a:ea typeface="Montserrat" pitchFamily="34" charset="-122"/>
                <a:cs typeface="Montserrat" pitchFamily="34" charset="-120"/>
              </a:rPr>
              <a:t>1. Abduqodirov, A. Nerv tizimi o'smalari: Tahlil va davolash usullari. 2020. Tashkent: Ilmiy nashrlar.2. Karimov, Sh. va Xolikov, D. Nerv tizimi o'smalari va ularning klinik ko'rinishlari. 2019. Tashkent: Tibbiyot nashriyoti.3. Murodov, R. M. Nerv tizimi o'smalarida molekulyar biomarkerlar. 2021. Buxoro: Fan va texnologiya.4. Nuriddinov, E. va Davlatov, M. Nerv tizimi o'smalari: Patologik anatomiya va diagnostika. 2022. Samarqand: Oliy o'quv yurtlari.5. Qodirov, A. Nerv tizimi o'smalari patologiyasi. 2018. Toshkent: O'zbekiston tibbiyot akademiyasi.</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4B2683"/>
        </a:solidFill>
      </p:bgPr>
    </p:bg>
    <p:spTree>
      <p:nvGrpSpPr>
        <p:cNvPr id="1" name=""/>
        <p:cNvGrpSpPr/>
        <p:nvPr/>
      </p:nvGrpSpPr>
      <p:grpSpPr>
        <a:xfrm>
          <a:off x="0" y="0"/>
          <a:ext cx="0" cy="0"/>
          <a:chOff x="0" y="0"/>
          <a:chExt cx="0" cy="0"/>
        </a:xfrm>
      </p:grpSpPr>
      <p:sp>
        <p:nvSpPr>
          <p:cNvPr id="2" name="Shape 0"/>
          <p:cNvSpPr/>
          <p:nvPr/>
        </p:nvSpPr>
        <p:spPr>
          <a:xfrm>
            <a:off x="514350" y="1666875"/>
            <a:ext cx="7967551" cy="666750"/>
          </a:xfrm>
          <a:custGeom>
            <a:avLst/>
            <a:gdLst/>
            <a:ahLst/>
            <a:cxnLst/>
            <a:rect l="l" t="t" r="r" b="b"/>
            <a:pathLst>
              <a:path w="7967551" h="666750">
                <a:moveTo>
                  <a:pt x="0" y="0"/>
                </a:moveTo>
                <a:lnTo>
                  <a:pt x="7967551" y="0"/>
                </a:lnTo>
                <a:lnTo>
                  <a:pt x="7967551" y="666750"/>
                </a:lnTo>
                <a:lnTo>
                  <a:pt x="0" y="666750"/>
                </a:lnTo>
                <a:close/>
              </a:path>
            </a:pathLst>
          </a:custGeom>
          <a:solidFill>
            <a:srgbClr val="000000">
              <a:alpha val="0"/>
            </a:srgbClr>
          </a:solidFill>
          <a:ln/>
        </p:spPr>
      </p:sp>
      <p:sp>
        <p:nvSpPr>
          <p:cNvPr id="3" name="Text 1"/>
          <p:cNvSpPr/>
          <p:nvPr/>
        </p:nvSpPr>
        <p:spPr>
          <a:xfrm>
            <a:off x="514350" y="1666875"/>
            <a:ext cx="7967551" cy="666750"/>
          </a:xfrm>
          <a:prstGeom prst="rect">
            <a:avLst/>
          </a:prstGeom>
          <a:noFill/>
          <a:ln/>
        </p:spPr>
        <p:txBody>
          <a:bodyPr wrap="square" rtlCol="0" anchor="t"/>
          <a:lstStyle/>
          <a:p>
            <a:pPr algn="l" indent="0" marL="0">
              <a:spcBef>
                <a:spcPts val="375"/>
              </a:spcBef>
              <a:buNone/>
            </a:pPr>
            <a:r>
              <a:rPr lang="en-US" sz="4500" b="1" dirty="0">
                <a:solidFill>
                  <a:srgbClr val="FFFFFF"/>
                </a:solidFill>
                <a:latin typeface="Montserrat" pitchFamily="34" charset="0"/>
                <a:ea typeface="Montserrat" pitchFamily="34" charset="-122"/>
                <a:cs typeface="Montserrat" pitchFamily="34" charset="-120"/>
              </a:rPr>
              <a:t>Etiboringiz uchun rahmat</a:t>
            </a:r>
            <a:endParaRPr lang="en-US" sz="1050" dirty="0"/>
          </a:p>
        </p:txBody>
      </p:sp>
      <p:sp>
        <p:nvSpPr>
          <p:cNvPr id="4" name="Shape 2"/>
          <p:cNvSpPr/>
          <p:nvPr/>
        </p:nvSpPr>
        <p:spPr>
          <a:xfrm>
            <a:off x="0" y="0"/>
            <a:ext cx="2857500" cy="209550"/>
          </a:xfrm>
          <a:custGeom>
            <a:avLst/>
            <a:gdLst/>
            <a:ahLst/>
            <a:cxnLst/>
            <a:rect l="l" t="t" r="r" b="b"/>
            <a:pathLst>
              <a:path w="2857500" h="209550">
                <a:moveTo>
                  <a:pt x="0" y="0"/>
                </a:moveTo>
                <a:lnTo>
                  <a:pt x="2857500" y="0"/>
                </a:lnTo>
                <a:lnTo>
                  <a:pt x="2857500" y="209550"/>
                </a:lnTo>
                <a:lnTo>
                  <a:pt x="0" y="209550"/>
                </a:lnTo>
                <a:close/>
              </a:path>
            </a:pathLst>
          </a:custGeom>
          <a:solidFill>
            <a:srgbClr val="000000">
              <a:alpha val="0"/>
            </a:srgbClr>
          </a:solidFill>
          <a:ln/>
        </p:spPr>
      </p:sp>
      <p:sp>
        <p:nvSpPr>
          <p:cNvPr id="5" name="Text 3"/>
          <p:cNvSpPr/>
          <p:nvPr/>
        </p:nvSpPr>
        <p:spPr>
          <a:xfrm>
            <a:off x="0" y="0"/>
            <a:ext cx="2857500" cy="209550"/>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Etiboringiz uchun rahmat!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2025-10-03T13:40:00Z</dcterms:created>
  <dcterms:modified xsi:type="dcterms:W3CDTF">2025-10-03T13:40:00Z</dcterms:modified>
</cp:coreProperties>
</file>