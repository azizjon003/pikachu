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157305384" ContentType="image/157305384"/>
  <Default Extension="497146410" ContentType="image/497146410"/>
  <Default Extension="11577" ContentType="image/11577"/>
  <Default Extension="818876121" ContentType="image/818876121"/>
  <Default Extension="106467616" ContentType="image/106467616"/>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157305384"/><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497146410"/><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11577"/><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818876121"/><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106467616"/><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ttps://pixabay.com/get/gd490a0d0baf64ccecf2a7f1d7009a00970a79869.jpg">    </p:cNvPr>
          <p:cNvPicPr>
            <a:picLocks noChangeAspect="1"/>
          </p:cNvPicPr>
          <p:nvPr/>
        </p:nvPicPr>
        <p:blipFill>
          <a:blip r:embed="rId1"/>
          <a:stretch>
            <a:fillRect/>
          </a:stretch>
        </p:blipFill>
        <p:spPr>
          <a:xfrm>
            <a:off x="0" y="7"/>
            <a:ext cx="9144003" cy="3196845"/>
          </a:xfrm>
          <a:prstGeom prst="rect">
            <a:avLst/>
          </a:prstGeom>
        </p:spPr>
      </p:pic>
      <p:sp>
        <p:nvSpPr>
          <p:cNvPr id="3" name="Text 0"/>
          <p:cNvSpPr/>
          <p:nvPr/>
        </p:nvSpPr>
        <p:spPr>
          <a:xfrm>
            <a:off x="1346132" y="3661498"/>
            <a:ext cx="6173400" cy="11205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Mirzo Ulug‘bek</a:t>
            </a:r>
            <a:endParaRPr lang="en-US" sz="1050" dirty="0"/>
          </a:p>
        </p:txBody>
      </p:sp>
      <p:sp>
        <p:nvSpPr>
          <p:cNvPr id="4" name="Shape 1"/>
          <p:cNvSpPr/>
          <p:nvPr/>
        </p:nvSpPr>
        <p:spPr>
          <a:xfrm>
            <a:off x="3760138" y="4714875"/>
            <a:ext cx="3937205" cy="0"/>
          </a:xfrm>
          <a:custGeom>
            <a:avLst/>
            <a:gdLst/>
            <a:ahLst/>
            <a:cxnLst/>
            <a:rect l="l" t="t" r="r" b="b"/>
            <a:pathLst>
              <a:path w="3937205" h="0">
                <a:moveTo>
                  <a:pt x="0" y="0"/>
                </a:moveTo>
                <a:lnTo>
                  <a:pt x="3937205" y="0"/>
                </a:lnTo>
              </a:path>
            </a:pathLst>
          </a:custGeom>
          <a:noFill/>
          <a:ln w="19050">
            <a:solidFill>
              <a:srgbClr val="000000"/>
            </a:solidFill>
            <a:prstDash val="solid"/>
            <a:headEnd type="none"/>
            <a:tailEnd type="arrow"/>
          </a:ln>
        </p:spPr>
      </p:sp>
      <p:sp>
        <p:nvSpPr>
          <p:cNvPr id="5" name="Text 2"/>
          <p:cNvSpPr/>
          <p:nvPr/>
        </p:nvSpPr>
        <p:spPr>
          <a:xfrm>
            <a:off x="381000" y="3636663"/>
            <a:ext cx="1049480" cy="24574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800" dirty="0">
                <a:solidFill>
                  <a:srgbClr val="191919"/>
                </a:solidFill>
                <a:latin typeface="IBM Plex Mono" pitchFamily="34" charset="0"/>
                <a:ea typeface="IBM Plex Mono" pitchFamily="34" charset="-122"/>
                <a:cs typeface="IBM Plex Mono" pitchFamily="34" charset="-120"/>
              </a:rPr>
              <a:t>Buyuk olim va hukmdor</a:t>
            </a:r>
            <a:endParaRPr lang="en-US" sz="1050" dirty="0"/>
          </a:p>
        </p:txBody>
      </p:sp>
      <p:sp>
        <p:nvSpPr>
          <p:cNvPr id="6" name="Text 3"/>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SAMARQAND AKADEMIYASI</a:t>
            </a:r>
            <a:endParaRPr lang="en-US" sz="1050" dirty="0"/>
          </a:p>
        </p:txBody>
      </p:sp>
      <p:sp>
        <p:nvSpPr>
          <p:cNvPr id="7" name="Text 4"/>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1394–1449</a:t>
            </a:r>
            <a:endParaRPr lang="en-US" sz="1050" dirty="0"/>
          </a:p>
        </p:txBody>
      </p:sp>
      <p:sp>
        <p:nvSpPr>
          <p:cNvPr id="8" name="Text 5"/>
          <p:cNvSpPr/>
          <p:nvPr/>
        </p:nvSpPr>
        <p:spPr>
          <a:xfrm>
            <a:off x="7830693" y="4526280"/>
            <a:ext cx="932307" cy="245745"/>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1800" dirty="0">
                <a:solidFill>
                  <a:srgbClr val="191919"/>
                </a:solidFill>
                <a:latin typeface="IBM Plex Mono" pitchFamily="34" charset="0"/>
                <a:ea typeface="IBM Plex Mono" pitchFamily="34" charset="-122"/>
                <a:cs typeface="IBM Plex Mono" pitchFamily="34" charset="-120"/>
              </a:rPr>
              <a:t>Presentation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ttps://www.gettyimages.com/detail/photo/ulugh-beg-observatory-museum-royalty-free-image/157305384">    </p:cNvPr>
          <p:cNvPicPr>
            <a:picLocks noChangeAspect="1"/>
          </p:cNvPicPr>
          <p:nvPr/>
        </p:nvPicPr>
        <p:blipFill>
          <a:blip r:embed="rId1"/>
          <a:stretch>
            <a:fillRect/>
          </a:stretch>
        </p:blipFill>
        <p:spPr>
          <a:xfrm>
            <a:off x="0" y="7"/>
            <a:ext cx="9144003" cy="3196845"/>
          </a:xfrm>
          <a:prstGeom prst="rect">
            <a:avLst/>
          </a:prstGeom>
        </p:spPr>
      </p:pic>
      <p:sp>
        <p:nvSpPr>
          <p:cNvPr id="3" name="Text 0"/>
          <p:cNvSpPr/>
          <p:nvPr/>
        </p:nvSpPr>
        <p:spPr>
          <a:xfrm>
            <a:off x="381000" y="3626168"/>
            <a:ext cx="1378504" cy="18097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1. Kirish</a:t>
            </a:r>
            <a:endParaRPr lang="en-US" sz="1050" dirty="0"/>
          </a:p>
        </p:txBody>
      </p:sp>
      <p:sp>
        <p:nvSpPr>
          <p:cNvPr id="4" name="Text 1"/>
          <p:cNvSpPr/>
          <p:nvPr/>
        </p:nvSpPr>
        <p:spPr>
          <a:xfrm>
            <a:off x="3398099" y="3626168"/>
            <a:ext cx="1344942" cy="18097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2. Ulug‘bekning hayoti</a:t>
            </a:r>
            <a:endParaRPr lang="en-US" sz="1050" dirty="0"/>
          </a:p>
        </p:txBody>
      </p:sp>
      <p:sp>
        <p:nvSpPr>
          <p:cNvPr id="5" name="Text 2"/>
          <p:cNvSpPr/>
          <p:nvPr/>
        </p:nvSpPr>
        <p:spPr>
          <a:xfrm>
            <a:off x="6622903" y="3626168"/>
            <a:ext cx="1005118" cy="18097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3. Samarqand ilmiy markazi</a:t>
            </a:r>
            <a:endParaRPr lang="en-US" sz="1050" dirty="0"/>
          </a:p>
        </p:txBody>
      </p:sp>
      <p:sp>
        <p:nvSpPr>
          <p:cNvPr id="6" name="Text 3"/>
          <p:cNvSpPr/>
          <p:nvPr/>
        </p:nvSpPr>
        <p:spPr>
          <a:xfrm>
            <a:off x="1885468" y="3604260"/>
            <a:ext cx="922200" cy="5586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4. Rasadxona</a:t>
            </a:r>
            <a:endParaRPr lang="en-US" sz="1050" dirty="0"/>
          </a:p>
        </p:txBody>
      </p:sp>
      <p:sp>
        <p:nvSpPr>
          <p:cNvPr id="7" name="Text 4"/>
          <p:cNvSpPr/>
          <p:nvPr/>
        </p:nvSpPr>
        <p:spPr>
          <a:xfrm>
            <a:off x="4902567" y="3604260"/>
            <a:ext cx="1084800" cy="11430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5. Ilmiy meros</a:t>
            </a:r>
            <a:endParaRPr lang="en-US" sz="1050" dirty="0"/>
          </a:p>
        </p:txBody>
      </p:sp>
      <p:sp>
        <p:nvSpPr>
          <p:cNvPr id="8" name="Text 5"/>
          <p:cNvSpPr/>
          <p:nvPr/>
        </p:nvSpPr>
        <p:spPr>
          <a:xfrm>
            <a:off x="7741399" y="3604260"/>
            <a:ext cx="1021500" cy="9483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6. Ta’limga qo‘shgan hissasi</a:t>
            </a:r>
            <a:endParaRPr lang="en-US" sz="1050" dirty="0"/>
          </a:p>
        </p:txBody>
      </p:sp>
      <p:sp>
        <p:nvSpPr>
          <p:cNvPr id="9" name="Text 6"/>
          <p:cNvSpPr/>
          <p:nvPr/>
        </p:nvSpPr>
        <p:spPr>
          <a:xfrm>
            <a:off x="381000" y="413949"/>
            <a:ext cx="6881663" cy="635191"/>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7. Ulug‘bekning ta’siri</a:t>
            </a:r>
            <a:endParaRPr lang="en-US" sz="1050" dirty="0"/>
          </a:p>
        </p:txBody>
      </p:sp>
      <p:sp>
        <p:nvSpPr>
          <p:cNvPr id="10" name="Text 7"/>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8. Madaniyat va fan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81000" y="377190"/>
            <a:ext cx="8382000" cy="4394835"/>
          </a:xfrm>
          <a:custGeom>
            <a:avLst/>
            <a:gdLst/>
            <a:ahLst/>
            <a:cxnLst/>
            <a:rect l="l" t="t" r="r" b="b"/>
            <a:pathLst>
              <a:path w="8382000" h="4394835">
                <a:moveTo>
                  <a:pt x="0" y="0"/>
                </a:moveTo>
                <a:lnTo>
                  <a:pt x="8382000" y="0"/>
                </a:lnTo>
                <a:lnTo>
                  <a:pt x="8382000" y="4394835"/>
                </a:lnTo>
                <a:lnTo>
                  <a:pt x="0" y="4394835"/>
                </a:lnTo>
                <a:lnTo>
                  <a:pt x="0" y="0"/>
                </a:lnTo>
                <a:close/>
              </a:path>
            </a:pathLst>
          </a:custGeom>
          <a:solidFill>
            <a:srgbClr val="FFFFFF">
              <a:alpha val="0"/>
            </a:srgbClr>
          </a:solidFill>
          <a:ln/>
        </p:spPr>
      </p:sp>
      <p:sp>
        <p:nvSpPr>
          <p:cNvPr id="3" name="Text 1"/>
          <p:cNvSpPr/>
          <p:nvPr/>
        </p:nvSpPr>
        <p:spPr>
          <a:xfrm>
            <a:off x="381000" y="377190"/>
            <a:ext cx="8382000" cy="4394835"/>
          </a:xfrm>
          <a:prstGeom prst="rect">
            <a:avLst/>
          </a:prstGeom>
          <a:noFill/>
          <a:ln/>
        </p:spPr>
        <p:txBody>
          <a:bodyPr wrap="square" rtlCol="0" anchor="t"/>
          <a:lstStyle/>
          <a:p>
            <a:pPr indent="0" marL="0">
              <a:spcBef>
                <a:spcPts val="375"/>
              </a:spcBef>
              <a:buNone/>
            </a:pPr>
            <a:endParaRPr lang="en-US" sz="1050" dirty="0"/>
          </a:p>
        </p:txBody>
      </p:sp>
      <p:pic>
        <p:nvPicPr>
          <p:cNvPr id="4" name="Image 0" descr="preencoded.png">    </p:cNvPr>
          <p:cNvPicPr>
            <a:picLocks noChangeAspect="1"/>
          </p:cNvPicPr>
          <p:nvPr/>
        </p:nvPicPr>
        <p:blipFill>
          <a:blip r:embed="rId1"/>
          <a:stretch>
            <a:fillRect/>
          </a:stretch>
        </p:blipFill>
        <p:spPr>
          <a:xfrm>
            <a:off x="381000" y="377190"/>
            <a:ext cx="8382000" cy="4394835"/>
          </a:xfrm>
          <a:prstGeom prst="rect">
            <a:avLst/>
          </a:prstGeom>
        </p:spPr>
      </p:pic>
      <p:sp>
        <p:nvSpPr>
          <p:cNvPr id="5" name="Text 2"/>
          <p:cNvSpPr/>
          <p:nvPr/>
        </p:nvSpPr>
        <p:spPr>
          <a:xfrm>
            <a:off x="4572000" y="3110100"/>
            <a:ext cx="3883200" cy="7044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Kirish</a:t>
            </a:r>
            <a:endParaRPr lang="en-US" sz="1050" dirty="0"/>
          </a:p>
        </p:txBody>
      </p:sp>
      <p:sp>
        <p:nvSpPr>
          <p:cNvPr id="6" name="Text 3"/>
          <p:cNvSpPr/>
          <p:nvPr/>
        </p:nvSpPr>
        <p:spPr>
          <a:xfrm>
            <a:off x="974307" y="3110099"/>
            <a:ext cx="669076" cy="635191"/>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1.</a:t>
            </a:r>
            <a:endParaRPr lang="en-US" sz="1050" dirty="0"/>
          </a:p>
        </p:txBody>
      </p:sp>
      <p:sp>
        <p:nvSpPr>
          <p:cNvPr id="7" name="Text 4"/>
          <p:cNvSpPr/>
          <p:nvPr/>
        </p:nvSpPr>
        <p:spPr>
          <a:xfrm>
            <a:off x="4572000" y="3878640"/>
            <a:ext cx="2660400" cy="5295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575" dirty="0">
                <a:solidFill>
                  <a:srgbClr val="191919"/>
                </a:solidFill>
                <a:latin typeface="Inter" pitchFamily="34" charset="0"/>
                <a:ea typeface="Inter" pitchFamily="34" charset="-122"/>
                <a:cs typeface="Inter" pitchFamily="34" charset="-120"/>
              </a:rPr>
              <a:t>Mirzo Ulug‘bek – Temuriylar sulolasining buyuk vakili, astronom va matematik. U ilm-fan va ta’limni rivojlantirishda beqiyos o‘rin tutadi.</a:t>
            </a:r>
            <a:endParaRPr lang="en-US" sz="1050" dirty="0"/>
          </a:p>
        </p:txBody>
      </p:sp>
      <p:sp>
        <p:nvSpPr>
          <p:cNvPr id="8" name="Shape 5"/>
          <p:cNvSpPr/>
          <p:nvPr/>
        </p:nvSpPr>
        <p:spPr>
          <a:xfrm>
            <a:off x="1712616" y="3579107"/>
            <a:ext cx="2526009" cy="0"/>
          </a:xfrm>
          <a:custGeom>
            <a:avLst/>
            <a:gdLst/>
            <a:ahLst/>
            <a:cxnLst/>
            <a:rect l="l" t="t" r="r" b="b"/>
            <a:pathLst>
              <a:path w="2526009" h="0">
                <a:moveTo>
                  <a:pt x="0" y="0"/>
                </a:moveTo>
                <a:lnTo>
                  <a:pt x="2526009" y="0"/>
                </a:lnTo>
              </a:path>
            </a:pathLst>
          </a:custGeom>
          <a:noFill/>
          <a:ln w="19050">
            <a:solidFill>
              <a:srgbClr val="000000"/>
            </a:solidFill>
            <a:prstDash val="solid"/>
            <a:headEnd type="none"/>
            <a:tailEnd type="arrow"/>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ttps://www.gettyimages.com/detail/photo/ulugh-beg-observatory-museum-royalty-free-image/497146410">    </p:cNvPr>
          <p:cNvPicPr>
            <a:picLocks noChangeAspect="1"/>
          </p:cNvPicPr>
          <p:nvPr/>
        </p:nvPicPr>
        <p:blipFill>
          <a:blip r:embed="rId1"/>
          <a:srcRect l="21941" r="20185" t="0" b="0"/>
          <a:stretch/>
        </p:blipFill>
        <p:spPr>
          <a:xfrm>
            <a:off x="381000" y="763825"/>
            <a:ext cx="3649988" cy="4204488"/>
          </a:xfrm>
          <a:prstGeom prst="rect">
            <a:avLst/>
          </a:prstGeom>
        </p:spPr>
      </p:pic>
      <p:sp>
        <p:nvSpPr>
          <p:cNvPr id="3" name="Text 0"/>
          <p:cNvSpPr/>
          <p:nvPr/>
        </p:nvSpPr>
        <p:spPr>
          <a:xfrm>
            <a:off x="4654247" y="825738"/>
            <a:ext cx="4108800" cy="9852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Mirzo Ulug‘bek hayoti</a:t>
            </a:r>
            <a:endParaRPr lang="en-US" sz="1050" dirty="0"/>
          </a:p>
        </p:txBody>
      </p:sp>
      <p:sp>
        <p:nvSpPr>
          <p:cNvPr id="4" name="Text 1"/>
          <p:cNvSpPr/>
          <p:nvPr/>
        </p:nvSpPr>
        <p:spPr>
          <a:xfrm>
            <a:off x="4654247" y="2033628"/>
            <a:ext cx="3242100" cy="5586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BM Plex Mono" pitchFamily="34" charset="0"/>
                <a:ea typeface="IBM Plex Mono" pitchFamily="34" charset="-122"/>
                <a:cs typeface="IBM Plex Mono" pitchFamily="34" charset="-120"/>
              </a:rPr>
              <a:t>Ulug‘bek 1394-yilda tug‘ilgan. Temuriylar saltanatining hukmdori bo‘lishiga qaramay, u ilmiy izlanishlarga katta e’tibor qaratdi.</a:t>
            </a:r>
            <a:endParaRPr lang="en-US" sz="1050" dirty="0"/>
          </a:p>
        </p:txBody>
      </p:sp>
      <p:sp>
        <p:nvSpPr>
          <p:cNvPr id="5" name="Text 2"/>
          <p:cNvSpPr/>
          <p:nvPr/>
        </p:nvSpPr>
        <p:spPr>
          <a:xfrm>
            <a:off x="4654247" y="2965524"/>
            <a:ext cx="4108800" cy="17271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Samarqandni ilm markaziga aylantirdi.</a:t>
            </a:r>
            <a:endParaRPr lang="en-US" sz="1050" dirty="0"/>
          </a:p>
        </p:txBody>
      </p:sp>
      <p:sp>
        <p:nvSpPr>
          <p:cNvPr id="6" name="Text 3"/>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SAMARQAND AKADEMIYASI</a:t>
            </a:r>
            <a:endParaRPr lang="en-US" sz="1050" dirty="0"/>
          </a:p>
        </p:txBody>
      </p:sp>
      <p:sp>
        <p:nvSpPr>
          <p:cNvPr id="7" name="Text 4"/>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XV asr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14350" y="2787950"/>
            <a:ext cx="2371200" cy="3639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Samarqand ilmiy maktabi</a:t>
            </a:r>
            <a:endParaRPr lang="en-US" sz="1050" dirty="0"/>
          </a:p>
        </p:txBody>
      </p:sp>
      <p:sp>
        <p:nvSpPr>
          <p:cNvPr id="3" name="Text 1"/>
          <p:cNvSpPr/>
          <p:nvPr/>
        </p:nvSpPr>
        <p:spPr>
          <a:xfrm>
            <a:off x="514350" y="4221476"/>
            <a:ext cx="2371200" cy="3639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Ulug‘bek hukmronligi davrida ko‘plab olimlar Samarqandga yig‘ildi.</a:t>
            </a:r>
            <a:endParaRPr lang="en-US" sz="1050" dirty="0"/>
          </a:p>
        </p:txBody>
      </p:sp>
      <p:pic>
        <p:nvPicPr>
          <p:cNvPr id="4" name="Image 0" descr="https://www.gettyimages.com/detail/photo/ulugh-beg-madrasah-samarkand-royalty-free-image/11577">    </p:cNvPr>
          <p:cNvPicPr>
            <a:picLocks noChangeAspect="1"/>
          </p:cNvPicPr>
          <p:nvPr/>
        </p:nvPicPr>
        <p:blipFill>
          <a:blip r:embed="rId1"/>
          <a:srcRect l="21948" r="20192" t="0" b="0"/>
          <a:stretch/>
        </p:blipFill>
        <p:spPr>
          <a:xfrm>
            <a:off x="4960930" y="763825"/>
            <a:ext cx="3649988" cy="4204488"/>
          </a:xfrm>
          <a:prstGeom prst="rect">
            <a:avLst/>
          </a:prstGeom>
        </p:spPr>
      </p:pic>
      <p:sp>
        <p:nvSpPr>
          <p:cNvPr id="5" name="Text 2"/>
          <p:cNvSpPr/>
          <p:nvPr/>
        </p:nvSpPr>
        <p:spPr>
          <a:xfrm>
            <a:off x="381000" y="825738"/>
            <a:ext cx="2650320" cy="4241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Ilmiy doiralar</a:t>
            </a:r>
            <a:endParaRPr lang="en-US" sz="1050" dirty="0"/>
          </a:p>
        </p:txBody>
      </p:sp>
      <p:sp>
        <p:nvSpPr>
          <p:cNvPr id="6" name="Text 3"/>
          <p:cNvSpPr/>
          <p:nvPr/>
        </p:nvSpPr>
        <p:spPr>
          <a:xfrm>
            <a:off x="514350" y="3819716"/>
            <a:ext cx="2292063" cy="18097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Matematika va astronomiya</a:t>
            </a:r>
            <a:endParaRPr lang="en-US" sz="1050" dirty="0"/>
          </a:p>
        </p:txBody>
      </p:sp>
      <p:sp>
        <p:nvSpPr>
          <p:cNvPr id="7" name="Text 4"/>
          <p:cNvSpPr/>
          <p:nvPr/>
        </p:nvSpPr>
        <p:spPr>
          <a:xfrm>
            <a:off x="514350" y="2448083"/>
            <a:ext cx="2292063" cy="18097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Falsafa</a:t>
            </a:r>
            <a:endParaRPr lang="en-US" sz="1050" dirty="0"/>
          </a:p>
        </p:txBody>
      </p:sp>
      <p:sp>
        <p:nvSpPr>
          <p:cNvPr id="8" name="Text 5"/>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SAMARQAND AKADEMIYASI</a:t>
            </a:r>
            <a:endParaRPr lang="en-US" sz="1050" dirty="0"/>
          </a:p>
        </p:txBody>
      </p:sp>
      <p:sp>
        <p:nvSpPr>
          <p:cNvPr id="9" name="Text 6"/>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XV asr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2685587"/>
            <a:ext cx="9144000" cy="0"/>
          </a:xfrm>
          <a:custGeom>
            <a:avLst/>
            <a:gdLst/>
            <a:ahLst/>
            <a:cxnLst/>
            <a:rect l="l" t="t" r="r" b="b"/>
            <a:pathLst>
              <a:path w="9144000" h="0">
                <a:moveTo>
                  <a:pt x="0" y="0"/>
                </a:moveTo>
                <a:lnTo>
                  <a:pt x="9144000" y="0"/>
                </a:lnTo>
              </a:path>
            </a:pathLst>
          </a:custGeom>
          <a:noFill/>
          <a:ln w="9525">
            <a:solidFill>
              <a:srgbClr val="000000"/>
            </a:solidFill>
            <a:prstDash val="solid"/>
            <a:headEnd type="none"/>
            <a:tailEnd type="arrow"/>
          </a:ln>
        </p:spPr>
      </p:sp>
      <p:sp>
        <p:nvSpPr>
          <p:cNvPr id="3" name="Shape 1"/>
          <p:cNvSpPr/>
          <p:nvPr/>
        </p:nvSpPr>
        <p:spPr>
          <a:xfrm>
            <a:off x="2340146" y="2637961"/>
            <a:ext cx="95250" cy="95250"/>
          </a:xfrm>
          <a:custGeom>
            <a:avLst/>
            <a:gdLst/>
            <a:ahLst/>
            <a:cxnLst/>
            <a:rect l="l" t="t" r="r" b="b"/>
            <a:pathLst>
              <a:path w="95250" h="95250">
                <a:moveTo>
                  <a:pt x="47625" y="0"/>
                </a:moveTo>
                <a:cubicBezTo>
                  <a:pt x="21322" y="0"/>
                  <a:pt x="0" y="21322"/>
                  <a:pt x="0" y="47625"/>
                </a:cubicBezTo>
                <a:cubicBezTo>
                  <a:pt x="0" y="73928"/>
                  <a:pt x="21322" y="95250"/>
                  <a:pt x="47625" y="95250"/>
                </a:cubicBezTo>
                <a:cubicBezTo>
                  <a:pt x="73928" y="95250"/>
                  <a:pt x="95250" y="73928"/>
                  <a:pt x="95250" y="47625"/>
                </a:cubicBezTo>
                <a:cubicBezTo>
                  <a:pt x="95250" y="21322"/>
                  <a:pt x="73928" y="0"/>
                  <a:pt x="47625" y="0"/>
                </a:cubicBezTo>
                <a:close/>
              </a:path>
            </a:pathLst>
          </a:custGeom>
          <a:solidFill>
            <a:srgbClr val="191919"/>
          </a:solidFill>
          <a:ln/>
        </p:spPr>
      </p:sp>
      <p:sp>
        <p:nvSpPr>
          <p:cNvPr id="4" name="Text 2"/>
          <p:cNvSpPr/>
          <p:nvPr/>
        </p:nvSpPr>
        <p:spPr>
          <a:xfrm>
            <a:off x="2340146" y="2637961"/>
            <a:ext cx="95250" cy="95250"/>
          </a:xfrm>
          <a:prstGeom prst="rect">
            <a:avLst/>
          </a:prstGeom>
          <a:noFill/>
          <a:ln/>
        </p:spPr>
        <p:txBody>
          <a:bodyPr wrap="square" rtlCol="0" anchor="ctr"/>
          <a:lstStyle/>
          <a:p>
            <a:pPr algn="l" indent="0" marL="0">
              <a:spcBef>
                <a:spcPts val="375"/>
              </a:spcBef>
              <a:buNone/>
            </a:pPr>
            <a:r>
              <a:rPr lang="en-US" sz="1800" dirty="0">
                <a:solidFill>
                  <a:srgbClr val="000000"/>
                </a:solidFill>
                <a:latin typeface="Arial" pitchFamily="34" charset="0"/>
                <a:ea typeface="Arial" pitchFamily="34" charset="-122"/>
                <a:cs typeface="Arial" pitchFamily="34" charset="-120"/>
              </a:rPr>
              <a:t> </a:t>
            </a:r>
            <a:endParaRPr lang="en-US" sz="1050" dirty="0"/>
          </a:p>
        </p:txBody>
      </p:sp>
      <p:sp>
        <p:nvSpPr>
          <p:cNvPr id="5" name="Shape 3"/>
          <p:cNvSpPr/>
          <p:nvPr/>
        </p:nvSpPr>
        <p:spPr>
          <a:xfrm>
            <a:off x="4483867" y="2641155"/>
            <a:ext cx="95250" cy="95250"/>
          </a:xfrm>
          <a:custGeom>
            <a:avLst/>
            <a:gdLst/>
            <a:ahLst/>
            <a:cxnLst/>
            <a:rect l="l" t="t" r="r" b="b"/>
            <a:pathLst>
              <a:path w="95250" h="95250">
                <a:moveTo>
                  <a:pt x="47625" y="0"/>
                </a:moveTo>
                <a:cubicBezTo>
                  <a:pt x="21322" y="0"/>
                  <a:pt x="0" y="21322"/>
                  <a:pt x="0" y="47625"/>
                </a:cubicBezTo>
                <a:cubicBezTo>
                  <a:pt x="0" y="73928"/>
                  <a:pt x="21322" y="95250"/>
                  <a:pt x="47625" y="95250"/>
                </a:cubicBezTo>
                <a:cubicBezTo>
                  <a:pt x="73928" y="95250"/>
                  <a:pt x="95250" y="73928"/>
                  <a:pt x="95250" y="47625"/>
                </a:cubicBezTo>
                <a:cubicBezTo>
                  <a:pt x="95250" y="21322"/>
                  <a:pt x="73928" y="0"/>
                  <a:pt x="47625" y="0"/>
                </a:cubicBezTo>
                <a:close/>
              </a:path>
            </a:pathLst>
          </a:custGeom>
          <a:solidFill>
            <a:srgbClr val="191919"/>
          </a:solidFill>
          <a:ln/>
        </p:spPr>
      </p:sp>
      <p:sp>
        <p:nvSpPr>
          <p:cNvPr id="6" name="Text 4"/>
          <p:cNvSpPr/>
          <p:nvPr/>
        </p:nvSpPr>
        <p:spPr>
          <a:xfrm>
            <a:off x="4483867" y="2641155"/>
            <a:ext cx="95250" cy="95250"/>
          </a:xfrm>
          <a:prstGeom prst="rect">
            <a:avLst/>
          </a:prstGeom>
          <a:noFill/>
          <a:ln/>
        </p:spPr>
        <p:txBody>
          <a:bodyPr wrap="square" rtlCol="0" anchor="ctr"/>
          <a:lstStyle/>
          <a:p>
            <a:pPr algn="l" indent="0" marL="0">
              <a:spcBef>
                <a:spcPts val="375"/>
              </a:spcBef>
              <a:buNone/>
            </a:pPr>
            <a:r>
              <a:rPr lang="en-US" sz="1800" dirty="0">
                <a:solidFill>
                  <a:srgbClr val="000000"/>
                </a:solidFill>
                <a:latin typeface="Arial" pitchFamily="34" charset="0"/>
                <a:ea typeface="Arial" pitchFamily="34" charset="-122"/>
                <a:cs typeface="Arial" pitchFamily="34" charset="-120"/>
              </a:rPr>
              <a:t> </a:t>
            </a:r>
            <a:endParaRPr lang="en-US" sz="1050" dirty="0"/>
          </a:p>
        </p:txBody>
      </p:sp>
      <p:sp>
        <p:nvSpPr>
          <p:cNvPr id="7" name="Shape 5"/>
          <p:cNvSpPr/>
          <p:nvPr/>
        </p:nvSpPr>
        <p:spPr>
          <a:xfrm>
            <a:off x="6627587" y="2641155"/>
            <a:ext cx="95250" cy="95250"/>
          </a:xfrm>
          <a:custGeom>
            <a:avLst/>
            <a:gdLst/>
            <a:ahLst/>
            <a:cxnLst/>
            <a:rect l="l" t="t" r="r" b="b"/>
            <a:pathLst>
              <a:path w="95250" h="95250">
                <a:moveTo>
                  <a:pt x="47625" y="0"/>
                </a:moveTo>
                <a:cubicBezTo>
                  <a:pt x="21322" y="0"/>
                  <a:pt x="0" y="21322"/>
                  <a:pt x="0" y="47625"/>
                </a:cubicBezTo>
                <a:cubicBezTo>
                  <a:pt x="0" y="73928"/>
                  <a:pt x="21322" y="95250"/>
                  <a:pt x="47625" y="95250"/>
                </a:cubicBezTo>
                <a:cubicBezTo>
                  <a:pt x="73928" y="95250"/>
                  <a:pt x="95250" y="73928"/>
                  <a:pt x="95250" y="47625"/>
                </a:cubicBezTo>
                <a:cubicBezTo>
                  <a:pt x="95250" y="21322"/>
                  <a:pt x="73928" y="0"/>
                  <a:pt x="47625" y="0"/>
                </a:cubicBezTo>
                <a:close/>
              </a:path>
            </a:pathLst>
          </a:custGeom>
          <a:solidFill>
            <a:srgbClr val="191919"/>
          </a:solidFill>
          <a:ln/>
        </p:spPr>
      </p:sp>
      <p:sp>
        <p:nvSpPr>
          <p:cNvPr id="8" name="Text 6"/>
          <p:cNvSpPr/>
          <p:nvPr/>
        </p:nvSpPr>
        <p:spPr>
          <a:xfrm>
            <a:off x="6627587" y="2641155"/>
            <a:ext cx="95250" cy="95250"/>
          </a:xfrm>
          <a:prstGeom prst="rect">
            <a:avLst/>
          </a:prstGeom>
          <a:noFill/>
          <a:ln/>
        </p:spPr>
        <p:txBody>
          <a:bodyPr wrap="square" rtlCol="0" anchor="ctr"/>
          <a:lstStyle/>
          <a:p>
            <a:pPr algn="l" indent="0" marL="0">
              <a:spcBef>
                <a:spcPts val="375"/>
              </a:spcBef>
              <a:buNone/>
            </a:pPr>
            <a:r>
              <a:rPr lang="en-US" sz="1800" dirty="0">
                <a:solidFill>
                  <a:srgbClr val="000000"/>
                </a:solidFill>
                <a:latin typeface="Arial" pitchFamily="34" charset="0"/>
                <a:ea typeface="Arial" pitchFamily="34" charset="-122"/>
                <a:cs typeface="Arial" pitchFamily="34" charset="-120"/>
              </a:rPr>
              <a:t> </a:t>
            </a:r>
            <a:endParaRPr lang="en-US" sz="1050" dirty="0"/>
          </a:p>
        </p:txBody>
      </p:sp>
      <p:sp>
        <p:nvSpPr>
          <p:cNvPr id="9" name="Text 7"/>
          <p:cNvSpPr/>
          <p:nvPr/>
        </p:nvSpPr>
        <p:spPr>
          <a:xfrm>
            <a:off x="1546540" y="3000375"/>
            <a:ext cx="1682463" cy="18097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Rasadxona</a:t>
            </a:r>
            <a:endParaRPr lang="en-US" sz="1050" dirty="0"/>
          </a:p>
        </p:txBody>
      </p:sp>
      <p:sp>
        <p:nvSpPr>
          <p:cNvPr id="10" name="Text 8"/>
          <p:cNvSpPr/>
          <p:nvPr/>
        </p:nvSpPr>
        <p:spPr>
          <a:xfrm>
            <a:off x="3690260" y="3000375"/>
            <a:ext cx="1682463" cy="18097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1428-yilda Samarqandda barpo etilgan.</a:t>
            </a:r>
            <a:endParaRPr lang="en-US" sz="1050" dirty="0"/>
          </a:p>
        </p:txBody>
      </p:sp>
      <p:sp>
        <p:nvSpPr>
          <p:cNvPr id="11" name="Text 9"/>
          <p:cNvSpPr/>
          <p:nvPr/>
        </p:nvSpPr>
        <p:spPr>
          <a:xfrm>
            <a:off x="5833980" y="3000375"/>
            <a:ext cx="1682462" cy="18097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Eng katta ilmiy inshootlardan biri.</a:t>
            </a:r>
            <a:endParaRPr lang="en-US" sz="1050" dirty="0"/>
          </a:p>
        </p:txBody>
      </p:sp>
      <p:sp>
        <p:nvSpPr>
          <p:cNvPr id="12" name="Text 10"/>
          <p:cNvSpPr/>
          <p:nvPr/>
        </p:nvSpPr>
        <p:spPr>
          <a:xfrm>
            <a:off x="1546540" y="3402139"/>
            <a:ext cx="1682463" cy="36385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Yulduzlar xaritasi tuzildi.</a:t>
            </a:r>
            <a:endParaRPr lang="en-US" sz="1050" dirty="0"/>
          </a:p>
        </p:txBody>
      </p:sp>
      <p:sp>
        <p:nvSpPr>
          <p:cNvPr id="13" name="Text 11"/>
          <p:cNvSpPr/>
          <p:nvPr/>
        </p:nvSpPr>
        <p:spPr>
          <a:xfrm>
            <a:off x="3690260" y="3402139"/>
            <a:ext cx="1682463" cy="36385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Aniq astronomik kuzatuvlar.</a:t>
            </a:r>
            <a:endParaRPr lang="en-US" sz="1050" dirty="0"/>
          </a:p>
        </p:txBody>
      </p:sp>
      <p:sp>
        <p:nvSpPr>
          <p:cNvPr id="14" name="Text 12"/>
          <p:cNvSpPr/>
          <p:nvPr/>
        </p:nvSpPr>
        <p:spPr>
          <a:xfrm>
            <a:off x="5833980" y="3402139"/>
            <a:ext cx="1682462" cy="363855"/>
          </a:xfrm>
          <a:prstGeom prst="rect">
            <a:avLst/>
          </a:prstGeom>
          <a:noFill/>
          <a:ln/>
        </p:spPr>
        <p:txBody>
          <a:bodyPr wrap="square" lIns="95250" tIns="95250" rIns="95250" bIns="95250" rtlCol="0" anchor="t">
            <a:spAutoFit/>
          </a:bodyPr>
          <a:lstStyle/>
          <a:p>
            <a:pPr algn="ctr"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Ilmiy kashfiyot markazi.</a:t>
            </a:r>
            <a:endParaRPr lang="en-US" sz="1050" dirty="0"/>
          </a:p>
        </p:txBody>
      </p:sp>
      <p:sp>
        <p:nvSpPr>
          <p:cNvPr id="15" name="Text 13"/>
          <p:cNvSpPr/>
          <p:nvPr/>
        </p:nvSpPr>
        <p:spPr>
          <a:xfrm>
            <a:off x="381000" y="825738"/>
            <a:ext cx="2650320" cy="4241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Timeline</a:t>
            </a:r>
            <a:endParaRPr lang="en-US" sz="1050" dirty="0"/>
          </a:p>
        </p:txBody>
      </p:sp>
      <p:sp>
        <p:nvSpPr>
          <p:cNvPr id="16" name="Text 14"/>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SAMARQAND</a:t>
            </a:r>
            <a:endParaRPr lang="en-US" sz="1050" dirty="0"/>
          </a:p>
        </p:txBody>
      </p:sp>
      <p:sp>
        <p:nvSpPr>
          <p:cNvPr id="17" name="Text 15"/>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1428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81000" y="377190"/>
            <a:ext cx="8382000" cy="4394835"/>
          </a:xfrm>
          <a:custGeom>
            <a:avLst/>
            <a:gdLst/>
            <a:ahLst/>
            <a:cxnLst/>
            <a:rect l="l" t="t" r="r" b="b"/>
            <a:pathLst>
              <a:path w="8382000" h="4394835">
                <a:moveTo>
                  <a:pt x="0" y="0"/>
                </a:moveTo>
                <a:lnTo>
                  <a:pt x="8382000" y="0"/>
                </a:lnTo>
                <a:lnTo>
                  <a:pt x="8382000" y="4394835"/>
                </a:lnTo>
                <a:lnTo>
                  <a:pt x="0" y="4394835"/>
                </a:lnTo>
                <a:lnTo>
                  <a:pt x="0" y="0"/>
                </a:lnTo>
                <a:close/>
              </a:path>
            </a:pathLst>
          </a:custGeom>
          <a:solidFill>
            <a:srgbClr val="FFFFFF">
              <a:alpha val="0"/>
            </a:srgbClr>
          </a:solidFill>
          <a:ln/>
        </p:spPr>
      </p:sp>
      <p:sp>
        <p:nvSpPr>
          <p:cNvPr id="3" name="Text 1"/>
          <p:cNvSpPr/>
          <p:nvPr/>
        </p:nvSpPr>
        <p:spPr>
          <a:xfrm>
            <a:off x="381000" y="377190"/>
            <a:ext cx="8382000" cy="4394835"/>
          </a:xfrm>
          <a:prstGeom prst="rect">
            <a:avLst/>
          </a:prstGeom>
          <a:noFill/>
          <a:ln/>
        </p:spPr>
        <p:txBody>
          <a:bodyPr wrap="square" rtlCol="0" anchor="t"/>
          <a:lstStyle/>
          <a:p>
            <a:pPr indent="0" marL="0">
              <a:spcBef>
                <a:spcPts val="375"/>
              </a:spcBef>
              <a:buNone/>
            </a:pPr>
            <a:endParaRPr lang="en-US" sz="1050" dirty="0"/>
          </a:p>
        </p:txBody>
      </p:sp>
      <p:pic>
        <p:nvPicPr>
          <p:cNvPr id="4" name="Image 0" descr="preencoded.png">    </p:cNvPr>
          <p:cNvPicPr>
            <a:picLocks noChangeAspect="1"/>
          </p:cNvPicPr>
          <p:nvPr/>
        </p:nvPicPr>
        <p:blipFill>
          <a:blip r:embed="rId1"/>
          <a:stretch>
            <a:fillRect/>
          </a:stretch>
        </p:blipFill>
        <p:spPr>
          <a:xfrm>
            <a:off x="381000" y="377190"/>
            <a:ext cx="8382000" cy="4394835"/>
          </a:xfrm>
          <a:prstGeom prst="rect">
            <a:avLst/>
          </a:prstGeom>
        </p:spPr>
      </p:pic>
      <p:sp>
        <p:nvSpPr>
          <p:cNvPr id="5" name="Text 2"/>
          <p:cNvSpPr/>
          <p:nvPr/>
        </p:nvSpPr>
        <p:spPr>
          <a:xfrm>
            <a:off x="4572000" y="2529074"/>
            <a:ext cx="3689100" cy="11205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Ulug‘bekning ilmiy merosi</a:t>
            </a:r>
            <a:endParaRPr lang="en-US" sz="1050" dirty="0"/>
          </a:p>
        </p:txBody>
      </p:sp>
      <p:sp>
        <p:nvSpPr>
          <p:cNvPr id="6" name="Text 3"/>
          <p:cNvSpPr/>
          <p:nvPr/>
        </p:nvSpPr>
        <p:spPr>
          <a:xfrm>
            <a:off x="974307" y="3110099"/>
            <a:ext cx="669076" cy="635191"/>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5175" dirty="0">
                <a:solidFill>
                  <a:srgbClr val="191919"/>
                </a:solidFill>
                <a:latin typeface="Inter" pitchFamily="34" charset="0"/>
                <a:ea typeface="Inter" pitchFamily="34" charset="-122"/>
                <a:cs typeface="Inter" pitchFamily="34" charset="-120"/>
              </a:rPr>
              <a:t>2.</a:t>
            </a:r>
            <a:endParaRPr lang="en-US" sz="1050" dirty="0"/>
          </a:p>
        </p:txBody>
      </p:sp>
      <p:sp>
        <p:nvSpPr>
          <p:cNvPr id="7" name="Text 4"/>
          <p:cNvSpPr/>
          <p:nvPr/>
        </p:nvSpPr>
        <p:spPr>
          <a:xfrm>
            <a:off x="4572000" y="3878640"/>
            <a:ext cx="2660400" cy="5295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575" dirty="0">
                <a:solidFill>
                  <a:srgbClr val="191919"/>
                </a:solidFill>
                <a:latin typeface="Inter" pitchFamily="34" charset="0"/>
                <a:ea typeface="Inter" pitchFamily="34" charset="-122"/>
                <a:cs typeface="Inter" pitchFamily="34" charset="-120"/>
              </a:rPr>
              <a:t>‘Ziji Jadidi Kuragoniy’ – yulduzlar katalogi. Bu asar 1018 yulduzni o‘z ichiga olgan va yuz yillar davomida jahon olimlari tomonidan foydalanilgan.</a:t>
            </a:r>
            <a:endParaRPr lang="en-US" sz="1050" dirty="0"/>
          </a:p>
        </p:txBody>
      </p:sp>
      <p:sp>
        <p:nvSpPr>
          <p:cNvPr id="8" name="Shape 5"/>
          <p:cNvSpPr/>
          <p:nvPr/>
        </p:nvSpPr>
        <p:spPr>
          <a:xfrm>
            <a:off x="1712616" y="3579107"/>
            <a:ext cx="2526009" cy="0"/>
          </a:xfrm>
          <a:custGeom>
            <a:avLst/>
            <a:gdLst/>
            <a:ahLst/>
            <a:cxnLst/>
            <a:rect l="l" t="t" r="r" b="b"/>
            <a:pathLst>
              <a:path w="2526009" h="0">
                <a:moveTo>
                  <a:pt x="0" y="0"/>
                </a:moveTo>
                <a:lnTo>
                  <a:pt x="2526009" y="0"/>
                </a:lnTo>
              </a:path>
            </a:pathLst>
          </a:custGeom>
          <a:noFill/>
          <a:ln w="19050">
            <a:solidFill>
              <a:srgbClr val="000000"/>
            </a:solidFill>
            <a:prstDash val="solid"/>
            <a:headEnd type="none"/>
            <a:tailEnd type="arrow"/>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ttps://www.gettyimages.com/detail/photo/ulugh-beg-observatory-museum-royalty-free-image/818876121">    </p:cNvPr>
          <p:cNvPicPr>
            <a:picLocks noChangeAspect="1"/>
          </p:cNvPicPr>
          <p:nvPr/>
        </p:nvPicPr>
        <p:blipFill>
          <a:blip r:embed="rId1"/>
          <a:srcRect l="0" r="0" t="37042" b="34078"/>
          <a:stretch/>
        </p:blipFill>
        <p:spPr>
          <a:xfrm>
            <a:off x="0" y="3492985"/>
            <a:ext cx="8778240" cy="1584494"/>
          </a:xfrm>
          <a:prstGeom prst="rect">
            <a:avLst/>
          </a:prstGeom>
        </p:spPr>
      </p:pic>
      <p:sp>
        <p:nvSpPr>
          <p:cNvPr id="3" name="Text 0"/>
          <p:cNvSpPr/>
          <p:nvPr/>
        </p:nvSpPr>
        <p:spPr>
          <a:xfrm>
            <a:off x="950178" y="1569897"/>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Matematika</a:t>
            </a:r>
            <a:endParaRPr lang="en-US" sz="1050" dirty="0"/>
          </a:p>
        </p:txBody>
      </p:sp>
      <p:sp>
        <p:nvSpPr>
          <p:cNvPr id="4" name="Text 1"/>
          <p:cNvSpPr/>
          <p:nvPr/>
        </p:nvSpPr>
        <p:spPr>
          <a:xfrm>
            <a:off x="3577825" y="1569897"/>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Astronomiya</a:t>
            </a:r>
            <a:endParaRPr lang="en-US" sz="1050" dirty="0"/>
          </a:p>
        </p:txBody>
      </p:sp>
      <p:sp>
        <p:nvSpPr>
          <p:cNvPr id="5" name="Text 2"/>
          <p:cNvSpPr/>
          <p:nvPr/>
        </p:nvSpPr>
        <p:spPr>
          <a:xfrm>
            <a:off x="3577825" y="2519809"/>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Geometriya</a:t>
            </a:r>
            <a:endParaRPr lang="en-US" sz="1050" dirty="0"/>
          </a:p>
        </p:txBody>
      </p:sp>
      <p:sp>
        <p:nvSpPr>
          <p:cNvPr id="6" name="Text 3"/>
          <p:cNvSpPr/>
          <p:nvPr/>
        </p:nvSpPr>
        <p:spPr>
          <a:xfrm>
            <a:off x="6203763" y="2519809"/>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Ta’lim tizimi</a:t>
            </a:r>
            <a:endParaRPr lang="en-US" sz="1050" dirty="0"/>
          </a:p>
        </p:txBody>
      </p:sp>
      <p:sp>
        <p:nvSpPr>
          <p:cNvPr id="7" name="Text 4"/>
          <p:cNvSpPr/>
          <p:nvPr/>
        </p:nvSpPr>
        <p:spPr>
          <a:xfrm>
            <a:off x="6203763" y="1569897"/>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Madaniyat</a:t>
            </a:r>
            <a:endParaRPr lang="en-US" sz="1050" dirty="0"/>
          </a:p>
        </p:txBody>
      </p:sp>
      <p:sp>
        <p:nvSpPr>
          <p:cNvPr id="8" name="Text 5"/>
          <p:cNvSpPr/>
          <p:nvPr/>
        </p:nvSpPr>
        <p:spPr>
          <a:xfrm>
            <a:off x="950178" y="2519809"/>
            <a:ext cx="1935376"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Ilmiy meros</a:t>
            </a:r>
            <a:endParaRPr lang="en-US" sz="1050" dirty="0"/>
          </a:p>
        </p:txBody>
      </p:sp>
      <p:sp>
        <p:nvSpPr>
          <p:cNvPr id="9" name="Text 6"/>
          <p:cNvSpPr/>
          <p:nvPr/>
        </p:nvSpPr>
        <p:spPr>
          <a:xfrm>
            <a:off x="950178" y="1820188"/>
            <a:ext cx="1935376"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Ulug‘bekning ilm-fanga qo‘shgan hissasi ko‘plab sohalarni qamrab olgan.</a:t>
            </a:r>
            <a:endParaRPr lang="en-US" sz="1050" dirty="0"/>
          </a:p>
        </p:txBody>
      </p:sp>
      <p:sp>
        <p:nvSpPr>
          <p:cNvPr id="10" name="Text 7"/>
          <p:cNvSpPr/>
          <p:nvPr/>
        </p:nvSpPr>
        <p:spPr>
          <a:xfrm>
            <a:off x="3577825" y="1820188"/>
            <a:ext cx="1935376"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Our Services</a:t>
            </a:r>
            <a:endParaRPr lang="en-US" sz="1050" dirty="0"/>
          </a:p>
        </p:txBody>
      </p:sp>
      <p:sp>
        <p:nvSpPr>
          <p:cNvPr id="11" name="Text 8"/>
          <p:cNvSpPr/>
          <p:nvPr/>
        </p:nvSpPr>
        <p:spPr>
          <a:xfrm>
            <a:off x="3577825" y="2770100"/>
            <a:ext cx="1990059"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SAMARQAND</a:t>
            </a:r>
            <a:endParaRPr lang="en-US" sz="1050" dirty="0"/>
          </a:p>
        </p:txBody>
      </p:sp>
      <p:sp>
        <p:nvSpPr>
          <p:cNvPr id="12" name="Text 9"/>
          <p:cNvSpPr/>
          <p:nvPr/>
        </p:nvSpPr>
        <p:spPr>
          <a:xfrm>
            <a:off x="6203764" y="2770100"/>
            <a:ext cx="1990059"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XV asr</a:t>
            </a:r>
            <a:endParaRPr lang="en-US" sz="1050" dirty="0"/>
          </a:p>
        </p:txBody>
      </p:sp>
      <p:sp>
        <p:nvSpPr>
          <p:cNvPr id="13" name="Text 10"/>
          <p:cNvSpPr/>
          <p:nvPr/>
        </p:nvSpPr>
        <p:spPr>
          <a:xfrm>
            <a:off x="6203764" y="1820188"/>
            <a:ext cx="1990059"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Elaborate on what you</a:t>
            </a:r>
            <a:endParaRPr lang="en-US" sz="1050" dirty="0"/>
          </a:p>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want to discuss.</a:t>
            </a:r>
            <a:endParaRPr lang="en-US" sz="1050" dirty="0"/>
          </a:p>
        </p:txBody>
      </p:sp>
      <p:sp>
        <p:nvSpPr>
          <p:cNvPr id="14" name="Text 11"/>
          <p:cNvSpPr/>
          <p:nvPr/>
        </p:nvSpPr>
        <p:spPr>
          <a:xfrm>
            <a:off x="950178" y="2770100"/>
            <a:ext cx="1990059" cy="363855"/>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Elaborate on what you</a:t>
            </a:r>
            <a:endParaRPr lang="en-US" sz="1050" dirty="0"/>
          </a:p>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want to discuss.</a:t>
            </a:r>
            <a:endParaRPr lang="en-US" sz="1050" dirty="0"/>
          </a:p>
        </p:txBody>
      </p:sp>
      <p:sp>
        <p:nvSpPr>
          <p:cNvPr id="15" name="Text 12"/>
          <p:cNvSpPr/>
          <p:nvPr/>
        </p:nvSpPr>
        <p:spPr>
          <a:xfrm>
            <a:off x="381000" y="825738"/>
            <a:ext cx="2650320" cy="4241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Our Services</a:t>
            </a:r>
            <a:endParaRPr lang="en-US" sz="1050" dirty="0"/>
          </a:p>
        </p:txBody>
      </p:sp>
      <p:sp>
        <p:nvSpPr>
          <p:cNvPr id="16" name="Text 13"/>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COMPANY NAME</a:t>
            </a:r>
            <a:endParaRPr lang="en-US" sz="1050" dirty="0"/>
          </a:p>
        </p:txBody>
      </p:sp>
      <p:sp>
        <p:nvSpPr>
          <p:cNvPr id="17" name="Text 14"/>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July 2024</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ttps://www.gettyimages.com/detail/photo/ulugh-beg-madrasah-samarkand-royalty-free-image/106467616">    </p:cNvPr>
          <p:cNvPicPr>
            <a:picLocks noChangeAspect="1"/>
          </p:cNvPicPr>
          <p:nvPr/>
        </p:nvPicPr>
        <p:blipFill>
          <a:blip r:embed="rId1"/>
          <a:srcRect l="12383" r="11393" t="0" b="0"/>
          <a:stretch/>
        </p:blipFill>
        <p:spPr>
          <a:xfrm>
            <a:off x="0" y="763825"/>
            <a:ext cx="4389120" cy="3239060"/>
          </a:xfrm>
          <a:prstGeom prst="rect">
            <a:avLst/>
          </a:prstGeom>
        </p:spPr>
      </p:pic>
      <p:sp>
        <p:nvSpPr>
          <p:cNvPr id="3" name="Text 0"/>
          <p:cNvSpPr/>
          <p:nvPr/>
        </p:nvSpPr>
        <p:spPr>
          <a:xfrm>
            <a:off x="381000" y="4426587"/>
            <a:ext cx="2746314" cy="36195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200" dirty="0">
                <a:solidFill>
                  <a:srgbClr val="191919"/>
                </a:solidFill>
                <a:latin typeface="IBM Plex Mono Medium" pitchFamily="34" charset="0"/>
                <a:ea typeface="IBM Plex Mono Medium" pitchFamily="34" charset="-122"/>
                <a:cs typeface="IBM Plex Mono Medium" pitchFamily="34" charset="-120"/>
              </a:rPr>
              <a:t>Ulug‘bekning ta’siri</a:t>
            </a:r>
            <a:endParaRPr lang="en-US" sz="1050" dirty="0"/>
          </a:p>
        </p:txBody>
      </p:sp>
      <p:sp>
        <p:nvSpPr>
          <p:cNvPr id="4" name="Text 1"/>
          <p:cNvSpPr/>
          <p:nvPr/>
        </p:nvSpPr>
        <p:spPr>
          <a:xfrm>
            <a:off x="4943202" y="1700583"/>
            <a:ext cx="3452100" cy="7536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BM Plex Mono" pitchFamily="34" charset="0"/>
                <a:ea typeface="IBM Plex Mono" pitchFamily="34" charset="-122"/>
                <a:cs typeface="IBM Plex Mono" pitchFamily="34" charset="-120"/>
              </a:rPr>
              <a:t>Ulug‘bek ilmiy ishlari Yevropa va Sharq olimlariga kuchli ta’sir ko‘rsatdi.</a:t>
            </a:r>
            <a:endParaRPr lang="en-US" sz="1050" dirty="0"/>
          </a:p>
        </p:txBody>
      </p:sp>
      <p:sp>
        <p:nvSpPr>
          <p:cNvPr id="5" name="Text 2"/>
          <p:cNvSpPr/>
          <p:nvPr/>
        </p:nvSpPr>
        <p:spPr>
          <a:xfrm>
            <a:off x="4943202" y="825738"/>
            <a:ext cx="2650320" cy="4241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Uning izdoshlari ilmiy izlanishlarni davom ettirdi.</a:t>
            </a:r>
            <a:endParaRPr lang="en-US" sz="1050" dirty="0"/>
          </a:p>
        </p:txBody>
      </p:sp>
      <p:sp>
        <p:nvSpPr>
          <p:cNvPr id="6" name="Text 3"/>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Bugungi kunda ham uning merosi o‘rganilmoqda.</a:t>
            </a:r>
            <a:endParaRPr lang="en-US" sz="1050" dirty="0"/>
          </a:p>
        </p:txBody>
      </p:sp>
      <p:sp>
        <p:nvSpPr>
          <p:cNvPr id="7" name="Text 4"/>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July 2024</a:t>
            </a:r>
            <a:endParaRPr lang="en-US" sz="1050" dirty="0"/>
          </a:p>
        </p:txBody>
      </p:sp>
      <p:sp>
        <p:nvSpPr>
          <p:cNvPr id="8" name="Text 5"/>
          <p:cNvSpPr/>
          <p:nvPr/>
        </p:nvSpPr>
        <p:spPr>
          <a:xfrm>
            <a:off x="4943202" y="2845304"/>
            <a:ext cx="3819900" cy="133770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nter" pitchFamily="34" charset="0"/>
                <a:ea typeface="Inter" pitchFamily="34" charset="-122"/>
                <a:cs typeface="Inter" pitchFamily="34" charset="-120"/>
              </a:rPr>
              <a:t>Lorem ipsum dolor sit amet, consectetur adipiscing elit. Integer vitae leo sapien. Morbi eget dictum turpis. Class aptent taciti sociosqu ad litora torquent per conubia nostra, per inceptos himenaeos. Aliquam euismod pharetra laoreet. Phasellus et nisl at eros maximus luctus. Maecenas ornare ligula euismod sagittis pretium. Nunc vestibulum dictum nulla, sed aliquet metus ornare eu.</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ttps://pixabay.com/get/g6fdb0f1e6ee3d8f9a07d5ba2c8bc5e1a2253f0e5.jpg">    </p:cNvPr>
          <p:cNvPicPr>
            <a:picLocks noChangeAspect="1"/>
          </p:cNvPicPr>
          <p:nvPr/>
        </p:nvPicPr>
        <p:blipFill>
          <a:blip r:embed="rId1"/>
          <a:stretch>
            <a:fillRect/>
          </a:stretch>
        </p:blipFill>
        <p:spPr>
          <a:xfrm>
            <a:off x="381025" y="1706700"/>
            <a:ext cx="2024050" cy="3066557"/>
          </a:xfrm>
          <a:prstGeom prst="rect">
            <a:avLst/>
          </a:prstGeom>
        </p:spPr>
      </p:pic>
      <p:pic>
        <p:nvPicPr>
          <p:cNvPr id="3" name="Image 1" descr="./images\slide9_img10.jpeg">    </p:cNvPr>
          <p:cNvPicPr>
            <a:picLocks noChangeAspect="1"/>
          </p:cNvPicPr>
          <p:nvPr/>
        </p:nvPicPr>
        <p:blipFill>
          <a:blip r:embed="rId2"/>
          <a:stretch>
            <a:fillRect/>
          </a:stretch>
        </p:blipFill>
        <p:spPr>
          <a:xfrm>
            <a:off x="2500312" y="1706700"/>
            <a:ext cx="2024050" cy="3066577"/>
          </a:xfrm>
          <a:prstGeom prst="rect">
            <a:avLst/>
          </a:prstGeom>
        </p:spPr>
      </p:pic>
      <p:pic>
        <p:nvPicPr>
          <p:cNvPr id="4" name="Image 2" descr="./images\slide9_img11.jpeg">    </p:cNvPr>
          <p:cNvPicPr>
            <a:picLocks noChangeAspect="1"/>
          </p:cNvPicPr>
          <p:nvPr/>
        </p:nvPicPr>
        <p:blipFill>
          <a:blip r:embed="rId3"/>
          <a:stretch>
            <a:fillRect/>
          </a:stretch>
        </p:blipFill>
        <p:spPr>
          <a:xfrm>
            <a:off x="4619638" y="1706075"/>
            <a:ext cx="2024050" cy="3066565"/>
          </a:xfrm>
          <a:prstGeom prst="rect">
            <a:avLst/>
          </a:prstGeom>
        </p:spPr>
      </p:pic>
      <p:pic>
        <p:nvPicPr>
          <p:cNvPr id="5" name="Image 3" descr="./images\slide9_img12.jpeg">    </p:cNvPr>
          <p:cNvPicPr>
            <a:picLocks noChangeAspect="1"/>
          </p:cNvPicPr>
          <p:nvPr/>
        </p:nvPicPr>
        <p:blipFill>
          <a:blip r:embed="rId4"/>
          <a:stretch>
            <a:fillRect/>
          </a:stretch>
        </p:blipFill>
        <p:spPr>
          <a:xfrm>
            <a:off x="6738926" y="1706700"/>
            <a:ext cx="2024025" cy="3066545"/>
          </a:xfrm>
          <a:prstGeom prst="rect">
            <a:avLst/>
          </a:prstGeom>
        </p:spPr>
      </p:pic>
      <p:sp>
        <p:nvSpPr>
          <p:cNvPr id="6" name="Text 0"/>
          <p:cNvSpPr/>
          <p:nvPr/>
        </p:nvSpPr>
        <p:spPr>
          <a:xfrm>
            <a:off x="381000" y="1276172"/>
            <a:ext cx="6527035" cy="1828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1050" dirty="0">
                <a:solidFill>
                  <a:srgbClr val="191919"/>
                </a:solidFill>
                <a:latin typeface="IBM Plex Mono" pitchFamily="34" charset="0"/>
                <a:ea typeface="IBM Plex Mono" pitchFamily="34" charset="-122"/>
                <a:cs typeface="IBM Plex Mono" pitchFamily="34" charset="-120"/>
              </a:rPr>
              <a:t>Xulosa</a:t>
            </a:r>
            <a:endParaRPr lang="en-US" sz="1050" dirty="0"/>
          </a:p>
        </p:txBody>
      </p:sp>
      <p:sp>
        <p:nvSpPr>
          <p:cNvPr id="7" name="Text 1"/>
          <p:cNvSpPr/>
          <p:nvPr/>
        </p:nvSpPr>
        <p:spPr>
          <a:xfrm>
            <a:off x="381000" y="825738"/>
            <a:ext cx="2650320" cy="424180"/>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3150" dirty="0">
                <a:solidFill>
                  <a:srgbClr val="191919"/>
                </a:solidFill>
                <a:latin typeface="Inter" pitchFamily="34" charset="0"/>
                <a:ea typeface="Inter" pitchFamily="34" charset="-122"/>
                <a:cs typeface="Inter" pitchFamily="34" charset="-120"/>
              </a:rPr>
              <a:t>Mirzo Ulug‘bek – ilm-fan va ta’limning buyuk homiysi. U nafaqat astronomiya, balki matematika va madaniyat rivojida ham ulkan o‘rin tutadi.</a:t>
            </a:r>
            <a:endParaRPr lang="en-US" sz="1050" dirty="0"/>
          </a:p>
        </p:txBody>
      </p:sp>
      <p:sp>
        <p:nvSpPr>
          <p:cNvPr id="8" name="Text 2"/>
          <p:cNvSpPr/>
          <p:nvPr/>
        </p:nvSpPr>
        <p:spPr>
          <a:xfrm>
            <a:off x="381000" y="391477"/>
            <a:ext cx="1049480" cy="122873"/>
          </a:xfrm>
          <a:prstGeom prst="rect">
            <a:avLst/>
          </a:prstGeom>
          <a:noFill/>
          <a:ln/>
        </p:spPr>
        <p:txBody>
          <a:bodyPr wrap="square" lIns="95250" tIns="95250" rIns="95250" bIns="95250" rtlCol="0" anchor="t">
            <a:spAutoFit/>
          </a:bodyPr>
          <a:lstStyle/>
          <a:p>
            <a:pPr algn="l"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Uning merosi butun insoniyat uchun bebaho qadriyatdir.</a:t>
            </a:r>
            <a:endParaRPr lang="en-US" sz="1050" dirty="0"/>
          </a:p>
        </p:txBody>
      </p:sp>
      <p:sp>
        <p:nvSpPr>
          <p:cNvPr id="9" name="Text 3"/>
          <p:cNvSpPr/>
          <p:nvPr/>
        </p:nvSpPr>
        <p:spPr>
          <a:xfrm>
            <a:off x="7713520" y="391477"/>
            <a:ext cx="1049480" cy="122873"/>
          </a:xfrm>
          <a:prstGeom prst="rect">
            <a:avLst/>
          </a:prstGeom>
          <a:noFill/>
          <a:ln/>
        </p:spPr>
        <p:txBody>
          <a:bodyPr wrap="square" lIns="95250" tIns="95250" rIns="95250" bIns="95250" rtlCol="0" anchor="t">
            <a:spAutoFit/>
          </a:bodyPr>
          <a:lstStyle/>
          <a:p>
            <a:pPr algn="r" indent="0" marL="0">
              <a:lnSpc>
                <a:spcPct val="80000"/>
              </a:lnSpc>
              <a:spcBef>
                <a:spcPts val="375"/>
              </a:spcBef>
              <a:buNone/>
            </a:pPr>
            <a:r>
              <a:rPr lang="en-US" sz="900" dirty="0">
                <a:solidFill>
                  <a:srgbClr val="191919"/>
                </a:solidFill>
                <a:latin typeface="IBM Plex Mono" pitchFamily="34" charset="0"/>
                <a:ea typeface="IBM Plex Mono" pitchFamily="34" charset="-122"/>
                <a:cs typeface="IBM Plex Mono" pitchFamily="34" charset="-120"/>
              </a:rPr>
              <a:t>July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2025-09-30T10:04:33Z</dcterms:created>
  <dcterms:modified xsi:type="dcterms:W3CDTF">2025-09-30T10:04:33Z</dcterms:modified>
</cp:coreProperties>
</file>