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slideLayout" Target="../slideLayouts/slideLayout1.xml"/><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jpe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F1"/>
        </a:solidFill>
      </p:bgPr>
    </p:bg>
    <p:spTree>
      <p:nvGrpSpPr>
        <p:cNvPr id="1" name=""/>
        <p:cNvGrpSpPr/>
        <p:nvPr/>
      </p:nvGrpSpPr>
      <p:grpSpPr>
        <a:xfrm>
          <a:off x="0" y="0"/>
          <a:ext cx="0" cy="0"/>
          <a:chOff x="0" y="0"/>
          <a:chExt cx="0" cy="0"/>
        </a:xfrm>
      </p:grpSpPr>
      <p:pic>
        <p:nvPicPr>
          <p:cNvPr id="2" name="Image 0" descr="./images\slide4_img51.png">    </p:cNvPr>
          <p:cNvPicPr>
            <a:picLocks noChangeAspect="1"/>
          </p:cNvPicPr>
          <p:nvPr/>
        </p:nvPicPr>
        <p:blipFill>
          <a:blip r:embed="rId1"/>
          <a:stretch>
            <a:fillRect/>
          </a:stretch>
        </p:blipFill>
        <p:spPr>
          <a:xfrm>
            <a:off x="0" y="0"/>
            <a:ext cx="9144000" cy="5143500"/>
          </a:xfrm>
          <a:prstGeom prst="rect">
            <a:avLst/>
          </a:prstGeom>
        </p:spPr>
      </p:pic>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98465" y="1137012"/>
          <a:ext cx="7147070" cy="2771477"/>
        </p:xfrm>
        <a:graphic>
          <a:graphicData uri="http://schemas.openxmlformats.org/drawingml/2006/table">
            <a:tbl>
              <a:tblPr/>
              <a:tblGrid>
                <a:gridCol w="2382357"/>
                <a:gridCol w="2382357"/>
                <a:gridCol w="2382357"/>
              </a:tblGrid>
              <a:tr h="554295">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O'sma turi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Belgilari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c>
                  <a:txBody>
                    <a:bodyPr/>
                    <a:lstStyle/>
                    <a:p>
                      <a:pPr algn="l" indent="0" marL="0">
                        <a:buNone/>
                      </a:pPr>
                      <a:r>
                        <a:rPr lang="en-US" sz="900" u="none" dirty="0">
                          <a:solidFill>
                            <a:srgbClr val="000000"/>
                          </a:solidFill>
                          <a:latin typeface="Nunito" pitchFamily="34" charset="0"/>
                          <a:ea typeface="Nunito" pitchFamily="34" charset="-122"/>
                          <a:cs typeface="Nunito" pitchFamily="34" charset="-120"/>
                        </a:rPr>
                        <a:t>Davolash usullari</a:t>
                      </a:r>
                      <a:endParaRPr lang="en-US" sz="900" dirty="0">
                        <a:latin typeface="Nunito" charset="0"/>
                        <a:ea typeface="Nunito" charset="0"/>
                        <a:cs typeface="Nunito"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solidFill>
                      <a:srgbClr val="C1C5D4"/>
                    </a:solidFill>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Astrositoma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Mushak kuchsizligi, bosh og'rig'i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Xirurgiya, radioterapiya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Meninjioma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og'rig'i, ko'rish qiyinlishuvi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Xirurgiya, kuzatuv</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Neuroblastoma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Bosh og'rig'i, tez-tez qorin og'rig'i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Xirurgiya, kimyoterapiya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r h="554295">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Glioblastoma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Tez o'suvchi, mushak zaifligi</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c>
                  <a:txBody>
                    <a:bodyPr/>
                    <a:lstStyle/>
                    <a:p>
                      <a:pPr algn="l" indent="0" marL="0">
                        <a:buNone/>
                      </a:pPr>
                      <a:r>
                        <a:rPr lang="en-US" sz="900" u="none" dirty="0">
                          <a:solidFill>
                            <a:srgbClr val="000000"/>
                          </a:solidFill>
                          <a:latin typeface="Calibri" pitchFamily="34" charset="0"/>
                          <a:ea typeface="Calibri" pitchFamily="34" charset="-122"/>
                          <a:cs typeface="Calibri" pitchFamily="34" charset="-120"/>
                        </a:rPr>
                        <a:t>Kimyoterapiya, radioterapiya</a:t>
                      </a:r>
                      <a:endParaRPr lang="en-US" sz="900" dirty="0">
                        <a:latin typeface="Calibri" charset="0"/>
                        <a:ea typeface="Calibri" charset="0"/>
                        <a:cs typeface="Calibri" charset="0"/>
                      </a:endParaRPr>
                    </a:p>
                  </a:txBody>
                  <a:tcPr marL="91440" marR="91440" marT="45720" marB="45720" anchor="ctr">
                    <a:lnL w="4763" cap="flat" cmpd="sng" algn="ctr">
                      <a:solidFill>
                        <a:srgbClr val="000000"/>
                      </a:solidFill>
                      <a:prstDash val="solid"/>
                      <a:round/>
                      <a:headEnd type="none" w="med" len="med"/>
                      <a:tailEnd type="none" w="med" len="med"/>
                    </a:lnL>
                    <a:lnR w="4763" cap="flat" cmpd="sng" algn="ctr">
                      <a:solidFill>
                        <a:srgbClr val="000000"/>
                      </a:solidFill>
                      <a:prstDash val="solid"/>
                      <a:round/>
                      <a:headEnd type="none" w="med" len="med"/>
                      <a:tailEnd type="none" w="med" len="med"/>
                    </a:lnR>
                    <a:lnT w="4763" cap="flat" cmpd="sng" algn="ctr">
                      <a:solidFill>
                        <a:srgbClr val="000000"/>
                      </a:solidFill>
                      <a:prstDash val="solid"/>
                      <a:round/>
                      <a:headEnd type="none" w="med" len="med"/>
                      <a:tailEnd type="none" w="med" len="med"/>
                    </a:lnT>
                    <a:lnB w="4763" cap="flat" cmpd="sng" algn="ctr">
                      <a:solidFill>
                        <a:srgbClr val="000000"/>
                      </a:solidFill>
                      <a:prstDash val="solid"/>
                      <a:round/>
                      <a:headEnd type="none" w="med" len="med"/>
                      <a:tailEnd type="none" w="med" len="med"/>
                    </a:lnB>
                  </a:tcPr>
                </a:tc>
              </a:tr>
            </a:tbl>
          </a:graphicData>
        </a:graphic>
      </p:graphicFrame>
      <p:sp>
        <p:nvSpPr>
          <p:cNvPr id="4" name="Shape 0"/>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FFFFFF">
              <a:alpha val="0"/>
            </a:srgbClr>
          </a:solidFill>
          <a:ln/>
        </p:spPr>
      </p:sp>
      <p:sp>
        <p:nvSpPr>
          <p:cNvPr id="5" name="Text 1"/>
          <p:cNvSpPr/>
          <p:nvPr/>
        </p:nvSpPr>
        <p:spPr>
          <a:xfrm>
            <a:off x="874050" y="246298"/>
            <a:ext cx="7395900" cy="6667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50" y="246298"/>
            <a:ext cx="7395900" cy="666750"/>
          </a:xfrm>
          <a:custGeom>
            <a:avLst/>
            <a:gdLst/>
            <a:ahLst/>
            <a:cxnLst/>
            <a:rect l="l" t="t" r="r" b="b"/>
            <a:pathLst>
              <a:path w="7395900" h="666750">
                <a:moveTo>
                  <a:pt x="0" y="0"/>
                </a:moveTo>
                <a:lnTo>
                  <a:pt x="7395900" y="0"/>
                </a:lnTo>
                <a:lnTo>
                  <a:pt x="7395900" y="666750"/>
                </a:lnTo>
                <a:lnTo>
                  <a:pt x="0" y="666750"/>
                </a:lnTo>
                <a:close/>
              </a:path>
            </a:pathLst>
          </a:custGeom>
          <a:solidFill>
            <a:srgbClr val="000000">
              <a:alpha val="0"/>
            </a:srgbClr>
          </a:solidFill>
          <a:ln/>
        </p:spPr>
      </p:sp>
      <p:sp>
        <p:nvSpPr>
          <p:cNvPr id="7" name="Text 3"/>
          <p:cNvSpPr/>
          <p:nvPr/>
        </p:nvSpPr>
        <p:spPr>
          <a:xfrm>
            <a:off x="874050" y="246298"/>
            <a:ext cx="7395900" cy="6667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Tumor Classification Table</a:t>
            </a:r>
            <a:endParaRPr lang="en-US" sz="1050" dirty="0"/>
          </a:p>
        </p:txBody>
      </p:sp>
      <p:pic>
        <p:nvPicPr>
          <p:cNvPr id="8" name="Image 1" descr="./images\slide4_img52.png">    </p:cNvPr>
          <p:cNvPicPr>
            <a:picLocks noChangeAspect="1"/>
          </p:cNvPicPr>
          <p:nvPr/>
        </p:nvPicPr>
        <p:blipFill>
          <a:blip r:embed="rId2"/>
          <a:stretch>
            <a:fillRect/>
          </a:stretch>
        </p:blipFill>
        <p:spPr>
          <a:xfrm rot="-1800000">
            <a:off x="7936523" y="1969549"/>
            <a:ext cx="1198261" cy="1707367"/>
          </a:xfrm>
          <a:prstGeom prst="rect">
            <a:avLst/>
          </a:prstGeom>
        </p:spPr>
      </p:pic>
      <p:sp>
        <p:nvSpPr>
          <p:cNvPr id="9" name="Shape 4"/>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FFFFFF">
              <a:alpha val="0"/>
            </a:srgbClr>
          </a:solidFill>
          <a:ln/>
        </p:spPr>
      </p:sp>
      <p:sp>
        <p:nvSpPr>
          <p:cNvPr id="10" name="Text 5"/>
          <p:cNvSpPr/>
          <p:nvPr/>
        </p:nvSpPr>
        <p:spPr>
          <a:xfrm rot="-1800000">
            <a:off x="7936523" y="1969549"/>
            <a:ext cx="1198261" cy="1707367"/>
          </a:xfrm>
          <a:prstGeom prst="rect">
            <a:avLst/>
          </a:prstGeom>
          <a:noFill/>
          <a:ln/>
        </p:spPr>
        <p:txBody>
          <a:bodyPr wrap="square" rtlCol="0" anchor="t"/>
          <a:lstStyle/>
          <a:p>
            <a:pPr indent="0" marL="0">
              <a:spcBef>
                <a:spcPts val="375"/>
              </a:spcBef>
              <a:buNone/>
            </a:pPr>
            <a:endParaRPr lang="en-US" sz="1050" dirty="0"/>
          </a:p>
        </p:txBody>
      </p:sp>
      <p:sp>
        <p:nvSpPr>
          <p:cNvPr id="11" name="Shape 6"/>
          <p:cNvSpPr/>
          <p:nvPr/>
        </p:nvSpPr>
        <p:spPr>
          <a:xfrm rot="-1800000">
            <a:off x="7936523" y="1969549"/>
            <a:ext cx="1198261" cy="1707367"/>
          </a:xfrm>
          <a:custGeom>
            <a:avLst/>
            <a:gdLst/>
            <a:ahLst/>
            <a:cxnLst/>
            <a:rect l="l" t="t" r="r" b="b"/>
            <a:pathLst>
              <a:path w="1198261" h="1707367">
                <a:moveTo>
                  <a:pt x="0" y="0"/>
                </a:moveTo>
                <a:lnTo>
                  <a:pt x="1198261" y="0"/>
                </a:lnTo>
                <a:lnTo>
                  <a:pt x="1198261" y="1707367"/>
                </a:lnTo>
                <a:lnTo>
                  <a:pt x="0" y="1707367"/>
                </a:lnTo>
                <a:close/>
              </a:path>
            </a:pathLst>
          </a:custGeom>
          <a:solidFill>
            <a:srgbClr val="000000">
              <a:alpha val="0"/>
            </a:srgbClr>
          </a:solidFill>
          <a:ln/>
        </p:spPr>
      </p:sp>
      <p:sp>
        <p:nvSpPr>
          <p:cNvPr id="12" name="Text 7"/>
          <p:cNvSpPr/>
          <p:nvPr/>
        </p:nvSpPr>
        <p:spPr>
          <a:xfrm rot="-1800000">
            <a:off x="7936523" y="1969549"/>
            <a:ext cx="1198261" cy="1707367"/>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3" name="Image 2" descr="./images\slide4_img53.png">    </p:cNvPr>
          <p:cNvPicPr>
            <a:picLocks noChangeAspect="1"/>
          </p:cNvPicPr>
          <p:nvPr/>
        </p:nvPicPr>
        <p:blipFill>
          <a:blip r:embed="rId3"/>
          <a:stretch>
            <a:fillRect/>
          </a:stretch>
        </p:blipFill>
        <p:spPr>
          <a:xfrm rot="-1800000">
            <a:off x="7936523" y="1969549"/>
            <a:ext cx="1198261" cy="1707367"/>
          </a:xfrm>
          <a:prstGeom prst="rect">
            <a:avLst/>
          </a:prstGeom>
        </p:spPr>
      </p:pic>
      <p:pic>
        <p:nvPicPr>
          <p:cNvPr id="14" name="Image 3" descr="./images\slide4_img54.png">    </p:cNvPr>
          <p:cNvPicPr>
            <a:picLocks noChangeAspect="1"/>
          </p:cNvPicPr>
          <p:nvPr/>
        </p:nvPicPr>
        <p:blipFill>
          <a:blip r:embed="rId4"/>
          <a:stretch>
            <a:fillRect/>
          </a:stretch>
        </p:blipFill>
        <p:spPr>
          <a:xfrm rot="4620000">
            <a:off x="-282748" y="3452461"/>
            <a:ext cx="1086318" cy="1547864"/>
          </a:xfrm>
          <a:prstGeom prst="rect">
            <a:avLst/>
          </a:prstGeom>
        </p:spPr>
      </p:pic>
      <p:sp>
        <p:nvSpPr>
          <p:cNvPr id="15" name="Shape 8"/>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FFFFFF">
              <a:alpha val="0"/>
            </a:srgbClr>
          </a:solidFill>
          <a:ln/>
        </p:spPr>
      </p:sp>
      <p:sp>
        <p:nvSpPr>
          <p:cNvPr id="16" name="Text 9"/>
          <p:cNvSpPr/>
          <p:nvPr/>
        </p:nvSpPr>
        <p:spPr>
          <a:xfrm rot="4620000">
            <a:off x="-282748" y="3452461"/>
            <a:ext cx="1086318" cy="1547864"/>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rot="4620000">
            <a:off x="-282748" y="3452461"/>
            <a:ext cx="1086318" cy="1547864"/>
          </a:xfrm>
          <a:custGeom>
            <a:avLst/>
            <a:gdLst/>
            <a:ahLst/>
            <a:cxnLst/>
            <a:rect l="l" t="t" r="r" b="b"/>
            <a:pathLst>
              <a:path w="1086318" h="1547864">
                <a:moveTo>
                  <a:pt x="0" y="0"/>
                </a:moveTo>
                <a:lnTo>
                  <a:pt x="1086318" y="0"/>
                </a:lnTo>
                <a:lnTo>
                  <a:pt x="1086318" y="1547864"/>
                </a:lnTo>
                <a:lnTo>
                  <a:pt x="0" y="1547864"/>
                </a:lnTo>
                <a:close/>
              </a:path>
            </a:pathLst>
          </a:custGeom>
          <a:solidFill>
            <a:srgbClr val="000000">
              <a:alpha val="0"/>
            </a:srgbClr>
          </a:solidFill>
          <a:ln/>
        </p:spPr>
      </p:sp>
      <p:sp>
        <p:nvSpPr>
          <p:cNvPr id="18" name="Text 11"/>
          <p:cNvSpPr/>
          <p:nvPr/>
        </p:nvSpPr>
        <p:spPr>
          <a:xfrm rot="4620000">
            <a:off x="-282748" y="3452461"/>
            <a:ext cx="1086318" cy="154786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4" descr="./images\slide4_img55.png">    </p:cNvPr>
          <p:cNvPicPr>
            <a:picLocks noChangeAspect="1"/>
          </p:cNvPicPr>
          <p:nvPr/>
        </p:nvPicPr>
        <p:blipFill>
          <a:blip r:embed="rId5"/>
          <a:stretch>
            <a:fillRect/>
          </a:stretch>
        </p:blipFill>
        <p:spPr>
          <a:xfrm rot="4620000">
            <a:off x="-282748" y="3452461"/>
            <a:ext cx="1086318" cy="15478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 Turlari haqida</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o'simliklarning o'ziga xos guruhidir. Ular havo orqali ko'chish va tarqalish uchun moslashgan. Bu turlar ko'plab iqlim sharoitlarida uchraydi.</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va Turlanishi</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Ushbu turlar ko'plab muhim ekotizimlarni qo'llab-quvvatlaydi, shuningdek, oziq-ovqat zanjirida muhim rol o'ynaydi. O'sma turlari asosan havo, suv va tuproqdan oziq moddalar oladi.</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Turlarining Turlari</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Ular o'z jismoniy xususiyatlari bilan bir-biridan farq qiladi. Ba'zilari tez o'sadi, boshqalari esa sekin o'sadi, bu ularning yashash joylariga bog'liq.</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Turlarini Nazorat Qilish</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turlarini nazorat qilish muhimdir, chunki ularni saqlab qolish va muhofaza qilish zarur. Ularning yo'qolishi ekotizimga salbiy ta'sir ko'rsatishi mumkin.</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va Ularning Ahmiyati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7_img71.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7_img72.png">    </p:cNvPr>
          <p:cNvPicPr>
            <a:picLocks noChangeAspect="1"/>
          </p:cNvPicPr>
          <p:nvPr/>
        </p:nvPicPr>
        <p:blipFill>
          <a:blip r:embed="rId2"/>
          <a:stretch>
            <a:fillRect/>
          </a:stretch>
        </p:blipFill>
        <p:spPr>
          <a:xfrm>
            <a:off x="998990" y="2046872"/>
            <a:ext cx="590056" cy="590056"/>
          </a:xfrm>
          <a:prstGeom prst="rect">
            <a:avLst/>
          </a:prstGeom>
        </p:spPr>
      </p:pic>
      <p:sp>
        <p:nvSpPr>
          <p:cNvPr id="4" name="Shape 0"/>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 name="Text 1"/>
          <p:cNvSpPr/>
          <p:nvPr/>
        </p:nvSpPr>
        <p:spPr>
          <a:xfrm>
            <a:off x="998990" y="2046872"/>
            <a:ext cx="590056" cy="5900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7" name="Text 3"/>
          <p:cNvSpPr/>
          <p:nvPr/>
        </p:nvSpPr>
        <p:spPr>
          <a:xfrm>
            <a:off x="998990" y="2046872"/>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8" name="Shape 4"/>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9" name="Text 5"/>
          <p:cNvSpPr/>
          <p:nvPr/>
        </p:nvSpPr>
        <p:spPr>
          <a:xfrm>
            <a:off x="1054308" y="2074531"/>
            <a:ext cx="479420" cy="215875"/>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11" name="Text 7"/>
          <p:cNvSpPr/>
          <p:nvPr/>
        </p:nvSpPr>
        <p:spPr>
          <a:xfrm>
            <a:off x="1054308" y="2074531"/>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2" name="Image 2" descr="./images\slide7_img73.png">    </p:cNvPr>
          <p:cNvPicPr>
            <a:picLocks noChangeAspect="1"/>
          </p:cNvPicPr>
          <p:nvPr/>
        </p:nvPicPr>
        <p:blipFill>
          <a:blip r:embed="rId3"/>
          <a:stretch>
            <a:fillRect/>
          </a:stretch>
        </p:blipFill>
        <p:spPr>
          <a:xfrm rot="-1020000">
            <a:off x="4361650" y="2004586"/>
            <a:ext cx="1018992" cy="1264684"/>
          </a:xfrm>
          <a:prstGeom prst="rect">
            <a:avLst/>
          </a:prstGeom>
        </p:spPr>
      </p:pic>
      <p:sp>
        <p:nvSpPr>
          <p:cNvPr id="13" name="Shape 8"/>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FFFFFF">
              <a:alpha val="0"/>
            </a:srgbClr>
          </a:solidFill>
          <a:ln/>
        </p:spPr>
      </p:sp>
      <p:sp>
        <p:nvSpPr>
          <p:cNvPr id="14" name="Text 9"/>
          <p:cNvSpPr/>
          <p:nvPr/>
        </p:nvSpPr>
        <p:spPr>
          <a:xfrm>
            <a:off x="998990" y="531999"/>
            <a:ext cx="7383349" cy="723900"/>
          </a:xfrm>
          <a:prstGeom prst="rect">
            <a:avLst/>
          </a:prstGeom>
          <a:noFill/>
          <a:ln/>
        </p:spPr>
        <p:txBody>
          <a:bodyPr wrap="square" rtlCol="0" anchor="t"/>
          <a:lstStyle/>
          <a:p>
            <a:pPr indent="0" marL="0">
              <a:spcBef>
                <a:spcPts val="375"/>
              </a:spcBef>
              <a:buNone/>
            </a:pPr>
            <a:endParaRPr lang="en-US" sz="1050" dirty="0"/>
          </a:p>
        </p:txBody>
      </p:sp>
      <p:sp>
        <p:nvSpPr>
          <p:cNvPr id="15" name="Shape 10"/>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000000">
              <a:alpha val="0"/>
            </a:srgbClr>
          </a:solidFill>
          <a:ln/>
        </p:spPr>
      </p:sp>
      <p:sp>
        <p:nvSpPr>
          <p:cNvPr id="16" name="Text 11"/>
          <p:cNvSpPr/>
          <p:nvPr/>
        </p:nvSpPr>
        <p:spPr>
          <a:xfrm>
            <a:off x="998990" y="531999"/>
            <a:ext cx="7383349" cy="723900"/>
          </a:xfrm>
          <a:prstGeom prst="rect">
            <a:avLst/>
          </a:prstGeom>
          <a:noFill/>
          <a:ln/>
        </p:spPr>
        <p:txBody>
          <a:bodyPr wrap="square" rtlCol="0" anchor="t"/>
          <a:lstStyle/>
          <a:p>
            <a:pPr algn="l" indent="0" marL="0">
              <a:spcBef>
                <a:spcPts val="375"/>
              </a:spcBef>
              <a:buNone/>
            </a:pPr>
            <a:r>
              <a:rPr lang="en-US" sz="4950" dirty="0">
                <a:solidFill>
                  <a:srgbClr val="45464D"/>
                </a:solidFill>
                <a:latin typeface="Caveat Brush" pitchFamily="34" charset="0"/>
                <a:ea typeface="Caveat Brush" pitchFamily="34" charset="-122"/>
                <a:cs typeface="Caveat Brush" pitchFamily="34" charset="-120"/>
              </a:rPr>
              <a:t>O'smalarni Tashxislash</a:t>
            </a:r>
            <a:endParaRPr lang="en-US" sz="1050" dirty="0"/>
          </a:p>
        </p:txBody>
      </p:sp>
      <p:sp>
        <p:nvSpPr>
          <p:cNvPr id="17" name="Shape 12"/>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FFFFFF">
              <a:alpha val="0"/>
            </a:srgbClr>
          </a:solidFill>
          <a:ln/>
        </p:spPr>
      </p:sp>
      <p:sp>
        <p:nvSpPr>
          <p:cNvPr id="18" name="Text 13"/>
          <p:cNvSpPr/>
          <p:nvPr/>
        </p:nvSpPr>
        <p:spPr>
          <a:xfrm>
            <a:off x="1804873" y="2571750"/>
            <a:ext cx="2026586" cy="1802559"/>
          </a:xfrm>
          <a:prstGeom prst="rect">
            <a:avLst/>
          </a:prstGeom>
          <a:noFill/>
          <a:ln/>
        </p:spPr>
        <p:txBody>
          <a:bodyPr wrap="square" rtlCol="0" anchor="t"/>
          <a:lstStyle/>
          <a:p>
            <a:pPr indent="0" marL="0">
              <a:spcBef>
                <a:spcPts val="375"/>
              </a:spcBef>
              <a:buNone/>
            </a:pPr>
            <a:endParaRPr lang="en-US" sz="1050" dirty="0"/>
          </a:p>
        </p:txBody>
      </p:sp>
      <p:sp>
        <p:nvSpPr>
          <p:cNvPr id="19" name="Shape 14"/>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000000">
              <a:alpha val="0"/>
            </a:srgbClr>
          </a:solidFill>
          <a:ln/>
        </p:spPr>
      </p:sp>
      <p:sp>
        <p:nvSpPr>
          <p:cNvPr id="20" name="Text 15"/>
          <p:cNvSpPr/>
          <p:nvPr/>
        </p:nvSpPr>
        <p:spPr>
          <a:xfrm>
            <a:off x="1804873" y="2571750"/>
            <a:ext cx="2026586" cy="180255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tashxislash jarayoni kasalliklarni aniqlashda muhim ahamiyatga ega. O'smalarni tez va to'g'ri aniqlash, bemorlar uchun samarali davolash imkoniyatlarini taqdim etadi.</a:t>
            </a:r>
            <a:endParaRPr lang="en-US" sz="1050" dirty="0"/>
          </a:p>
        </p:txBody>
      </p:sp>
      <p:sp>
        <p:nvSpPr>
          <p:cNvPr id="21" name="Shape 16"/>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22" name="Text 17"/>
          <p:cNvSpPr/>
          <p:nvPr/>
        </p:nvSpPr>
        <p:spPr>
          <a:xfrm>
            <a:off x="1804873" y="2032584"/>
            <a:ext cx="2026586" cy="241399"/>
          </a:xfrm>
          <a:prstGeom prst="rect">
            <a:avLst/>
          </a:prstGeom>
          <a:noFill/>
          <a:ln/>
        </p:spPr>
        <p:txBody>
          <a:bodyPr wrap="square" rtlCol="0" anchor="t"/>
          <a:lstStyle/>
          <a:p>
            <a:pPr indent="0" marL="0">
              <a:spcBef>
                <a:spcPts val="375"/>
              </a:spcBef>
              <a:buNone/>
            </a:pPr>
            <a:endParaRPr lang="en-US" sz="1050" dirty="0"/>
          </a:p>
        </p:txBody>
      </p:sp>
      <p:sp>
        <p:nvSpPr>
          <p:cNvPr id="23" name="Shape 18"/>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24" name="Text 19"/>
          <p:cNvSpPr/>
          <p:nvPr/>
        </p:nvSpPr>
        <p:spPr>
          <a:xfrm>
            <a:off x="1804873" y="2032584"/>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 va ularning turlari</a:t>
            </a:r>
            <a:endParaRPr lang="en-US" sz="1050" dirty="0"/>
          </a:p>
        </p:txBody>
      </p:sp>
      <p:pic>
        <p:nvPicPr>
          <p:cNvPr id="25" name="Image 3" descr="./images\slide7_img74.png">    </p:cNvPr>
          <p:cNvPicPr>
            <a:picLocks noChangeAspect="1"/>
          </p:cNvPicPr>
          <p:nvPr/>
        </p:nvPicPr>
        <p:blipFill>
          <a:blip r:embed="rId4"/>
          <a:stretch>
            <a:fillRect/>
          </a:stretch>
        </p:blipFill>
        <p:spPr>
          <a:xfrm>
            <a:off x="1112106" y="2144560"/>
            <a:ext cx="363823" cy="394680"/>
          </a:xfrm>
          <a:prstGeom prst="rect">
            <a:avLst/>
          </a:prstGeom>
        </p:spPr>
      </p:pic>
      <p:sp>
        <p:nvSpPr>
          <p:cNvPr id="26" name="Shape 20"/>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FFFFFF">
              <a:alpha val="0"/>
            </a:srgbClr>
          </a:solidFill>
          <a:ln/>
        </p:spPr>
      </p:sp>
      <p:sp>
        <p:nvSpPr>
          <p:cNvPr id="27" name="Text 21"/>
          <p:cNvSpPr/>
          <p:nvPr/>
        </p:nvSpPr>
        <p:spPr>
          <a:xfrm>
            <a:off x="1294018" y="1488574"/>
            <a:ext cx="363823" cy="394680"/>
          </a:xfrm>
          <a:prstGeom prst="rect">
            <a:avLst/>
          </a:prstGeom>
          <a:noFill/>
          <a:ln/>
        </p:spPr>
        <p:txBody>
          <a:bodyPr wrap="square" rtlCol="0" anchor="t"/>
          <a:lstStyle/>
          <a:p>
            <a:pPr indent="0" marL="0">
              <a:spcBef>
                <a:spcPts val="375"/>
              </a:spcBef>
              <a:buNone/>
            </a:pPr>
            <a:endParaRPr lang="en-US" sz="1050" dirty="0"/>
          </a:p>
        </p:txBody>
      </p:sp>
      <p:sp>
        <p:nvSpPr>
          <p:cNvPr id="28" name="Shape 22"/>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000000">
              <a:alpha val="0"/>
            </a:srgbClr>
          </a:solidFill>
          <a:ln/>
        </p:spPr>
      </p:sp>
      <p:sp>
        <p:nvSpPr>
          <p:cNvPr id="29" name="Text 23"/>
          <p:cNvSpPr/>
          <p:nvPr/>
        </p:nvSpPr>
        <p:spPr>
          <a:xfrm>
            <a:off x="1294018" y="1488574"/>
            <a:ext cx="363823" cy="39468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0" name="Image 4" descr="./images\slide7_img75.png">    </p:cNvPr>
          <p:cNvPicPr>
            <a:picLocks noChangeAspect="1"/>
          </p:cNvPicPr>
          <p:nvPr/>
        </p:nvPicPr>
        <p:blipFill>
          <a:blip r:embed="rId5"/>
          <a:stretch>
            <a:fillRect/>
          </a:stretch>
        </p:blipFill>
        <p:spPr>
          <a:xfrm>
            <a:off x="5830897" y="2044376"/>
            <a:ext cx="590056" cy="590056"/>
          </a:xfrm>
          <a:prstGeom prst="rect">
            <a:avLst/>
          </a:prstGeom>
        </p:spPr>
      </p:pic>
      <p:sp>
        <p:nvSpPr>
          <p:cNvPr id="31" name="Shape 24"/>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32" name="Text 25"/>
          <p:cNvSpPr/>
          <p:nvPr/>
        </p:nvSpPr>
        <p:spPr>
          <a:xfrm>
            <a:off x="5830897" y="2044376"/>
            <a:ext cx="590056" cy="59005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34" name="Text 27"/>
          <p:cNvSpPr/>
          <p:nvPr/>
        </p:nvSpPr>
        <p:spPr>
          <a:xfrm>
            <a:off x="5830897" y="2044376"/>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5" name="Shape 28"/>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36" name="Text 29"/>
          <p:cNvSpPr/>
          <p:nvPr/>
        </p:nvSpPr>
        <p:spPr>
          <a:xfrm>
            <a:off x="5886215" y="2072035"/>
            <a:ext cx="479420" cy="215875"/>
          </a:xfrm>
          <a:prstGeom prst="rect">
            <a:avLst/>
          </a:prstGeom>
          <a:noFill/>
          <a:ln/>
        </p:spPr>
        <p:txBody>
          <a:bodyPr wrap="square" rtlCol="0" anchor="t"/>
          <a:lstStyle/>
          <a:p>
            <a:pPr indent="0" marL="0">
              <a:spcBef>
                <a:spcPts val="375"/>
              </a:spcBef>
              <a:buNone/>
            </a:pPr>
            <a:endParaRPr lang="en-US" sz="1050" dirty="0"/>
          </a:p>
        </p:txBody>
      </p:sp>
      <p:sp>
        <p:nvSpPr>
          <p:cNvPr id="37" name="Shape 30"/>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38" name="Text 31"/>
          <p:cNvSpPr/>
          <p:nvPr/>
        </p:nvSpPr>
        <p:spPr>
          <a:xfrm>
            <a:off x="5886215" y="2072035"/>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9" name="Shape 32"/>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FFFFFF">
              <a:alpha val="0"/>
            </a:srgbClr>
          </a:solidFill>
          <a:ln/>
        </p:spPr>
      </p:sp>
      <p:sp>
        <p:nvSpPr>
          <p:cNvPr id="40" name="Text 33"/>
          <p:cNvSpPr/>
          <p:nvPr/>
        </p:nvSpPr>
        <p:spPr>
          <a:xfrm>
            <a:off x="6636780" y="2396989"/>
            <a:ext cx="2026586" cy="1294639"/>
          </a:xfrm>
          <a:prstGeom prst="rect">
            <a:avLst/>
          </a:prstGeom>
          <a:noFill/>
          <a:ln/>
        </p:spPr>
        <p:txBody>
          <a:bodyPr wrap="square" rtlCol="0" anchor="t"/>
          <a:lstStyle/>
          <a:p>
            <a:pPr indent="0" marL="0">
              <a:spcBef>
                <a:spcPts val="375"/>
              </a:spcBef>
              <a:buNone/>
            </a:pPr>
            <a:endParaRPr lang="en-US" sz="1050" dirty="0"/>
          </a:p>
        </p:txBody>
      </p:sp>
      <p:sp>
        <p:nvSpPr>
          <p:cNvPr id="41" name="Shape 34"/>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000000">
              <a:alpha val="0"/>
            </a:srgbClr>
          </a:solidFill>
          <a:ln/>
        </p:spPr>
      </p:sp>
      <p:sp>
        <p:nvSpPr>
          <p:cNvPr id="42" name="Text 35"/>
          <p:cNvSpPr/>
          <p:nvPr/>
        </p:nvSpPr>
        <p:spPr>
          <a:xfrm>
            <a:off x="6636780" y="2396989"/>
            <a:ext cx="2026586" cy="12946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aniqlashda foydalaniladigan asosiy usullar: rentgenografiya, ultratovush tekshiruvi, kompyuter tomografiyasi, magnet-rezonans tomografiyasi va biopsiya. Har bir usul o'ziga xos afzalliklarga va cheklovlarga ega.</a:t>
            </a:r>
            <a:endParaRPr lang="en-US" sz="1050" dirty="0"/>
          </a:p>
        </p:txBody>
      </p:sp>
      <p:sp>
        <p:nvSpPr>
          <p:cNvPr id="43" name="Shape 36"/>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44" name="Text 37"/>
          <p:cNvSpPr/>
          <p:nvPr/>
        </p:nvSpPr>
        <p:spPr>
          <a:xfrm>
            <a:off x="6636780" y="2030089"/>
            <a:ext cx="2026586" cy="241399"/>
          </a:xfrm>
          <a:prstGeom prst="rect">
            <a:avLst/>
          </a:prstGeom>
          <a:noFill/>
          <a:ln/>
        </p:spPr>
        <p:txBody>
          <a:bodyPr wrap="square" rtlCol="0" anchor="t"/>
          <a:lstStyle/>
          <a:p>
            <a:pPr indent="0" marL="0">
              <a:spcBef>
                <a:spcPts val="375"/>
              </a:spcBef>
              <a:buNone/>
            </a:pPr>
            <a:endParaRPr lang="en-US" sz="1050" dirty="0"/>
          </a:p>
        </p:txBody>
      </p:sp>
      <p:sp>
        <p:nvSpPr>
          <p:cNvPr id="45" name="Shape 38"/>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46" name="Text 39"/>
          <p:cNvSpPr/>
          <p:nvPr/>
        </p:nvSpPr>
        <p:spPr>
          <a:xfrm>
            <a:off x="6636780" y="2030089"/>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 tasniflash</a:t>
            </a:r>
            <a:endParaRPr lang="en-US" sz="1050" dirty="0"/>
          </a:p>
        </p:txBody>
      </p:sp>
      <p:pic>
        <p:nvPicPr>
          <p:cNvPr id="47" name="Image 5" descr="./images\slide7_img76.png">    </p:cNvPr>
          <p:cNvPicPr>
            <a:picLocks noChangeAspect="1"/>
          </p:cNvPicPr>
          <p:nvPr/>
        </p:nvPicPr>
        <p:blipFill>
          <a:blip r:embed="rId6"/>
          <a:stretch>
            <a:fillRect/>
          </a:stretch>
        </p:blipFill>
        <p:spPr>
          <a:xfrm>
            <a:off x="5953101" y="2164353"/>
            <a:ext cx="345646" cy="350102"/>
          </a:xfrm>
          <a:prstGeom prst="rect">
            <a:avLst/>
          </a:prstGeom>
        </p:spPr>
      </p:pic>
      <p:pic>
        <p:nvPicPr>
          <p:cNvPr id="48" name="Image 6" descr="./images\slide7_img77.png">    </p:cNvPr>
          <p:cNvPicPr>
            <a:picLocks noChangeAspect="1"/>
          </p:cNvPicPr>
          <p:nvPr/>
        </p:nvPicPr>
        <p:blipFill>
          <a:blip r:embed="rId7"/>
          <a:stretch>
            <a:fillRect/>
          </a:stretch>
        </p:blipFill>
        <p:spPr>
          <a:xfrm>
            <a:off x="3274429" y="4092459"/>
            <a:ext cx="590056" cy="590056"/>
          </a:xfrm>
          <a:prstGeom prst="rect">
            <a:avLst/>
          </a:prstGeom>
        </p:spPr>
      </p:pic>
      <p:sp>
        <p:nvSpPr>
          <p:cNvPr id="49" name="Shape 40"/>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0" name="Text 41"/>
          <p:cNvSpPr/>
          <p:nvPr/>
        </p:nvSpPr>
        <p:spPr>
          <a:xfrm>
            <a:off x="3274429" y="4092459"/>
            <a:ext cx="590056" cy="590056"/>
          </a:xfrm>
          <a:prstGeom prst="rect">
            <a:avLst/>
          </a:prstGeom>
          <a:noFill/>
          <a:ln/>
        </p:spPr>
        <p:txBody>
          <a:bodyPr wrap="square" rtlCol="0" anchor="t"/>
          <a:lstStyle/>
          <a:p>
            <a:pPr indent="0" marL="0">
              <a:spcBef>
                <a:spcPts val="375"/>
              </a:spcBef>
              <a:buNone/>
            </a:pPr>
            <a:endParaRPr lang="en-US" sz="1050" dirty="0"/>
          </a:p>
        </p:txBody>
      </p:sp>
      <p:sp>
        <p:nvSpPr>
          <p:cNvPr id="51" name="Shape 42"/>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52" name="Text 43"/>
          <p:cNvSpPr/>
          <p:nvPr/>
        </p:nvSpPr>
        <p:spPr>
          <a:xfrm>
            <a:off x="3274429" y="4092459"/>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3" name="Shape 44"/>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54" name="Text 45"/>
          <p:cNvSpPr/>
          <p:nvPr/>
        </p:nvSpPr>
        <p:spPr>
          <a:xfrm>
            <a:off x="3329747" y="4120118"/>
            <a:ext cx="479420" cy="215875"/>
          </a:xfrm>
          <a:prstGeom prst="rect">
            <a:avLst/>
          </a:prstGeom>
          <a:noFill/>
          <a:ln/>
        </p:spPr>
        <p:txBody>
          <a:bodyPr wrap="square" rtlCol="0" anchor="t"/>
          <a:lstStyle/>
          <a:p>
            <a:pPr indent="0" marL="0">
              <a:spcBef>
                <a:spcPts val="375"/>
              </a:spcBef>
              <a:buNone/>
            </a:pPr>
            <a:endParaRPr lang="en-US" sz="1050" dirty="0"/>
          </a:p>
        </p:txBody>
      </p:sp>
      <p:sp>
        <p:nvSpPr>
          <p:cNvPr id="55" name="Shape 46"/>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56" name="Text 47"/>
          <p:cNvSpPr/>
          <p:nvPr/>
        </p:nvSpPr>
        <p:spPr>
          <a:xfrm>
            <a:off x="3329747" y="4120118"/>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7" name="Shape 48"/>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FFFFFF">
              <a:alpha val="0"/>
            </a:srgbClr>
          </a:solidFill>
          <a:ln/>
        </p:spPr>
      </p:sp>
      <p:sp>
        <p:nvSpPr>
          <p:cNvPr id="58" name="Text 49"/>
          <p:cNvSpPr/>
          <p:nvPr/>
        </p:nvSpPr>
        <p:spPr>
          <a:xfrm>
            <a:off x="4080313" y="4335487"/>
            <a:ext cx="3243423" cy="857523"/>
          </a:xfrm>
          <a:prstGeom prst="rect">
            <a:avLst/>
          </a:prstGeom>
          <a:noFill/>
          <a:ln/>
        </p:spPr>
        <p:txBody>
          <a:bodyPr wrap="square" rtlCol="0" anchor="t"/>
          <a:lstStyle/>
          <a:p>
            <a:pPr indent="0" marL="0">
              <a:spcBef>
                <a:spcPts val="375"/>
              </a:spcBef>
              <a:buNone/>
            </a:pPr>
            <a:endParaRPr lang="en-US" sz="1050" dirty="0"/>
          </a:p>
        </p:txBody>
      </p:sp>
      <p:sp>
        <p:nvSpPr>
          <p:cNvPr id="59" name="Shape 50"/>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000000">
              <a:alpha val="0"/>
            </a:srgbClr>
          </a:solidFill>
          <a:ln/>
        </p:spPr>
      </p:sp>
      <p:sp>
        <p:nvSpPr>
          <p:cNvPr id="60" name="Text 51"/>
          <p:cNvSpPr/>
          <p:nvPr/>
        </p:nvSpPr>
        <p:spPr>
          <a:xfrm>
            <a:off x="4080313" y="4335487"/>
            <a:ext cx="3243423" cy="857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aniqlashda kasallikning belgilari, tarixiy ma'lumotlar va laboratoriya natijalari asosida tahlil qilinadi. Shu sababli, aniqlikni oshirish uchun ko'plab diagnostik usullar qo'llaniladi.</a:t>
            </a:r>
            <a:endParaRPr lang="en-US" sz="1050" dirty="0"/>
          </a:p>
        </p:txBody>
      </p:sp>
      <p:sp>
        <p:nvSpPr>
          <p:cNvPr id="61" name="Shape 52"/>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FFFFFF">
              <a:alpha val="0"/>
            </a:srgbClr>
          </a:solidFill>
          <a:ln/>
        </p:spPr>
      </p:sp>
      <p:sp>
        <p:nvSpPr>
          <p:cNvPr id="62" name="Text 53"/>
          <p:cNvSpPr/>
          <p:nvPr/>
        </p:nvSpPr>
        <p:spPr>
          <a:xfrm>
            <a:off x="4080313" y="4078171"/>
            <a:ext cx="3042586" cy="241399"/>
          </a:xfrm>
          <a:prstGeom prst="rect">
            <a:avLst/>
          </a:prstGeom>
          <a:noFill/>
          <a:ln/>
        </p:spPr>
        <p:txBody>
          <a:bodyPr wrap="square" rtlCol="0" anchor="t"/>
          <a:lstStyle/>
          <a:p>
            <a:pPr indent="0" marL="0">
              <a:spcBef>
                <a:spcPts val="375"/>
              </a:spcBef>
              <a:buNone/>
            </a:pPr>
            <a:endParaRPr lang="en-US" sz="1050" dirty="0"/>
          </a:p>
        </p:txBody>
      </p:sp>
      <p:sp>
        <p:nvSpPr>
          <p:cNvPr id="63" name="Shape 54"/>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000000">
              <a:alpha val="0"/>
            </a:srgbClr>
          </a:solidFill>
          <a:ln/>
        </p:spPr>
      </p:sp>
      <p:sp>
        <p:nvSpPr>
          <p:cNvPr id="64" name="Text 55"/>
          <p:cNvSpPr/>
          <p:nvPr/>
        </p:nvSpPr>
        <p:spPr>
          <a:xfrm>
            <a:off x="4080313" y="4078171"/>
            <a:ext cx="3042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O'smalarni davolash strategiyalari</a:t>
            </a:r>
            <a:endParaRPr lang="en-US" sz="1050" dirty="0"/>
          </a:p>
        </p:txBody>
      </p:sp>
      <p:pic>
        <p:nvPicPr>
          <p:cNvPr id="65" name="Image 7" descr="./images\slide7_img78.png">    </p:cNvPr>
          <p:cNvPicPr>
            <a:picLocks noChangeAspect="1"/>
          </p:cNvPicPr>
          <p:nvPr/>
        </p:nvPicPr>
        <p:blipFill>
          <a:blip r:embed="rId8"/>
          <a:stretch>
            <a:fillRect/>
          </a:stretch>
        </p:blipFill>
        <p:spPr>
          <a:xfrm>
            <a:off x="3442299" y="4191607"/>
            <a:ext cx="254316" cy="36712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11_img10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1_img107.png">    </p:cNvPr>
          <p:cNvPicPr>
            <a:picLocks noChangeAspect="1"/>
          </p:cNvPicPr>
          <p:nvPr/>
        </p:nvPicPr>
        <p:blipFill>
          <a:blip r:embed="rId2"/>
          <a:stretch>
            <a:fillRect/>
          </a:stretch>
        </p:blipFill>
        <p:spPr>
          <a:xfrm>
            <a:off x="6087098" y="1683097"/>
            <a:ext cx="2542552" cy="3046631"/>
          </a:xfrm>
          <a:prstGeom prst="rect">
            <a:avLst/>
          </a:prstGeom>
        </p:spPr>
      </p:pic>
      <p:sp>
        <p:nvSpPr>
          <p:cNvPr id="4" name="Shape 0"/>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5" name="Text 1"/>
          <p:cNvSpPr/>
          <p:nvPr/>
        </p:nvSpPr>
        <p:spPr>
          <a:xfrm>
            <a:off x="874042" y="518568"/>
            <a:ext cx="7395915"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7" name="Text 3"/>
          <p:cNvSpPr/>
          <p:nvPr/>
        </p:nvSpPr>
        <p:spPr>
          <a:xfrm>
            <a:off x="874042" y="51856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Belgilari va Alomatlar</a:t>
            </a:r>
            <a:endParaRPr lang="en-US" sz="1050" dirty="0"/>
          </a:p>
        </p:txBody>
      </p:sp>
      <p:sp>
        <p:nvSpPr>
          <p:cNvPr id="8" name="Shape 4"/>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FFFFFF">
              <a:alpha val="0"/>
            </a:srgbClr>
          </a:solidFill>
          <a:ln/>
        </p:spPr>
      </p:sp>
      <p:sp>
        <p:nvSpPr>
          <p:cNvPr id="9" name="Text 5"/>
          <p:cNvSpPr/>
          <p:nvPr/>
        </p:nvSpPr>
        <p:spPr>
          <a:xfrm>
            <a:off x="705902" y="1623611"/>
            <a:ext cx="1713750" cy="552450"/>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000000">
              <a:alpha val="0"/>
            </a:srgbClr>
          </a:solidFill>
          <a:ln/>
        </p:spPr>
      </p:sp>
      <p:sp>
        <p:nvSpPr>
          <p:cNvPr id="11" name="Text 7"/>
          <p:cNvSpPr/>
          <p:nvPr/>
        </p:nvSpPr>
        <p:spPr>
          <a:xfrm>
            <a:off x="705902" y="1623611"/>
            <a:ext cx="17137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Belgi 1</a:t>
            </a:r>
            <a:endParaRPr lang="en-US" sz="1050" dirty="0"/>
          </a:p>
        </p:txBody>
      </p:sp>
      <p:sp>
        <p:nvSpPr>
          <p:cNvPr id="12" name="Shape 8"/>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FFFFFF">
              <a:alpha val="0"/>
            </a:srgbClr>
          </a:solidFill>
          <a:ln/>
        </p:spPr>
      </p:sp>
      <p:sp>
        <p:nvSpPr>
          <p:cNvPr id="13" name="Text 9"/>
          <p:cNvSpPr/>
          <p:nvPr/>
        </p:nvSpPr>
        <p:spPr>
          <a:xfrm>
            <a:off x="640191" y="3311188"/>
            <a:ext cx="1998818" cy="552450"/>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000000">
              <a:alpha val="0"/>
            </a:srgbClr>
          </a:solidFill>
          <a:ln/>
        </p:spPr>
      </p:sp>
      <p:sp>
        <p:nvSpPr>
          <p:cNvPr id="15" name="Text 11"/>
          <p:cNvSpPr/>
          <p:nvPr/>
        </p:nvSpPr>
        <p:spPr>
          <a:xfrm>
            <a:off x="640191" y="3311188"/>
            <a:ext cx="1998818"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Belgi 3</a:t>
            </a:r>
            <a:endParaRPr lang="en-US" sz="1050" dirty="0"/>
          </a:p>
        </p:txBody>
      </p:sp>
      <p:sp>
        <p:nvSpPr>
          <p:cNvPr id="16" name="Shape 12"/>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FFFFFF">
              <a:alpha val="0"/>
            </a:srgbClr>
          </a:solidFill>
          <a:ln/>
        </p:spPr>
      </p:sp>
      <p:sp>
        <p:nvSpPr>
          <p:cNvPr id="17" name="Text 13"/>
          <p:cNvSpPr/>
          <p:nvPr/>
        </p:nvSpPr>
        <p:spPr>
          <a:xfrm>
            <a:off x="3848551" y="1623612"/>
            <a:ext cx="1082550" cy="552450"/>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000000">
              <a:alpha val="0"/>
            </a:srgbClr>
          </a:solidFill>
          <a:ln/>
        </p:spPr>
      </p:sp>
      <p:sp>
        <p:nvSpPr>
          <p:cNvPr id="19" name="Text 15"/>
          <p:cNvSpPr/>
          <p:nvPr/>
        </p:nvSpPr>
        <p:spPr>
          <a:xfrm>
            <a:off x="3848551" y="1623612"/>
            <a:ext cx="10825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Belgi 2</a:t>
            </a:r>
            <a:endParaRPr lang="en-US" sz="1050" dirty="0"/>
          </a:p>
        </p:txBody>
      </p:sp>
      <p:sp>
        <p:nvSpPr>
          <p:cNvPr id="20" name="Shape 16"/>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FFFFFF">
              <a:alpha val="0"/>
            </a:srgbClr>
          </a:solidFill>
          <a:ln/>
        </p:spPr>
      </p:sp>
      <p:sp>
        <p:nvSpPr>
          <p:cNvPr id="21" name="Text 17"/>
          <p:cNvSpPr/>
          <p:nvPr/>
        </p:nvSpPr>
        <p:spPr>
          <a:xfrm>
            <a:off x="2875893" y="3311188"/>
            <a:ext cx="2968866" cy="552450"/>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000000">
              <a:alpha val="0"/>
            </a:srgbClr>
          </a:solidFill>
          <a:ln/>
        </p:spPr>
      </p:sp>
      <p:sp>
        <p:nvSpPr>
          <p:cNvPr id="23" name="Text 19"/>
          <p:cNvSpPr/>
          <p:nvPr/>
        </p:nvSpPr>
        <p:spPr>
          <a:xfrm>
            <a:off x="2875893" y="3311188"/>
            <a:ext cx="2968866"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Belgi 4</a:t>
            </a:r>
            <a:endParaRPr lang="en-US" sz="1050" dirty="0"/>
          </a:p>
        </p:txBody>
      </p:sp>
      <p:sp>
        <p:nvSpPr>
          <p:cNvPr id="24" name="Shape 20"/>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FFFFFF">
              <a:alpha val="0"/>
            </a:srgbClr>
          </a:solidFill>
          <a:ln/>
        </p:spPr>
      </p:sp>
      <p:sp>
        <p:nvSpPr>
          <p:cNvPr id="25" name="Text 21"/>
          <p:cNvSpPr/>
          <p:nvPr/>
        </p:nvSpPr>
        <p:spPr>
          <a:xfrm>
            <a:off x="705902" y="2176061"/>
            <a:ext cx="1890959" cy="932710"/>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000000">
              <a:alpha val="0"/>
            </a:srgbClr>
          </a:solidFill>
          <a:ln/>
        </p:spPr>
      </p:sp>
      <p:sp>
        <p:nvSpPr>
          <p:cNvPr id="27" name="Text 23"/>
          <p:cNvSpPr/>
          <p:nvPr/>
        </p:nvSpPr>
        <p:spPr>
          <a:xfrm>
            <a:off x="705902" y="2176061"/>
            <a:ext cx="1890959" cy="932710"/>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Belgilari va alomatlar sog'liqni saqlashda muhim ahamiyatga ega. Ular kasalliklarni aniqlash va davolashda yordam beradi.</a:t>
            </a:r>
            <a:endParaRPr lang="en-US" sz="1050" dirty="0"/>
          </a:p>
        </p:txBody>
      </p:sp>
      <p:sp>
        <p:nvSpPr>
          <p:cNvPr id="28" name="Shape 24"/>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FFFFFF">
              <a:alpha val="0"/>
            </a:srgbClr>
          </a:solidFill>
          <a:ln/>
        </p:spPr>
      </p:sp>
      <p:sp>
        <p:nvSpPr>
          <p:cNvPr id="29" name="Text 25"/>
          <p:cNvSpPr/>
          <p:nvPr/>
        </p:nvSpPr>
        <p:spPr>
          <a:xfrm>
            <a:off x="705902" y="3917979"/>
            <a:ext cx="1713750" cy="1225521"/>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000000">
              <a:alpha val="0"/>
            </a:srgbClr>
          </a:solidFill>
          <a:ln/>
        </p:spPr>
      </p:sp>
      <p:sp>
        <p:nvSpPr>
          <p:cNvPr id="31" name="Text 27"/>
          <p:cNvSpPr/>
          <p:nvPr/>
        </p:nvSpPr>
        <p:spPr>
          <a:xfrm>
            <a:off x="705902" y="3917979"/>
            <a:ext cx="1713750"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Har bir belgi va alomat o'ziga xos xususiyatlarga ega. Ularni to'g'ri aniqlash zarur.</a:t>
            </a:r>
            <a:endParaRPr lang="en-US" sz="1050" dirty="0"/>
          </a:p>
        </p:txBody>
      </p:sp>
      <p:sp>
        <p:nvSpPr>
          <p:cNvPr id="32" name="Shape 28"/>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FFFFFF">
              <a:alpha val="0"/>
            </a:srgbClr>
          </a:solidFill>
          <a:ln/>
        </p:spPr>
      </p:sp>
      <p:sp>
        <p:nvSpPr>
          <p:cNvPr id="33" name="Text 29"/>
          <p:cNvSpPr/>
          <p:nvPr/>
        </p:nvSpPr>
        <p:spPr>
          <a:xfrm>
            <a:off x="3532953" y="3917979"/>
            <a:ext cx="1926401" cy="1225521"/>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000000">
              <a:alpha val="0"/>
            </a:srgbClr>
          </a:solidFill>
          <a:ln/>
        </p:spPr>
      </p:sp>
      <p:sp>
        <p:nvSpPr>
          <p:cNvPr id="35" name="Text 31"/>
          <p:cNvSpPr/>
          <p:nvPr/>
        </p:nvSpPr>
        <p:spPr>
          <a:xfrm>
            <a:off x="3532953" y="3917979"/>
            <a:ext cx="1926401"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Belgilarning vaqtinchalik yoki doimiy bo'lishi mumkin. Bularni e'tiborga olish kerak.</a:t>
            </a:r>
            <a:endParaRPr lang="en-US" sz="1050" dirty="0"/>
          </a:p>
        </p:txBody>
      </p:sp>
      <p:sp>
        <p:nvSpPr>
          <p:cNvPr id="36" name="Shape 32"/>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FFFFFF">
              <a:alpha val="0"/>
            </a:srgbClr>
          </a:solidFill>
          <a:ln/>
        </p:spPr>
      </p:sp>
      <p:sp>
        <p:nvSpPr>
          <p:cNvPr id="37" name="Text 33"/>
          <p:cNvSpPr/>
          <p:nvPr/>
        </p:nvSpPr>
        <p:spPr>
          <a:xfrm>
            <a:off x="3473884" y="2053192"/>
            <a:ext cx="2079983" cy="866556"/>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000000">
              <a:alpha val="0"/>
            </a:srgbClr>
          </a:solidFill>
          <a:ln/>
        </p:spPr>
      </p:sp>
      <p:sp>
        <p:nvSpPr>
          <p:cNvPr id="39" name="Text 35"/>
          <p:cNvSpPr/>
          <p:nvPr/>
        </p:nvSpPr>
        <p:spPr>
          <a:xfrm>
            <a:off x="3473884" y="2053192"/>
            <a:ext cx="2079983" cy="86655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Belgi 5</a:t>
            </a:r>
            <a:endParaRPr lang="en-US" sz="1050" dirty="0"/>
          </a:p>
        </p:txBody>
      </p:sp>
      <p:sp>
        <p:nvSpPr>
          <p:cNvPr id="40" name="Shape 36"/>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FFFFFF">
              <a:alpha val="0"/>
            </a:srgbClr>
          </a:solidFill>
          <a:ln/>
        </p:spPr>
      </p:sp>
      <p:sp>
        <p:nvSpPr>
          <p:cNvPr id="41" name="Text 37"/>
          <p:cNvSpPr/>
          <p:nvPr/>
        </p:nvSpPr>
        <p:spPr>
          <a:xfrm>
            <a:off x="0" y="0"/>
            <a:ext cx="2857500" cy="238125"/>
          </a:xfrm>
          <a:prstGeom prst="rect">
            <a:avLst/>
          </a:prstGeom>
          <a:noFill/>
          <a:ln/>
        </p:spPr>
        <p:txBody>
          <a:bodyPr wrap="square" rtlCol="0" anchor="t"/>
          <a:lstStyle/>
          <a:p>
            <a:pPr indent="0" marL="0">
              <a:spcBef>
                <a:spcPts val="375"/>
              </a:spcBef>
              <a:buNone/>
            </a:pPr>
            <a:endParaRPr lang="en-US" sz="1050" dirty="0"/>
          </a:p>
        </p:txBody>
      </p:sp>
      <p:sp>
        <p:nvSpPr>
          <p:cNvPr id="42" name="Shape 38"/>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000000">
              <a:alpha val="0"/>
            </a:srgbClr>
          </a:solidFill>
          <a:ln/>
        </p:spPr>
      </p:sp>
      <p:sp>
        <p:nvSpPr>
          <p:cNvPr id="43" name="Text 39"/>
          <p:cNvSpPr/>
          <p:nvPr/>
        </p:nvSpPr>
        <p:spPr>
          <a:xfrm>
            <a:off x="0" y="0"/>
            <a:ext cx="2857500" cy="238125"/>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Belgi 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O'smalarni Davolash Usullari</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davolashda bir nechta usullar mavjud. Bu usullar o'smaning turiga, o'sha joyda joylashgan joyiga va bemorning sog'lig'iga bog'liq. O'smalarni davolashda asosan jarrohlik, kimyoviy terapiya va radiatsiya terapiyasi qo'llaniladi.</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 jarayonida bemorlarning sog'lig'ini saqlash va ularning hayot sifatini yaxshilash muhimdir. Shuningdek, davolash usullarining yanada samarali bo'lishi uchun zamonaviy texnologiyalarni qo'llash zarur.</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davolashda individual yondashuv juda muhim. Har bir bemor uchun maxsus davolash rejasi ishlab chiqilishi kerak. Bu yondashuv bemorning ehtiyojlariga mos ravishda amalga oshiriladi.</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images\slide12_img108.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2_img109.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FFFFFF">
              <a:alpha val="0"/>
            </a:srgbClr>
          </a:solidFill>
          <a:ln/>
        </p:spPr>
      </p:sp>
      <p:sp>
        <p:nvSpPr>
          <p:cNvPr id="5" name="Text 1"/>
          <p:cNvSpPr/>
          <p:nvPr/>
        </p:nvSpPr>
        <p:spPr>
          <a:xfrm>
            <a:off x="614136" y="1912706"/>
            <a:ext cx="7826859"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1912706"/>
            <a:ext cx="7826859" cy="476250"/>
          </a:xfrm>
          <a:custGeom>
            <a:avLst/>
            <a:gdLst/>
            <a:ahLst/>
            <a:cxnLst/>
            <a:rect l="l" t="t" r="r" b="b"/>
            <a:pathLst>
              <a:path w="7826859" h="476250">
                <a:moveTo>
                  <a:pt x="0" y="0"/>
                </a:moveTo>
                <a:lnTo>
                  <a:pt x="7826859" y="0"/>
                </a:lnTo>
                <a:lnTo>
                  <a:pt x="7826859" y="476250"/>
                </a:lnTo>
                <a:lnTo>
                  <a:pt x="0" y="476250"/>
                </a:lnTo>
                <a:close/>
              </a:path>
            </a:pathLst>
          </a:custGeom>
          <a:solidFill>
            <a:srgbClr val="000000">
              <a:alpha val="0"/>
            </a:srgbClr>
          </a:solidFill>
          <a:ln/>
        </p:spPr>
      </p:sp>
      <p:sp>
        <p:nvSpPr>
          <p:cNvPr id="7" name="Text 3"/>
          <p:cNvSpPr/>
          <p:nvPr/>
        </p:nvSpPr>
        <p:spPr>
          <a:xfrm>
            <a:off x="614136" y="1912706"/>
            <a:ext cx="7826859"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Davolash usullari</a:t>
            </a:r>
            <a:endParaRPr lang="en-US" sz="1050" dirty="0"/>
          </a:p>
        </p:txBody>
      </p:sp>
      <p:sp>
        <p:nvSpPr>
          <p:cNvPr id="8" name="Shape 4"/>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FFFFFF">
              <a:alpha val="0"/>
            </a:srgbClr>
          </a:solidFill>
          <a:ln/>
        </p:spPr>
      </p:sp>
      <p:sp>
        <p:nvSpPr>
          <p:cNvPr id="9" name="Text 5"/>
          <p:cNvSpPr/>
          <p:nvPr/>
        </p:nvSpPr>
        <p:spPr>
          <a:xfrm>
            <a:off x="661391" y="2388956"/>
            <a:ext cx="7779603" cy="245447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388956"/>
            <a:ext cx="7779603" cy="2454473"/>
          </a:xfrm>
          <a:custGeom>
            <a:avLst/>
            <a:gdLst/>
            <a:ahLst/>
            <a:cxnLst/>
            <a:rect l="l" t="t" r="r" b="b"/>
            <a:pathLst>
              <a:path w="7779603" h="2454473">
                <a:moveTo>
                  <a:pt x="0" y="0"/>
                </a:moveTo>
                <a:lnTo>
                  <a:pt x="7779603" y="0"/>
                </a:lnTo>
                <a:lnTo>
                  <a:pt x="7779603" y="2454473"/>
                </a:lnTo>
                <a:lnTo>
                  <a:pt x="0" y="2454473"/>
                </a:lnTo>
                <a:close/>
              </a:path>
            </a:pathLst>
          </a:custGeom>
          <a:solidFill>
            <a:srgbClr val="000000">
              <a:alpha val="0"/>
            </a:srgbClr>
          </a:solidFill>
          <a:ln/>
        </p:spPr>
      </p:sp>
      <p:sp>
        <p:nvSpPr>
          <p:cNvPr id="11" name="Text 7"/>
          <p:cNvSpPr/>
          <p:nvPr/>
        </p:nvSpPr>
        <p:spPr>
          <a:xfrm>
            <a:off x="661391" y="2388956"/>
            <a:ext cx="7779603" cy="245447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turli xil metod va yondashuvlarni o'z ichiga oladi. Ular orasida dori-darmonlar, jarrohlik, fizioterapiya va alternativ davolash usullari mavjud. Har bir usulning o'ziga xos afzalliklari va kamchiliklari bor, shuning uchun bemorlarning individual ehtiyojlariga qarab tanlanadi. Samarali davolash uchun, shifokor bemorning holatini to'liq tahlil qilishi va eng mos usulni tanlashi lozim.</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images\slide13_img110.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3_img111.png">    </p:cNvPr>
          <p:cNvPicPr>
            <a:picLocks noChangeAspect="1"/>
          </p:cNvPicPr>
          <p:nvPr/>
        </p:nvPicPr>
        <p:blipFill>
          <a:blip r:embed="rId2"/>
          <a:stretch>
            <a:fillRect/>
          </a:stretch>
        </p:blipFill>
        <p:spPr>
          <a:xfrm rot="5400000">
            <a:off x="1448898" y="701944"/>
            <a:ext cx="2176332" cy="3520538"/>
          </a:xfrm>
          <a:prstGeom prst="rect">
            <a:avLst/>
          </a:prstGeom>
        </p:spPr>
      </p:pic>
      <p:sp>
        <p:nvSpPr>
          <p:cNvPr id="4" name="Shape 0"/>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5" name="Text 1"/>
          <p:cNvSpPr/>
          <p:nvPr/>
        </p:nvSpPr>
        <p:spPr>
          <a:xfrm rot="5400000">
            <a:off x="1448898"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rot="5400000">
            <a:off x="1448898"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7" name="Text 3"/>
          <p:cNvSpPr/>
          <p:nvPr/>
        </p:nvSpPr>
        <p:spPr>
          <a:xfrm rot="5400000">
            <a:off x="1448898"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3_img112.png">    </p:cNvPr>
          <p:cNvPicPr>
            <a:picLocks noChangeAspect="1"/>
          </p:cNvPicPr>
          <p:nvPr/>
        </p:nvPicPr>
        <p:blipFill>
          <a:blip r:embed="rId3"/>
          <a:stretch>
            <a:fillRect/>
          </a:stretch>
        </p:blipFill>
        <p:spPr>
          <a:xfrm rot="5400000">
            <a:off x="1448898" y="701944"/>
            <a:ext cx="2176332" cy="3520538"/>
          </a:xfrm>
          <a:prstGeom prst="rect">
            <a:avLst/>
          </a:prstGeom>
        </p:spPr>
      </p:pic>
      <p:pic>
        <p:nvPicPr>
          <p:cNvPr id="9" name="Image 3" descr="./images\slide13_img113.png">    </p:cNvPr>
          <p:cNvPicPr>
            <a:picLocks noChangeAspect="1"/>
          </p:cNvPicPr>
          <p:nvPr/>
        </p:nvPicPr>
        <p:blipFill>
          <a:blip r:embed="rId4"/>
          <a:stretch>
            <a:fillRect/>
          </a:stretch>
        </p:blipFill>
        <p:spPr>
          <a:xfrm rot="5400000">
            <a:off x="5445903" y="701944"/>
            <a:ext cx="2176332" cy="3520538"/>
          </a:xfrm>
          <a:prstGeom prst="rect">
            <a:avLst/>
          </a:prstGeom>
        </p:spPr>
      </p:pic>
      <p:sp>
        <p:nvSpPr>
          <p:cNvPr id="10" name="Shape 4"/>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FFFFFF">
              <a:alpha val="0"/>
            </a:srgbClr>
          </a:solidFill>
          <a:ln/>
        </p:spPr>
      </p:sp>
      <p:sp>
        <p:nvSpPr>
          <p:cNvPr id="11" name="Text 5"/>
          <p:cNvSpPr/>
          <p:nvPr/>
        </p:nvSpPr>
        <p:spPr>
          <a:xfrm rot="5400000">
            <a:off x="5445903" y="701944"/>
            <a:ext cx="2176332" cy="3520538"/>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rot="5400000">
            <a:off x="5445903" y="701944"/>
            <a:ext cx="2176332" cy="3520538"/>
          </a:xfrm>
          <a:custGeom>
            <a:avLst/>
            <a:gdLst/>
            <a:ahLst/>
            <a:cxnLst/>
            <a:rect l="l" t="t" r="r" b="b"/>
            <a:pathLst>
              <a:path w="2176332" h="3520538">
                <a:moveTo>
                  <a:pt x="0" y="0"/>
                </a:moveTo>
                <a:lnTo>
                  <a:pt x="2176332" y="0"/>
                </a:lnTo>
                <a:lnTo>
                  <a:pt x="2176332" y="3520538"/>
                </a:lnTo>
                <a:lnTo>
                  <a:pt x="0" y="3520538"/>
                </a:lnTo>
                <a:close/>
              </a:path>
            </a:pathLst>
          </a:custGeom>
          <a:solidFill>
            <a:srgbClr val="000000">
              <a:alpha val="0"/>
            </a:srgbClr>
          </a:solidFill>
          <a:ln/>
        </p:spPr>
      </p:sp>
      <p:sp>
        <p:nvSpPr>
          <p:cNvPr id="13" name="Text 7"/>
          <p:cNvSpPr/>
          <p:nvPr/>
        </p:nvSpPr>
        <p:spPr>
          <a:xfrm rot="5400000">
            <a:off x="5445903" y="701944"/>
            <a:ext cx="2176332" cy="3520538"/>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3_img114.png">    </p:cNvPr>
          <p:cNvPicPr>
            <a:picLocks noChangeAspect="1"/>
          </p:cNvPicPr>
          <p:nvPr/>
        </p:nvPicPr>
        <p:blipFill>
          <a:blip r:embed="rId5"/>
          <a:stretch>
            <a:fillRect/>
          </a:stretch>
        </p:blipFill>
        <p:spPr>
          <a:xfrm rot="5400000">
            <a:off x="5445903" y="701944"/>
            <a:ext cx="2176332" cy="3520538"/>
          </a:xfrm>
          <a:prstGeom prst="rect">
            <a:avLst/>
          </a:prstGeom>
        </p:spPr>
      </p:pic>
      <p:sp>
        <p:nvSpPr>
          <p:cNvPr id="15" name="Shape 8"/>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16" name="Text 9"/>
          <p:cNvSpPr/>
          <p:nvPr/>
        </p:nvSpPr>
        <p:spPr>
          <a:xfrm>
            <a:off x="874042" y="425088"/>
            <a:ext cx="7395915" cy="476250"/>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874042" y="42508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18" name="Text 11"/>
          <p:cNvSpPr/>
          <p:nvPr/>
        </p:nvSpPr>
        <p:spPr>
          <a:xfrm>
            <a:off x="874042" y="42508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Kelajakni Prognozlash</a:t>
            </a:r>
            <a:endParaRPr lang="en-US" sz="1050" dirty="0"/>
          </a:p>
        </p:txBody>
      </p:sp>
      <p:sp>
        <p:nvSpPr>
          <p:cNvPr id="19" name="Shape 12"/>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FFFFFF">
              <a:alpha val="0"/>
            </a:srgbClr>
          </a:solidFill>
          <a:ln/>
        </p:spPr>
      </p:sp>
      <p:sp>
        <p:nvSpPr>
          <p:cNvPr id="20" name="Text 13"/>
          <p:cNvSpPr/>
          <p:nvPr/>
        </p:nvSpPr>
        <p:spPr>
          <a:xfrm>
            <a:off x="1291100" y="3646366"/>
            <a:ext cx="2521072" cy="348338"/>
          </a:xfrm>
          <a:prstGeom prst="rect">
            <a:avLst/>
          </a:prstGeom>
          <a:noFill/>
          <a:ln/>
        </p:spPr>
        <p:txBody>
          <a:bodyPr wrap="square" rtlCol="0" anchor="t"/>
          <a:lstStyle/>
          <a:p>
            <a:pPr indent="0" marL="0">
              <a:spcBef>
                <a:spcPts val="375"/>
              </a:spcBef>
              <a:buNone/>
            </a:pPr>
            <a:endParaRPr lang="en-US" sz="1050" dirty="0"/>
          </a:p>
        </p:txBody>
      </p:sp>
      <p:sp>
        <p:nvSpPr>
          <p:cNvPr id="21" name="Shape 14"/>
          <p:cNvSpPr/>
          <p:nvPr/>
        </p:nvSpPr>
        <p:spPr>
          <a:xfrm>
            <a:off x="1291100" y="3646366"/>
            <a:ext cx="2521072" cy="348338"/>
          </a:xfrm>
          <a:custGeom>
            <a:avLst/>
            <a:gdLst/>
            <a:ahLst/>
            <a:cxnLst/>
            <a:rect l="l" t="t" r="r" b="b"/>
            <a:pathLst>
              <a:path w="2521072" h="348338">
                <a:moveTo>
                  <a:pt x="0" y="0"/>
                </a:moveTo>
                <a:lnTo>
                  <a:pt x="2521072" y="0"/>
                </a:lnTo>
                <a:lnTo>
                  <a:pt x="2521072" y="348338"/>
                </a:lnTo>
                <a:lnTo>
                  <a:pt x="0" y="348338"/>
                </a:lnTo>
                <a:close/>
              </a:path>
            </a:pathLst>
          </a:custGeom>
          <a:solidFill>
            <a:srgbClr val="000000">
              <a:alpha val="0"/>
            </a:srgbClr>
          </a:solidFill>
          <a:ln/>
        </p:spPr>
      </p:sp>
      <p:sp>
        <p:nvSpPr>
          <p:cNvPr id="22" name="Text 15"/>
          <p:cNvSpPr/>
          <p:nvPr/>
        </p:nvSpPr>
        <p:spPr>
          <a:xfrm>
            <a:off x="1291100" y="3646366"/>
            <a:ext cx="2521072" cy="348338"/>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Innovatsiyalar va Rivojlanish</a:t>
            </a:r>
            <a:endParaRPr lang="en-US" sz="1050" dirty="0"/>
          </a:p>
        </p:txBody>
      </p:sp>
      <p:sp>
        <p:nvSpPr>
          <p:cNvPr id="23" name="Shape 16"/>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FFFFFF">
              <a:alpha val="0"/>
            </a:srgbClr>
          </a:solidFill>
          <a:ln/>
        </p:spPr>
      </p:sp>
      <p:sp>
        <p:nvSpPr>
          <p:cNvPr id="24" name="Text 17"/>
          <p:cNvSpPr/>
          <p:nvPr/>
        </p:nvSpPr>
        <p:spPr>
          <a:xfrm>
            <a:off x="5132203" y="3551855"/>
            <a:ext cx="2610067" cy="336524"/>
          </a:xfrm>
          <a:prstGeom prst="rect">
            <a:avLst/>
          </a:prstGeom>
          <a:noFill/>
          <a:ln/>
        </p:spPr>
        <p:txBody>
          <a:bodyPr wrap="square" rtlCol="0" anchor="t"/>
          <a:lstStyle/>
          <a:p>
            <a:pPr indent="0" marL="0">
              <a:spcBef>
                <a:spcPts val="375"/>
              </a:spcBef>
              <a:buNone/>
            </a:pPr>
            <a:endParaRPr lang="en-US" sz="1050" dirty="0"/>
          </a:p>
        </p:txBody>
      </p:sp>
      <p:sp>
        <p:nvSpPr>
          <p:cNvPr id="25" name="Shape 18"/>
          <p:cNvSpPr/>
          <p:nvPr/>
        </p:nvSpPr>
        <p:spPr>
          <a:xfrm>
            <a:off x="5132203" y="3551855"/>
            <a:ext cx="2610067" cy="336524"/>
          </a:xfrm>
          <a:custGeom>
            <a:avLst/>
            <a:gdLst/>
            <a:ahLst/>
            <a:cxnLst/>
            <a:rect l="l" t="t" r="r" b="b"/>
            <a:pathLst>
              <a:path w="2610067" h="336524">
                <a:moveTo>
                  <a:pt x="0" y="0"/>
                </a:moveTo>
                <a:lnTo>
                  <a:pt x="2610067" y="0"/>
                </a:lnTo>
                <a:lnTo>
                  <a:pt x="2610067" y="336524"/>
                </a:lnTo>
                <a:lnTo>
                  <a:pt x="0" y="336524"/>
                </a:lnTo>
                <a:close/>
              </a:path>
            </a:pathLst>
          </a:custGeom>
          <a:solidFill>
            <a:srgbClr val="000000">
              <a:alpha val="0"/>
            </a:srgbClr>
          </a:solidFill>
          <a:ln/>
        </p:spPr>
      </p:sp>
      <p:sp>
        <p:nvSpPr>
          <p:cNvPr id="26" name="Text 19"/>
          <p:cNvSpPr/>
          <p:nvPr/>
        </p:nvSpPr>
        <p:spPr>
          <a:xfrm>
            <a:off x="5132203" y="3551855"/>
            <a:ext cx="2610067" cy="336524"/>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Maqsadlar va Rejalar</a:t>
            </a:r>
            <a:endParaRPr lang="en-US" sz="1050" dirty="0"/>
          </a:p>
        </p:txBody>
      </p:sp>
      <p:sp>
        <p:nvSpPr>
          <p:cNvPr id="27" name="Shape 20"/>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FFFFFF">
              <a:alpha val="0"/>
            </a:srgbClr>
          </a:solidFill>
          <a:ln/>
        </p:spPr>
      </p:sp>
      <p:sp>
        <p:nvSpPr>
          <p:cNvPr id="28" name="Text 21"/>
          <p:cNvSpPr/>
          <p:nvPr/>
        </p:nvSpPr>
        <p:spPr>
          <a:xfrm>
            <a:off x="1261955" y="4037922"/>
            <a:ext cx="3310045" cy="603796"/>
          </a:xfrm>
          <a:prstGeom prst="rect">
            <a:avLst/>
          </a:prstGeom>
          <a:noFill/>
          <a:ln/>
        </p:spPr>
        <p:txBody>
          <a:bodyPr wrap="square" rtlCol="0" anchor="t"/>
          <a:lstStyle/>
          <a:p>
            <a:pPr indent="0" marL="0">
              <a:spcBef>
                <a:spcPts val="375"/>
              </a:spcBef>
              <a:buNone/>
            </a:pPr>
            <a:endParaRPr lang="en-US" sz="1050" dirty="0"/>
          </a:p>
        </p:txBody>
      </p:sp>
      <p:sp>
        <p:nvSpPr>
          <p:cNvPr id="29" name="Shape 22"/>
          <p:cNvSpPr/>
          <p:nvPr/>
        </p:nvSpPr>
        <p:spPr>
          <a:xfrm>
            <a:off x="1261955" y="4037922"/>
            <a:ext cx="3310045" cy="603796"/>
          </a:xfrm>
          <a:custGeom>
            <a:avLst/>
            <a:gdLst/>
            <a:ahLst/>
            <a:cxnLst/>
            <a:rect l="l" t="t" r="r" b="b"/>
            <a:pathLst>
              <a:path w="3310045" h="603796">
                <a:moveTo>
                  <a:pt x="0" y="0"/>
                </a:moveTo>
                <a:lnTo>
                  <a:pt x="3310045" y="0"/>
                </a:lnTo>
                <a:lnTo>
                  <a:pt x="3310045" y="603796"/>
                </a:lnTo>
                <a:lnTo>
                  <a:pt x="0" y="603796"/>
                </a:lnTo>
                <a:close/>
              </a:path>
            </a:pathLst>
          </a:custGeom>
          <a:solidFill>
            <a:srgbClr val="000000">
              <a:alpha val="0"/>
            </a:srgbClr>
          </a:solidFill>
          <a:ln/>
        </p:spPr>
      </p:sp>
      <p:sp>
        <p:nvSpPr>
          <p:cNvPr id="30" name="Text 23"/>
          <p:cNvSpPr/>
          <p:nvPr/>
        </p:nvSpPr>
        <p:spPr>
          <a:xfrm>
            <a:off x="1261955" y="4037922"/>
            <a:ext cx="3310045"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Prognozlar muhim qarorlar qabul qilishda asosiy rol o'ynaydi. Ular iqtisodiy, ijtimoiy va texnologik tendentsiyalarni oldindan bilish imkonini beradi, bu esa resurslarni samarali taqsimlashga yordam beradi.</a:t>
            </a:r>
            <a:endParaRPr lang="en-US" sz="1050" dirty="0"/>
          </a:p>
        </p:txBody>
      </p:sp>
      <p:sp>
        <p:nvSpPr>
          <p:cNvPr id="31" name="Shape 24"/>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FFFFFF">
              <a:alpha val="0"/>
            </a:srgbClr>
          </a:solidFill>
          <a:ln/>
        </p:spPr>
      </p:sp>
      <p:sp>
        <p:nvSpPr>
          <p:cNvPr id="32" name="Text 25"/>
          <p:cNvSpPr/>
          <p:nvPr/>
        </p:nvSpPr>
        <p:spPr>
          <a:xfrm>
            <a:off x="5233011" y="4037922"/>
            <a:ext cx="3660728" cy="60379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233011" y="4037922"/>
            <a:ext cx="3660728" cy="603796"/>
          </a:xfrm>
          <a:custGeom>
            <a:avLst/>
            <a:gdLst/>
            <a:ahLst/>
            <a:cxnLst/>
            <a:rect l="l" t="t" r="r" b="b"/>
            <a:pathLst>
              <a:path w="3660728" h="603796">
                <a:moveTo>
                  <a:pt x="0" y="0"/>
                </a:moveTo>
                <a:lnTo>
                  <a:pt x="3660728" y="0"/>
                </a:lnTo>
                <a:lnTo>
                  <a:pt x="3660728" y="603796"/>
                </a:lnTo>
                <a:lnTo>
                  <a:pt x="0" y="603796"/>
                </a:lnTo>
                <a:close/>
              </a:path>
            </a:pathLst>
          </a:custGeom>
          <a:solidFill>
            <a:srgbClr val="000000">
              <a:alpha val="0"/>
            </a:srgbClr>
          </a:solidFill>
          <a:ln/>
        </p:spPr>
      </p:sp>
      <p:sp>
        <p:nvSpPr>
          <p:cNvPr id="34" name="Text 27"/>
          <p:cNvSpPr/>
          <p:nvPr/>
        </p:nvSpPr>
        <p:spPr>
          <a:xfrm>
            <a:off x="5233011" y="4037922"/>
            <a:ext cx="3660728"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Kelajakni rejalashtirishda aniq prognozlar tayyorlash zarur. Bu nafaqat kompaniyalar, balki davlatlar va jamiyatlar uchun ham muhimdir. Prognozlar o'zgaruvchan sharoitlarga moslashish imkonini beradi va strategik yo'nalishlarni belgilaydi.</a:t>
            </a:r>
            <a:endParaRPr lang="en-US" sz="1050" dirty="0"/>
          </a:p>
        </p:txBody>
      </p:sp>
      <p:pic>
        <p:nvPicPr>
          <p:cNvPr id="35" name="Image 5" descr="./images\slide13_img115.png">    </p:cNvPr>
          <p:cNvPicPr>
            <a:picLocks noChangeAspect="1"/>
          </p:cNvPicPr>
          <p:nvPr/>
        </p:nvPicPr>
        <p:blipFill>
          <a:blip r:embed="rId6"/>
          <a:srcRect l="0" r="45747" t="0" b="45747"/>
          <a:stretch/>
        </p:blipFill>
        <p:spPr>
          <a:xfrm>
            <a:off x="891015" y="1521186"/>
            <a:ext cx="3103200" cy="1858320"/>
          </a:xfrm>
          <a:prstGeom prst="ellipse">
            <a:avLst/>
          </a:prstGeom>
        </p:spPr>
      </p:pic>
      <p:pic>
        <p:nvPicPr>
          <p:cNvPr id="36" name="Image 6" descr="./images\slide13_img116.png">    </p:cNvPr>
          <p:cNvPicPr>
            <a:picLocks noChangeAspect="1"/>
          </p:cNvPicPr>
          <p:nvPr/>
        </p:nvPicPr>
        <p:blipFill>
          <a:blip r:embed="rId7"/>
          <a:srcRect l="0" r="45747" t="0" b="45747"/>
          <a:stretch/>
        </p:blipFill>
        <p:spPr>
          <a:xfrm>
            <a:off x="4914519" y="1499500"/>
            <a:ext cx="3109536" cy="1858320"/>
          </a:xfrm>
          <a:prstGeom prst="ellipse">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images\slide8_img7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8_img80.png">    </p:cNvPr>
          <p:cNvPicPr>
            <a:picLocks noChangeAspect="1"/>
          </p:cNvPicPr>
          <p:nvPr/>
        </p:nvPicPr>
        <p:blipFill>
          <a:blip r:embed="rId2"/>
          <a:stretch>
            <a:fillRect/>
          </a:stretch>
        </p:blipFill>
        <p:spPr>
          <a:xfrm>
            <a:off x="413364" y="1606860"/>
            <a:ext cx="2817893" cy="2510487"/>
          </a:xfrm>
          <a:prstGeom prst="rect">
            <a:avLst/>
          </a:prstGeom>
        </p:spPr>
      </p:pic>
      <p:pic>
        <p:nvPicPr>
          <p:cNvPr id="4" name="Image 2" descr="./images\slide8_img81.png">    </p:cNvPr>
          <p:cNvPicPr>
            <a:picLocks noChangeAspect="1"/>
          </p:cNvPicPr>
          <p:nvPr/>
        </p:nvPicPr>
        <p:blipFill>
          <a:blip r:embed="rId3"/>
          <a:stretch>
            <a:fillRect/>
          </a:stretch>
        </p:blipFill>
        <p:spPr>
          <a:xfrm>
            <a:off x="3382151" y="1860298"/>
            <a:ext cx="548816" cy="594191"/>
          </a:xfrm>
          <a:prstGeom prst="rect">
            <a:avLst/>
          </a:prstGeom>
        </p:spPr>
      </p:pic>
      <p:sp>
        <p:nvSpPr>
          <p:cNvPr id="5" name="Shape 0"/>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6" name="Text 1"/>
          <p:cNvSpPr/>
          <p:nvPr/>
        </p:nvSpPr>
        <p:spPr>
          <a:xfrm>
            <a:off x="3382151"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382151"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8" name="Text 3"/>
          <p:cNvSpPr/>
          <p:nvPr/>
        </p:nvSpPr>
        <p:spPr>
          <a:xfrm>
            <a:off x="3382151"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8_img82.png">    </p:cNvPr>
          <p:cNvPicPr>
            <a:picLocks noChangeAspect="1"/>
          </p:cNvPicPr>
          <p:nvPr/>
        </p:nvPicPr>
        <p:blipFill>
          <a:blip r:embed="rId4"/>
          <a:stretch>
            <a:fillRect/>
          </a:stretch>
        </p:blipFill>
        <p:spPr>
          <a:xfrm>
            <a:off x="6233995" y="1860298"/>
            <a:ext cx="548816" cy="594191"/>
          </a:xfrm>
          <a:prstGeom prst="rect">
            <a:avLst/>
          </a:prstGeom>
        </p:spPr>
      </p:pic>
      <p:sp>
        <p:nvSpPr>
          <p:cNvPr id="10" name="Shape 4"/>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1" name="Text 5"/>
          <p:cNvSpPr/>
          <p:nvPr/>
        </p:nvSpPr>
        <p:spPr>
          <a:xfrm>
            <a:off x="6233995" y="1860298"/>
            <a:ext cx="548816" cy="594191"/>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233995" y="1860298"/>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3" name="Text 7"/>
          <p:cNvSpPr/>
          <p:nvPr/>
        </p:nvSpPr>
        <p:spPr>
          <a:xfrm>
            <a:off x="6233995" y="1860298"/>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8_img83.png">    </p:cNvPr>
          <p:cNvPicPr>
            <a:picLocks noChangeAspect="1"/>
          </p:cNvPicPr>
          <p:nvPr/>
        </p:nvPicPr>
        <p:blipFill>
          <a:blip r:embed="rId5"/>
          <a:stretch>
            <a:fillRect/>
          </a:stretch>
        </p:blipFill>
        <p:spPr>
          <a:xfrm>
            <a:off x="3529788" y="3523156"/>
            <a:ext cx="548816" cy="594191"/>
          </a:xfrm>
          <a:prstGeom prst="rect">
            <a:avLst/>
          </a:prstGeom>
        </p:spPr>
      </p:pic>
      <p:sp>
        <p:nvSpPr>
          <p:cNvPr id="15" name="Shape 8"/>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16" name="Text 9"/>
          <p:cNvSpPr/>
          <p:nvPr/>
        </p:nvSpPr>
        <p:spPr>
          <a:xfrm>
            <a:off x="3529788"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17" name="Shape 10"/>
          <p:cNvSpPr/>
          <p:nvPr/>
        </p:nvSpPr>
        <p:spPr>
          <a:xfrm>
            <a:off x="3529788"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18" name="Text 11"/>
          <p:cNvSpPr/>
          <p:nvPr/>
        </p:nvSpPr>
        <p:spPr>
          <a:xfrm>
            <a:off x="3529788"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9" name="Image 5" descr="./images\slide8_img84.png">    </p:cNvPr>
          <p:cNvPicPr>
            <a:picLocks noChangeAspect="1"/>
          </p:cNvPicPr>
          <p:nvPr/>
        </p:nvPicPr>
        <p:blipFill>
          <a:blip r:embed="rId6"/>
          <a:stretch>
            <a:fillRect/>
          </a:stretch>
        </p:blipFill>
        <p:spPr>
          <a:xfrm>
            <a:off x="6233995" y="3523156"/>
            <a:ext cx="548816" cy="594191"/>
          </a:xfrm>
          <a:prstGeom prst="rect">
            <a:avLst/>
          </a:prstGeom>
        </p:spPr>
      </p:pic>
      <p:sp>
        <p:nvSpPr>
          <p:cNvPr id="20" name="Shape 12"/>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FFFFFF">
              <a:alpha val="0"/>
            </a:srgbClr>
          </a:solidFill>
          <a:ln/>
        </p:spPr>
      </p:sp>
      <p:sp>
        <p:nvSpPr>
          <p:cNvPr id="21" name="Text 13"/>
          <p:cNvSpPr/>
          <p:nvPr/>
        </p:nvSpPr>
        <p:spPr>
          <a:xfrm>
            <a:off x="6233995" y="3523156"/>
            <a:ext cx="548816" cy="594191"/>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6233995" y="3523156"/>
            <a:ext cx="548816" cy="594191"/>
          </a:xfrm>
          <a:custGeom>
            <a:avLst/>
            <a:gdLst/>
            <a:ahLst/>
            <a:cxnLst/>
            <a:rect l="l" t="t" r="r" b="b"/>
            <a:pathLst>
              <a:path w="548816" h="594191">
                <a:moveTo>
                  <a:pt x="0" y="0"/>
                </a:moveTo>
                <a:lnTo>
                  <a:pt x="548816" y="0"/>
                </a:lnTo>
                <a:lnTo>
                  <a:pt x="548816" y="594191"/>
                </a:lnTo>
                <a:lnTo>
                  <a:pt x="0" y="594191"/>
                </a:lnTo>
                <a:close/>
              </a:path>
            </a:pathLst>
          </a:custGeom>
          <a:solidFill>
            <a:srgbClr val="000000">
              <a:alpha val="0"/>
            </a:srgbClr>
          </a:solidFill>
          <a:ln/>
        </p:spPr>
      </p:sp>
      <p:sp>
        <p:nvSpPr>
          <p:cNvPr id="23" name="Text 15"/>
          <p:cNvSpPr/>
          <p:nvPr/>
        </p:nvSpPr>
        <p:spPr>
          <a:xfrm>
            <a:off x="6233995" y="3523156"/>
            <a:ext cx="548816" cy="59419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24" name="Shape 16"/>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FFFFFF">
              <a:alpha val="0"/>
            </a:srgbClr>
          </a:solidFill>
          <a:ln/>
        </p:spPr>
      </p:sp>
      <p:sp>
        <p:nvSpPr>
          <p:cNvPr id="25" name="Text 17"/>
          <p:cNvSpPr/>
          <p:nvPr/>
        </p:nvSpPr>
        <p:spPr>
          <a:xfrm>
            <a:off x="874042" y="328068"/>
            <a:ext cx="8269958" cy="5524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874042" y="328068"/>
            <a:ext cx="8269958" cy="552450"/>
          </a:xfrm>
          <a:custGeom>
            <a:avLst/>
            <a:gdLst/>
            <a:ahLst/>
            <a:cxnLst/>
            <a:rect l="l" t="t" r="r" b="b"/>
            <a:pathLst>
              <a:path w="8269958" h="552450">
                <a:moveTo>
                  <a:pt x="0" y="0"/>
                </a:moveTo>
                <a:lnTo>
                  <a:pt x="8269958" y="0"/>
                </a:lnTo>
                <a:lnTo>
                  <a:pt x="8269958" y="552450"/>
                </a:lnTo>
                <a:lnTo>
                  <a:pt x="0" y="552450"/>
                </a:lnTo>
                <a:close/>
              </a:path>
            </a:pathLst>
          </a:custGeom>
          <a:solidFill>
            <a:srgbClr val="000000">
              <a:alpha val="0"/>
            </a:srgbClr>
          </a:solidFill>
          <a:ln/>
        </p:spPr>
      </p:sp>
      <p:sp>
        <p:nvSpPr>
          <p:cNvPr id="27" name="Text 19"/>
          <p:cNvSpPr/>
          <p:nvPr/>
        </p:nvSpPr>
        <p:spPr>
          <a:xfrm>
            <a:off x="874042" y="328068"/>
            <a:ext cx="8269958"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O'smalar va ularning ta'siri</a:t>
            </a:r>
            <a:endParaRPr lang="en-US" sz="1050" dirty="0"/>
          </a:p>
        </p:txBody>
      </p:sp>
      <p:sp>
        <p:nvSpPr>
          <p:cNvPr id="28" name="Shape 20"/>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FFFFFF">
              <a:alpha val="0"/>
            </a:srgbClr>
          </a:solidFill>
          <a:ln/>
        </p:spPr>
      </p:sp>
      <p:sp>
        <p:nvSpPr>
          <p:cNvPr id="29" name="Text 21"/>
          <p:cNvSpPr/>
          <p:nvPr/>
        </p:nvSpPr>
        <p:spPr>
          <a:xfrm>
            <a:off x="4141256" y="2454489"/>
            <a:ext cx="1783062" cy="1011869"/>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141256" y="2454489"/>
            <a:ext cx="1783062" cy="1011869"/>
          </a:xfrm>
          <a:custGeom>
            <a:avLst/>
            <a:gdLst/>
            <a:ahLst/>
            <a:cxnLst/>
            <a:rect l="l" t="t" r="r" b="b"/>
            <a:pathLst>
              <a:path w="1783062" h="1011869">
                <a:moveTo>
                  <a:pt x="0" y="0"/>
                </a:moveTo>
                <a:lnTo>
                  <a:pt x="1783062" y="0"/>
                </a:lnTo>
                <a:lnTo>
                  <a:pt x="1783062" y="1011869"/>
                </a:lnTo>
                <a:lnTo>
                  <a:pt x="0" y="1011869"/>
                </a:lnTo>
                <a:close/>
              </a:path>
            </a:pathLst>
          </a:custGeom>
          <a:solidFill>
            <a:srgbClr val="000000">
              <a:alpha val="0"/>
            </a:srgbClr>
          </a:solidFill>
          <a:ln/>
        </p:spPr>
      </p:sp>
      <p:sp>
        <p:nvSpPr>
          <p:cNvPr id="31" name="Text 23"/>
          <p:cNvSpPr/>
          <p:nvPr/>
        </p:nvSpPr>
        <p:spPr>
          <a:xfrm>
            <a:off x="4141256" y="2454489"/>
            <a:ext cx="1783062" cy="101186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har qanday organizmda muhim ro'l o'ynaydi. Ular o'sish, rivojlanish va hayot jarayonlarida ishtirok etadilar.</a:t>
            </a:r>
            <a:endParaRPr lang="en-US" sz="1050" dirty="0"/>
          </a:p>
        </p:txBody>
      </p:sp>
      <p:sp>
        <p:nvSpPr>
          <p:cNvPr id="32" name="Shape 24"/>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FFFFFF">
              <a:alpha val="0"/>
            </a:srgbClr>
          </a:solidFill>
          <a:ln/>
        </p:spPr>
      </p:sp>
      <p:sp>
        <p:nvSpPr>
          <p:cNvPr id="33" name="Text 25"/>
          <p:cNvSpPr/>
          <p:nvPr/>
        </p:nvSpPr>
        <p:spPr>
          <a:xfrm>
            <a:off x="4116705" y="1836485"/>
            <a:ext cx="1924858" cy="253826"/>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4116705" y="1836485"/>
            <a:ext cx="1924858" cy="253826"/>
          </a:xfrm>
          <a:custGeom>
            <a:avLst/>
            <a:gdLst/>
            <a:ahLst/>
            <a:cxnLst/>
            <a:rect l="l" t="t" r="r" b="b"/>
            <a:pathLst>
              <a:path w="1924858" h="253826">
                <a:moveTo>
                  <a:pt x="0" y="0"/>
                </a:moveTo>
                <a:lnTo>
                  <a:pt x="1924858" y="0"/>
                </a:lnTo>
                <a:lnTo>
                  <a:pt x="1924858" y="253826"/>
                </a:lnTo>
                <a:lnTo>
                  <a:pt x="0" y="253826"/>
                </a:lnTo>
                <a:close/>
              </a:path>
            </a:pathLst>
          </a:custGeom>
          <a:solidFill>
            <a:srgbClr val="000000">
              <a:alpha val="0"/>
            </a:srgbClr>
          </a:solidFill>
          <a:ln/>
        </p:spPr>
      </p:sp>
      <p:sp>
        <p:nvSpPr>
          <p:cNvPr id="35" name="Text 27"/>
          <p:cNvSpPr/>
          <p:nvPr/>
        </p:nvSpPr>
        <p:spPr>
          <a:xfrm>
            <a:off x="4116705" y="1836485"/>
            <a:ext cx="1924858"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O'smalarni tasniflash</a:t>
            </a:r>
            <a:endParaRPr lang="en-US" sz="1050" dirty="0"/>
          </a:p>
        </p:txBody>
      </p:sp>
      <p:sp>
        <p:nvSpPr>
          <p:cNvPr id="36" name="Shape 28"/>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FFFFFF">
              <a:alpha val="0"/>
            </a:srgbClr>
          </a:solidFill>
          <a:ln/>
        </p:spPr>
      </p:sp>
      <p:sp>
        <p:nvSpPr>
          <p:cNvPr id="37" name="Text 29"/>
          <p:cNvSpPr/>
          <p:nvPr/>
        </p:nvSpPr>
        <p:spPr>
          <a:xfrm>
            <a:off x="6941071" y="2507763"/>
            <a:ext cx="1688550" cy="1015393"/>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941071" y="2507763"/>
            <a:ext cx="1688550" cy="1015393"/>
          </a:xfrm>
          <a:custGeom>
            <a:avLst/>
            <a:gdLst/>
            <a:ahLst/>
            <a:cxnLst/>
            <a:rect l="l" t="t" r="r" b="b"/>
            <a:pathLst>
              <a:path w="1688550" h="1015393">
                <a:moveTo>
                  <a:pt x="0" y="0"/>
                </a:moveTo>
                <a:lnTo>
                  <a:pt x="1688550" y="0"/>
                </a:lnTo>
                <a:lnTo>
                  <a:pt x="1688550" y="1015393"/>
                </a:lnTo>
                <a:lnTo>
                  <a:pt x="0" y="1015393"/>
                </a:lnTo>
                <a:close/>
              </a:path>
            </a:pathLst>
          </a:custGeom>
          <a:solidFill>
            <a:srgbClr val="000000">
              <a:alpha val="0"/>
            </a:srgbClr>
          </a:solidFill>
          <a:ln/>
        </p:spPr>
      </p:sp>
      <p:sp>
        <p:nvSpPr>
          <p:cNvPr id="39" name="Text 31"/>
          <p:cNvSpPr/>
          <p:nvPr/>
        </p:nvSpPr>
        <p:spPr>
          <a:xfrm>
            <a:off x="6941071" y="2507763"/>
            <a:ext cx="1688550" cy="101539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bir nechta guruhlarga bo'linadi: o'simliklar, hayvonlar, va mikroorganizmlar. Har bir guruh o'ziga xos xususiyatlarga ega.</a:t>
            </a:r>
            <a:endParaRPr lang="en-US" sz="1050" dirty="0"/>
          </a:p>
        </p:txBody>
      </p:sp>
      <p:sp>
        <p:nvSpPr>
          <p:cNvPr id="40" name="Shape 32"/>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FFFFFF">
              <a:alpha val="0"/>
            </a:srgbClr>
          </a:solidFill>
          <a:ln/>
        </p:spPr>
      </p:sp>
      <p:sp>
        <p:nvSpPr>
          <p:cNvPr id="41" name="Text 33"/>
          <p:cNvSpPr/>
          <p:nvPr/>
        </p:nvSpPr>
        <p:spPr>
          <a:xfrm>
            <a:off x="6941071" y="1836485"/>
            <a:ext cx="2019370" cy="537361"/>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941071" y="1836485"/>
            <a:ext cx="2019370" cy="537361"/>
          </a:xfrm>
          <a:custGeom>
            <a:avLst/>
            <a:gdLst/>
            <a:ahLst/>
            <a:cxnLst/>
            <a:rect l="l" t="t" r="r" b="b"/>
            <a:pathLst>
              <a:path w="2019370" h="537361">
                <a:moveTo>
                  <a:pt x="0" y="0"/>
                </a:moveTo>
                <a:lnTo>
                  <a:pt x="2019370" y="0"/>
                </a:lnTo>
                <a:lnTo>
                  <a:pt x="2019370" y="537361"/>
                </a:lnTo>
                <a:lnTo>
                  <a:pt x="0" y="537361"/>
                </a:lnTo>
                <a:close/>
              </a:path>
            </a:pathLst>
          </a:custGeom>
          <a:solidFill>
            <a:srgbClr val="000000">
              <a:alpha val="0"/>
            </a:srgbClr>
          </a:solidFill>
          <a:ln/>
        </p:spPr>
      </p:sp>
      <p:sp>
        <p:nvSpPr>
          <p:cNvPr id="43" name="Text 35"/>
          <p:cNvSpPr/>
          <p:nvPr/>
        </p:nvSpPr>
        <p:spPr>
          <a:xfrm>
            <a:off x="6941071" y="1836485"/>
            <a:ext cx="2019370" cy="537361"/>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 va ularning foydalari</a:t>
            </a:r>
            <a:endParaRPr lang="en-US" sz="1050" dirty="0"/>
          </a:p>
        </p:txBody>
      </p:sp>
      <p:sp>
        <p:nvSpPr>
          <p:cNvPr id="44" name="Shape 36"/>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FFFFFF">
              <a:alpha val="0"/>
            </a:srgbClr>
          </a:solidFill>
          <a:ln/>
        </p:spPr>
      </p:sp>
      <p:sp>
        <p:nvSpPr>
          <p:cNvPr id="45" name="Text 37"/>
          <p:cNvSpPr/>
          <p:nvPr/>
        </p:nvSpPr>
        <p:spPr>
          <a:xfrm>
            <a:off x="4235768" y="4117347"/>
            <a:ext cx="1688550" cy="1803595"/>
          </a:xfrm>
          <a:prstGeom prst="rect">
            <a:avLst/>
          </a:prstGeom>
          <a:noFill/>
          <a:ln/>
        </p:spPr>
        <p:txBody>
          <a:bodyPr wrap="square" rtlCol="0" anchor="t"/>
          <a:lstStyle/>
          <a:p>
            <a:pPr indent="0" marL="0">
              <a:spcBef>
                <a:spcPts val="375"/>
              </a:spcBef>
              <a:buNone/>
            </a:pPr>
            <a:endParaRPr lang="en-US" sz="1050" dirty="0"/>
          </a:p>
        </p:txBody>
      </p:sp>
      <p:sp>
        <p:nvSpPr>
          <p:cNvPr id="46" name="Shape 38"/>
          <p:cNvSpPr/>
          <p:nvPr/>
        </p:nvSpPr>
        <p:spPr>
          <a:xfrm>
            <a:off x="4235768" y="4117347"/>
            <a:ext cx="1688550" cy="1803595"/>
          </a:xfrm>
          <a:custGeom>
            <a:avLst/>
            <a:gdLst/>
            <a:ahLst/>
            <a:cxnLst/>
            <a:rect l="l" t="t" r="r" b="b"/>
            <a:pathLst>
              <a:path w="1688550" h="1803595">
                <a:moveTo>
                  <a:pt x="0" y="0"/>
                </a:moveTo>
                <a:lnTo>
                  <a:pt x="1688550" y="0"/>
                </a:lnTo>
                <a:lnTo>
                  <a:pt x="1688550" y="1803595"/>
                </a:lnTo>
                <a:lnTo>
                  <a:pt x="0" y="1803595"/>
                </a:lnTo>
                <a:close/>
              </a:path>
            </a:pathLst>
          </a:custGeom>
          <a:solidFill>
            <a:srgbClr val="000000">
              <a:alpha val="0"/>
            </a:srgbClr>
          </a:solidFill>
          <a:ln/>
        </p:spPr>
      </p:sp>
      <p:sp>
        <p:nvSpPr>
          <p:cNvPr id="47" name="Text 39"/>
          <p:cNvSpPr/>
          <p:nvPr/>
        </p:nvSpPr>
        <p:spPr>
          <a:xfrm>
            <a:off x="4235768" y="4117347"/>
            <a:ext cx="1688550" cy="1803595"/>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inson hayotida ko'plab foydali xususiyatlarga ega: oziq-ovqat manbai, dori-darmon, va ekotizimni saqlashda yordam.</a:t>
            </a:r>
            <a:endParaRPr lang="en-US" sz="1050" dirty="0"/>
          </a:p>
        </p:txBody>
      </p:sp>
      <p:sp>
        <p:nvSpPr>
          <p:cNvPr id="48" name="Shape 40"/>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FFFFFF">
              <a:alpha val="0"/>
            </a:srgbClr>
          </a:solidFill>
          <a:ln/>
        </p:spPr>
      </p:sp>
      <p:sp>
        <p:nvSpPr>
          <p:cNvPr id="49" name="Text 41"/>
          <p:cNvSpPr/>
          <p:nvPr/>
        </p:nvSpPr>
        <p:spPr>
          <a:xfrm>
            <a:off x="4078605" y="3525267"/>
            <a:ext cx="1845741" cy="247650"/>
          </a:xfrm>
          <a:prstGeom prst="rect">
            <a:avLst/>
          </a:prstGeom>
          <a:noFill/>
          <a:ln/>
        </p:spPr>
        <p:txBody>
          <a:bodyPr wrap="square" rtlCol="0" anchor="t"/>
          <a:lstStyle/>
          <a:p>
            <a:pPr indent="0" marL="0">
              <a:spcBef>
                <a:spcPts val="375"/>
              </a:spcBef>
              <a:buNone/>
            </a:pPr>
            <a:endParaRPr lang="en-US" sz="1050" dirty="0"/>
          </a:p>
        </p:txBody>
      </p:sp>
      <p:sp>
        <p:nvSpPr>
          <p:cNvPr id="50" name="Shape 42"/>
          <p:cNvSpPr/>
          <p:nvPr/>
        </p:nvSpPr>
        <p:spPr>
          <a:xfrm>
            <a:off x="4078605" y="3525267"/>
            <a:ext cx="1845741" cy="247650"/>
          </a:xfrm>
          <a:custGeom>
            <a:avLst/>
            <a:gdLst/>
            <a:ahLst/>
            <a:cxnLst/>
            <a:rect l="l" t="t" r="r" b="b"/>
            <a:pathLst>
              <a:path w="1845741" h="247650">
                <a:moveTo>
                  <a:pt x="0" y="0"/>
                </a:moveTo>
                <a:lnTo>
                  <a:pt x="1845741" y="0"/>
                </a:lnTo>
                <a:lnTo>
                  <a:pt x="1845741" y="247650"/>
                </a:lnTo>
                <a:lnTo>
                  <a:pt x="0" y="247650"/>
                </a:lnTo>
                <a:close/>
              </a:path>
            </a:pathLst>
          </a:custGeom>
          <a:solidFill>
            <a:srgbClr val="000000">
              <a:alpha val="0"/>
            </a:srgbClr>
          </a:solidFill>
          <a:ln/>
        </p:spPr>
      </p:sp>
      <p:sp>
        <p:nvSpPr>
          <p:cNvPr id="51" name="Text 43"/>
          <p:cNvSpPr/>
          <p:nvPr/>
        </p:nvSpPr>
        <p:spPr>
          <a:xfrm>
            <a:off x="4078605" y="3525267"/>
            <a:ext cx="1845741" cy="247650"/>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 orqali ta'sir</a:t>
            </a:r>
            <a:endParaRPr lang="en-US" sz="1050" dirty="0"/>
          </a:p>
        </p:txBody>
      </p:sp>
      <p:sp>
        <p:nvSpPr>
          <p:cNvPr id="52" name="Shape 44"/>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FFFFFF">
              <a:alpha val="0"/>
            </a:srgbClr>
          </a:solidFill>
          <a:ln/>
        </p:spPr>
      </p:sp>
      <p:sp>
        <p:nvSpPr>
          <p:cNvPr id="53" name="Text 45"/>
          <p:cNvSpPr/>
          <p:nvPr/>
        </p:nvSpPr>
        <p:spPr>
          <a:xfrm>
            <a:off x="6941071" y="4117347"/>
            <a:ext cx="1688550" cy="1026153"/>
          </a:xfrm>
          <a:prstGeom prst="rect">
            <a:avLst/>
          </a:prstGeom>
          <a:noFill/>
          <a:ln/>
        </p:spPr>
        <p:txBody>
          <a:bodyPr wrap="square" rtlCol="0" anchor="t"/>
          <a:lstStyle/>
          <a:p>
            <a:pPr indent="0" marL="0">
              <a:spcBef>
                <a:spcPts val="375"/>
              </a:spcBef>
              <a:buNone/>
            </a:pPr>
            <a:endParaRPr lang="en-US" sz="1050" dirty="0"/>
          </a:p>
        </p:txBody>
      </p:sp>
      <p:sp>
        <p:nvSpPr>
          <p:cNvPr id="54" name="Shape 46"/>
          <p:cNvSpPr/>
          <p:nvPr/>
        </p:nvSpPr>
        <p:spPr>
          <a:xfrm>
            <a:off x="6941071" y="4117347"/>
            <a:ext cx="1688550" cy="1026153"/>
          </a:xfrm>
          <a:custGeom>
            <a:avLst/>
            <a:gdLst/>
            <a:ahLst/>
            <a:cxnLst/>
            <a:rect l="l" t="t" r="r" b="b"/>
            <a:pathLst>
              <a:path w="1688550" h="1026153">
                <a:moveTo>
                  <a:pt x="0" y="0"/>
                </a:moveTo>
                <a:lnTo>
                  <a:pt x="1688550" y="0"/>
                </a:lnTo>
                <a:lnTo>
                  <a:pt x="1688550" y="1026153"/>
                </a:lnTo>
                <a:lnTo>
                  <a:pt x="0" y="1026153"/>
                </a:lnTo>
                <a:close/>
              </a:path>
            </a:pathLst>
          </a:custGeom>
          <a:solidFill>
            <a:srgbClr val="000000">
              <a:alpha val="0"/>
            </a:srgbClr>
          </a:solidFill>
          <a:ln/>
        </p:spPr>
      </p:sp>
      <p:sp>
        <p:nvSpPr>
          <p:cNvPr id="55" name="Text 47"/>
          <p:cNvSpPr/>
          <p:nvPr/>
        </p:nvSpPr>
        <p:spPr>
          <a:xfrm>
            <a:off x="6941071" y="4117347"/>
            <a:ext cx="1688550" cy="102615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atrof-muhitga ta'sir qiladi, ularning yo'qolishi ekosistemalarga xavf tug'diradi. Shuningdek, o'smalar odamlar hayotida ham muhimdir.</a:t>
            </a:r>
            <a:endParaRPr lang="en-US" sz="1050" dirty="0"/>
          </a:p>
        </p:txBody>
      </p:sp>
      <p:sp>
        <p:nvSpPr>
          <p:cNvPr id="56" name="Shape 48"/>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FFFFFF">
              <a:alpha val="0"/>
            </a:srgbClr>
          </a:solidFill>
          <a:ln/>
        </p:spPr>
      </p:sp>
      <p:sp>
        <p:nvSpPr>
          <p:cNvPr id="57" name="Text 49"/>
          <p:cNvSpPr/>
          <p:nvPr/>
        </p:nvSpPr>
        <p:spPr>
          <a:xfrm>
            <a:off x="6941071" y="3525267"/>
            <a:ext cx="1960300" cy="253826"/>
          </a:xfrm>
          <a:prstGeom prst="rect">
            <a:avLst/>
          </a:prstGeom>
          <a:noFill/>
          <a:ln/>
        </p:spPr>
        <p:txBody>
          <a:bodyPr wrap="square" rtlCol="0" anchor="t"/>
          <a:lstStyle/>
          <a:p>
            <a:pPr indent="0" marL="0">
              <a:spcBef>
                <a:spcPts val="375"/>
              </a:spcBef>
              <a:buNone/>
            </a:pPr>
            <a:endParaRPr lang="en-US" sz="1050" dirty="0"/>
          </a:p>
        </p:txBody>
      </p:sp>
      <p:sp>
        <p:nvSpPr>
          <p:cNvPr id="58" name="Shape 50"/>
          <p:cNvSpPr/>
          <p:nvPr/>
        </p:nvSpPr>
        <p:spPr>
          <a:xfrm>
            <a:off x="6941071" y="3525267"/>
            <a:ext cx="1960300" cy="253826"/>
          </a:xfrm>
          <a:custGeom>
            <a:avLst/>
            <a:gdLst/>
            <a:ahLst/>
            <a:cxnLst/>
            <a:rect l="l" t="t" r="r" b="b"/>
            <a:pathLst>
              <a:path w="1960300" h="253826">
                <a:moveTo>
                  <a:pt x="0" y="0"/>
                </a:moveTo>
                <a:lnTo>
                  <a:pt x="1960300" y="0"/>
                </a:lnTo>
                <a:lnTo>
                  <a:pt x="1960300" y="253826"/>
                </a:lnTo>
                <a:lnTo>
                  <a:pt x="0" y="253826"/>
                </a:lnTo>
                <a:close/>
              </a:path>
            </a:pathLst>
          </a:custGeom>
          <a:solidFill>
            <a:srgbClr val="000000">
              <a:alpha val="0"/>
            </a:srgbClr>
          </a:solidFill>
          <a:ln/>
        </p:spPr>
      </p:sp>
      <p:sp>
        <p:nvSpPr>
          <p:cNvPr id="59" name="Text 51"/>
          <p:cNvSpPr/>
          <p:nvPr/>
        </p:nvSpPr>
        <p:spPr>
          <a:xfrm>
            <a:off x="6941071" y="3525267"/>
            <a:ext cx="1960300" cy="253826"/>
          </a:xfrm>
          <a:prstGeom prst="rect">
            <a:avLst/>
          </a:prstGeom>
          <a:noFill/>
          <a:ln/>
        </p:spPr>
        <p:txBody>
          <a:bodyPr wrap="square" rtlCol="0" anchor="t"/>
          <a:lstStyle/>
          <a:p>
            <a:pPr algn="l" indent="0" marL="0">
              <a:spcBef>
                <a:spcPts val="375"/>
              </a:spcBef>
              <a:buNone/>
            </a:pPr>
            <a:r>
              <a:rPr lang="en-US" sz="1200" b="1" dirty="0">
                <a:solidFill>
                  <a:srgbClr val="000000"/>
                </a:solidFill>
                <a:latin typeface="Nunito" pitchFamily="34" charset="0"/>
                <a:ea typeface="Nunito" pitchFamily="34" charset="-122"/>
                <a:cs typeface="Nunito" pitchFamily="34" charset="-120"/>
              </a:rPr>
              <a:t>O'smalar va zamonaviy tadqiqotlar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0_img92.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0_img93.png">    </p:cNvPr>
          <p:cNvPicPr>
            <a:picLocks noChangeAspect="1"/>
          </p:cNvPicPr>
          <p:nvPr/>
        </p:nvPicPr>
        <p:blipFill>
          <a:blip r:embed="rId2"/>
          <a:stretch>
            <a:fillRect/>
          </a:stretch>
        </p:blipFill>
        <p:spPr>
          <a:xfrm>
            <a:off x="261790" y="359765"/>
            <a:ext cx="948272" cy="1498705"/>
          </a:xfrm>
          <a:prstGeom prst="rect">
            <a:avLst/>
          </a:prstGeom>
        </p:spPr>
      </p:pic>
      <p:pic>
        <p:nvPicPr>
          <p:cNvPr id="4" name="Image 2" descr="./images\slide10_img94.png">    </p:cNvPr>
          <p:cNvPicPr>
            <a:picLocks noChangeAspect="1"/>
          </p:cNvPicPr>
          <p:nvPr/>
        </p:nvPicPr>
        <p:blipFill>
          <a:blip r:embed="rId3"/>
          <a:stretch>
            <a:fillRect/>
          </a:stretch>
        </p:blipFill>
        <p:spPr>
          <a:xfrm>
            <a:off x="735926" y="1743752"/>
            <a:ext cx="2035939" cy="2035939"/>
          </a:xfrm>
          <a:prstGeom prst="rect">
            <a:avLst/>
          </a:prstGeom>
        </p:spPr>
      </p:pic>
      <p:sp>
        <p:nvSpPr>
          <p:cNvPr id="5" name="Shape 0"/>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6" name="Text 1"/>
          <p:cNvSpPr/>
          <p:nvPr/>
        </p:nvSpPr>
        <p:spPr>
          <a:xfrm>
            <a:off x="735926"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735926"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8" name="Text 3"/>
          <p:cNvSpPr/>
          <p:nvPr/>
        </p:nvSpPr>
        <p:spPr>
          <a:xfrm>
            <a:off x="735926"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0_img95.png">    </p:cNvPr>
          <p:cNvPicPr>
            <a:picLocks noChangeAspect="1"/>
          </p:cNvPicPr>
          <p:nvPr/>
        </p:nvPicPr>
        <p:blipFill>
          <a:blip r:embed="rId4"/>
          <a:stretch>
            <a:fillRect/>
          </a:stretch>
        </p:blipFill>
        <p:spPr>
          <a:xfrm>
            <a:off x="735926" y="1743752"/>
            <a:ext cx="2035939" cy="2035939"/>
          </a:xfrm>
          <a:prstGeom prst="rect">
            <a:avLst/>
          </a:prstGeom>
        </p:spPr>
      </p:pic>
      <p:pic>
        <p:nvPicPr>
          <p:cNvPr id="10" name="Image 4" descr="./images\slide10_img96.png">    </p:cNvPr>
          <p:cNvPicPr>
            <a:picLocks noChangeAspect="1"/>
          </p:cNvPicPr>
          <p:nvPr/>
        </p:nvPicPr>
        <p:blipFill>
          <a:blip r:embed="rId5"/>
          <a:stretch>
            <a:fillRect/>
          </a:stretch>
        </p:blipFill>
        <p:spPr>
          <a:xfrm>
            <a:off x="3554031" y="1743752"/>
            <a:ext cx="2035939" cy="2035939"/>
          </a:xfrm>
          <a:prstGeom prst="rect">
            <a:avLst/>
          </a:prstGeom>
        </p:spPr>
      </p:pic>
      <p:sp>
        <p:nvSpPr>
          <p:cNvPr id="11" name="Shape 4"/>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2" name="Text 5"/>
          <p:cNvSpPr/>
          <p:nvPr/>
        </p:nvSpPr>
        <p:spPr>
          <a:xfrm>
            <a:off x="3554031"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3" name="Shape 6"/>
          <p:cNvSpPr/>
          <p:nvPr/>
        </p:nvSpPr>
        <p:spPr>
          <a:xfrm>
            <a:off x="3554031"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14" name="Text 7"/>
          <p:cNvSpPr/>
          <p:nvPr/>
        </p:nvSpPr>
        <p:spPr>
          <a:xfrm>
            <a:off x="3554031"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5" name="Image 5" descr="./images\slide10_img97.png">    </p:cNvPr>
          <p:cNvPicPr>
            <a:picLocks noChangeAspect="1"/>
          </p:cNvPicPr>
          <p:nvPr/>
        </p:nvPicPr>
        <p:blipFill>
          <a:blip r:embed="rId6"/>
          <a:stretch>
            <a:fillRect/>
          </a:stretch>
        </p:blipFill>
        <p:spPr>
          <a:xfrm>
            <a:off x="3554031" y="1743752"/>
            <a:ext cx="2035939" cy="2035939"/>
          </a:xfrm>
          <a:prstGeom prst="rect">
            <a:avLst/>
          </a:prstGeom>
        </p:spPr>
      </p:pic>
      <p:pic>
        <p:nvPicPr>
          <p:cNvPr id="16" name="Image 6" descr="./images\slide10_img98.png">    </p:cNvPr>
          <p:cNvPicPr>
            <a:picLocks noChangeAspect="1"/>
          </p:cNvPicPr>
          <p:nvPr/>
        </p:nvPicPr>
        <p:blipFill>
          <a:blip r:embed="rId7"/>
          <a:stretch>
            <a:fillRect/>
          </a:stretch>
        </p:blipFill>
        <p:spPr>
          <a:xfrm>
            <a:off x="6299267" y="1743752"/>
            <a:ext cx="2035939" cy="2035939"/>
          </a:xfrm>
          <a:prstGeom prst="rect">
            <a:avLst/>
          </a:prstGeom>
        </p:spPr>
      </p:pic>
      <p:sp>
        <p:nvSpPr>
          <p:cNvPr id="17" name="Shape 8"/>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FFFFFF">
              <a:alpha val="0"/>
            </a:srgbClr>
          </a:solidFill>
          <a:ln/>
        </p:spPr>
      </p:sp>
      <p:sp>
        <p:nvSpPr>
          <p:cNvPr id="18" name="Text 9"/>
          <p:cNvSpPr/>
          <p:nvPr/>
        </p:nvSpPr>
        <p:spPr>
          <a:xfrm>
            <a:off x="6299267" y="1743752"/>
            <a:ext cx="2035939" cy="2035939"/>
          </a:xfrm>
          <a:prstGeom prst="rect">
            <a:avLst/>
          </a:prstGeom>
          <a:noFill/>
          <a:ln/>
        </p:spPr>
        <p:txBody>
          <a:bodyPr wrap="square" rtlCol="0" anchor="t"/>
          <a:lstStyle/>
          <a:p>
            <a:pPr indent="0" marL="0">
              <a:spcBef>
                <a:spcPts val="375"/>
              </a:spcBef>
              <a:buNone/>
            </a:pPr>
            <a:endParaRPr lang="en-US" sz="1050" dirty="0"/>
          </a:p>
        </p:txBody>
      </p:sp>
      <p:sp>
        <p:nvSpPr>
          <p:cNvPr id="19" name="Shape 10"/>
          <p:cNvSpPr/>
          <p:nvPr/>
        </p:nvSpPr>
        <p:spPr>
          <a:xfrm>
            <a:off x="6299267" y="1743752"/>
            <a:ext cx="2035939" cy="2035939"/>
          </a:xfrm>
          <a:custGeom>
            <a:avLst/>
            <a:gdLst/>
            <a:ahLst/>
            <a:cxnLst/>
            <a:rect l="l" t="t" r="r" b="b"/>
            <a:pathLst>
              <a:path w="2035939" h="2035939">
                <a:moveTo>
                  <a:pt x="0" y="0"/>
                </a:moveTo>
                <a:lnTo>
                  <a:pt x="2035939" y="0"/>
                </a:lnTo>
                <a:lnTo>
                  <a:pt x="2035939" y="2035939"/>
                </a:lnTo>
                <a:lnTo>
                  <a:pt x="0" y="2035939"/>
                </a:lnTo>
                <a:close/>
              </a:path>
            </a:pathLst>
          </a:custGeom>
          <a:solidFill>
            <a:srgbClr val="000000">
              <a:alpha val="0"/>
            </a:srgbClr>
          </a:solidFill>
          <a:ln/>
        </p:spPr>
      </p:sp>
      <p:sp>
        <p:nvSpPr>
          <p:cNvPr id="20" name="Text 11"/>
          <p:cNvSpPr/>
          <p:nvPr/>
        </p:nvSpPr>
        <p:spPr>
          <a:xfrm>
            <a:off x="6299267" y="1743752"/>
            <a:ext cx="2035939" cy="20359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1" name="Image 7" descr="./images\slide10_img99.png">    </p:cNvPr>
          <p:cNvPicPr>
            <a:picLocks noChangeAspect="1"/>
          </p:cNvPicPr>
          <p:nvPr/>
        </p:nvPicPr>
        <p:blipFill>
          <a:blip r:embed="rId8"/>
          <a:stretch>
            <a:fillRect/>
          </a:stretch>
        </p:blipFill>
        <p:spPr>
          <a:xfrm>
            <a:off x="6299267" y="1743752"/>
            <a:ext cx="2035939" cy="2035939"/>
          </a:xfrm>
          <a:prstGeom prst="rect">
            <a:avLst/>
          </a:prstGeom>
        </p:spPr>
      </p:pic>
      <p:sp>
        <p:nvSpPr>
          <p:cNvPr id="22" name="Shape 12"/>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FFFFFF">
              <a:alpha val="0"/>
            </a:srgbClr>
          </a:solidFill>
          <a:ln/>
        </p:spPr>
      </p:sp>
      <p:sp>
        <p:nvSpPr>
          <p:cNvPr id="23" name="Text 13"/>
          <p:cNvSpPr/>
          <p:nvPr/>
        </p:nvSpPr>
        <p:spPr>
          <a:xfrm>
            <a:off x="874042" y="518568"/>
            <a:ext cx="7395915" cy="59055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874042" y="518568"/>
            <a:ext cx="7395915" cy="590550"/>
          </a:xfrm>
          <a:custGeom>
            <a:avLst/>
            <a:gdLst/>
            <a:ahLst/>
            <a:cxnLst/>
            <a:rect l="l" t="t" r="r" b="b"/>
            <a:pathLst>
              <a:path w="7395915" h="590550">
                <a:moveTo>
                  <a:pt x="0" y="0"/>
                </a:moveTo>
                <a:lnTo>
                  <a:pt x="7395915" y="0"/>
                </a:lnTo>
                <a:lnTo>
                  <a:pt x="7395915" y="590550"/>
                </a:lnTo>
                <a:lnTo>
                  <a:pt x="0" y="590550"/>
                </a:lnTo>
                <a:close/>
              </a:path>
            </a:pathLst>
          </a:custGeom>
          <a:solidFill>
            <a:srgbClr val="000000">
              <a:alpha val="0"/>
            </a:srgbClr>
          </a:solidFill>
          <a:ln/>
        </p:spPr>
      </p:sp>
      <p:sp>
        <p:nvSpPr>
          <p:cNvPr id="25" name="Text 15"/>
          <p:cNvSpPr/>
          <p:nvPr/>
        </p:nvSpPr>
        <p:spPr>
          <a:xfrm>
            <a:off x="874042" y="518568"/>
            <a:ext cx="7395915"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O'smalarni oldini olish uchun muntazam ravishda tibbiy tekshiruvlar o'tkazish kerak.</a:t>
            </a:r>
            <a:endParaRPr lang="en-US" sz="1050" dirty="0"/>
          </a:p>
        </p:txBody>
      </p:sp>
      <p:pic>
        <p:nvPicPr>
          <p:cNvPr id="26" name="Image 8" descr="./images\slide10_img100.png">    </p:cNvPr>
          <p:cNvPicPr>
            <a:picLocks noChangeAspect="1"/>
          </p:cNvPicPr>
          <p:nvPr/>
        </p:nvPicPr>
        <p:blipFill>
          <a:blip r:embed="rId9"/>
          <a:stretch>
            <a:fillRect/>
          </a:stretch>
        </p:blipFill>
        <p:spPr>
          <a:xfrm>
            <a:off x="890801" y="1893864"/>
            <a:ext cx="1745239" cy="1745239"/>
          </a:xfrm>
          <a:prstGeom prst="rect">
            <a:avLst/>
          </a:prstGeom>
        </p:spPr>
      </p:pic>
      <p:sp>
        <p:nvSpPr>
          <p:cNvPr id="27" name="Shape 16"/>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28" name="Text 17"/>
          <p:cNvSpPr/>
          <p:nvPr/>
        </p:nvSpPr>
        <p:spPr>
          <a:xfrm>
            <a:off x="890801"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29" name="Shape 18"/>
          <p:cNvSpPr/>
          <p:nvPr/>
        </p:nvSpPr>
        <p:spPr>
          <a:xfrm>
            <a:off x="890801"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0" name="Text 19"/>
          <p:cNvSpPr/>
          <p:nvPr/>
        </p:nvSpPr>
        <p:spPr>
          <a:xfrm>
            <a:off x="890801"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1" name="Image 9" descr="./images\slide10_img101.png">    </p:cNvPr>
          <p:cNvPicPr>
            <a:picLocks noChangeAspect="1"/>
          </p:cNvPicPr>
          <p:nvPr/>
        </p:nvPicPr>
        <p:blipFill>
          <a:blip r:embed="rId10"/>
          <a:stretch>
            <a:fillRect/>
          </a:stretch>
        </p:blipFill>
        <p:spPr>
          <a:xfrm>
            <a:off x="890801" y="1893864"/>
            <a:ext cx="1745239" cy="1745239"/>
          </a:xfrm>
          <a:prstGeom prst="rect">
            <a:avLst/>
          </a:prstGeom>
        </p:spPr>
      </p:pic>
      <p:pic>
        <p:nvPicPr>
          <p:cNvPr id="32" name="Image 10" descr="./images\slide10_img102.png">    </p:cNvPr>
          <p:cNvPicPr>
            <a:picLocks noChangeAspect="1"/>
          </p:cNvPicPr>
          <p:nvPr/>
        </p:nvPicPr>
        <p:blipFill>
          <a:blip r:embed="rId11"/>
          <a:stretch>
            <a:fillRect/>
          </a:stretch>
        </p:blipFill>
        <p:spPr>
          <a:xfrm>
            <a:off x="3708905" y="1893864"/>
            <a:ext cx="1745239" cy="1745239"/>
          </a:xfrm>
          <a:prstGeom prst="rect">
            <a:avLst/>
          </a:prstGeom>
        </p:spPr>
      </p:pic>
      <p:sp>
        <p:nvSpPr>
          <p:cNvPr id="33" name="Shape 20"/>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34" name="Text 21"/>
          <p:cNvSpPr/>
          <p:nvPr/>
        </p:nvSpPr>
        <p:spPr>
          <a:xfrm>
            <a:off x="3708905"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35" name="Shape 22"/>
          <p:cNvSpPr/>
          <p:nvPr/>
        </p:nvSpPr>
        <p:spPr>
          <a:xfrm>
            <a:off x="3708905"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36" name="Text 23"/>
          <p:cNvSpPr/>
          <p:nvPr/>
        </p:nvSpPr>
        <p:spPr>
          <a:xfrm>
            <a:off x="3708905"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7" name="Image 11" descr="./images\slide10_img103.png">    </p:cNvPr>
          <p:cNvPicPr>
            <a:picLocks noChangeAspect="1"/>
          </p:cNvPicPr>
          <p:nvPr/>
        </p:nvPicPr>
        <p:blipFill>
          <a:blip r:embed="rId12"/>
          <a:stretch>
            <a:fillRect/>
          </a:stretch>
        </p:blipFill>
        <p:spPr>
          <a:xfrm>
            <a:off x="3708905" y="1893864"/>
            <a:ext cx="1745239" cy="1745239"/>
          </a:xfrm>
          <a:prstGeom prst="rect">
            <a:avLst/>
          </a:prstGeom>
        </p:spPr>
      </p:pic>
      <p:pic>
        <p:nvPicPr>
          <p:cNvPr id="38" name="Image 12" descr="./images\slide10_img104.png">    </p:cNvPr>
          <p:cNvPicPr>
            <a:picLocks noChangeAspect="1"/>
          </p:cNvPicPr>
          <p:nvPr/>
        </p:nvPicPr>
        <p:blipFill>
          <a:blip r:embed="rId13"/>
          <a:stretch>
            <a:fillRect/>
          </a:stretch>
        </p:blipFill>
        <p:spPr>
          <a:xfrm>
            <a:off x="6454142" y="1893864"/>
            <a:ext cx="1745239" cy="1745239"/>
          </a:xfrm>
          <a:prstGeom prst="rect">
            <a:avLst/>
          </a:prstGeom>
        </p:spPr>
      </p:pic>
      <p:sp>
        <p:nvSpPr>
          <p:cNvPr id="39" name="Shape 24"/>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FFFFFF">
              <a:alpha val="0"/>
            </a:srgbClr>
          </a:solidFill>
          <a:ln/>
        </p:spPr>
      </p:sp>
      <p:sp>
        <p:nvSpPr>
          <p:cNvPr id="40" name="Text 25"/>
          <p:cNvSpPr/>
          <p:nvPr/>
        </p:nvSpPr>
        <p:spPr>
          <a:xfrm>
            <a:off x="6454142" y="1893864"/>
            <a:ext cx="1745239" cy="1745239"/>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6454142" y="1893864"/>
            <a:ext cx="1745239" cy="1745239"/>
          </a:xfrm>
          <a:custGeom>
            <a:avLst/>
            <a:gdLst/>
            <a:ahLst/>
            <a:cxnLst/>
            <a:rect l="l" t="t" r="r" b="b"/>
            <a:pathLst>
              <a:path w="1745239" h="1745239">
                <a:moveTo>
                  <a:pt x="0" y="0"/>
                </a:moveTo>
                <a:lnTo>
                  <a:pt x="1745239" y="0"/>
                </a:lnTo>
                <a:lnTo>
                  <a:pt x="1745239" y="1745239"/>
                </a:lnTo>
                <a:lnTo>
                  <a:pt x="0" y="1745239"/>
                </a:lnTo>
                <a:close/>
              </a:path>
            </a:pathLst>
          </a:custGeom>
          <a:solidFill>
            <a:srgbClr val="000000">
              <a:alpha val="0"/>
            </a:srgbClr>
          </a:solidFill>
          <a:ln/>
        </p:spPr>
      </p:sp>
      <p:sp>
        <p:nvSpPr>
          <p:cNvPr id="42" name="Text 27"/>
          <p:cNvSpPr/>
          <p:nvPr/>
        </p:nvSpPr>
        <p:spPr>
          <a:xfrm>
            <a:off x="6454142" y="1893864"/>
            <a:ext cx="1745239" cy="1745239"/>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43" name="Image 13" descr="./images\slide10_img105.png">    </p:cNvPr>
          <p:cNvPicPr>
            <a:picLocks noChangeAspect="1"/>
          </p:cNvPicPr>
          <p:nvPr/>
        </p:nvPicPr>
        <p:blipFill>
          <a:blip r:embed="rId14"/>
          <a:stretch>
            <a:fillRect/>
          </a:stretch>
        </p:blipFill>
        <p:spPr>
          <a:xfrm>
            <a:off x="6454142" y="1893864"/>
            <a:ext cx="1745239" cy="1745239"/>
          </a:xfrm>
          <a:prstGeom prst="rect">
            <a:avLst/>
          </a:prstGeom>
        </p:spPr>
      </p:pic>
      <p:sp>
        <p:nvSpPr>
          <p:cNvPr id="44" name="Shape 28"/>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FFFFFF">
              <a:alpha val="0"/>
            </a:srgbClr>
          </a:solidFill>
          <a:ln/>
        </p:spPr>
      </p:sp>
      <p:sp>
        <p:nvSpPr>
          <p:cNvPr id="45" name="Text 29"/>
          <p:cNvSpPr/>
          <p:nvPr/>
        </p:nvSpPr>
        <p:spPr>
          <a:xfrm>
            <a:off x="3766921" y="2442710"/>
            <a:ext cx="1716484" cy="590550"/>
          </a:xfrm>
          <a:prstGeom prst="rect">
            <a:avLst/>
          </a:prstGeom>
          <a:noFill/>
          <a:ln/>
        </p:spPr>
        <p:txBody>
          <a:bodyPr wrap="square" rtlCol="0" anchor="t"/>
          <a:lstStyle/>
          <a:p>
            <a:pPr indent="0" marL="0">
              <a:spcBef>
                <a:spcPts val="375"/>
              </a:spcBef>
              <a:buNone/>
            </a:pPr>
            <a:endParaRPr lang="en-US" sz="1050" dirty="0"/>
          </a:p>
        </p:txBody>
      </p:sp>
      <p:sp>
        <p:nvSpPr>
          <p:cNvPr id="46" name="Shape 30"/>
          <p:cNvSpPr/>
          <p:nvPr/>
        </p:nvSpPr>
        <p:spPr>
          <a:xfrm>
            <a:off x="3766921" y="2442710"/>
            <a:ext cx="1716484" cy="590550"/>
          </a:xfrm>
          <a:custGeom>
            <a:avLst/>
            <a:gdLst/>
            <a:ahLst/>
            <a:cxnLst/>
            <a:rect l="l" t="t" r="r" b="b"/>
            <a:pathLst>
              <a:path w="1716484" h="590550">
                <a:moveTo>
                  <a:pt x="0" y="0"/>
                </a:moveTo>
                <a:lnTo>
                  <a:pt x="1716484" y="0"/>
                </a:lnTo>
                <a:lnTo>
                  <a:pt x="1716484" y="590550"/>
                </a:lnTo>
                <a:lnTo>
                  <a:pt x="0" y="590550"/>
                </a:lnTo>
                <a:close/>
              </a:path>
            </a:pathLst>
          </a:custGeom>
          <a:solidFill>
            <a:srgbClr val="000000">
              <a:alpha val="0"/>
            </a:srgbClr>
          </a:solidFill>
          <a:ln/>
        </p:spPr>
      </p:sp>
      <p:sp>
        <p:nvSpPr>
          <p:cNvPr id="47" name="Text 31"/>
          <p:cNvSpPr/>
          <p:nvPr/>
        </p:nvSpPr>
        <p:spPr>
          <a:xfrm>
            <a:off x="3766921" y="2442710"/>
            <a:ext cx="1716484"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87%</a:t>
            </a:r>
            <a:endParaRPr lang="en-US" sz="1050" dirty="0"/>
          </a:p>
        </p:txBody>
      </p:sp>
      <p:sp>
        <p:nvSpPr>
          <p:cNvPr id="48" name="Shape 32"/>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FFFFFF">
              <a:alpha val="0"/>
            </a:srgbClr>
          </a:solidFill>
          <a:ln/>
        </p:spPr>
      </p:sp>
      <p:sp>
        <p:nvSpPr>
          <p:cNvPr id="49" name="Text 33"/>
          <p:cNvSpPr/>
          <p:nvPr/>
        </p:nvSpPr>
        <p:spPr>
          <a:xfrm>
            <a:off x="6382204" y="2442710"/>
            <a:ext cx="1788847" cy="552450"/>
          </a:xfrm>
          <a:prstGeom prst="rect">
            <a:avLst/>
          </a:prstGeom>
          <a:noFill/>
          <a:ln/>
        </p:spPr>
        <p:txBody>
          <a:bodyPr wrap="square" rtlCol="0" anchor="t"/>
          <a:lstStyle/>
          <a:p>
            <a:pPr indent="0" marL="0">
              <a:spcBef>
                <a:spcPts val="375"/>
              </a:spcBef>
              <a:buNone/>
            </a:pPr>
            <a:endParaRPr lang="en-US" sz="1050" dirty="0"/>
          </a:p>
        </p:txBody>
      </p:sp>
      <p:sp>
        <p:nvSpPr>
          <p:cNvPr id="50" name="Shape 34"/>
          <p:cNvSpPr/>
          <p:nvPr/>
        </p:nvSpPr>
        <p:spPr>
          <a:xfrm>
            <a:off x="6382204" y="2442710"/>
            <a:ext cx="1788847" cy="552450"/>
          </a:xfrm>
          <a:custGeom>
            <a:avLst/>
            <a:gdLst/>
            <a:ahLst/>
            <a:cxnLst/>
            <a:rect l="l" t="t" r="r" b="b"/>
            <a:pathLst>
              <a:path w="1788847" h="552450">
                <a:moveTo>
                  <a:pt x="0" y="0"/>
                </a:moveTo>
                <a:lnTo>
                  <a:pt x="1788847" y="0"/>
                </a:lnTo>
                <a:lnTo>
                  <a:pt x="1788847" y="552450"/>
                </a:lnTo>
                <a:lnTo>
                  <a:pt x="0" y="552450"/>
                </a:lnTo>
                <a:close/>
              </a:path>
            </a:pathLst>
          </a:custGeom>
          <a:solidFill>
            <a:srgbClr val="000000">
              <a:alpha val="0"/>
            </a:srgbClr>
          </a:solidFill>
          <a:ln/>
        </p:spPr>
      </p:sp>
      <p:sp>
        <p:nvSpPr>
          <p:cNvPr id="51" name="Text 35"/>
          <p:cNvSpPr/>
          <p:nvPr/>
        </p:nvSpPr>
        <p:spPr>
          <a:xfrm>
            <a:off x="6382204" y="2442710"/>
            <a:ext cx="1788847" cy="552450"/>
          </a:xfrm>
          <a:prstGeom prst="rect">
            <a:avLst/>
          </a:prstGeom>
          <a:noFill/>
          <a:ln/>
        </p:spPr>
        <p:txBody>
          <a:bodyPr wrap="square" rtlCol="0" anchor="t"/>
          <a:lstStyle/>
          <a:p>
            <a:pPr algn="ctr" indent="0" marL="0">
              <a:spcBef>
                <a:spcPts val="375"/>
              </a:spcBef>
              <a:buNone/>
            </a:pPr>
            <a:r>
              <a:rPr lang="en-US" sz="3600" dirty="0">
                <a:solidFill>
                  <a:srgbClr val="45464D"/>
                </a:solidFill>
                <a:latin typeface="Caveat Brush" pitchFamily="34" charset="0"/>
                <a:ea typeface="Caveat Brush" pitchFamily="34" charset="-122"/>
                <a:cs typeface="Caveat Brush" pitchFamily="34" charset="-120"/>
              </a:rPr>
              <a:t>36%</a:t>
            </a:r>
            <a:endParaRPr lang="en-US" sz="1050" dirty="0"/>
          </a:p>
        </p:txBody>
      </p:sp>
      <p:sp>
        <p:nvSpPr>
          <p:cNvPr id="52" name="Shape 36"/>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FFFFFF">
              <a:alpha val="0"/>
            </a:srgbClr>
          </a:solidFill>
          <a:ln/>
        </p:spPr>
      </p:sp>
      <p:sp>
        <p:nvSpPr>
          <p:cNvPr id="53" name="Text 37"/>
          <p:cNvSpPr/>
          <p:nvPr/>
        </p:nvSpPr>
        <p:spPr>
          <a:xfrm>
            <a:off x="874042" y="2442710"/>
            <a:ext cx="1684933" cy="590550"/>
          </a:xfrm>
          <a:prstGeom prst="rect">
            <a:avLst/>
          </a:prstGeom>
          <a:noFill/>
          <a:ln/>
        </p:spPr>
        <p:txBody>
          <a:bodyPr wrap="square" rtlCol="0" anchor="t"/>
          <a:lstStyle/>
          <a:p>
            <a:pPr indent="0" marL="0">
              <a:spcBef>
                <a:spcPts val="375"/>
              </a:spcBef>
              <a:buNone/>
            </a:pPr>
            <a:endParaRPr lang="en-US" sz="1050" dirty="0"/>
          </a:p>
        </p:txBody>
      </p:sp>
      <p:sp>
        <p:nvSpPr>
          <p:cNvPr id="54" name="Shape 38"/>
          <p:cNvSpPr/>
          <p:nvPr/>
        </p:nvSpPr>
        <p:spPr>
          <a:xfrm>
            <a:off x="874042" y="2442710"/>
            <a:ext cx="1684933" cy="590550"/>
          </a:xfrm>
          <a:custGeom>
            <a:avLst/>
            <a:gdLst/>
            <a:ahLst/>
            <a:cxnLst/>
            <a:rect l="l" t="t" r="r" b="b"/>
            <a:pathLst>
              <a:path w="1684933" h="590550">
                <a:moveTo>
                  <a:pt x="0" y="0"/>
                </a:moveTo>
                <a:lnTo>
                  <a:pt x="1684933" y="0"/>
                </a:lnTo>
                <a:lnTo>
                  <a:pt x="1684933" y="590550"/>
                </a:lnTo>
                <a:lnTo>
                  <a:pt x="0" y="590550"/>
                </a:lnTo>
                <a:close/>
              </a:path>
            </a:pathLst>
          </a:custGeom>
          <a:solidFill>
            <a:srgbClr val="000000">
              <a:alpha val="0"/>
            </a:srgbClr>
          </a:solidFill>
          <a:ln/>
        </p:spPr>
      </p:sp>
      <p:sp>
        <p:nvSpPr>
          <p:cNvPr id="55" name="Text 39"/>
          <p:cNvSpPr/>
          <p:nvPr/>
        </p:nvSpPr>
        <p:spPr>
          <a:xfrm>
            <a:off x="874042" y="2442710"/>
            <a:ext cx="1684933" cy="590550"/>
          </a:xfrm>
          <a:prstGeom prst="rect">
            <a:avLst/>
          </a:prstGeom>
          <a:noFill/>
          <a:ln/>
        </p:spPr>
        <p:txBody>
          <a:bodyPr wrap="square" rtlCol="0" anchor="t"/>
          <a:lstStyle/>
          <a:p>
            <a:pPr algn="ctr" indent="0" marL="0">
              <a:spcBef>
                <a:spcPts val="375"/>
              </a:spcBef>
              <a:buNone/>
            </a:pPr>
            <a:r>
              <a:rPr lang="en-US" sz="3900" dirty="0">
                <a:solidFill>
                  <a:srgbClr val="45464D"/>
                </a:solidFill>
                <a:latin typeface="Caveat Brush" pitchFamily="34" charset="0"/>
                <a:ea typeface="Caveat Brush" pitchFamily="34" charset="-122"/>
                <a:cs typeface="Caveat Brush" pitchFamily="34" charset="-120"/>
              </a:rPr>
              <a:t>67%</a:t>
            </a:r>
            <a:endParaRPr lang="en-US" sz="1050" dirty="0"/>
          </a:p>
        </p:txBody>
      </p:sp>
      <p:sp>
        <p:nvSpPr>
          <p:cNvPr id="56" name="Shape 40"/>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FFFFFF">
              <a:alpha val="0"/>
            </a:srgbClr>
          </a:solidFill>
          <a:ln/>
        </p:spPr>
      </p:sp>
      <p:sp>
        <p:nvSpPr>
          <p:cNvPr id="57" name="Text 41"/>
          <p:cNvSpPr/>
          <p:nvPr/>
        </p:nvSpPr>
        <p:spPr>
          <a:xfrm>
            <a:off x="3727710" y="4418448"/>
            <a:ext cx="1862259" cy="725052"/>
          </a:xfrm>
          <a:prstGeom prst="rect">
            <a:avLst/>
          </a:prstGeom>
          <a:noFill/>
          <a:ln/>
        </p:spPr>
        <p:txBody>
          <a:bodyPr wrap="square" rtlCol="0" anchor="t"/>
          <a:lstStyle/>
          <a:p>
            <a:pPr indent="0" marL="0">
              <a:spcBef>
                <a:spcPts val="375"/>
              </a:spcBef>
              <a:buNone/>
            </a:pPr>
            <a:endParaRPr lang="en-US" sz="1050" dirty="0"/>
          </a:p>
        </p:txBody>
      </p:sp>
      <p:sp>
        <p:nvSpPr>
          <p:cNvPr id="58" name="Shape 42"/>
          <p:cNvSpPr/>
          <p:nvPr/>
        </p:nvSpPr>
        <p:spPr>
          <a:xfrm>
            <a:off x="3727710" y="4418448"/>
            <a:ext cx="1862259" cy="725052"/>
          </a:xfrm>
          <a:custGeom>
            <a:avLst/>
            <a:gdLst/>
            <a:ahLst/>
            <a:cxnLst/>
            <a:rect l="l" t="t" r="r" b="b"/>
            <a:pathLst>
              <a:path w="1862259" h="725052">
                <a:moveTo>
                  <a:pt x="0" y="0"/>
                </a:moveTo>
                <a:lnTo>
                  <a:pt x="1862259" y="0"/>
                </a:lnTo>
                <a:lnTo>
                  <a:pt x="1862259" y="725052"/>
                </a:lnTo>
                <a:lnTo>
                  <a:pt x="0" y="725052"/>
                </a:lnTo>
                <a:close/>
              </a:path>
            </a:pathLst>
          </a:custGeom>
          <a:solidFill>
            <a:srgbClr val="000000">
              <a:alpha val="0"/>
            </a:srgbClr>
          </a:solidFill>
          <a:ln/>
        </p:spPr>
      </p:sp>
      <p:sp>
        <p:nvSpPr>
          <p:cNvPr id="59" name="Text 43"/>
          <p:cNvSpPr/>
          <p:nvPr/>
        </p:nvSpPr>
        <p:spPr>
          <a:xfrm>
            <a:off x="3727710" y="4418448"/>
            <a:ext cx="186225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Lorem ipsum dolor sit amet, consectetur adipiscing elit.</a:t>
            </a:r>
            <a:endParaRPr lang="en-US" sz="1050" dirty="0"/>
          </a:p>
        </p:txBody>
      </p:sp>
      <p:sp>
        <p:nvSpPr>
          <p:cNvPr id="60" name="Shape 44"/>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FFFFFF">
              <a:alpha val="0"/>
            </a:srgbClr>
          </a:solidFill>
          <a:ln/>
        </p:spPr>
      </p:sp>
      <p:sp>
        <p:nvSpPr>
          <p:cNvPr id="61" name="Text 45"/>
          <p:cNvSpPr/>
          <p:nvPr/>
        </p:nvSpPr>
        <p:spPr>
          <a:xfrm>
            <a:off x="824620" y="4312123"/>
            <a:ext cx="1811421" cy="739383"/>
          </a:xfrm>
          <a:prstGeom prst="rect">
            <a:avLst/>
          </a:prstGeom>
          <a:noFill/>
          <a:ln/>
        </p:spPr>
        <p:txBody>
          <a:bodyPr wrap="square" rtlCol="0" anchor="t"/>
          <a:lstStyle/>
          <a:p>
            <a:pPr indent="0" marL="0">
              <a:spcBef>
                <a:spcPts val="375"/>
              </a:spcBef>
              <a:buNone/>
            </a:pPr>
            <a:endParaRPr lang="en-US" sz="1050" dirty="0"/>
          </a:p>
        </p:txBody>
      </p:sp>
      <p:sp>
        <p:nvSpPr>
          <p:cNvPr id="62" name="Shape 46"/>
          <p:cNvSpPr/>
          <p:nvPr/>
        </p:nvSpPr>
        <p:spPr>
          <a:xfrm>
            <a:off x="824620" y="4312123"/>
            <a:ext cx="1811421" cy="739383"/>
          </a:xfrm>
          <a:custGeom>
            <a:avLst/>
            <a:gdLst/>
            <a:ahLst/>
            <a:cxnLst/>
            <a:rect l="l" t="t" r="r" b="b"/>
            <a:pathLst>
              <a:path w="1811421" h="739383">
                <a:moveTo>
                  <a:pt x="0" y="0"/>
                </a:moveTo>
                <a:lnTo>
                  <a:pt x="1811421" y="0"/>
                </a:lnTo>
                <a:lnTo>
                  <a:pt x="1811421" y="739383"/>
                </a:lnTo>
                <a:lnTo>
                  <a:pt x="0" y="739383"/>
                </a:lnTo>
                <a:close/>
              </a:path>
            </a:pathLst>
          </a:custGeom>
          <a:solidFill>
            <a:srgbClr val="000000">
              <a:alpha val="0"/>
            </a:srgbClr>
          </a:solidFill>
          <a:ln/>
        </p:spPr>
      </p:sp>
      <p:sp>
        <p:nvSpPr>
          <p:cNvPr id="63" name="Text 47"/>
          <p:cNvSpPr/>
          <p:nvPr/>
        </p:nvSpPr>
        <p:spPr>
          <a:xfrm>
            <a:off x="824620" y="4312123"/>
            <a:ext cx="1811421" cy="73938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Lorem ipsum dolor sit amet, consectetur adipiscing elit.</a:t>
            </a:r>
            <a:endParaRPr lang="en-US" sz="1050" dirty="0"/>
          </a:p>
        </p:txBody>
      </p:sp>
      <p:sp>
        <p:nvSpPr>
          <p:cNvPr id="64" name="Shape 48"/>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FFFFFF">
              <a:alpha val="0"/>
            </a:srgbClr>
          </a:solidFill>
          <a:ln/>
        </p:spPr>
      </p:sp>
      <p:sp>
        <p:nvSpPr>
          <p:cNvPr id="65" name="Text 49"/>
          <p:cNvSpPr/>
          <p:nvPr/>
        </p:nvSpPr>
        <p:spPr>
          <a:xfrm>
            <a:off x="6482472" y="4418448"/>
            <a:ext cx="1688579" cy="725052"/>
          </a:xfrm>
          <a:prstGeom prst="rect">
            <a:avLst/>
          </a:prstGeom>
          <a:noFill/>
          <a:ln/>
        </p:spPr>
        <p:txBody>
          <a:bodyPr wrap="square" rtlCol="0" anchor="t"/>
          <a:lstStyle/>
          <a:p>
            <a:pPr indent="0" marL="0">
              <a:spcBef>
                <a:spcPts val="375"/>
              </a:spcBef>
              <a:buNone/>
            </a:pPr>
            <a:endParaRPr lang="en-US" sz="1050" dirty="0"/>
          </a:p>
        </p:txBody>
      </p:sp>
      <p:sp>
        <p:nvSpPr>
          <p:cNvPr id="66" name="Shape 50"/>
          <p:cNvSpPr/>
          <p:nvPr/>
        </p:nvSpPr>
        <p:spPr>
          <a:xfrm>
            <a:off x="6482472" y="4418448"/>
            <a:ext cx="1688579" cy="725052"/>
          </a:xfrm>
          <a:custGeom>
            <a:avLst/>
            <a:gdLst/>
            <a:ahLst/>
            <a:cxnLst/>
            <a:rect l="l" t="t" r="r" b="b"/>
            <a:pathLst>
              <a:path w="1688579" h="725052">
                <a:moveTo>
                  <a:pt x="0" y="0"/>
                </a:moveTo>
                <a:lnTo>
                  <a:pt x="1688579" y="0"/>
                </a:lnTo>
                <a:lnTo>
                  <a:pt x="1688579" y="725052"/>
                </a:lnTo>
                <a:lnTo>
                  <a:pt x="0" y="725052"/>
                </a:lnTo>
                <a:close/>
              </a:path>
            </a:pathLst>
          </a:custGeom>
          <a:solidFill>
            <a:srgbClr val="000000">
              <a:alpha val="0"/>
            </a:srgbClr>
          </a:solidFill>
          <a:ln/>
        </p:spPr>
      </p:sp>
      <p:sp>
        <p:nvSpPr>
          <p:cNvPr id="67" name="Text 51"/>
          <p:cNvSpPr/>
          <p:nvPr/>
        </p:nvSpPr>
        <p:spPr>
          <a:xfrm>
            <a:off x="6482472" y="4418448"/>
            <a:ext cx="1688579" cy="725052"/>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Lorem ipsum dolor sit amet, consectetur adipiscing elit.</a:t>
            </a:r>
            <a:endParaRPr lang="en-US" sz="1050" dirty="0"/>
          </a:p>
        </p:txBody>
      </p:sp>
      <p:sp>
        <p:nvSpPr>
          <p:cNvPr id="68" name="Shape 52"/>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FFFFFF">
              <a:alpha val="0"/>
            </a:srgbClr>
          </a:solidFill>
          <a:ln/>
        </p:spPr>
      </p:sp>
      <p:sp>
        <p:nvSpPr>
          <p:cNvPr id="69" name="Text 53"/>
          <p:cNvSpPr/>
          <p:nvPr/>
        </p:nvSpPr>
        <p:spPr>
          <a:xfrm>
            <a:off x="3597757" y="3922645"/>
            <a:ext cx="2172951" cy="253826"/>
          </a:xfrm>
          <a:prstGeom prst="rect">
            <a:avLst/>
          </a:prstGeom>
          <a:noFill/>
          <a:ln/>
        </p:spPr>
        <p:txBody>
          <a:bodyPr wrap="square" rtlCol="0" anchor="t"/>
          <a:lstStyle/>
          <a:p>
            <a:pPr indent="0" marL="0">
              <a:spcBef>
                <a:spcPts val="375"/>
              </a:spcBef>
              <a:buNone/>
            </a:pPr>
            <a:endParaRPr lang="en-US" sz="1050" dirty="0"/>
          </a:p>
        </p:txBody>
      </p:sp>
      <p:sp>
        <p:nvSpPr>
          <p:cNvPr id="70" name="Shape 54"/>
          <p:cNvSpPr/>
          <p:nvPr/>
        </p:nvSpPr>
        <p:spPr>
          <a:xfrm>
            <a:off x="3597757" y="3922645"/>
            <a:ext cx="2172951" cy="253826"/>
          </a:xfrm>
          <a:custGeom>
            <a:avLst/>
            <a:gdLst/>
            <a:ahLst/>
            <a:cxnLst/>
            <a:rect l="l" t="t" r="r" b="b"/>
            <a:pathLst>
              <a:path w="2172951" h="253826">
                <a:moveTo>
                  <a:pt x="0" y="0"/>
                </a:moveTo>
                <a:lnTo>
                  <a:pt x="2172951" y="0"/>
                </a:lnTo>
                <a:lnTo>
                  <a:pt x="2172951" y="253826"/>
                </a:lnTo>
                <a:lnTo>
                  <a:pt x="0" y="253826"/>
                </a:lnTo>
                <a:close/>
              </a:path>
            </a:pathLst>
          </a:custGeom>
          <a:solidFill>
            <a:srgbClr val="000000">
              <a:alpha val="0"/>
            </a:srgbClr>
          </a:solidFill>
          <a:ln/>
        </p:spPr>
      </p:sp>
      <p:sp>
        <p:nvSpPr>
          <p:cNvPr id="71" name="Text 55"/>
          <p:cNvSpPr/>
          <p:nvPr/>
        </p:nvSpPr>
        <p:spPr>
          <a:xfrm>
            <a:off x="3597757" y="3922645"/>
            <a:ext cx="2172951"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Write a main idea here</a:t>
            </a:r>
            <a:endParaRPr lang="en-US" sz="1050" dirty="0"/>
          </a:p>
        </p:txBody>
      </p:sp>
      <p:sp>
        <p:nvSpPr>
          <p:cNvPr id="72" name="Shape 56"/>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FFFFFF">
              <a:alpha val="0"/>
            </a:srgbClr>
          </a:solidFill>
          <a:ln/>
        </p:spPr>
      </p:sp>
      <p:sp>
        <p:nvSpPr>
          <p:cNvPr id="73" name="Text 57"/>
          <p:cNvSpPr/>
          <p:nvPr/>
        </p:nvSpPr>
        <p:spPr>
          <a:xfrm>
            <a:off x="681612" y="3920410"/>
            <a:ext cx="2090253" cy="253826"/>
          </a:xfrm>
          <a:prstGeom prst="rect">
            <a:avLst/>
          </a:prstGeom>
          <a:noFill/>
          <a:ln/>
        </p:spPr>
        <p:txBody>
          <a:bodyPr wrap="square" rtlCol="0" anchor="t"/>
          <a:lstStyle/>
          <a:p>
            <a:pPr indent="0" marL="0">
              <a:spcBef>
                <a:spcPts val="375"/>
              </a:spcBef>
              <a:buNone/>
            </a:pPr>
            <a:endParaRPr lang="en-US" sz="1050" dirty="0"/>
          </a:p>
        </p:txBody>
      </p:sp>
      <p:sp>
        <p:nvSpPr>
          <p:cNvPr id="74" name="Shape 58"/>
          <p:cNvSpPr/>
          <p:nvPr/>
        </p:nvSpPr>
        <p:spPr>
          <a:xfrm>
            <a:off x="681612" y="3920410"/>
            <a:ext cx="2090253" cy="253826"/>
          </a:xfrm>
          <a:custGeom>
            <a:avLst/>
            <a:gdLst/>
            <a:ahLst/>
            <a:cxnLst/>
            <a:rect l="l" t="t" r="r" b="b"/>
            <a:pathLst>
              <a:path w="2090253" h="253826">
                <a:moveTo>
                  <a:pt x="0" y="0"/>
                </a:moveTo>
                <a:lnTo>
                  <a:pt x="2090253" y="0"/>
                </a:lnTo>
                <a:lnTo>
                  <a:pt x="2090253" y="253826"/>
                </a:lnTo>
                <a:lnTo>
                  <a:pt x="0" y="253826"/>
                </a:lnTo>
                <a:close/>
              </a:path>
            </a:pathLst>
          </a:custGeom>
          <a:solidFill>
            <a:srgbClr val="000000">
              <a:alpha val="0"/>
            </a:srgbClr>
          </a:solidFill>
          <a:ln/>
        </p:spPr>
      </p:sp>
      <p:sp>
        <p:nvSpPr>
          <p:cNvPr id="75" name="Text 59"/>
          <p:cNvSpPr/>
          <p:nvPr/>
        </p:nvSpPr>
        <p:spPr>
          <a:xfrm>
            <a:off x="681612" y="3920410"/>
            <a:ext cx="2090253"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Write a main idea here</a:t>
            </a:r>
            <a:endParaRPr lang="en-US" sz="1050" dirty="0"/>
          </a:p>
        </p:txBody>
      </p:sp>
      <p:sp>
        <p:nvSpPr>
          <p:cNvPr id="76" name="Shape 60"/>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FFFFFF">
              <a:alpha val="0"/>
            </a:srgbClr>
          </a:solidFill>
          <a:ln/>
        </p:spPr>
      </p:sp>
      <p:sp>
        <p:nvSpPr>
          <p:cNvPr id="77" name="Text 61"/>
          <p:cNvSpPr/>
          <p:nvPr/>
        </p:nvSpPr>
        <p:spPr>
          <a:xfrm>
            <a:off x="6210752" y="3922645"/>
            <a:ext cx="2124455" cy="253826"/>
          </a:xfrm>
          <a:prstGeom prst="rect">
            <a:avLst/>
          </a:prstGeom>
          <a:noFill/>
          <a:ln/>
        </p:spPr>
        <p:txBody>
          <a:bodyPr wrap="square" rtlCol="0" anchor="t"/>
          <a:lstStyle/>
          <a:p>
            <a:pPr indent="0" marL="0">
              <a:spcBef>
                <a:spcPts val="375"/>
              </a:spcBef>
              <a:buNone/>
            </a:pPr>
            <a:endParaRPr lang="en-US" sz="1050" dirty="0"/>
          </a:p>
        </p:txBody>
      </p:sp>
      <p:sp>
        <p:nvSpPr>
          <p:cNvPr id="78" name="Shape 62"/>
          <p:cNvSpPr/>
          <p:nvPr/>
        </p:nvSpPr>
        <p:spPr>
          <a:xfrm>
            <a:off x="6210752" y="3922645"/>
            <a:ext cx="2124455" cy="253826"/>
          </a:xfrm>
          <a:custGeom>
            <a:avLst/>
            <a:gdLst/>
            <a:ahLst/>
            <a:cxnLst/>
            <a:rect l="l" t="t" r="r" b="b"/>
            <a:pathLst>
              <a:path w="2124455" h="253826">
                <a:moveTo>
                  <a:pt x="0" y="0"/>
                </a:moveTo>
                <a:lnTo>
                  <a:pt x="2124455" y="0"/>
                </a:lnTo>
                <a:lnTo>
                  <a:pt x="2124455" y="253826"/>
                </a:lnTo>
                <a:lnTo>
                  <a:pt x="0" y="253826"/>
                </a:lnTo>
                <a:close/>
              </a:path>
            </a:pathLst>
          </a:custGeom>
          <a:solidFill>
            <a:srgbClr val="000000">
              <a:alpha val="0"/>
            </a:srgbClr>
          </a:solidFill>
          <a:ln/>
        </p:spPr>
      </p:sp>
      <p:sp>
        <p:nvSpPr>
          <p:cNvPr id="79" name="Text 63"/>
          <p:cNvSpPr/>
          <p:nvPr/>
        </p:nvSpPr>
        <p:spPr>
          <a:xfrm>
            <a:off x="6210752" y="3922645"/>
            <a:ext cx="2124455" cy="253826"/>
          </a:xfrm>
          <a:prstGeom prst="rect">
            <a:avLst/>
          </a:prstGeom>
          <a:noFill/>
          <a:ln/>
        </p:spPr>
        <p:txBody>
          <a:bodyPr wrap="square" rtlCol="0" anchor="t"/>
          <a:lstStyle/>
          <a:p>
            <a:pPr algn="ctr" indent="0" marL="0">
              <a:spcBef>
                <a:spcPts val="375"/>
              </a:spcBef>
              <a:buNone/>
            </a:pPr>
            <a:r>
              <a:rPr lang="en-US" sz="1200" b="1" dirty="0">
                <a:solidFill>
                  <a:srgbClr val="000000"/>
                </a:solidFill>
                <a:latin typeface="Nunito" pitchFamily="34" charset="0"/>
                <a:ea typeface="Nunito" pitchFamily="34" charset="-122"/>
                <a:cs typeface="Nunito" pitchFamily="34" charset="-120"/>
              </a:rPr>
              <a:t>Write a main idea here</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4_img11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O'smalar haqida umumiy ma'lumot</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O'smalar turlari</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O'smalarni parvarish</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O'smalar va ularning foydalari</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tabiiy muhitda o'sadigan va hayot uchun zarur bo'lgan organizmlar bo'lib, ular insoniyat va tabiat uchun muhim ahamiyatga ega. O'smalar oziq-ovqat, dori-darmon va boshqa ko'plab resurslarni taqdim etadi.</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O'smalarni parvarish qilish juda muhimdir. Ular o'sishi uchun quyosh, suv va to'g'ri tuproq kerak. To'g'ri parvarish qilish orqali o'smalar yanada sog'lom va kuchli bo'ladi.</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inson salomatligi uchun foydali, ular vitaminlar, minerallar va antioksidantlar bilan boyitilgan. O'smalarni iste'mol qilish, turli kasalliklardan himoya qilishda yordam beradi.</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2025-10-03T04:01:53Z</dcterms:created>
  <dcterms:modified xsi:type="dcterms:W3CDTF">2025-10-03T04:01:53Z</dcterms:modified>
</cp:coreProperties>
</file>