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1.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jpe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F1"/>
        </a:solidFill>
      </p:bgPr>
    </p:bg>
    <p:spTree>
      <p:nvGrpSpPr>
        <p:cNvPr id="1" name=""/>
        <p:cNvGrpSpPr/>
        <p:nvPr/>
      </p:nvGrpSpPr>
      <p:grpSpPr>
        <a:xfrm>
          <a:off x="0" y="0"/>
          <a:ext cx="0" cy="0"/>
          <a:chOff x="0" y="0"/>
          <a:chExt cx="0" cy="0"/>
        </a:xfrm>
      </p:grpSpPr>
      <p:pic>
        <p:nvPicPr>
          <p:cNvPr id="2" name="Image 0" descr="./images\slide0_img1.png">    </p:cNvPr>
          <p:cNvPicPr>
            <a:picLocks noChangeAspect="1"/>
          </p:cNvPicPr>
          <p:nvPr/>
        </p:nvPicPr>
        <p:blipFill>
          <a:blip r:embed="rId1"/>
          <a:stretch>
            <a:fillRect/>
          </a:stretch>
        </p:blipFill>
        <p:spPr>
          <a:xfrm>
            <a:off x="-13825" y="0"/>
            <a:ext cx="9144000" cy="5143500"/>
          </a:xfrm>
          <a:prstGeom prst="rect">
            <a:avLst/>
          </a:prstGeom>
        </p:spPr>
      </p:pic>
      <p:pic>
        <p:nvPicPr>
          <p:cNvPr id="3" name="Image 1" descr="./images\slide0_img2.png">    </p:cNvPr>
          <p:cNvPicPr>
            <a:picLocks noChangeAspect="1"/>
          </p:cNvPicPr>
          <p:nvPr/>
        </p:nvPicPr>
        <p:blipFill>
          <a:blip r:embed="rId2"/>
          <a:srcRect l="0" r="54344" t="0" b="64852"/>
          <a:stretch/>
        </p:blipFill>
        <p:spPr>
          <a:xfrm>
            <a:off x="6811625" y="3366225"/>
            <a:ext cx="2239080" cy="1706184"/>
          </a:xfrm>
          <a:prstGeom prst="rect">
            <a:avLst/>
          </a:prstGeom>
        </p:spPr>
      </p:pic>
      <p:pic>
        <p:nvPicPr>
          <p:cNvPr id="4" name="Image 2" descr="./images\slide0_img3.png">    </p:cNvPr>
          <p:cNvPicPr>
            <a:picLocks noChangeAspect="1"/>
          </p:cNvPicPr>
          <p:nvPr/>
        </p:nvPicPr>
        <p:blipFill>
          <a:blip r:embed="rId3"/>
          <a:srcRect l="28690" r="44599" t="0" b="45747"/>
          <a:stretch/>
        </p:blipFill>
        <p:spPr>
          <a:xfrm>
            <a:off x="0" y="2383038"/>
            <a:ext cx="1519404" cy="2449260"/>
          </a:xfrm>
          <a:prstGeom prst="rect">
            <a:avLst/>
          </a:prstGeom>
        </p:spPr>
      </p:pic>
      <p:pic>
        <p:nvPicPr>
          <p:cNvPr id="5" name="Image 3" descr="./images\slide0_img4.png">    </p:cNvPr>
          <p:cNvPicPr>
            <a:picLocks noChangeAspect="1"/>
          </p:cNvPicPr>
          <p:nvPr/>
        </p:nvPicPr>
        <p:blipFill>
          <a:blip r:embed="rId4"/>
          <a:stretch>
            <a:fillRect/>
          </a:stretch>
        </p:blipFill>
        <p:spPr>
          <a:xfrm>
            <a:off x="1534262" y="1070510"/>
            <a:ext cx="6714398" cy="3340801"/>
          </a:xfrm>
          <a:prstGeom prst="rect">
            <a:avLst/>
          </a:prstGeom>
        </p:spPr>
      </p:pic>
      <p:sp>
        <p:nvSpPr>
          <p:cNvPr id="6" name="Shape 0"/>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FFFFFF">
              <a:alpha val="0"/>
            </a:srgbClr>
          </a:solidFill>
          <a:ln/>
        </p:spPr>
      </p:sp>
      <p:sp>
        <p:nvSpPr>
          <p:cNvPr id="7" name="Text 1"/>
          <p:cNvSpPr/>
          <p:nvPr/>
        </p:nvSpPr>
        <p:spPr>
          <a:xfrm>
            <a:off x="1601490" y="2144913"/>
            <a:ext cx="5913370" cy="381000"/>
          </a:xfrm>
          <a:prstGeom prst="rect">
            <a:avLst/>
          </a:prstGeom>
          <a:noFill/>
          <a:ln/>
        </p:spPr>
        <p:txBody>
          <a:bodyPr wrap="square" rtlCol="0" anchor="t"/>
          <a:lstStyle/>
          <a:p>
            <a:pPr indent="0" marL="0">
              <a:spcBef>
                <a:spcPts val="375"/>
              </a:spcBef>
              <a:buNone/>
            </a:pPr>
            <a:endParaRPr lang="en-US" sz="1050" dirty="0"/>
          </a:p>
        </p:txBody>
      </p:sp>
      <p:sp>
        <p:nvSpPr>
          <p:cNvPr id="8" name="Shape 2"/>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000000">
              <a:alpha val="0"/>
            </a:srgbClr>
          </a:solidFill>
          <a:ln/>
        </p:spPr>
      </p:sp>
      <p:sp>
        <p:nvSpPr>
          <p:cNvPr id="9" name="Text 3"/>
          <p:cNvSpPr/>
          <p:nvPr/>
        </p:nvSpPr>
        <p:spPr>
          <a:xfrm>
            <a:off x="1601490" y="2144913"/>
            <a:ext cx="5913370" cy="381000"/>
          </a:xfrm>
          <a:prstGeom prst="rect">
            <a:avLst/>
          </a:prstGeom>
          <a:noFill/>
          <a:ln/>
        </p:spPr>
        <p:txBody>
          <a:bodyPr wrap="square" rtlCol="0" anchor="t"/>
          <a:lstStyle/>
          <a:p>
            <a:pPr algn="ctr" indent="0" marL="0">
              <a:spcBef>
                <a:spcPts val="375"/>
              </a:spcBef>
              <a:buNone/>
            </a:pPr>
            <a:r>
              <a:rPr lang="en-US" sz="2250" dirty="0">
                <a:solidFill>
                  <a:srgbClr val="45464D"/>
                </a:solidFill>
                <a:latin typeface="Caveat Brush" pitchFamily="34" charset="0"/>
                <a:ea typeface="Caveat Brush" pitchFamily="34" charset="-122"/>
                <a:cs typeface="Caveat Brush" pitchFamily="34" charset="-120"/>
              </a:rPr>
              <a:t>Nerv tizimining o'smalari:</a:t>
            </a:r>
            <a:endParaRPr lang="en-US" sz="1050" dirty="0"/>
          </a:p>
        </p:txBody>
      </p:sp>
      <p:pic>
        <p:nvPicPr>
          <p:cNvPr id="10" name="Image 4" descr="./images\slide0_img5.png">    </p:cNvPr>
          <p:cNvPicPr>
            <a:picLocks noChangeAspect="1"/>
          </p:cNvPicPr>
          <p:nvPr/>
        </p:nvPicPr>
        <p:blipFill>
          <a:blip r:embed="rId5"/>
          <a:stretch>
            <a:fillRect/>
          </a:stretch>
        </p:blipFill>
        <p:spPr>
          <a:xfrm rot="-840000">
            <a:off x="239914" y="146018"/>
            <a:ext cx="1415923" cy="1700345"/>
          </a:xfrm>
          <a:prstGeom prst="rect">
            <a:avLst/>
          </a:prstGeom>
        </p:spPr>
      </p:pic>
      <p:pic>
        <p:nvPicPr>
          <p:cNvPr id="11" name="Image 5" descr="./images\slide0_img6.png">    </p:cNvPr>
          <p:cNvPicPr>
            <a:picLocks noChangeAspect="1"/>
          </p:cNvPicPr>
          <p:nvPr/>
        </p:nvPicPr>
        <p:blipFill>
          <a:blip r:embed="rId6"/>
          <a:srcRect l="0" r="67462" t="16258" b="45097"/>
          <a:stretch/>
        </p:blipFill>
        <p:spPr>
          <a:xfrm>
            <a:off x="7047312" y="0"/>
            <a:ext cx="2012820" cy="2373276"/>
          </a:xfrm>
          <a:prstGeom prst="rect">
            <a:avLst/>
          </a:prstGeom>
        </p:spPr>
      </p:pic>
      <p:sp>
        <p:nvSpPr>
          <p:cNvPr id="12" name="Shape 4"/>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FFFFFF">
              <a:alpha val="0"/>
            </a:srgbClr>
          </a:solidFill>
          <a:ln/>
        </p:spPr>
      </p:sp>
      <p:sp>
        <p:nvSpPr>
          <p:cNvPr id="13" name="Text 5"/>
          <p:cNvSpPr/>
          <p:nvPr/>
        </p:nvSpPr>
        <p:spPr>
          <a:xfrm>
            <a:off x="3190352" y="3300000"/>
            <a:ext cx="4200347" cy="304800"/>
          </a:xfrm>
          <a:prstGeom prst="rect">
            <a:avLst/>
          </a:prstGeom>
          <a:noFill/>
          <a:ln/>
        </p:spPr>
        <p:txBody>
          <a:bodyPr wrap="square" rtlCol="0" anchor="t"/>
          <a:lstStyle/>
          <a:p>
            <a:pPr indent="0" marL="0">
              <a:spcBef>
                <a:spcPts val="375"/>
              </a:spcBef>
              <a:buNone/>
            </a:pPr>
            <a:endParaRPr lang="en-US" sz="1050" dirty="0"/>
          </a:p>
        </p:txBody>
      </p:sp>
      <p:sp>
        <p:nvSpPr>
          <p:cNvPr id="14" name="Shape 6"/>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000000">
              <a:alpha val="0"/>
            </a:srgbClr>
          </a:solidFill>
          <a:ln/>
        </p:spPr>
      </p:sp>
      <p:sp>
        <p:nvSpPr>
          <p:cNvPr id="15" name="Text 7"/>
          <p:cNvSpPr/>
          <p:nvPr/>
        </p:nvSpPr>
        <p:spPr>
          <a:xfrm>
            <a:off x="3190352" y="3300000"/>
            <a:ext cx="4200347" cy="304800"/>
          </a:xfrm>
          <a:prstGeom prst="rect">
            <a:avLst/>
          </a:prstGeom>
          <a:noFill/>
          <a:ln/>
        </p:spPr>
        <p:txBody>
          <a:bodyPr wrap="square" rtlCol="0" anchor="t"/>
          <a:lstStyle/>
          <a:p>
            <a:pPr algn="l" indent="0" marL="0">
              <a:spcBef>
                <a:spcPts val="375"/>
              </a:spcBef>
              <a:buNone/>
            </a:pPr>
            <a:r>
              <a:rPr lang="en-US" sz="1650" dirty="0">
                <a:solidFill>
                  <a:srgbClr val="333333"/>
                </a:solidFill>
                <a:latin typeface="微软雅黑" pitchFamily="34" charset="0"/>
                <a:ea typeface="微软雅黑" pitchFamily="34" charset="-122"/>
                <a:cs typeface="微软雅黑" pitchFamily="34" charset="-120"/>
              </a:rPr>
              <a:t>Azizjon Aliqulov</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1_img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_img8.png">    </p:cNvPr>
          <p:cNvPicPr>
            <a:picLocks noChangeAspect="1"/>
          </p:cNvPicPr>
          <p:nvPr/>
        </p:nvPicPr>
        <p:blipFill>
          <a:blip r:embed="rId2"/>
          <a:stretch>
            <a:fillRect/>
          </a:stretch>
        </p:blipFill>
        <p:spPr>
          <a:xfrm>
            <a:off x="5040496" y="2211757"/>
            <a:ext cx="3470826" cy="539010"/>
          </a:xfrm>
          <a:prstGeom prst="rect">
            <a:avLst/>
          </a:prstGeom>
        </p:spPr>
      </p:pic>
      <p:sp>
        <p:nvSpPr>
          <p:cNvPr id="4" name="Shape 0"/>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5" name="Text 1"/>
          <p:cNvSpPr/>
          <p:nvPr/>
        </p:nvSpPr>
        <p:spPr>
          <a:xfrm>
            <a:off x="5040496" y="2211757"/>
            <a:ext cx="3470826" cy="53901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7" name="Text 3"/>
          <p:cNvSpPr/>
          <p:nvPr/>
        </p:nvSpPr>
        <p:spPr>
          <a:xfrm>
            <a:off x="5040496" y="2211757"/>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_img9.png">    </p:cNvPr>
          <p:cNvPicPr>
            <a:picLocks noChangeAspect="1"/>
          </p:cNvPicPr>
          <p:nvPr/>
        </p:nvPicPr>
        <p:blipFill>
          <a:blip r:embed="rId3"/>
          <a:stretch>
            <a:fillRect/>
          </a:stretch>
        </p:blipFill>
        <p:spPr>
          <a:xfrm>
            <a:off x="5040496" y="2211757"/>
            <a:ext cx="3470826" cy="539010"/>
          </a:xfrm>
          <a:prstGeom prst="rect">
            <a:avLst/>
          </a:prstGeom>
        </p:spPr>
      </p:pic>
      <p:pic>
        <p:nvPicPr>
          <p:cNvPr id="9" name="Image 3" descr="./images\slide1_img10.png">    </p:cNvPr>
          <p:cNvPicPr>
            <a:picLocks noChangeAspect="1"/>
          </p:cNvPicPr>
          <p:nvPr/>
        </p:nvPicPr>
        <p:blipFill>
          <a:blip r:embed="rId4"/>
          <a:stretch>
            <a:fillRect/>
          </a:stretch>
        </p:blipFill>
        <p:spPr>
          <a:xfrm>
            <a:off x="5040496" y="3540760"/>
            <a:ext cx="3489254" cy="595655"/>
          </a:xfrm>
          <a:prstGeom prst="rect">
            <a:avLst/>
          </a:prstGeom>
        </p:spPr>
      </p:pic>
      <p:sp>
        <p:nvSpPr>
          <p:cNvPr id="10" name="Shape 4"/>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FFFFFF">
              <a:alpha val="0"/>
            </a:srgbClr>
          </a:solidFill>
          <a:ln/>
        </p:spPr>
      </p:sp>
      <p:sp>
        <p:nvSpPr>
          <p:cNvPr id="11" name="Text 5"/>
          <p:cNvSpPr/>
          <p:nvPr/>
        </p:nvSpPr>
        <p:spPr>
          <a:xfrm>
            <a:off x="5040496" y="3540760"/>
            <a:ext cx="3489254" cy="595655"/>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000000">
              <a:alpha val="0"/>
            </a:srgbClr>
          </a:solidFill>
          <a:ln/>
        </p:spPr>
      </p:sp>
      <p:sp>
        <p:nvSpPr>
          <p:cNvPr id="13" name="Text 7"/>
          <p:cNvSpPr/>
          <p:nvPr/>
        </p:nvSpPr>
        <p:spPr>
          <a:xfrm>
            <a:off x="5040496" y="3540760"/>
            <a:ext cx="3489254" cy="5956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_img11.png">    </p:cNvPr>
          <p:cNvPicPr>
            <a:picLocks noChangeAspect="1"/>
          </p:cNvPicPr>
          <p:nvPr/>
        </p:nvPicPr>
        <p:blipFill>
          <a:blip r:embed="rId5"/>
          <a:stretch>
            <a:fillRect/>
          </a:stretch>
        </p:blipFill>
        <p:spPr>
          <a:xfrm>
            <a:off x="5040496" y="3540760"/>
            <a:ext cx="3489254" cy="595655"/>
          </a:xfrm>
          <a:prstGeom prst="rect">
            <a:avLst/>
          </a:prstGeom>
        </p:spPr>
      </p:pic>
      <p:pic>
        <p:nvPicPr>
          <p:cNvPr id="15" name="Image 5" descr="./images\slide1_img12.png">    </p:cNvPr>
          <p:cNvPicPr>
            <a:picLocks noChangeAspect="1"/>
          </p:cNvPicPr>
          <p:nvPr/>
        </p:nvPicPr>
        <p:blipFill>
          <a:blip r:embed="rId6"/>
          <a:stretch>
            <a:fillRect/>
          </a:stretch>
        </p:blipFill>
        <p:spPr>
          <a:xfrm>
            <a:off x="5040496" y="895619"/>
            <a:ext cx="3470826" cy="539010"/>
          </a:xfrm>
          <a:prstGeom prst="rect">
            <a:avLst/>
          </a:prstGeom>
        </p:spPr>
      </p:pic>
      <p:sp>
        <p:nvSpPr>
          <p:cNvPr id="16" name="Shape 8"/>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17" name="Text 9"/>
          <p:cNvSpPr/>
          <p:nvPr/>
        </p:nvSpPr>
        <p:spPr>
          <a:xfrm>
            <a:off x="5040496" y="895619"/>
            <a:ext cx="3470826" cy="53901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19" name="Text 11"/>
          <p:cNvSpPr/>
          <p:nvPr/>
        </p:nvSpPr>
        <p:spPr>
          <a:xfrm>
            <a:off x="5040496" y="895619"/>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1_img13.png">    </p:cNvPr>
          <p:cNvPicPr>
            <a:picLocks noChangeAspect="1"/>
          </p:cNvPicPr>
          <p:nvPr/>
        </p:nvPicPr>
        <p:blipFill>
          <a:blip r:embed="rId7"/>
          <a:stretch>
            <a:fillRect/>
          </a:stretch>
        </p:blipFill>
        <p:spPr>
          <a:xfrm>
            <a:off x="5040496" y="895619"/>
            <a:ext cx="3470826" cy="539010"/>
          </a:xfrm>
          <a:prstGeom prst="rect">
            <a:avLst/>
          </a:prstGeom>
        </p:spPr>
      </p:pic>
      <p:pic>
        <p:nvPicPr>
          <p:cNvPr id="21" name="Image 7" descr="./images\slide1_img14.png">    </p:cNvPr>
          <p:cNvPicPr>
            <a:picLocks noChangeAspect="1"/>
          </p:cNvPicPr>
          <p:nvPr/>
        </p:nvPicPr>
        <p:blipFill>
          <a:blip r:embed="rId8"/>
          <a:stretch>
            <a:fillRect/>
          </a:stretch>
        </p:blipFill>
        <p:spPr>
          <a:xfrm>
            <a:off x="4972050" y="792000"/>
            <a:ext cx="3657600" cy="764771"/>
          </a:xfrm>
          <a:prstGeom prst="rect">
            <a:avLst/>
          </a:prstGeom>
        </p:spPr>
      </p:pic>
      <p:sp>
        <p:nvSpPr>
          <p:cNvPr id="22" name="Shape 12"/>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3" name="Text 13"/>
          <p:cNvSpPr/>
          <p:nvPr/>
        </p:nvSpPr>
        <p:spPr>
          <a:xfrm>
            <a:off x="4972050" y="792000"/>
            <a:ext cx="3657600" cy="764771"/>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25" name="Text 15"/>
          <p:cNvSpPr/>
          <p:nvPr/>
        </p:nvSpPr>
        <p:spPr>
          <a:xfrm>
            <a:off x="4972050" y="792000"/>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1_img15.png">    </p:cNvPr>
          <p:cNvPicPr>
            <a:picLocks noChangeAspect="1"/>
          </p:cNvPicPr>
          <p:nvPr/>
        </p:nvPicPr>
        <p:blipFill>
          <a:blip r:embed="rId9"/>
          <a:stretch>
            <a:fillRect/>
          </a:stretch>
        </p:blipFill>
        <p:spPr>
          <a:xfrm>
            <a:off x="4972050" y="792000"/>
            <a:ext cx="3657600" cy="764771"/>
          </a:xfrm>
          <a:prstGeom prst="rect">
            <a:avLst/>
          </a:prstGeom>
        </p:spPr>
      </p:pic>
      <p:pic>
        <p:nvPicPr>
          <p:cNvPr id="27" name="Image 9" descr="./images\slide1_img16.png">    </p:cNvPr>
          <p:cNvPicPr>
            <a:picLocks noChangeAspect="1"/>
          </p:cNvPicPr>
          <p:nvPr/>
        </p:nvPicPr>
        <p:blipFill>
          <a:blip r:embed="rId10"/>
          <a:stretch>
            <a:fillRect/>
          </a:stretch>
        </p:blipFill>
        <p:spPr>
          <a:xfrm>
            <a:off x="4972050" y="3456202"/>
            <a:ext cx="3657600" cy="764771"/>
          </a:xfrm>
          <a:prstGeom prst="rect">
            <a:avLst/>
          </a:prstGeom>
        </p:spPr>
      </p:pic>
      <p:sp>
        <p:nvSpPr>
          <p:cNvPr id="28" name="Shape 16"/>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9" name="Text 17"/>
          <p:cNvSpPr/>
          <p:nvPr/>
        </p:nvSpPr>
        <p:spPr>
          <a:xfrm>
            <a:off x="4972050" y="3456202"/>
            <a:ext cx="3657600" cy="764771"/>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1" name="Text 19"/>
          <p:cNvSpPr/>
          <p:nvPr/>
        </p:nvSpPr>
        <p:spPr>
          <a:xfrm>
            <a:off x="4972050" y="3456202"/>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1_img17.png">    </p:cNvPr>
          <p:cNvPicPr>
            <a:picLocks noChangeAspect="1"/>
          </p:cNvPicPr>
          <p:nvPr/>
        </p:nvPicPr>
        <p:blipFill>
          <a:blip r:embed="rId11"/>
          <a:stretch>
            <a:fillRect/>
          </a:stretch>
        </p:blipFill>
        <p:spPr>
          <a:xfrm>
            <a:off x="4972050" y="3456202"/>
            <a:ext cx="3657600" cy="764771"/>
          </a:xfrm>
          <a:prstGeom prst="rect">
            <a:avLst/>
          </a:prstGeom>
        </p:spPr>
      </p:pic>
      <p:pic>
        <p:nvPicPr>
          <p:cNvPr id="33" name="Image 11" descr="./images\slide1_img18.png">    </p:cNvPr>
          <p:cNvPicPr>
            <a:picLocks noChangeAspect="1"/>
          </p:cNvPicPr>
          <p:nvPr/>
        </p:nvPicPr>
        <p:blipFill>
          <a:blip r:embed="rId12"/>
          <a:stretch>
            <a:fillRect/>
          </a:stretch>
        </p:blipFill>
        <p:spPr>
          <a:xfrm>
            <a:off x="4972050" y="2098877"/>
            <a:ext cx="3657600" cy="764771"/>
          </a:xfrm>
          <a:prstGeom prst="rect">
            <a:avLst/>
          </a:prstGeom>
        </p:spPr>
      </p:pic>
      <p:sp>
        <p:nvSpPr>
          <p:cNvPr id="34" name="Shape 20"/>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35" name="Text 21"/>
          <p:cNvSpPr/>
          <p:nvPr/>
        </p:nvSpPr>
        <p:spPr>
          <a:xfrm>
            <a:off x="4972050" y="2098877"/>
            <a:ext cx="3657600" cy="764771"/>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7" name="Text 23"/>
          <p:cNvSpPr/>
          <p:nvPr/>
        </p:nvSpPr>
        <p:spPr>
          <a:xfrm>
            <a:off x="4972050" y="2098877"/>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1_img19.png">    </p:cNvPr>
          <p:cNvPicPr>
            <a:picLocks noChangeAspect="1"/>
          </p:cNvPicPr>
          <p:nvPr/>
        </p:nvPicPr>
        <p:blipFill>
          <a:blip r:embed="rId13"/>
          <a:stretch>
            <a:fillRect/>
          </a:stretch>
        </p:blipFill>
        <p:spPr>
          <a:xfrm>
            <a:off x="4972050" y="2098877"/>
            <a:ext cx="3657600" cy="764771"/>
          </a:xfrm>
          <a:prstGeom prst="rect">
            <a:avLst/>
          </a:prstGeom>
        </p:spPr>
      </p:pic>
      <p:sp>
        <p:nvSpPr>
          <p:cNvPr id="39" name="Shape 24"/>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FFFFFF">
              <a:alpha val="0"/>
            </a:srgbClr>
          </a:solidFill>
          <a:ln/>
        </p:spPr>
      </p:sp>
      <p:sp>
        <p:nvSpPr>
          <p:cNvPr id="40" name="Text 25"/>
          <p:cNvSpPr/>
          <p:nvPr/>
        </p:nvSpPr>
        <p:spPr>
          <a:xfrm>
            <a:off x="87167" y="744598"/>
            <a:ext cx="3918345" cy="5143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000000">
              <a:alpha val="0"/>
            </a:srgbClr>
          </a:solidFill>
          <a:ln/>
        </p:spPr>
      </p:sp>
      <p:sp>
        <p:nvSpPr>
          <p:cNvPr id="42" name="Text 27"/>
          <p:cNvSpPr/>
          <p:nvPr/>
        </p:nvSpPr>
        <p:spPr>
          <a:xfrm>
            <a:off x="87167" y="744598"/>
            <a:ext cx="3918345" cy="514350"/>
          </a:xfrm>
          <a:prstGeom prst="rect">
            <a:avLst/>
          </a:prstGeom>
          <a:noFill/>
          <a:ln/>
        </p:spPr>
        <p:txBody>
          <a:bodyPr wrap="square" rtlCol="0" anchor="t"/>
          <a:lstStyle/>
          <a:p>
            <a:pPr algn="l"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Reja: </a:t>
            </a:r>
            <a:endParaRPr lang="en-US" sz="1050" dirty="0"/>
          </a:p>
        </p:txBody>
      </p:sp>
      <p:sp>
        <p:nvSpPr>
          <p:cNvPr id="43" name="Shape 28"/>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4" name="Text 29"/>
          <p:cNvSpPr/>
          <p:nvPr/>
        </p:nvSpPr>
        <p:spPr>
          <a:xfrm>
            <a:off x="4339822" y="789952"/>
            <a:ext cx="519060" cy="828675"/>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46" name="Text 31"/>
          <p:cNvSpPr/>
          <p:nvPr/>
        </p:nvSpPr>
        <p:spPr>
          <a:xfrm>
            <a:off x="4339822" y="78995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47" name="Shape 32"/>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8" name="Text 33"/>
          <p:cNvSpPr/>
          <p:nvPr/>
        </p:nvSpPr>
        <p:spPr>
          <a:xfrm>
            <a:off x="4339822" y="2147277"/>
            <a:ext cx="519060" cy="828675"/>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0" name="Text 35"/>
          <p:cNvSpPr/>
          <p:nvPr/>
        </p:nvSpPr>
        <p:spPr>
          <a:xfrm>
            <a:off x="4339822" y="2147277"/>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51" name="Shape 36"/>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52" name="Text 37"/>
          <p:cNvSpPr/>
          <p:nvPr/>
        </p:nvSpPr>
        <p:spPr>
          <a:xfrm>
            <a:off x="4339822" y="3504602"/>
            <a:ext cx="519060" cy="828675"/>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4" name="Text 39"/>
          <p:cNvSpPr/>
          <p:nvPr/>
        </p:nvSpPr>
        <p:spPr>
          <a:xfrm>
            <a:off x="4339822" y="350460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55" name="Shape 40"/>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56" name="Text 41"/>
          <p:cNvSpPr/>
          <p:nvPr/>
        </p:nvSpPr>
        <p:spPr>
          <a:xfrm>
            <a:off x="5040496" y="901652"/>
            <a:ext cx="3470826" cy="285750"/>
          </a:xfrm>
          <a:prstGeom prst="rect">
            <a:avLst/>
          </a:prstGeom>
          <a:noFill/>
          <a:ln/>
        </p:spPr>
        <p:txBody>
          <a:bodyPr wrap="square" rtlCol="0" anchor="t"/>
          <a:lstStyle/>
          <a:p>
            <a:pPr indent="0" marL="0">
              <a:spcBef>
                <a:spcPts val="375"/>
              </a:spcBef>
              <a:buNone/>
            </a:pPr>
            <a:endParaRPr lang="en-US" sz="1050" dirty="0"/>
          </a:p>
        </p:txBody>
      </p:sp>
      <p:sp>
        <p:nvSpPr>
          <p:cNvPr id="57" name="Shape 42"/>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58" name="Text 43"/>
          <p:cNvSpPr/>
          <p:nvPr/>
        </p:nvSpPr>
        <p:spPr>
          <a:xfrm>
            <a:off x="5040496" y="901652"/>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1. Nerv tizimining o'smalari: Tushuncha va Turlari</a:t>
            </a:r>
            <a:endParaRPr lang="en-US" sz="1050" dirty="0"/>
          </a:p>
        </p:txBody>
      </p:sp>
      <p:sp>
        <p:nvSpPr>
          <p:cNvPr id="59" name="Shape 44"/>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0" name="Text 45"/>
          <p:cNvSpPr/>
          <p:nvPr/>
        </p:nvSpPr>
        <p:spPr>
          <a:xfrm>
            <a:off x="5040496" y="2208530"/>
            <a:ext cx="3470826" cy="285750"/>
          </a:xfrm>
          <a:prstGeom prst="rect">
            <a:avLst/>
          </a:prstGeom>
          <a:noFill/>
          <a:ln/>
        </p:spPr>
        <p:txBody>
          <a:bodyPr wrap="square" rtlCol="0" anchor="t"/>
          <a:lstStyle/>
          <a:p>
            <a:pPr indent="0" marL="0">
              <a:spcBef>
                <a:spcPts val="375"/>
              </a:spcBef>
              <a:buNone/>
            </a:pPr>
            <a:endParaRPr lang="en-US" sz="1050" dirty="0"/>
          </a:p>
        </p:txBody>
      </p:sp>
      <p:sp>
        <p:nvSpPr>
          <p:cNvPr id="61" name="Shape 46"/>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2" name="Text 47"/>
          <p:cNvSpPr/>
          <p:nvPr/>
        </p:nvSpPr>
        <p:spPr>
          <a:xfrm>
            <a:off x="5040496" y="2208530"/>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2. Nerv tizimi o'smalarining Belgilari va Diagnostika</a:t>
            </a:r>
            <a:endParaRPr lang="en-US" sz="1050" dirty="0"/>
          </a:p>
        </p:txBody>
      </p:sp>
      <p:sp>
        <p:nvSpPr>
          <p:cNvPr id="63" name="Shape 48"/>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4" name="Text 49"/>
          <p:cNvSpPr/>
          <p:nvPr/>
        </p:nvSpPr>
        <p:spPr>
          <a:xfrm>
            <a:off x="5040496" y="3567401"/>
            <a:ext cx="3470826" cy="285750"/>
          </a:xfrm>
          <a:prstGeom prst="rect">
            <a:avLst/>
          </a:prstGeom>
          <a:noFill/>
          <a:ln/>
        </p:spPr>
        <p:txBody>
          <a:bodyPr wrap="square" rtlCol="0" anchor="t"/>
          <a:lstStyle/>
          <a:p>
            <a:pPr indent="0" marL="0">
              <a:spcBef>
                <a:spcPts val="375"/>
              </a:spcBef>
              <a:buNone/>
            </a:pPr>
            <a:endParaRPr lang="en-US" sz="1050" dirty="0"/>
          </a:p>
        </p:txBody>
      </p:sp>
      <p:sp>
        <p:nvSpPr>
          <p:cNvPr id="65" name="Shape 50"/>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6" name="Text 51"/>
          <p:cNvSpPr/>
          <p:nvPr/>
        </p:nvSpPr>
        <p:spPr>
          <a:xfrm>
            <a:off x="5040496" y="3567401"/>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3. Nerv tizimi o'smalarining Davolash Usullari</a:t>
            </a:r>
            <a:endParaRPr lang="en-US" sz="1050" dirty="0"/>
          </a:p>
        </p:txBody>
      </p:sp>
      <p:pic>
        <p:nvPicPr>
          <p:cNvPr id="67" name="Image 13" descr="./images\slide1_img20.png">    </p:cNvPr>
          <p:cNvPicPr>
            <a:picLocks noChangeAspect="1"/>
          </p:cNvPicPr>
          <p:nvPr/>
        </p:nvPicPr>
        <p:blipFill>
          <a:blip r:embed="rId14"/>
          <a:stretch>
            <a:fillRect/>
          </a:stretch>
        </p:blipFill>
        <p:spPr>
          <a:xfrm>
            <a:off x="890516" y="2422794"/>
            <a:ext cx="1839121" cy="2072151"/>
          </a:xfrm>
          <a:prstGeom prst="rect">
            <a:avLst/>
          </a:prstGeom>
        </p:spPr>
      </p:pic>
      <p:sp>
        <p:nvSpPr>
          <p:cNvPr id="68" name="Shape 52"/>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69" name="Text 53"/>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70" name="Shape 54"/>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FFFFFF">
              <a:alpha val="0"/>
            </a:srgbClr>
          </a:solidFill>
          <a:ln/>
        </p:spPr>
      </p:sp>
      <p:sp>
        <p:nvSpPr>
          <p:cNvPr id="71" name="Text 55"/>
          <p:cNvSpPr/>
          <p:nvPr/>
        </p:nvSpPr>
        <p:spPr>
          <a:xfrm>
            <a:off x="890516" y="2422794"/>
            <a:ext cx="1839121" cy="2072151"/>
          </a:xfrm>
          <a:prstGeom prst="rect">
            <a:avLst/>
          </a:prstGeom>
          <a:noFill/>
          <a:ln/>
        </p:spPr>
        <p:txBody>
          <a:bodyPr wrap="square" rtlCol="0" anchor="t"/>
          <a:lstStyle/>
          <a:p>
            <a:pPr indent="0" marL="0">
              <a:spcBef>
                <a:spcPts val="375"/>
              </a:spcBef>
              <a:buNone/>
            </a:pPr>
            <a:endParaRPr lang="en-US" sz="1050" dirty="0"/>
          </a:p>
        </p:txBody>
      </p:sp>
      <p:sp>
        <p:nvSpPr>
          <p:cNvPr id="72" name="Shape 56"/>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73" name="Text 57"/>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74" name="Image 14" descr="./images\slide1_img21.png">    </p:cNvPr>
          <p:cNvPicPr>
            <a:picLocks noChangeAspect="1"/>
          </p:cNvPicPr>
          <p:nvPr/>
        </p:nvPicPr>
        <p:blipFill>
          <a:blip r:embed="rId15"/>
          <a:stretch>
            <a:fillRect/>
          </a:stretch>
        </p:blipFill>
        <p:spPr>
          <a:xfrm>
            <a:off x="890516" y="2422794"/>
            <a:ext cx="1839121" cy="2072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https://cdn.storymd.com/optimized/pqD9QwIPAa/original.jp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Tumor Turlari va Belgilari</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Tumorlar organizmda to'qimalarning o'sishi natijasida paydo bo'ladi. Ular yaxshi yoki yomon bo'lishi mumkin.</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Yomon o'simliklar tez sur'atlarda o'sadi va atrofdagi to'qimalarga zarar etkazadi. Belgilari orasida og'riq, shish va qon ketish bor.</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Yaxshi o'simliklar esa sekin o'sadi va ko'pincha asoratlar keltirib chiqarmaydi. Ularning belgilari kamroq sezilarli bo'lishi mumkin.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https://img.freepik.com/premium-vector/vector-isolated-illustration-benign-tumor-tissue-medical-diagram-poster-educational-science-medical-use-biological-icon-logo_206049-1637.jpg?w=2000">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Tumor Tasnifi Tushuntirish</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Tumorlar organizmda hujayralarning nazoratsiz o'sishi natijasida paydo bo'ladi.</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Asosiy turdagi tumorlar: benign va malign.</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Malign tumorlar: saraton hujayralari o'sib, boshqa to'qimalarga tarqaladi.</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Benign tumorlar: o'sish tezligi sekin, boshqa to'qimalarga tarqalmaydi.</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Tumorlarning klassifikatsiyasi: joylashuvi, turiga ko'ra.</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O'simta turlari: sarkoma, karcinoma, leiomiyoma. </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Tumorlar o'zaro turlicha belgilarga ega, ko'p holatda alomatlar paydo bo'ladi.</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Tashxis va davolash usullari: jarrohlik, kimyoterapiya, radiatsiya.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2382357"/>
                <a:gridCol w="2382357"/>
                <a:gridCol w="2382357"/>
              </a:tblGrid>
              <a:tr h="692869">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O'sma nomi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Joylashuvi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Sintomlar</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Meninges</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og'rig'i, ko'rish muammolari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Astrositoma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Kognitiv o'zgarishlar, o'zini tutish muammolari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Glioblastoma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Tez o'sish, bosh og'rig'i, muvofiqlik yo'qligi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tizimining o'smalari haqida ma'lumotlar</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https://islife.uz/wp-content/uploads/2023/02/birinchi-erdam-768x34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1_img107.png">    </p:cNvPr>
          <p:cNvPicPr>
            <a:picLocks noChangeAspect="1"/>
          </p:cNvPicPr>
          <p:nvPr/>
        </p:nvPicPr>
        <p:blipFill>
          <a:blip r:embed="rId2"/>
          <a:stretch>
            <a:fillRect/>
          </a:stretch>
        </p:blipFill>
        <p:spPr>
          <a:xfrm>
            <a:off x="6087098" y="1683097"/>
            <a:ext cx="2542552" cy="3046631"/>
          </a:xfrm>
          <a:prstGeom prst="rect">
            <a:avLst/>
          </a:prstGeom>
        </p:spPr>
      </p:pic>
      <p:sp>
        <p:nvSpPr>
          <p:cNvPr id="4" name="Shape 0"/>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5" name="Text 1"/>
          <p:cNvSpPr/>
          <p:nvPr/>
        </p:nvSpPr>
        <p:spPr>
          <a:xfrm>
            <a:off x="874042" y="518568"/>
            <a:ext cx="7395915"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7" name="Text 3"/>
          <p:cNvSpPr/>
          <p:nvPr/>
        </p:nvSpPr>
        <p:spPr>
          <a:xfrm>
            <a:off x="874042" y="51856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Davolash Usullari</a:t>
            </a:r>
            <a:endParaRPr lang="en-US" sz="1050" dirty="0"/>
          </a:p>
        </p:txBody>
      </p:sp>
      <p:sp>
        <p:nvSpPr>
          <p:cNvPr id="8" name="Shape 4"/>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FFFFFF">
              <a:alpha val="0"/>
            </a:srgbClr>
          </a:solidFill>
          <a:ln/>
        </p:spPr>
      </p:sp>
      <p:sp>
        <p:nvSpPr>
          <p:cNvPr id="9" name="Text 5"/>
          <p:cNvSpPr/>
          <p:nvPr/>
        </p:nvSpPr>
        <p:spPr>
          <a:xfrm>
            <a:off x="705902" y="1623611"/>
            <a:ext cx="1713750" cy="552450"/>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000000">
              <a:alpha val="0"/>
            </a:srgbClr>
          </a:solidFill>
          <a:ln/>
        </p:spPr>
      </p:sp>
      <p:sp>
        <p:nvSpPr>
          <p:cNvPr id="11" name="Text 7"/>
          <p:cNvSpPr/>
          <p:nvPr/>
        </p:nvSpPr>
        <p:spPr>
          <a:xfrm>
            <a:off x="705902" y="1623611"/>
            <a:ext cx="17137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Birinchi</a:t>
            </a:r>
            <a:endParaRPr lang="en-US" sz="1050" dirty="0"/>
          </a:p>
        </p:txBody>
      </p:sp>
      <p:sp>
        <p:nvSpPr>
          <p:cNvPr id="12" name="Shape 8"/>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FFFFFF">
              <a:alpha val="0"/>
            </a:srgbClr>
          </a:solidFill>
          <a:ln/>
        </p:spPr>
      </p:sp>
      <p:sp>
        <p:nvSpPr>
          <p:cNvPr id="13" name="Text 9"/>
          <p:cNvSpPr/>
          <p:nvPr/>
        </p:nvSpPr>
        <p:spPr>
          <a:xfrm>
            <a:off x="640191" y="3311188"/>
            <a:ext cx="1998818" cy="552450"/>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000000">
              <a:alpha val="0"/>
            </a:srgbClr>
          </a:solidFill>
          <a:ln/>
        </p:spPr>
      </p:sp>
      <p:sp>
        <p:nvSpPr>
          <p:cNvPr id="15" name="Text 11"/>
          <p:cNvSpPr/>
          <p:nvPr/>
        </p:nvSpPr>
        <p:spPr>
          <a:xfrm>
            <a:off x="640191" y="3311188"/>
            <a:ext cx="1998818"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Uchinchi</a:t>
            </a:r>
            <a:endParaRPr lang="en-US" sz="1050" dirty="0"/>
          </a:p>
        </p:txBody>
      </p:sp>
      <p:sp>
        <p:nvSpPr>
          <p:cNvPr id="16" name="Shape 12"/>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FFFFFF">
              <a:alpha val="0"/>
            </a:srgbClr>
          </a:solidFill>
          <a:ln/>
        </p:spPr>
      </p:sp>
      <p:sp>
        <p:nvSpPr>
          <p:cNvPr id="17" name="Text 13"/>
          <p:cNvSpPr/>
          <p:nvPr/>
        </p:nvSpPr>
        <p:spPr>
          <a:xfrm>
            <a:off x="3848551" y="1623612"/>
            <a:ext cx="1082550" cy="552450"/>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000000">
              <a:alpha val="0"/>
            </a:srgbClr>
          </a:solidFill>
          <a:ln/>
        </p:spPr>
      </p:sp>
      <p:sp>
        <p:nvSpPr>
          <p:cNvPr id="19" name="Text 15"/>
          <p:cNvSpPr/>
          <p:nvPr/>
        </p:nvSpPr>
        <p:spPr>
          <a:xfrm>
            <a:off x="3848551" y="1623612"/>
            <a:ext cx="10825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Ikkinchi</a:t>
            </a:r>
            <a:endParaRPr lang="en-US" sz="1050" dirty="0"/>
          </a:p>
        </p:txBody>
      </p:sp>
      <p:sp>
        <p:nvSpPr>
          <p:cNvPr id="20" name="Shape 16"/>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FFFFFF">
              <a:alpha val="0"/>
            </a:srgbClr>
          </a:solidFill>
          <a:ln/>
        </p:spPr>
      </p:sp>
      <p:sp>
        <p:nvSpPr>
          <p:cNvPr id="21" name="Text 17"/>
          <p:cNvSpPr/>
          <p:nvPr/>
        </p:nvSpPr>
        <p:spPr>
          <a:xfrm>
            <a:off x="2875893" y="3311188"/>
            <a:ext cx="2968866" cy="552450"/>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000000">
              <a:alpha val="0"/>
            </a:srgbClr>
          </a:solidFill>
          <a:ln/>
        </p:spPr>
      </p:sp>
      <p:sp>
        <p:nvSpPr>
          <p:cNvPr id="23" name="Text 19"/>
          <p:cNvSpPr/>
          <p:nvPr/>
        </p:nvSpPr>
        <p:spPr>
          <a:xfrm>
            <a:off x="2875893" y="3311188"/>
            <a:ext cx="2968866"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To'rtinchi</a:t>
            </a:r>
            <a:endParaRPr lang="en-US" sz="1050" dirty="0"/>
          </a:p>
        </p:txBody>
      </p:sp>
      <p:sp>
        <p:nvSpPr>
          <p:cNvPr id="24" name="Shape 20"/>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FFFFFF">
              <a:alpha val="0"/>
            </a:srgbClr>
          </a:solidFill>
          <a:ln/>
        </p:spPr>
      </p:sp>
      <p:sp>
        <p:nvSpPr>
          <p:cNvPr id="25" name="Text 21"/>
          <p:cNvSpPr/>
          <p:nvPr/>
        </p:nvSpPr>
        <p:spPr>
          <a:xfrm>
            <a:off x="705902" y="2176061"/>
            <a:ext cx="1890959" cy="932710"/>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000000">
              <a:alpha val="0"/>
            </a:srgbClr>
          </a:solidFill>
          <a:ln/>
        </p:spPr>
      </p:sp>
      <p:sp>
        <p:nvSpPr>
          <p:cNvPr id="27" name="Text 23"/>
          <p:cNvSpPr/>
          <p:nvPr/>
        </p:nvSpPr>
        <p:spPr>
          <a:xfrm>
            <a:off x="705902" y="2176061"/>
            <a:ext cx="1890959" cy="932710"/>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turli muammolar uchun ishlab chiqilgan. Har bir usulning o'ziga xos afzalliklari bor.</a:t>
            </a:r>
            <a:endParaRPr lang="en-US" sz="1050" dirty="0"/>
          </a:p>
        </p:txBody>
      </p:sp>
      <p:sp>
        <p:nvSpPr>
          <p:cNvPr id="28" name="Shape 24"/>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FFFFFF">
              <a:alpha val="0"/>
            </a:srgbClr>
          </a:solidFill>
          <a:ln/>
        </p:spPr>
      </p:sp>
      <p:sp>
        <p:nvSpPr>
          <p:cNvPr id="29" name="Text 25"/>
          <p:cNvSpPr/>
          <p:nvPr/>
        </p:nvSpPr>
        <p:spPr>
          <a:xfrm>
            <a:off x="705902" y="3917979"/>
            <a:ext cx="1713750" cy="1225521"/>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000000">
              <a:alpha val="0"/>
            </a:srgbClr>
          </a:solidFill>
          <a:ln/>
        </p:spPr>
      </p:sp>
      <p:sp>
        <p:nvSpPr>
          <p:cNvPr id="31" name="Text 27"/>
          <p:cNvSpPr/>
          <p:nvPr/>
        </p:nvSpPr>
        <p:spPr>
          <a:xfrm>
            <a:off x="705902" y="3917979"/>
            <a:ext cx="1713750"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Ushbu usullar sog'liqni yaxshilashga, kasalliklarni oldini olishga yordam beradi. Har bir usul individual yondashuvni talab qiladi.</a:t>
            </a:r>
            <a:endParaRPr lang="en-US" sz="1050" dirty="0"/>
          </a:p>
        </p:txBody>
      </p:sp>
      <p:sp>
        <p:nvSpPr>
          <p:cNvPr id="32" name="Shape 28"/>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FFFFFF">
              <a:alpha val="0"/>
            </a:srgbClr>
          </a:solidFill>
          <a:ln/>
        </p:spPr>
      </p:sp>
      <p:sp>
        <p:nvSpPr>
          <p:cNvPr id="33" name="Text 29"/>
          <p:cNvSpPr/>
          <p:nvPr/>
        </p:nvSpPr>
        <p:spPr>
          <a:xfrm>
            <a:off x="3532953" y="3917979"/>
            <a:ext cx="1926401" cy="1225521"/>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000000">
              <a:alpha val="0"/>
            </a:srgbClr>
          </a:solidFill>
          <a:ln/>
        </p:spPr>
      </p:sp>
      <p:sp>
        <p:nvSpPr>
          <p:cNvPr id="35" name="Text 31"/>
          <p:cNvSpPr/>
          <p:nvPr/>
        </p:nvSpPr>
        <p:spPr>
          <a:xfrm>
            <a:off x="3532953" y="3917979"/>
            <a:ext cx="1926401"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Yuqori samarali davolash usullari bilan zamonaviy tibbiyot o'zining imkoniyatlarini kengaytirmoqda. Yangiliklar va tadqiqotlar doimiy ravishda davom etmoqda.</a:t>
            </a:r>
            <a:endParaRPr lang="en-US" sz="1050" dirty="0"/>
          </a:p>
        </p:txBody>
      </p:sp>
      <p:sp>
        <p:nvSpPr>
          <p:cNvPr id="36" name="Shape 32"/>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FFFFFF">
              <a:alpha val="0"/>
            </a:srgbClr>
          </a:solidFill>
          <a:ln/>
        </p:spPr>
      </p:sp>
      <p:sp>
        <p:nvSpPr>
          <p:cNvPr id="37" name="Text 33"/>
          <p:cNvSpPr/>
          <p:nvPr/>
        </p:nvSpPr>
        <p:spPr>
          <a:xfrm>
            <a:off x="3473884" y="2053192"/>
            <a:ext cx="2079983" cy="866556"/>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000000">
              <a:alpha val="0"/>
            </a:srgbClr>
          </a:solidFill>
          <a:ln/>
        </p:spPr>
      </p:sp>
      <p:sp>
        <p:nvSpPr>
          <p:cNvPr id="39" name="Text 35"/>
          <p:cNvSpPr/>
          <p:nvPr/>
        </p:nvSpPr>
        <p:spPr>
          <a:xfrm>
            <a:off x="3473884" y="2053192"/>
            <a:ext cx="2079983" cy="86655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jarayonida bemorlarning individual xususiyatlarini hisobga olish muhimdir. Har bir bemorning holati alohida baholanadi.</a:t>
            </a:r>
            <a:endParaRPr lang="en-US" sz="1050" dirty="0"/>
          </a:p>
        </p:txBody>
      </p:sp>
      <p:sp>
        <p:nvSpPr>
          <p:cNvPr id="40" name="Shape 36"/>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FFFFFF">
              <a:alpha val="0"/>
            </a:srgbClr>
          </a:solidFill>
          <a:ln/>
        </p:spPr>
      </p:sp>
      <p:sp>
        <p:nvSpPr>
          <p:cNvPr id="41" name="Text 37"/>
          <p:cNvSpPr/>
          <p:nvPr/>
        </p:nvSpPr>
        <p:spPr>
          <a:xfrm>
            <a:off x="0" y="0"/>
            <a:ext cx="2857500" cy="238125"/>
          </a:xfrm>
          <a:prstGeom prst="rect">
            <a:avLst/>
          </a:prstGeom>
          <a:noFill/>
          <a:ln/>
        </p:spPr>
        <p:txBody>
          <a:bodyPr wrap="square" rtlCol="0" anchor="t"/>
          <a:lstStyle/>
          <a:p>
            <a:pPr indent="0" marL="0">
              <a:spcBef>
                <a:spcPts val="375"/>
              </a:spcBef>
              <a:buNone/>
            </a:pPr>
            <a:endParaRPr lang="en-US" sz="1050" dirty="0"/>
          </a:p>
        </p:txBody>
      </p:sp>
      <p:sp>
        <p:nvSpPr>
          <p:cNvPr id="42" name="Shape 38"/>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000000">
              <a:alpha val="0"/>
            </a:srgbClr>
          </a:solidFill>
          <a:ln/>
        </p:spPr>
      </p:sp>
      <p:sp>
        <p:nvSpPr>
          <p:cNvPr id="43" name="Text 39"/>
          <p:cNvSpPr/>
          <p:nvPr/>
        </p:nvSpPr>
        <p:spPr>
          <a:xfrm>
            <a:off x="0" y="0"/>
            <a:ext cx="2857500" cy="238125"/>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Davolash usullarining xilma-xilligi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https://oefen.uz/data/documents/b3ac6fa9-d4bc-44f3-b7ff-4f025a47a2c4/page_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Tadqiqot va Statistika</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Asosiy</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Tahlil</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Natijalar</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Tadqiqot jarayoni statistik ma'lumotlarni to'plash, tahlil qilish va natijalarni sharhlashdan iborat. Bu jarayonlar ilmiy tadqiqotlarda muhim ahamiyatga ega.</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Statistika, ma'lumotlarni sanash va tasniflash usuli bo'lib, u tadqiqot natijalarini ishonchli va aniq ko'rsatadi. Bu soha turli fanlarda qo'llaniladi.</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Tadqiqot va statistika jarayoni muammoni aniqlashdan boshlanadi, so'ngra ma'lumot to'planadi va tahlil qilinadi, natijalar esa qaror qabul qilishda qo'llaniladi.</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https://arxiv.uz/data/documents/328c577a-4ec7-4e55-a2bc-9010d440670b/page-4.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5_img125.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FFFFFF">
              <a:alpha val="0"/>
            </a:srgbClr>
          </a:solidFill>
          <a:ln/>
        </p:spPr>
      </p:sp>
      <p:sp>
        <p:nvSpPr>
          <p:cNvPr id="5" name="Text 1"/>
          <p:cNvSpPr/>
          <p:nvPr/>
        </p:nvSpPr>
        <p:spPr>
          <a:xfrm>
            <a:off x="614136" y="2207981"/>
            <a:ext cx="7826859" cy="5524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000000">
              <a:alpha val="0"/>
            </a:srgbClr>
          </a:solidFill>
          <a:ln/>
        </p:spPr>
      </p:sp>
      <p:sp>
        <p:nvSpPr>
          <p:cNvPr id="7" name="Text 3"/>
          <p:cNvSpPr/>
          <p:nvPr/>
        </p:nvSpPr>
        <p:spPr>
          <a:xfrm>
            <a:off x="614136" y="2207981"/>
            <a:ext cx="7826859" cy="5524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Xulosa</a:t>
            </a:r>
            <a:endParaRPr lang="en-US" sz="1050" dirty="0"/>
          </a:p>
        </p:txBody>
      </p:sp>
      <p:sp>
        <p:nvSpPr>
          <p:cNvPr id="8" name="Shape 4"/>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FFFFFF">
              <a:alpha val="0"/>
            </a:srgbClr>
          </a:solidFill>
          <a:ln/>
        </p:spPr>
      </p:sp>
      <p:sp>
        <p:nvSpPr>
          <p:cNvPr id="9" name="Text 5"/>
          <p:cNvSpPr/>
          <p:nvPr/>
        </p:nvSpPr>
        <p:spPr>
          <a:xfrm>
            <a:off x="661391" y="2684231"/>
            <a:ext cx="7779603" cy="2159198"/>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000000">
              <a:alpha val="0"/>
            </a:srgbClr>
          </a:solidFill>
          <a:ln/>
        </p:spPr>
      </p:sp>
      <p:sp>
        <p:nvSpPr>
          <p:cNvPr id="11" name="Text 7"/>
          <p:cNvSpPr/>
          <p:nvPr/>
        </p:nvSpPr>
        <p:spPr>
          <a:xfrm>
            <a:off x="661391" y="2684231"/>
            <a:ext cx="7779603" cy="2159198"/>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 bu asab tizimidagi o'smalar bo'lib, ular turli xil shakl va o'lchamda bo'lishi mumkin. Ushbu o'smalar ma'lum bir joyda to'planishi yoki tarqalishi mumkin. Ularning diagnostikasi uchun kompyuter tomografiyasi va magnet-rezonans tomografiyasi kabi tasvirlash usullari qo'llaniladi. Davolash usullari, odatda, xirurgik aralashuv, kimyoviy terapiya va radiatsiya terapiyasini o'z ichiga oladi. Nerv tizimi o'smalari rivojlantirish sabablari aniq emas, ammo genetik omillar va atrof-muhit ta'siri rol o'ynashi mumkin. Malakali tibbiy yordamga murojaat qilish va erta aniqlash juda muhimdir.</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6_img12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6_img127.png">    </p:cNvPr>
          <p:cNvPicPr>
            <a:picLocks noChangeAspect="1"/>
          </p:cNvPicPr>
          <p:nvPr/>
        </p:nvPicPr>
        <p:blipFill>
          <a:blip r:embed="rId2"/>
          <a:stretch>
            <a:fillRect/>
          </a:stretch>
        </p:blipFill>
        <p:spPr>
          <a:xfrm>
            <a:off x="514350" y="469150"/>
            <a:ext cx="8115300" cy="4205201"/>
          </a:xfrm>
          <a:prstGeom prst="rect">
            <a:avLst/>
          </a:prstGeom>
        </p:spPr>
      </p:pic>
      <p:pic>
        <p:nvPicPr>
          <p:cNvPr id="4" name="Image 2" descr="./images\slide16_img128.png">    </p:cNvPr>
          <p:cNvPicPr>
            <a:picLocks noChangeAspect="1"/>
          </p:cNvPicPr>
          <p:nvPr/>
        </p:nvPicPr>
        <p:blipFill>
          <a:blip r:embed="rId3"/>
          <a:stretch>
            <a:fillRect/>
          </a:stretch>
        </p:blipFill>
        <p:spPr>
          <a:xfrm>
            <a:off x="3212221" y="3000774"/>
            <a:ext cx="2719558" cy="442634"/>
          </a:xfrm>
          <a:prstGeom prst="rect">
            <a:avLst/>
          </a:prstGeom>
        </p:spPr>
      </p:pic>
      <p:sp>
        <p:nvSpPr>
          <p:cNvPr id="5" name="Shape 0"/>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FFFFFF">
              <a:alpha val="0"/>
            </a:srgbClr>
          </a:solidFill>
          <a:ln/>
        </p:spPr>
      </p:sp>
      <p:sp>
        <p:nvSpPr>
          <p:cNvPr id="6" name="Text 1"/>
          <p:cNvSpPr/>
          <p:nvPr/>
        </p:nvSpPr>
        <p:spPr>
          <a:xfrm>
            <a:off x="3212221" y="3000774"/>
            <a:ext cx="2719558" cy="442634"/>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000000">
              <a:alpha val="0"/>
            </a:srgbClr>
          </a:solidFill>
          <a:ln/>
        </p:spPr>
      </p:sp>
      <p:sp>
        <p:nvSpPr>
          <p:cNvPr id="8" name="Text 3"/>
          <p:cNvSpPr/>
          <p:nvPr/>
        </p:nvSpPr>
        <p:spPr>
          <a:xfrm>
            <a:off x="3212221" y="3000774"/>
            <a:ext cx="2719558" cy="44263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6_img129.png">    </p:cNvPr>
          <p:cNvPicPr>
            <a:picLocks noChangeAspect="1"/>
          </p:cNvPicPr>
          <p:nvPr/>
        </p:nvPicPr>
        <p:blipFill>
          <a:blip r:embed="rId4"/>
          <a:stretch>
            <a:fillRect/>
          </a:stretch>
        </p:blipFill>
        <p:spPr>
          <a:xfrm>
            <a:off x="3212221" y="3000774"/>
            <a:ext cx="2719558" cy="442634"/>
          </a:xfrm>
          <a:prstGeom prst="rect">
            <a:avLst/>
          </a:prstGeom>
        </p:spPr>
      </p:pic>
      <p:sp>
        <p:nvSpPr>
          <p:cNvPr id="10" name="Shape 4"/>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FFFFFF">
              <a:alpha val="0"/>
            </a:srgbClr>
          </a:solidFill>
          <a:ln/>
        </p:spPr>
      </p:sp>
      <p:sp>
        <p:nvSpPr>
          <p:cNvPr id="11" name="Text 5"/>
          <p:cNvSpPr/>
          <p:nvPr/>
        </p:nvSpPr>
        <p:spPr>
          <a:xfrm>
            <a:off x="561975" y="783461"/>
            <a:ext cx="8115300" cy="476250"/>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000000">
              <a:alpha val="0"/>
            </a:srgbClr>
          </a:solidFill>
          <a:ln/>
        </p:spPr>
      </p:sp>
      <p:sp>
        <p:nvSpPr>
          <p:cNvPr id="13" name="Text 7"/>
          <p:cNvSpPr/>
          <p:nvPr/>
        </p:nvSpPr>
        <p:spPr>
          <a:xfrm>
            <a:off x="561975" y="783461"/>
            <a:ext cx="8115300" cy="4762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Adabiyotlar ro'yxati</a:t>
            </a:r>
            <a:endParaRPr lang="en-US" sz="1050" dirty="0"/>
          </a:p>
        </p:txBody>
      </p:sp>
      <p:sp>
        <p:nvSpPr>
          <p:cNvPr id="14" name="Shape 8"/>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FFFFFF">
              <a:alpha val="0"/>
            </a:srgbClr>
          </a:solidFill>
          <a:ln/>
        </p:spPr>
      </p:sp>
      <p:sp>
        <p:nvSpPr>
          <p:cNvPr id="15" name="Text 9"/>
          <p:cNvSpPr/>
          <p:nvPr/>
        </p:nvSpPr>
        <p:spPr>
          <a:xfrm>
            <a:off x="561975" y="1307657"/>
            <a:ext cx="8115300" cy="2883502"/>
          </a:xfrm>
          <a:prstGeom prst="rect">
            <a:avLst/>
          </a:prstGeom>
          <a:noFill/>
          <a:ln/>
        </p:spPr>
        <p:txBody>
          <a:bodyPr wrap="square" rtlCol="0" anchor="t"/>
          <a:lstStyle/>
          <a:p>
            <a:pPr indent="0" marL="0">
              <a:spcBef>
                <a:spcPts val="375"/>
              </a:spcBef>
              <a:buNone/>
            </a:pPr>
            <a:endParaRPr lang="en-US" sz="1050" dirty="0"/>
          </a:p>
        </p:txBody>
      </p:sp>
      <p:sp>
        <p:nvSpPr>
          <p:cNvPr id="16" name="Shape 10"/>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000000">
              <a:alpha val="0"/>
            </a:srgbClr>
          </a:solidFill>
          <a:ln/>
        </p:spPr>
      </p:sp>
      <p:sp>
        <p:nvSpPr>
          <p:cNvPr id="17" name="Text 11"/>
          <p:cNvSpPr/>
          <p:nvPr/>
        </p:nvSpPr>
        <p:spPr>
          <a:xfrm>
            <a:off x="561975" y="1307657"/>
            <a:ext cx="8115300" cy="2883502"/>
          </a:xfrm>
          <a:prstGeom prst="rect">
            <a:avLst/>
          </a:prstGeom>
          <a:noFill/>
          <a:ln/>
        </p:spPr>
        <p:txBody>
          <a:bodyPr wrap="square" rtlCol="0" anchor="t"/>
          <a:lstStyle/>
          <a:p>
            <a:pPr algn="l" indent="0" marL="0">
              <a:spcBef>
                <a:spcPts val="375"/>
              </a:spcBef>
              <a:buNone/>
            </a:pPr>
            <a:r>
              <a:rPr lang="en-US" sz="1350" dirty="0">
                <a:solidFill>
                  <a:srgbClr val="333333"/>
                </a:solidFill>
                <a:latin typeface="微软雅黑" pitchFamily="34" charset="0"/>
                <a:ea typeface="微软雅黑" pitchFamily="34" charset="-122"/>
                <a:cs typeface="微软雅黑" pitchFamily="34" charset="-120"/>
              </a:rPr>
              <a:t>1. Azizov D., Sharipov Z. "Nerv tizimi o'smalari: patologiya va davolash jarayoni". 2021, Tibbiyot nashr.</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7_img130.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FFFFFF">
              <a:alpha val="0"/>
            </a:srgbClr>
          </a:solidFill>
          <a:ln/>
        </p:spPr>
      </p:sp>
      <p:sp>
        <p:nvSpPr>
          <p:cNvPr id="4" name="Text 1"/>
          <p:cNvSpPr/>
          <p:nvPr/>
        </p:nvSpPr>
        <p:spPr>
          <a:xfrm>
            <a:off x="443466" y="2047554"/>
            <a:ext cx="8115300" cy="666750"/>
          </a:xfrm>
          <a:prstGeom prst="rect">
            <a:avLst/>
          </a:prstGeom>
          <a:noFill/>
          <a:ln/>
        </p:spPr>
        <p:txBody>
          <a:bodyPr wrap="square" rtlCol="0" anchor="t"/>
          <a:lstStyle/>
          <a:p>
            <a:pPr indent="0" marL="0">
              <a:spcBef>
                <a:spcPts val="375"/>
              </a:spcBef>
              <a:buNone/>
            </a:pPr>
            <a:endParaRPr lang="en-US" sz="1050" dirty="0"/>
          </a:p>
        </p:txBody>
      </p:sp>
      <p:sp>
        <p:nvSpPr>
          <p:cNvPr id="5" name="Shape 2"/>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000000">
              <a:alpha val="0"/>
            </a:srgbClr>
          </a:solidFill>
          <a:ln/>
        </p:spPr>
      </p:sp>
      <p:sp>
        <p:nvSpPr>
          <p:cNvPr id="6" name="Text 3"/>
          <p:cNvSpPr/>
          <p:nvPr/>
        </p:nvSpPr>
        <p:spPr>
          <a:xfrm>
            <a:off x="443466" y="2047554"/>
            <a:ext cx="8115300" cy="666750"/>
          </a:xfrm>
          <a:prstGeom prst="rect">
            <a:avLst/>
          </a:prstGeom>
          <a:noFill/>
          <a:ln/>
        </p:spPr>
        <p:txBody>
          <a:bodyPr wrap="square" rtlCol="0" anchor="t"/>
          <a:lstStyle/>
          <a:p>
            <a:pPr algn="l" indent="0" marL="0">
              <a:spcBef>
                <a:spcPts val="375"/>
              </a:spcBef>
              <a:buNone/>
            </a:pPr>
            <a:r>
              <a:rPr lang="en-US" sz="4500" dirty="0">
                <a:solidFill>
                  <a:srgbClr val="333333"/>
                </a:solidFill>
                <a:latin typeface="微软雅黑" pitchFamily="34" charset="0"/>
                <a:ea typeface="微软雅黑" pitchFamily="34" charset="-122"/>
                <a:cs typeface="微软雅黑" pitchFamily="34" charset="-120"/>
              </a:rPr>
              <a:t>Etiboringiz uchun rahmat!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2025-10-04T05:17:22Z</dcterms:created>
  <dcterms:modified xsi:type="dcterms:W3CDTF">2025-10-04T05:17:22Z</dcterms:modified>
</cp:coreProperties>
</file>