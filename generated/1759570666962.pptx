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slideLayout" Target="../slideLayouts/slideLayout1.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e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jpe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1F1"/>
        </a:solidFill>
      </p:bgPr>
    </p:bg>
    <p:spTree>
      <p:nvGrpSpPr>
        <p:cNvPr id="1" name=""/>
        <p:cNvGrpSpPr/>
        <p:nvPr/>
      </p:nvGrpSpPr>
      <p:grpSpPr>
        <a:xfrm>
          <a:off x="0" y="0"/>
          <a:ext cx="0" cy="0"/>
          <a:chOff x="0" y="0"/>
          <a:chExt cx="0" cy="0"/>
        </a:xfrm>
      </p:grpSpPr>
      <p:pic>
        <p:nvPicPr>
          <p:cNvPr id="2" name="Image 0" descr="./images\slide0_img1.png">    </p:cNvPr>
          <p:cNvPicPr>
            <a:picLocks noChangeAspect="1"/>
          </p:cNvPicPr>
          <p:nvPr/>
        </p:nvPicPr>
        <p:blipFill>
          <a:blip r:embed="rId1"/>
          <a:stretch>
            <a:fillRect/>
          </a:stretch>
        </p:blipFill>
        <p:spPr>
          <a:xfrm>
            <a:off x="-13825" y="0"/>
            <a:ext cx="9144000" cy="5143500"/>
          </a:xfrm>
          <a:prstGeom prst="rect">
            <a:avLst/>
          </a:prstGeom>
        </p:spPr>
      </p:pic>
      <p:pic>
        <p:nvPicPr>
          <p:cNvPr id="3" name="Image 1" descr="./images\slide0_img2.png">    </p:cNvPr>
          <p:cNvPicPr>
            <a:picLocks noChangeAspect="1"/>
          </p:cNvPicPr>
          <p:nvPr/>
        </p:nvPicPr>
        <p:blipFill>
          <a:blip r:embed="rId2"/>
          <a:srcRect l="0" r="54344" t="0" b="64852"/>
          <a:stretch/>
        </p:blipFill>
        <p:spPr>
          <a:xfrm>
            <a:off x="6811625" y="3366225"/>
            <a:ext cx="2149517" cy="1637937"/>
          </a:xfrm>
          <a:prstGeom prst="rect">
            <a:avLst/>
          </a:prstGeom>
        </p:spPr>
      </p:pic>
      <p:pic>
        <p:nvPicPr>
          <p:cNvPr id="4" name="Image 2" descr="./images\slide0_img3.png">    </p:cNvPr>
          <p:cNvPicPr>
            <a:picLocks noChangeAspect="1"/>
          </p:cNvPicPr>
          <p:nvPr/>
        </p:nvPicPr>
        <p:blipFill>
          <a:blip r:embed="rId3"/>
          <a:srcRect l="29885" r="43404" t="0" b="45747"/>
          <a:stretch/>
        </p:blipFill>
        <p:spPr>
          <a:xfrm>
            <a:off x="0" y="2383038"/>
            <a:ext cx="1458628" cy="2351290"/>
          </a:xfrm>
          <a:prstGeom prst="rect">
            <a:avLst/>
          </a:prstGeom>
        </p:spPr>
      </p:pic>
      <p:pic>
        <p:nvPicPr>
          <p:cNvPr id="5" name="Image 3" descr="./images\slide0_img4.png">    </p:cNvPr>
          <p:cNvPicPr>
            <a:picLocks noChangeAspect="1"/>
          </p:cNvPicPr>
          <p:nvPr/>
        </p:nvPicPr>
        <p:blipFill>
          <a:blip r:embed="rId4"/>
          <a:stretch>
            <a:fillRect/>
          </a:stretch>
        </p:blipFill>
        <p:spPr>
          <a:xfrm>
            <a:off x="1534262" y="1070510"/>
            <a:ext cx="6714398" cy="3340801"/>
          </a:xfrm>
          <a:prstGeom prst="rect">
            <a:avLst/>
          </a:prstGeom>
        </p:spPr>
      </p:pic>
      <p:sp>
        <p:nvSpPr>
          <p:cNvPr id="6" name="Shape 0"/>
          <p:cNvSpPr/>
          <p:nvPr/>
        </p:nvSpPr>
        <p:spPr>
          <a:xfrm>
            <a:off x="1601490" y="2144913"/>
            <a:ext cx="5913370" cy="381000"/>
          </a:xfrm>
          <a:custGeom>
            <a:avLst/>
            <a:gdLst/>
            <a:ahLst/>
            <a:cxnLst/>
            <a:rect l="l" t="t" r="r" b="b"/>
            <a:pathLst>
              <a:path w="5913370" h="381000">
                <a:moveTo>
                  <a:pt x="0" y="0"/>
                </a:moveTo>
                <a:lnTo>
                  <a:pt x="5913370" y="0"/>
                </a:lnTo>
                <a:lnTo>
                  <a:pt x="5913370" y="381000"/>
                </a:lnTo>
                <a:lnTo>
                  <a:pt x="0" y="381000"/>
                </a:lnTo>
                <a:close/>
              </a:path>
            </a:pathLst>
          </a:custGeom>
          <a:solidFill>
            <a:srgbClr val="FFFFFF">
              <a:alpha val="0"/>
            </a:srgbClr>
          </a:solidFill>
          <a:ln/>
        </p:spPr>
      </p:sp>
      <p:sp>
        <p:nvSpPr>
          <p:cNvPr id="7" name="Text 1"/>
          <p:cNvSpPr/>
          <p:nvPr/>
        </p:nvSpPr>
        <p:spPr>
          <a:xfrm>
            <a:off x="1601490" y="2144913"/>
            <a:ext cx="5913370" cy="381000"/>
          </a:xfrm>
          <a:prstGeom prst="rect">
            <a:avLst/>
          </a:prstGeom>
          <a:noFill/>
          <a:ln/>
        </p:spPr>
        <p:txBody>
          <a:bodyPr wrap="square" rtlCol="0" anchor="t"/>
          <a:lstStyle/>
          <a:p>
            <a:pPr indent="0" marL="0">
              <a:spcBef>
                <a:spcPts val="375"/>
              </a:spcBef>
              <a:buNone/>
            </a:pPr>
            <a:endParaRPr lang="en-US" sz="1050" dirty="0"/>
          </a:p>
        </p:txBody>
      </p:sp>
      <p:sp>
        <p:nvSpPr>
          <p:cNvPr id="8" name="Shape 2"/>
          <p:cNvSpPr/>
          <p:nvPr/>
        </p:nvSpPr>
        <p:spPr>
          <a:xfrm>
            <a:off x="1601490" y="2144913"/>
            <a:ext cx="5913370" cy="381000"/>
          </a:xfrm>
          <a:custGeom>
            <a:avLst/>
            <a:gdLst/>
            <a:ahLst/>
            <a:cxnLst/>
            <a:rect l="l" t="t" r="r" b="b"/>
            <a:pathLst>
              <a:path w="5913370" h="381000">
                <a:moveTo>
                  <a:pt x="0" y="0"/>
                </a:moveTo>
                <a:lnTo>
                  <a:pt x="5913370" y="0"/>
                </a:lnTo>
                <a:lnTo>
                  <a:pt x="5913370" y="381000"/>
                </a:lnTo>
                <a:lnTo>
                  <a:pt x="0" y="381000"/>
                </a:lnTo>
                <a:close/>
              </a:path>
            </a:pathLst>
          </a:custGeom>
          <a:solidFill>
            <a:srgbClr val="000000">
              <a:alpha val="0"/>
            </a:srgbClr>
          </a:solidFill>
          <a:ln/>
        </p:spPr>
      </p:sp>
      <p:sp>
        <p:nvSpPr>
          <p:cNvPr id="9" name="Text 3"/>
          <p:cNvSpPr/>
          <p:nvPr/>
        </p:nvSpPr>
        <p:spPr>
          <a:xfrm>
            <a:off x="1601490" y="2144913"/>
            <a:ext cx="5913370" cy="38100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0" name="Shape 4"/>
          <p:cNvSpPr/>
          <p:nvPr/>
        </p:nvSpPr>
        <p:spPr>
          <a:xfrm>
            <a:off x="1601490" y="2144913"/>
            <a:ext cx="5913370" cy="381000"/>
          </a:xfrm>
          <a:custGeom>
            <a:avLst/>
            <a:gdLst/>
            <a:ahLst/>
            <a:cxnLst/>
            <a:rect l="l" t="t" r="r" b="b"/>
            <a:pathLst>
              <a:path w="5913370" h="381000">
                <a:moveTo>
                  <a:pt x="0" y="0"/>
                </a:moveTo>
                <a:lnTo>
                  <a:pt x="5913370" y="0"/>
                </a:lnTo>
                <a:lnTo>
                  <a:pt x="5913370" y="381000"/>
                </a:lnTo>
                <a:lnTo>
                  <a:pt x="0" y="381000"/>
                </a:lnTo>
                <a:close/>
              </a:path>
            </a:pathLst>
          </a:custGeom>
          <a:solidFill>
            <a:srgbClr val="FFFFFF">
              <a:alpha val="0"/>
            </a:srgbClr>
          </a:solidFill>
          <a:ln/>
        </p:spPr>
      </p:sp>
      <p:sp>
        <p:nvSpPr>
          <p:cNvPr id="11" name="Text 5"/>
          <p:cNvSpPr/>
          <p:nvPr/>
        </p:nvSpPr>
        <p:spPr>
          <a:xfrm>
            <a:off x="1601490" y="2144913"/>
            <a:ext cx="5913370" cy="381000"/>
          </a:xfrm>
          <a:prstGeom prst="rect">
            <a:avLst/>
          </a:prstGeom>
          <a:noFill/>
          <a:ln/>
        </p:spPr>
        <p:txBody>
          <a:bodyPr wrap="square" rtlCol="0" anchor="t"/>
          <a:lstStyle/>
          <a:p>
            <a:pPr indent="0" marL="0">
              <a:spcBef>
                <a:spcPts val="375"/>
              </a:spcBef>
              <a:buNone/>
            </a:pPr>
            <a:endParaRPr lang="en-US" sz="1050" dirty="0"/>
          </a:p>
        </p:txBody>
      </p:sp>
      <p:sp>
        <p:nvSpPr>
          <p:cNvPr id="12" name="Shape 6"/>
          <p:cNvSpPr/>
          <p:nvPr/>
        </p:nvSpPr>
        <p:spPr>
          <a:xfrm>
            <a:off x="1601490" y="2144913"/>
            <a:ext cx="5913370" cy="381000"/>
          </a:xfrm>
          <a:custGeom>
            <a:avLst/>
            <a:gdLst/>
            <a:ahLst/>
            <a:cxnLst/>
            <a:rect l="l" t="t" r="r" b="b"/>
            <a:pathLst>
              <a:path w="5913370" h="381000">
                <a:moveTo>
                  <a:pt x="0" y="0"/>
                </a:moveTo>
                <a:lnTo>
                  <a:pt x="5913370" y="0"/>
                </a:lnTo>
                <a:lnTo>
                  <a:pt x="5913370" y="381000"/>
                </a:lnTo>
                <a:lnTo>
                  <a:pt x="0" y="381000"/>
                </a:lnTo>
                <a:close/>
              </a:path>
            </a:pathLst>
          </a:custGeom>
          <a:solidFill>
            <a:srgbClr val="000000">
              <a:alpha val="0"/>
            </a:srgbClr>
          </a:solidFill>
          <a:ln/>
        </p:spPr>
      </p:sp>
      <p:sp>
        <p:nvSpPr>
          <p:cNvPr id="13" name="Text 7"/>
          <p:cNvSpPr/>
          <p:nvPr/>
        </p:nvSpPr>
        <p:spPr>
          <a:xfrm>
            <a:off x="1601490" y="2144913"/>
            <a:ext cx="5913370" cy="381000"/>
          </a:xfrm>
          <a:prstGeom prst="rect">
            <a:avLst/>
          </a:prstGeom>
          <a:noFill/>
          <a:ln/>
        </p:spPr>
        <p:txBody>
          <a:bodyPr wrap="square" rtlCol="0" anchor="t"/>
          <a:lstStyle/>
          <a:p>
            <a:pPr algn="ctr" indent="0" marL="0">
              <a:spcBef>
                <a:spcPts val="375"/>
              </a:spcBef>
              <a:buNone/>
            </a:pPr>
            <a:r>
              <a:rPr lang="en-US" sz="2250" dirty="0">
                <a:solidFill>
                  <a:srgbClr val="45464D"/>
                </a:solidFill>
                <a:latin typeface="Caveat Brush" pitchFamily="34" charset="0"/>
                <a:ea typeface="Caveat Brush" pitchFamily="34" charset="-122"/>
                <a:cs typeface="Caveat Brush" pitchFamily="34" charset="-120"/>
              </a:rPr>
              <a:t>O'zbekiston armiyasi</a:t>
            </a:r>
            <a:endParaRPr lang="en-US" sz="1050" dirty="0"/>
          </a:p>
        </p:txBody>
      </p:sp>
      <p:pic>
        <p:nvPicPr>
          <p:cNvPr id="14" name="Image 4" descr="./images\slide0_img5.png">    </p:cNvPr>
          <p:cNvPicPr>
            <a:picLocks noChangeAspect="1"/>
          </p:cNvPicPr>
          <p:nvPr/>
        </p:nvPicPr>
        <p:blipFill>
          <a:blip r:embed="rId5"/>
          <a:stretch>
            <a:fillRect/>
          </a:stretch>
        </p:blipFill>
        <p:spPr>
          <a:xfrm rot="-840000">
            <a:off x="239914" y="146018"/>
            <a:ext cx="1415923" cy="1700345"/>
          </a:xfrm>
          <a:prstGeom prst="rect">
            <a:avLst/>
          </a:prstGeom>
        </p:spPr>
      </p:pic>
      <p:pic>
        <p:nvPicPr>
          <p:cNvPr id="15" name="Image 5" descr="./images\slide0_img6.png">    </p:cNvPr>
          <p:cNvPicPr>
            <a:picLocks noChangeAspect="1"/>
          </p:cNvPicPr>
          <p:nvPr/>
        </p:nvPicPr>
        <p:blipFill>
          <a:blip r:embed="rId6"/>
          <a:srcRect l="0" r="67462" t="16935" b="44420"/>
          <a:stretch/>
        </p:blipFill>
        <p:spPr>
          <a:xfrm>
            <a:off x="7047312" y="0"/>
            <a:ext cx="1932307" cy="2278345"/>
          </a:xfrm>
          <a:prstGeom prst="rect">
            <a:avLst/>
          </a:prstGeom>
        </p:spPr>
      </p:pic>
      <p:sp>
        <p:nvSpPr>
          <p:cNvPr id="16" name="Shape 8"/>
          <p:cNvSpPr/>
          <p:nvPr/>
        </p:nvSpPr>
        <p:spPr>
          <a:xfrm>
            <a:off x="3190352" y="3300000"/>
            <a:ext cx="4200347" cy="304800"/>
          </a:xfrm>
          <a:custGeom>
            <a:avLst/>
            <a:gdLst/>
            <a:ahLst/>
            <a:cxnLst/>
            <a:rect l="l" t="t" r="r" b="b"/>
            <a:pathLst>
              <a:path w="4200347" h="304800">
                <a:moveTo>
                  <a:pt x="0" y="0"/>
                </a:moveTo>
                <a:lnTo>
                  <a:pt x="4200347" y="0"/>
                </a:lnTo>
                <a:lnTo>
                  <a:pt x="4200347" y="304800"/>
                </a:lnTo>
                <a:lnTo>
                  <a:pt x="0" y="304800"/>
                </a:lnTo>
                <a:close/>
              </a:path>
            </a:pathLst>
          </a:custGeom>
          <a:solidFill>
            <a:srgbClr val="FFFFFF">
              <a:alpha val="0"/>
            </a:srgbClr>
          </a:solidFill>
          <a:ln/>
        </p:spPr>
      </p:sp>
      <p:sp>
        <p:nvSpPr>
          <p:cNvPr id="17" name="Text 9"/>
          <p:cNvSpPr/>
          <p:nvPr/>
        </p:nvSpPr>
        <p:spPr>
          <a:xfrm>
            <a:off x="3190352" y="3300000"/>
            <a:ext cx="4200347" cy="304800"/>
          </a:xfrm>
          <a:prstGeom prst="rect">
            <a:avLst/>
          </a:prstGeom>
          <a:noFill/>
          <a:ln/>
        </p:spPr>
        <p:txBody>
          <a:bodyPr wrap="square" rtlCol="0" anchor="t"/>
          <a:lstStyle/>
          <a:p>
            <a:pPr indent="0" marL="0">
              <a:spcBef>
                <a:spcPts val="375"/>
              </a:spcBef>
              <a:buNone/>
            </a:pPr>
            <a:endParaRPr lang="en-US" sz="1050" dirty="0"/>
          </a:p>
        </p:txBody>
      </p:sp>
      <p:sp>
        <p:nvSpPr>
          <p:cNvPr id="18" name="Shape 10"/>
          <p:cNvSpPr/>
          <p:nvPr/>
        </p:nvSpPr>
        <p:spPr>
          <a:xfrm>
            <a:off x="3190352" y="3300000"/>
            <a:ext cx="4200347" cy="304800"/>
          </a:xfrm>
          <a:custGeom>
            <a:avLst/>
            <a:gdLst/>
            <a:ahLst/>
            <a:cxnLst/>
            <a:rect l="l" t="t" r="r" b="b"/>
            <a:pathLst>
              <a:path w="4200347" h="304800">
                <a:moveTo>
                  <a:pt x="0" y="0"/>
                </a:moveTo>
                <a:lnTo>
                  <a:pt x="4200347" y="0"/>
                </a:lnTo>
                <a:lnTo>
                  <a:pt x="4200347" y="304800"/>
                </a:lnTo>
                <a:lnTo>
                  <a:pt x="0" y="304800"/>
                </a:lnTo>
                <a:close/>
              </a:path>
            </a:pathLst>
          </a:custGeom>
          <a:solidFill>
            <a:srgbClr val="000000">
              <a:alpha val="0"/>
            </a:srgbClr>
          </a:solidFill>
          <a:ln/>
        </p:spPr>
      </p:sp>
      <p:sp>
        <p:nvSpPr>
          <p:cNvPr id="19" name="Text 11"/>
          <p:cNvSpPr/>
          <p:nvPr/>
        </p:nvSpPr>
        <p:spPr>
          <a:xfrm>
            <a:off x="3190352" y="3300000"/>
            <a:ext cx="4200347" cy="30480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0" name="Shape 12"/>
          <p:cNvSpPr/>
          <p:nvPr/>
        </p:nvSpPr>
        <p:spPr>
          <a:xfrm>
            <a:off x="3190352" y="3300000"/>
            <a:ext cx="4200347" cy="304800"/>
          </a:xfrm>
          <a:custGeom>
            <a:avLst/>
            <a:gdLst/>
            <a:ahLst/>
            <a:cxnLst/>
            <a:rect l="l" t="t" r="r" b="b"/>
            <a:pathLst>
              <a:path w="4200347" h="304800">
                <a:moveTo>
                  <a:pt x="0" y="0"/>
                </a:moveTo>
                <a:lnTo>
                  <a:pt x="4200347" y="0"/>
                </a:lnTo>
                <a:lnTo>
                  <a:pt x="4200347" y="304800"/>
                </a:lnTo>
                <a:lnTo>
                  <a:pt x="0" y="304800"/>
                </a:lnTo>
                <a:close/>
              </a:path>
            </a:pathLst>
          </a:custGeom>
          <a:solidFill>
            <a:srgbClr val="FFFFFF">
              <a:alpha val="0"/>
            </a:srgbClr>
          </a:solidFill>
          <a:ln/>
        </p:spPr>
      </p:sp>
      <p:sp>
        <p:nvSpPr>
          <p:cNvPr id="21" name="Text 13"/>
          <p:cNvSpPr/>
          <p:nvPr/>
        </p:nvSpPr>
        <p:spPr>
          <a:xfrm>
            <a:off x="3190352" y="3300000"/>
            <a:ext cx="4200347" cy="304800"/>
          </a:xfrm>
          <a:prstGeom prst="rect">
            <a:avLst/>
          </a:prstGeom>
          <a:noFill/>
          <a:ln/>
        </p:spPr>
        <p:txBody>
          <a:bodyPr wrap="square" rtlCol="0" anchor="t"/>
          <a:lstStyle/>
          <a:p>
            <a:pPr indent="0" marL="0">
              <a:spcBef>
                <a:spcPts val="375"/>
              </a:spcBef>
              <a:buNone/>
            </a:pPr>
            <a:endParaRPr lang="en-US" sz="1050" dirty="0"/>
          </a:p>
        </p:txBody>
      </p:sp>
      <p:sp>
        <p:nvSpPr>
          <p:cNvPr id="22" name="Shape 14"/>
          <p:cNvSpPr/>
          <p:nvPr/>
        </p:nvSpPr>
        <p:spPr>
          <a:xfrm>
            <a:off x="3190352" y="3300000"/>
            <a:ext cx="4200347" cy="304800"/>
          </a:xfrm>
          <a:custGeom>
            <a:avLst/>
            <a:gdLst/>
            <a:ahLst/>
            <a:cxnLst/>
            <a:rect l="l" t="t" r="r" b="b"/>
            <a:pathLst>
              <a:path w="4200347" h="304800">
                <a:moveTo>
                  <a:pt x="0" y="0"/>
                </a:moveTo>
                <a:lnTo>
                  <a:pt x="4200347" y="0"/>
                </a:lnTo>
                <a:lnTo>
                  <a:pt x="4200347" y="304800"/>
                </a:lnTo>
                <a:lnTo>
                  <a:pt x="0" y="304800"/>
                </a:lnTo>
                <a:close/>
              </a:path>
            </a:pathLst>
          </a:custGeom>
          <a:solidFill>
            <a:srgbClr val="000000">
              <a:alpha val="0"/>
            </a:srgbClr>
          </a:solidFill>
          <a:ln/>
        </p:spPr>
      </p:sp>
      <p:sp>
        <p:nvSpPr>
          <p:cNvPr id="23" name="Text 15"/>
          <p:cNvSpPr/>
          <p:nvPr/>
        </p:nvSpPr>
        <p:spPr>
          <a:xfrm>
            <a:off x="3190352" y="3300000"/>
            <a:ext cx="4200347" cy="304800"/>
          </a:xfrm>
          <a:prstGeom prst="rect">
            <a:avLst/>
          </a:prstGeom>
          <a:noFill/>
          <a:ln/>
        </p:spPr>
        <p:txBody>
          <a:bodyPr wrap="square" rtlCol="0" anchor="t"/>
          <a:lstStyle/>
          <a:p>
            <a:pPr algn="l" indent="0" marL="0">
              <a:spcBef>
                <a:spcPts val="375"/>
              </a:spcBef>
              <a:buNone/>
            </a:pPr>
            <a:r>
              <a:rPr lang="en-US" sz="1650" dirty="0">
                <a:solidFill>
                  <a:srgbClr val="333333"/>
                </a:solidFill>
                <a:latin typeface="微软雅黑" pitchFamily="34" charset="0"/>
                <a:ea typeface="微软雅黑" pitchFamily="34" charset="-122"/>
                <a:cs typeface="微软雅黑" pitchFamily="34" charset="-120"/>
              </a:rPr>
              <a:t>Javlon Rabbimov</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1F1"/>
        </a:solidFill>
      </p:bgPr>
    </p:bg>
    <p:spTree>
      <p:nvGrpSpPr>
        <p:cNvPr id="1" name=""/>
        <p:cNvGrpSpPr/>
        <p:nvPr/>
      </p:nvGrpSpPr>
      <p:grpSpPr>
        <a:xfrm>
          <a:off x="0" y="0"/>
          <a:ext cx="0" cy="0"/>
          <a:chOff x="0" y="0"/>
          <a:chExt cx="0" cy="0"/>
        </a:xfrm>
      </p:grpSpPr>
      <p:pic>
        <p:nvPicPr>
          <p:cNvPr id="2" name="Image 0" descr="./images\slide1_img7.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images\slide1_img8.png">    </p:cNvPr>
          <p:cNvPicPr>
            <a:picLocks noChangeAspect="1"/>
          </p:cNvPicPr>
          <p:nvPr/>
        </p:nvPicPr>
        <p:blipFill>
          <a:blip r:embed="rId2"/>
          <a:stretch>
            <a:fillRect/>
          </a:stretch>
        </p:blipFill>
        <p:spPr>
          <a:xfrm>
            <a:off x="5040496" y="2211757"/>
            <a:ext cx="3470826" cy="539010"/>
          </a:xfrm>
          <a:prstGeom prst="rect">
            <a:avLst/>
          </a:prstGeom>
        </p:spPr>
      </p:pic>
      <p:sp>
        <p:nvSpPr>
          <p:cNvPr id="4" name="Shape 0"/>
          <p:cNvSpPr/>
          <p:nvPr/>
        </p:nvSpPr>
        <p:spPr>
          <a:xfrm>
            <a:off x="5040496" y="2211757"/>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FFFFFF">
              <a:alpha val="0"/>
            </a:srgbClr>
          </a:solidFill>
          <a:ln/>
        </p:spPr>
      </p:sp>
      <p:sp>
        <p:nvSpPr>
          <p:cNvPr id="5" name="Text 1"/>
          <p:cNvSpPr/>
          <p:nvPr/>
        </p:nvSpPr>
        <p:spPr>
          <a:xfrm>
            <a:off x="5040496" y="2211757"/>
            <a:ext cx="3470826" cy="539010"/>
          </a:xfrm>
          <a:prstGeom prst="rect">
            <a:avLst/>
          </a:prstGeom>
          <a:noFill/>
          <a:ln/>
        </p:spPr>
        <p:txBody>
          <a:bodyPr wrap="square" rtlCol="0" anchor="t"/>
          <a:lstStyle/>
          <a:p>
            <a:pPr indent="0" marL="0">
              <a:spcBef>
                <a:spcPts val="375"/>
              </a:spcBef>
              <a:buNone/>
            </a:pPr>
            <a:endParaRPr lang="en-US" sz="1050" dirty="0"/>
          </a:p>
        </p:txBody>
      </p:sp>
      <p:sp>
        <p:nvSpPr>
          <p:cNvPr id="6" name="Shape 2"/>
          <p:cNvSpPr/>
          <p:nvPr/>
        </p:nvSpPr>
        <p:spPr>
          <a:xfrm>
            <a:off x="5040496" y="2211757"/>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000000">
              <a:alpha val="0"/>
            </a:srgbClr>
          </a:solidFill>
          <a:ln/>
        </p:spPr>
      </p:sp>
      <p:sp>
        <p:nvSpPr>
          <p:cNvPr id="7" name="Text 3"/>
          <p:cNvSpPr/>
          <p:nvPr/>
        </p:nvSpPr>
        <p:spPr>
          <a:xfrm>
            <a:off x="5040496" y="2211757"/>
            <a:ext cx="3470826" cy="53901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 name="Shape 4"/>
          <p:cNvSpPr/>
          <p:nvPr/>
        </p:nvSpPr>
        <p:spPr>
          <a:xfrm>
            <a:off x="5040496" y="2211757"/>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FFFFFF">
              <a:alpha val="0"/>
            </a:srgbClr>
          </a:solidFill>
          <a:ln/>
        </p:spPr>
      </p:sp>
      <p:sp>
        <p:nvSpPr>
          <p:cNvPr id="9" name="Text 5"/>
          <p:cNvSpPr/>
          <p:nvPr/>
        </p:nvSpPr>
        <p:spPr>
          <a:xfrm>
            <a:off x="5040496" y="2211757"/>
            <a:ext cx="3470826" cy="539010"/>
          </a:xfrm>
          <a:prstGeom prst="rect">
            <a:avLst/>
          </a:prstGeom>
          <a:noFill/>
          <a:ln/>
        </p:spPr>
        <p:txBody>
          <a:bodyPr wrap="square" rtlCol="0" anchor="t"/>
          <a:lstStyle/>
          <a:p>
            <a:pPr indent="0" marL="0">
              <a:spcBef>
                <a:spcPts val="375"/>
              </a:spcBef>
              <a:buNone/>
            </a:pPr>
            <a:endParaRPr lang="en-US" sz="1050" dirty="0"/>
          </a:p>
        </p:txBody>
      </p:sp>
      <p:sp>
        <p:nvSpPr>
          <p:cNvPr id="10" name="Shape 6"/>
          <p:cNvSpPr/>
          <p:nvPr/>
        </p:nvSpPr>
        <p:spPr>
          <a:xfrm>
            <a:off x="5040496" y="2211757"/>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000000">
              <a:alpha val="0"/>
            </a:srgbClr>
          </a:solidFill>
          <a:ln/>
        </p:spPr>
      </p:sp>
      <p:sp>
        <p:nvSpPr>
          <p:cNvPr id="11" name="Text 7"/>
          <p:cNvSpPr/>
          <p:nvPr/>
        </p:nvSpPr>
        <p:spPr>
          <a:xfrm>
            <a:off x="5040496" y="2211757"/>
            <a:ext cx="3470826" cy="53901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12" name="Image 2" descr="./images\slide1_img9.png">    </p:cNvPr>
          <p:cNvPicPr>
            <a:picLocks noChangeAspect="1"/>
          </p:cNvPicPr>
          <p:nvPr/>
        </p:nvPicPr>
        <p:blipFill>
          <a:blip r:embed="rId3"/>
          <a:stretch>
            <a:fillRect/>
          </a:stretch>
        </p:blipFill>
        <p:spPr>
          <a:xfrm>
            <a:off x="5040496" y="2211757"/>
            <a:ext cx="3470826" cy="539010"/>
          </a:xfrm>
          <a:prstGeom prst="rect">
            <a:avLst/>
          </a:prstGeom>
        </p:spPr>
      </p:pic>
      <p:pic>
        <p:nvPicPr>
          <p:cNvPr id="13" name="Image 3" descr="./images\slide1_img10.png">    </p:cNvPr>
          <p:cNvPicPr>
            <a:picLocks noChangeAspect="1"/>
          </p:cNvPicPr>
          <p:nvPr/>
        </p:nvPicPr>
        <p:blipFill>
          <a:blip r:embed="rId4"/>
          <a:stretch>
            <a:fillRect/>
          </a:stretch>
        </p:blipFill>
        <p:spPr>
          <a:xfrm>
            <a:off x="5040496" y="3540760"/>
            <a:ext cx="3489254" cy="595655"/>
          </a:xfrm>
          <a:prstGeom prst="rect">
            <a:avLst/>
          </a:prstGeom>
        </p:spPr>
      </p:pic>
      <p:sp>
        <p:nvSpPr>
          <p:cNvPr id="14" name="Shape 8"/>
          <p:cNvSpPr/>
          <p:nvPr/>
        </p:nvSpPr>
        <p:spPr>
          <a:xfrm>
            <a:off x="5040496" y="3540760"/>
            <a:ext cx="3489254" cy="595655"/>
          </a:xfrm>
          <a:custGeom>
            <a:avLst/>
            <a:gdLst/>
            <a:ahLst/>
            <a:cxnLst/>
            <a:rect l="l" t="t" r="r" b="b"/>
            <a:pathLst>
              <a:path w="3489254" h="595655">
                <a:moveTo>
                  <a:pt x="0" y="0"/>
                </a:moveTo>
                <a:lnTo>
                  <a:pt x="3489254" y="0"/>
                </a:lnTo>
                <a:lnTo>
                  <a:pt x="3489254" y="595655"/>
                </a:lnTo>
                <a:lnTo>
                  <a:pt x="0" y="595655"/>
                </a:lnTo>
                <a:close/>
              </a:path>
            </a:pathLst>
          </a:custGeom>
          <a:solidFill>
            <a:srgbClr val="FFFFFF">
              <a:alpha val="0"/>
            </a:srgbClr>
          </a:solidFill>
          <a:ln/>
        </p:spPr>
      </p:sp>
      <p:sp>
        <p:nvSpPr>
          <p:cNvPr id="15" name="Text 9"/>
          <p:cNvSpPr/>
          <p:nvPr/>
        </p:nvSpPr>
        <p:spPr>
          <a:xfrm>
            <a:off x="5040496" y="3540760"/>
            <a:ext cx="3489254" cy="595655"/>
          </a:xfrm>
          <a:prstGeom prst="rect">
            <a:avLst/>
          </a:prstGeom>
          <a:noFill/>
          <a:ln/>
        </p:spPr>
        <p:txBody>
          <a:bodyPr wrap="square" rtlCol="0" anchor="t"/>
          <a:lstStyle/>
          <a:p>
            <a:pPr indent="0" marL="0">
              <a:spcBef>
                <a:spcPts val="375"/>
              </a:spcBef>
              <a:buNone/>
            </a:pPr>
            <a:endParaRPr lang="en-US" sz="1050" dirty="0"/>
          </a:p>
        </p:txBody>
      </p:sp>
      <p:sp>
        <p:nvSpPr>
          <p:cNvPr id="16" name="Shape 10"/>
          <p:cNvSpPr/>
          <p:nvPr/>
        </p:nvSpPr>
        <p:spPr>
          <a:xfrm>
            <a:off x="5040496" y="3540760"/>
            <a:ext cx="3489254" cy="595655"/>
          </a:xfrm>
          <a:custGeom>
            <a:avLst/>
            <a:gdLst/>
            <a:ahLst/>
            <a:cxnLst/>
            <a:rect l="l" t="t" r="r" b="b"/>
            <a:pathLst>
              <a:path w="3489254" h="595655">
                <a:moveTo>
                  <a:pt x="0" y="0"/>
                </a:moveTo>
                <a:lnTo>
                  <a:pt x="3489254" y="0"/>
                </a:lnTo>
                <a:lnTo>
                  <a:pt x="3489254" y="595655"/>
                </a:lnTo>
                <a:lnTo>
                  <a:pt x="0" y="595655"/>
                </a:lnTo>
                <a:close/>
              </a:path>
            </a:pathLst>
          </a:custGeom>
          <a:solidFill>
            <a:srgbClr val="000000">
              <a:alpha val="0"/>
            </a:srgbClr>
          </a:solidFill>
          <a:ln/>
        </p:spPr>
      </p:sp>
      <p:sp>
        <p:nvSpPr>
          <p:cNvPr id="17" name="Text 11"/>
          <p:cNvSpPr/>
          <p:nvPr/>
        </p:nvSpPr>
        <p:spPr>
          <a:xfrm>
            <a:off x="5040496" y="3540760"/>
            <a:ext cx="3489254" cy="595655"/>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8" name="Shape 12"/>
          <p:cNvSpPr/>
          <p:nvPr/>
        </p:nvSpPr>
        <p:spPr>
          <a:xfrm>
            <a:off x="5040496" y="3540760"/>
            <a:ext cx="3489254" cy="595655"/>
          </a:xfrm>
          <a:custGeom>
            <a:avLst/>
            <a:gdLst/>
            <a:ahLst/>
            <a:cxnLst/>
            <a:rect l="l" t="t" r="r" b="b"/>
            <a:pathLst>
              <a:path w="3489254" h="595655">
                <a:moveTo>
                  <a:pt x="0" y="0"/>
                </a:moveTo>
                <a:lnTo>
                  <a:pt x="3489254" y="0"/>
                </a:lnTo>
                <a:lnTo>
                  <a:pt x="3489254" y="595655"/>
                </a:lnTo>
                <a:lnTo>
                  <a:pt x="0" y="595655"/>
                </a:lnTo>
                <a:close/>
              </a:path>
            </a:pathLst>
          </a:custGeom>
          <a:solidFill>
            <a:srgbClr val="FFFFFF">
              <a:alpha val="0"/>
            </a:srgbClr>
          </a:solidFill>
          <a:ln/>
        </p:spPr>
      </p:sp>
      <p:sp>
        <p:nvSpPr>
          <p:cNvPr id="19" name="Text 13"/>
          <p:cNvSpPr/>
          <p:nvPr/>
        </p:nvSpPr>
        <p:spPr>
          <a:xfrm>
            <a:off x="5040496" y="3540760"/>
            <a:ext cx="3489254" cy="595655"/>
          </a:xfrm>
          <a:prstGeom prst="rect">
            <a:avLst/>
          </a:prstGeom>
          <a:noFill/>
          <a:ln/>
        </p:spPr>
        <p:txBody>
          <a:bodyPr wrap="square" rtlCol="0" anchor="t"/>
          <a:lstStyle/>
          <a:p>
            <a:pPr indent="0" marL="0">
              <a:spcBef>
                <a:spcPts val="375"/>
              </a:spcBef>
              <a:buNone/>
            </a:pPr>
            <a:endParaRPr lang="en-US" sz="1050" dirty="0"/>
          </a:p>
        </p:txBody>
      </p:sp>
      <p:sp>
        <p:nvSpPr>
          <p:cNvPr id="20" name="Shape 14"/>
          <p:cNvSpPr/>
          <p:nvPr/>
        </p:nvSpPr>
        <p:spPr>
          <a:xfrm>
            <a:off x="5040496" y="3540760"/>
            <a:ext cx="3489254" cy="595655"/>
          </a:xfrm>
          <a:custGeom>
            <a:avLst/>
            <a:gdLst/>
            <a:ahLst/>
            <a:cxnLst/>
            <a:rect l="l" t="t" r="r" b="b"/>
            <a:pathLst>
              <a:path w="3489254" h="595655">
                <a:moveTo>
                  <a:pt x="0" y="0"/>
                </a:moveTo>
                <a:lnTo>
                  <a:pt x="3489254" y="0"/>
                </a:lnTo>
                <a:lnTo>
                  <a:pt x="3489254" y="595655"/>
                </a:lnTo>
                <a:lnTo>
                  <a:pt x="0" y="595655"/>
                </a:lnTo>
                <a:close/>
              </a:path>
            </a:pathLst>
          </a:custGeom>
          <a:solidFill>
            <a:srgbClr val="000000">
              <a:alpha val="0"/>
            </a:srgbClr>
          </a:solidFill>
          <a:ln/>
        </p:spPr>
      </p:sp>
      <p:sp>
        <p:nvSpPr>
          <p:cNvPr id="21" name="Text 15"/>
          <p:cNvSpPr/>
          <p:nvPr/>
        </p:nvSpPr>
        <p:spPr>
          <a:xfrm>
            <a:off x="5040496" y="3540760"/>
            <a:ext cx="3489254" cy="595655"/>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22" name="Image 4" descr="./images\slide1_img11.png">    </p:cNvPr>
          <p:cNvPicPr>
            <a:picLocks noChangeAspect="1"/>
          </p:cNvPicPr>
          <p:nvPr/>
        </p:nvPicPr>
        <p:blipFill>
          <a:blip r:embed="rId5"/>
          <a:stretch>
            <a:fillRect/>
          </a:stretch>
        </p:blipFill>
        <p:spPr>
          <a:xfrm>
            <a:off x="5040496" y="3540760"/>
            <a:ext cx="3489254" cy="595655"/>
          </a:xfrm>
          <a:prstGeom prst="rect">
            <a:avLst/>
          </a:prstGeom>
        </p:spPr>
      </p:pic>
      <p:pic>
        <p:nvPicPr>
          <p:cNvPr id="23" name="Image 5" descr="./images\slide1_img12.png">    </p:cNvPr>
          <p:cNvPicPr>
            <a:picLocks noChangeAspect="1"/>
          </p:cNvPicPr>
          <p:nvPr/>
        </p:nvPicPr>
        <p:blipFill>
          <a:blip r:embed="rId6"/>
          <a:stretch>
            <a:fillRect/>
          </a:stretch>
        </p:blipFill>
        <p:spPr>
          <a:xfrm>
            <a:off x="5040496" y="895619"/>
            <a:ext cx="3470826" cy="539010"/>
          </a:xfrm>
          <a:prstGeom prst="rect">
            <a:avLst/>
          </a:prstGeom>
        </p:spPr>
      </p:pic>
      <p:sp>
        <p:nvSpPr>
          <p:cNvPr id="24" name="Shape 16"/>
          <p:cNvSpPr/>
          <p:nvPr/>
        </p:nvSpPr>
        <p:spPr>
          <a:xfrm>
            <a:off x="5040496" y="895619"/>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FFFFFF">
              <a:alpha val="0"/>
            </a:srgbClr>
          </a:solidFill>
          <a:ln/>
        </p:spPr>
      </p:sp>
      <p:sp>
        <p:nvSpPr>
          <p:cNvPr id="25" name="Text 17"/>
          <p:cNvSpPr/>
          <p:nvPr/>
        </p:nvSpPr>
        <p:spPr>
          <a:xfrm>
            <a:off x="5040496" y="895619"/>
            <a:ext cx="3470826" cy="539010"/>
          </a:xfrm>
          <a:prstGeom prst="rect">
            <a:avLst/>
          </a:prstGeom>
          <a:noFill/>
          <a:ln/>
        </p:spPr>
        <p:txBody>
          <a:bodyPr wrap="square" rtlCol="0" anchor="t"/>
          <a:lstStyle/>
          <a:p>
            <a:pPr indent="0" marL="0">
              <a:spcBef>
                <a:spcPts val="375"/>
              </a:spcBef>
              <a:buNone/>
            </a:pPr>
            <a:endParaRPr lang="en-US" sz="1050" dirty="0"/>
          </a:p>
        </p:txBody>
      </p:sp>
      <p:sp>
        <p:nvSpPr>
          <p:cNvPr id="26" name="Shape 18"/>
          <p:cNvSpPr/>
          <p:nvPr/>
        </p:nvSpPr>
        <p:spPr>
          <a:xfrm>
            <a:off x="5040496" y="895619"/>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000000">
              <a:alpha val="0"/>
            </a:srgbClr>
          </a:solidFill>
          <a:ln/>
        </p:spPr>
      </p:sp>
      <p:sp>
        <p:nvSpPr>
          <p:cNvPr id="27" name="Text 19"/>
          <p:cNvSpPr/>
          <p:nvPr/>
        </p:nvSpPr>
        <p:spPr>
          <a:xfrm>
            <a:off x="5040496" y="895619"/>
            <a:ext cx="3470826" cy="53901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8" name="Shape 20"/>
          <p:cNvSpPr/>
          <p:nvPr/>
        </p:nvSpPr>
        <p:spPr>
          <a:xfrm>
            <a:off x="5040496" y="895619"/>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FFFFFF">
              <a:alpha val="0"/>
            </a:srgbClr>
          </a:solidFill>
          <a:ln/>
        </p:spPr>
      </p:sp>
      <p:sp>
        <p:nvSpPr>
          <p:cNvPr id="29" name="Text 21"/>
          <p:cNvSpPr/>
          <p:nvPr/>
        </p:nvSpPr>
        <p:spPr>
          <a:xfrm>
            <a:off x="5040496" y="895619"/>
            <a:ext cx="3470826" cy="539010"/>
          </a:xfrm>
          <a:prstGeom prst="rect">
            <a:avLst/>
          </a:prstGeom>
          <a:noFill/>
          <a:ln/>
        </p:spPr>
        <p:txBody>
          <a:bodyPr wrap="square" rtlCol="0" anchor="t"/>
          <a:lstStyle/>
          <a:p>
            <a:pPr indent="0" marL="0">
              <a:spcBef>
                <a:spcPts val="375"/>
              </a:spcBef>
              <a:buNone/>
            </a:pPr>
            <a:endParaRPr lang="en-US" sz="1050" dirty="0"/>
          </a:p>
        </p:txBody>
      </p:sp>
      <p:sp>
        <p:nvSpPr>
          <p:cNvPr id="30" name="Shape 22"/>
          <p:cNvSpPr/>
          <p:nvPr/>
        </p:nvSpPr>
        <p:spPr>
          <a:xfrm>
            <a:off x="5040496" y="895619"/>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000000">
              <a:alpha val="0"/>
            </a:srgbClr>
          </a:solidFill>
          <a:ln/>
        </p:spPr>
      </p:sp>
      <p:sp>
        <p:nvSpPr>
          <p:cNvPr id="31" name="Text 23"/>
          <p:cNvSpPr/>
          <p:nvPr/>
        </p:nvSpPr>
        <p:spPr>
          <a:xfrm>
            <a:off x="5040496" y="895619"/>
            <a:ext cx="3470826" cy="53901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32" name="Image 6" descr="./images\slide1_img13.png">    </p:cNvPr>
          <p:cNvPicPr>
            <a:picLocks noChangeAspect="1"/>
          </p:cNvPicPr>
          <p:nvPr/>
        </p:nvPicPr>
        <p:blipFill>
          <a:blip r:embed="rId7"/>
          <a:stretch>
            <a:fillRect/>
          </a:stretch>
        </p:blipFill>
        <p:spPr>
          <a:xfrm>
            <a:off x="5040496" y="895619"/>
            <a:ext cx="3470826" cy="539010"/>
          </a:xfrm>
          <a:prstGeom prst="rect">
            <a:avLst/>
          </a:prstGeom>
        </p:spPr>
      </p:pic>
      <p:pic>
        <p:nvPicPr>
          <p:cNvPr id="33" name="Image 7" descr="./images\slide1_img14.png">    </p:cNvPr>
          <p:cNvPicPr>
            <a:picLocks noChangeAspect="1"/>
          </p:cNvPicPr>
          <p:nvPr/>
        </p:nvPicPr>
        <p:blipFill>
          <a:blip r:embed="rId8"/>
          <a:stretch>
            <a:fillRect/>
          </a:stretch>
        </p:blipFill>
        <p:spPr>
          <a:xfrm>
            <a:off x="4972050" y="792000"/>
            <a:ext cx="3657600" cy="764771"/>
          </a:xfrm>
          <a:prstGeom prst="rect">
            <a:avLst/>
          </a:prstGeom>
        </p:spPr>
      </p:pic>
      <p:sp>
        <p:nvSpPr>
          <p:cNvPr id="34" name="Shape 24"/>
          <p:cNvSpPr/>
          <p:nvPr/>
        </p:nvSpPr>
        <p:spPr>
          <a:xfrm>
            <a:off x="4972050" y="792000"/>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FFFFFF">
              <a:alpha val="0"/>
            </a:srgbClr>
          </a:solidFill>
          <a:ln/>
        </p:spPr>
      </p:sp>
      <p:sp>
        <p:nvSpPr>
          <p:cNvPr id="35" name="Text 25"/>
          <p:cNvSpPr/>
          <p:nvPr/>
        </p:nvSpPr>
        <p:spPr>
          <a:xfrm>
            <a:off x="4972050" y="792000"/>
            <a:ext cx="3657600" cy="764771"/>
          </a:xfrm>
          <a:prstGeom prst="rect">
            <a:avLst/>
          </a:prstGeom>
          <a:noFill/>
          <a:ln/>
        </p:spPr>
        <p:txBody>
          <a:bodyPr wrap="square" rtlCol="0" anchor="t"/>
          <a:lstStyle/>
          <a:p>
            <a:pPr indent="0" marL="0">
              <a:spcBef>
                <a:spcPts val="375"/>
              </a:spcBef>
              <a:buNone/>
            </a:pPr>
            <a:endParaRPr lang="en-US" sz="1050" dirty="0"/>
          </a:p>
        </p:txBody>
      </p:sp>
      <p:sp>
        <p:nvSpPr>
          <p:cNvPr id="36" name="Shape 26"/>
          <p:cNvSpPr/>
          <p:nvPr/>
        </p:nvSpPr>
        <p:spPr>
          <a:xfrm>
            <a:off x="4972050" y="792000"/>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37" name="Text 27"/>
          <p:cNvSpPr/>
          <p:nvPr/>
        </p:nvSpPr>
        <p:spPr>
          <a:xfrm>
            <a:off x="4972050" y="792000"/>
            <a:ext cx="3657600" cy="76477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38" name="Shape 28"/>
          <p:cNvSpPr/>
          <p:nvPr/>
        </p:nvSpPr>
        <p:spPr>
          <a:xfrm>
            <a:off x="4972050" y="792000"/>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FFFFFF">
              <a:alpha val="0"/>
            </a:srgbClr>
          </a:solidFill>
          <a:ln/>
        </p:spPr>
      </p:sp>
      <p:sp>
        <p:nvSpPr>
          <p:cNvPr id="39" name="Text 29"/>
          <p:cNvSpPr/>
          <p:nvPr/>
        </p:nvSpPr>
        <p:spPr>
          <a:xfrm>
            <a:off x="4972050" y="792000"/>
            <a:ext cx="3657600" cy="764771"/>
          </a:xfrm>
          <a:prstGeom prst="rect">
            <a:avLst/>
          </a:prstGeom>
          <a:noFill/>
          <a:ln/>
        </p:spPr>
        <p:txBody>
          <a:bodyPr wrap="square" rtlCol="0" anchor="t"/>
          <a:lstStyle/>
          <a:p>
            <a:pPr indent="0" marL="0">
              <a:spcBef>
                <a:spcPts val="375"/>
              </a:spcBef>
              <a:buNone/>
            </a:pPr>
            <a:endParaRPr lang="en-US" sz="1050" dirty="0"/>
          </a:p>
        </p:txBody>
      </p:sp>
      <p:sp>
        <p:nvSpPr>
          <p:cNvPr id="40" name="Shape 30"/>
          <p:cNvSpPr/>
          <p:nvPr/>
        </p:nvSpPr>
        <p:spPr>
          <a:xfrm>
            <a:off x="4972050" y="792000"/>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41" name="Text 31"/>
          <p:cNvSpPr/>
          <p:nvPr/>
        </p:nvSpPr>
        <p:spPr>
          <a:xfrm>
            <a:off x="4972050" y="792000"/>
            <a:ext cx="3657600" cy="76477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42" name="Image 8" descr="./images\slide1_img15.png">    </p:cNvPr>
          <p:cNvPicPr>
            <a:picLocks noChangeAspect="1"/>
          </p:cNvPicPr>
          <p:nvPr/>
        </p:nvPicPr>
        <p:blipFill>
          <a:blip r:embed="rId9"/>
          <a:stretch>
            <a:fillRect/>
          </a:stretch>
        </p:blipFill>
        <p:spPr>
          <a:xfrm>
            <a:off x="4972050" y="792000"/>
            <a:ext cx="3657600" cy="764771"/>
          </a:xfrm>
          <a:prstGeom prst="rect">
            <a:avLst/>
          </a:prstGeom>
        </p:spPr>
      </p:pic>
      <p:pic>
        <p:nvPicPr>
          <p:cNvPr id="43" name="Image 9" descr="./images\slide1_img16.png">    </p:cNvPr>
          <p:cNvPicPr>
            <a:picLocks noChangeAspect="1"/>
          </p:cNvPicPr>
          <p:nvPr/>
        </p:nvPicPr>
        <p:blipFill>
          <a:blip r:embed="rId10"/>
          <a:stretch>
            <a:fillRect/>
          </a:stretch>
        </p:blipFill>
        <p:spPr>
          <a:xfrm>
            <a:off x="4972050" y="3456202"/>
            <a:ext cx="3657600" cy="764771"/>
          </a:xfrm>
          <a:prstGeom prst="rect">
            <a:avLst/>
          </a:prstGeom>
        </p:spPr>
      </p:pic>
      <p:sp>
        <p:nvSpPr>
          <p:cNvPr id="44" name="Shape 32"/>
          <p:cNvSpPr/>
          <p:nvPr/>
        </p:nvSpPr>
        <p:spPr>
          <a:xfrm>
            <a:off x="4972050" y="3456202"/>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FFFFFF">
              <a:alpha val="0"/>
            </a:srgbClr>
          </a:solidFill>
          <a:ln/>
        </p:spPr>
      </p:sp>
      <p:sp>
        <p:nvSpPr>
          <p:cNvPr id="45" name="Text 33"/>
          <p:cNvSpPr/>
          <p:nvPr/>
        </p:nvSpPr>
        <p:spPr>
          <a:xfrm>
            <a:off x="4972050" y="3456202"/>
            <a:ext cx="3657600" cy="764771"/>
          </a:xfrm>
          <a:prstGeom prst="rect">
            <a:avLst/>
          </a:prstGeom>
          <a:noFill/>
          <a:ln/>
        </p:spPr>
        <p:txBody>
          <a:bodyPr wrap="square" rtlCol="0" anchor="t"/>
          <a:lstStyle/>
          <a:p>
            <a:pPr indent="0" marL="0">
              <a:spcBef>
                <a:spcPts val="375"/>
              </a:spcBef>
              <a:buNone/>
            </a:pPr>
            <a:endParaRPr lang="en-US" sz="1050" dirty="0"/>
          </a:p>
        </p:txBody>
      </p:sp>
      <p:sp>
        <p:nvSpPr>
          <p:cNvPr id="46" name="Shape 34"/>
          <p:cNvSpPr/>
          <p:nvPr/>
        </p:nvSpPr>
        <p:spPr>
          <a:xfrm>
            <a:off x="4972050" y="3456202"/>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47" name="Text 35"/>
          <p:cNvSpPr/>
          <p:nvPr/>
        </p:nvSpPr>
        <p:spPr>
          <a:xfrm>
            <a:off x="4972050" y="3456202"/>
            <a:ext cx="3657600" cy="76477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48" name="Shape 36"/>
          <p:cNvSpPr/>
          <p:nvPr/>
        </p:nvSpPr>
        <p:spPr>
          <a:xfrm>
            <a:off x="4972050" y="3456202"/>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FFFFFF">
              <a:alpha val="0"/>
            </a:srgbClr>
          </a:solidFill>
          <a:ln/>
        </p:spPr>
      </p:sp>
      <p:sp>
        <p:nvSpPr>
          <p:cNvPr id="49" name="Text 37"/>
          <p:cNvSpPr/>
          <p:nvPr/>
        </p:nvSpPr>
        <p:spPr>
          <a:xfrm>
            <a:off x="4972050" y="3456202"/>
            <a:ext cx="3657600" cy="764771"/>
          </a:xfrm>
          <a:prstGeom prst="rect">
            <a:avLst/>
          </a:prstGeom>
          <a:noFill/>
          <a:ln/>
        </p:spPr>
        <p:txBody>
          <a:bodyPr wrap="square" rtlCol="0" anchor="t"/>
          <a:lstStyle/>
          <a:p>
            <a:pPr indent="0" marL="0">
              <a:spcBef>
                <a:spcPts val="375"/>
              </a:spcBef>
              <a:buNone/>
            </a:pPr>
            <a:endParaRPr lang="en-US" sz="1050" dirty="0"/>
          </a:p>
        </p:txBody>
      </p:sp>
      <p:sp>
        <p:nvSpPr>
          <p:cNvPr id="50" name="Shape 38"/>
          <p:cNvSpPr/>
          <p:nvPr/>
        </p:nvSpPr>
        <p:spPr>
          <a:xfrm>
            <a:off x="4972050" y="3456202"/>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51" name="Text 39"/>
          <p:cNvSpPr/>
          <p:nvPr/>
        </p:nvSpPr>
        <p:spPr>
          <a:xfrm>
            <a:off x="4972050" y="3456202"/>
            <a:ext cx="3657600" cy="76477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52" name="Image 10" descr="./images\slide1_img17.png">    </p:cNvPr>
          <p:cNvPicPr>
            <a:picLocks noChangeAspect="1"/>
          </p:cNvPicPr>
          <p:nvPr/>
        </p:nvPicPr>
        <p:blipFill>
          <a:blip r:embed="rId11"/>
          <a:stretch>
            <a:fillRect/>
          </a:stretch>
        </p:blipFill>
        <p:spPr>
          <a:xfrm>
            <a:off x="4972050" y="3456202"/>
            <a:ext cx="3657600" cy="764771"/>
          </a:xfrm>
          <a:prstGeom prst="rect">
            <a:avLst/>
          </a:prstGeom>
        </p:spPr>
      </p:pic>
      <p:pic>
        <p:nvPicPr>
          <p:cNvPr id="53" name="Image 11" descr="./images\slide1_img18.png">    </p:cNvPr>
          <p:cNvPicPr>
            <a:picLocks noChangeAspect="1"/>
          </p:cNvPicPr>
          <p:nvPr/>
        </p:nvPicPr>
        <p:blipFill>
          <a:blip r:embed="rId12"/>
          <a:stretch>
            <a:fillRect/>
          </a:stretch>
        </p:blipFill>
        <p:spPr>
          <a:xfrm>
            <a:off x="4972050" y="2098877"/>
            <a:ext cx="3657600" cy="764771"/>
          </a:xfrm>
          <a:prstGeom prst="rect">
            <a:avLst/>
          </a:prstGeom>
        </p:spPr>
      </p:pic>
      <p:sp>
        <p:nvSpPr>
          <p:cNvPr id="54" name="Shape 40"/>
          <p:cNvSpPr/>
          <p:nvPr/>
        </p:nvSpPr>
        <p:spPr>
          <a:xfrm>
            <a:off x="4972050" y="2098877"/>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FFFFFF">
              <a:alpha val="0"/>
            </a:srgbClr>
          </a:solidFill>
          <a:ln/>
        </p:spPr>
      </p:sp>
      <p:sp>
        <p:nvSpPr>
          <p:cNvPr id="55" name="Text 41"/>
          <p:cNvSpPr/>
          <p:nvPr/>
        </p:nvSpPr>
        <p:spPr>
          <a:xfrm>
            <a:off x="4972050" y="2098877"/>
            <a:ext cx="3657600" cy="764771"/>
          </a:xfrm>
          <a:prstGeom prst="rect">
            <a:avLst/>
          </a:prstGeom>
          <a:noFill/>
          <a:ln/>
        </p:spPr>
        <p:txBody>
          <a:bodyPr wrap="square" rtlCol="0" anchor="t"/>
          <a:lstStyle/>
          <a:p>
            <a:pPr indent="0" marL="0">
              <a:spcBef>
                <a:spcPts val="375"/>
              </a:spcBef>
              <a:buNone/>
            </a:pPr>
            <a:endParaRPr lang="en-US" sz="1050" dirty="0"/>
          </a:p>
        </p:txBody>
      </p:sp>
      <p:sp>
        <p:nvSpPr>
          <p:cNvPr id="56" name="Shape 42"/>
          <p:cNvSpPr/>
          <p:nvPr/>
        </p:nvSpPr>
        <p:spPr>
          <a:xfrm>
            <a:off x="4972050" y="2098877"/>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57" name="Text 43"/>
          <p:cNvSpPr/>
          <p:nvPr/>
        </p:nvSpPr>
        <p:spPr>
          <a:xfrm>
            <a:off x="4972050" y="2098877"/>
            <a:ext cx="3657600" cy="76477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58" name="Shape 44"/>
          <p:cNvSpPr/>
          <p:nvPr/>
        </p:nvSpPr>
        <p:spPr>
          <a:xfrm>
            <a:off x="4972050" y="2098877"/>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FFFFFF">
              <a:alpha val="0"/>
            </a:srgbClr>
          </a:solidFill>
          <a:ln/>
        </p:spPr>
      </p:sp>
      <p:sp>
        <p:nvSpPr>
          <p:cNvPr id="59" name="Text 45"/>
          <p:cNvSpPr/>
          <p:nvPr/>
        </p:nvSpPr>
        <p:spPr>
          <a:xfrm>
            <a:off x="4972050" y="2098877"/>
            <a:ext cx="3657600" cy="764771"/>
          </a:xfrm>
          <a:prstGeom prst="rect">
            <a:avLst/>
          </a:prstGeom>
          <a:noFill/>
          <a:ln/>
        </p:spPr>
        <p:txBody>
          <a:bodyPr wrap="square" rtlCol="0" anchor="t"/>
          <a:lstStyle/>
          <a:p>
            <a:pPr indent="0" marL="0">
              <a:spcBef>
                <a:spcPts val="375"/>
              </a:spcBef>
              <a:buNone/>
            </a:pPr>
            <a:endParaRPr lang="en-US" sz="1050" dirty="0"/>
          </a:p>
        </p:txBody>
      </p:sp>
      <p:sp>
        <p:nvSpPr>
          <p:cNvPr id="60" name="Shape 46"/>
          <p:cNvSpPr/>
          <p:nvPr/>
        </p:nvSpPr>
        <p:spPr>
          <a:xfrm>
            <a:off x="4972050" y="2098877"/>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61" name="Text 47"/>
          <p:cNvSpPr/>
          <p:nvPr/>
        </p:nvSpPr>
        <p:spPr>
          <a:xfrm>
            <a:off x="4972050" y="2098877"/>
            <a:ext cx="3657600" cy="76477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62" name="Image 12" descr="./images\slide1_img19.png">    </p:cNvPr>
          <p:cNvPicPr>
            <a:picLocks noChangeAspect="1"/>
          </p:cNvPicPr>
          <p:nvPr/>
        </p:nvPicPr>
        <p:blipFill>
          <a:blip r:embed="rId13"/>
          <a:stretch>
            <a:fillRect/>
          </a:stretch>
        </p:blipFill>
        <p:spPr>
          <a:xfrm>
            <a:off x="4972050" y="2098877"/>
            <a:ext cx="3657600" cy="764771"/>
          </a:xfrm>
          <a:prstGeom prst="rect">
            <a:avLst/>
          </a:prstGeom>
        </p:spPr>
      </p:pic>
      <p:sp>
        <p:nvSpPr>
          <p:cNvPr id="63" name="Shape 48"/>
          <p:cNvSpPr/>
          <p:nvPr/>
        </p:nvSpPr>
        <p:spPr>
          <a:xfrm>
            <a:off x="87167" y="744598"/>
            <a:ext cx="3918345" cy="514350"/>
          </a:xfrm>
          <a:custGeom>
            <a:avLst/>
            <a:gdLst/>
            <a:ahLst/>
            <a:cxnLst/>
            <a:rect l="l" t="t" r="r" b="b"/>
            <a:pathLst>
              <a:path w="3918345" h="514350">
                <a:moveTo>
                  <a:pt x="0" y="0"/>
                </a:moveTo>
                <a:lnTo>
                  <a:pt x="3918345" y="0"/>
                </a:lnTo>
                <a:lnTo>
                  <a:pt x="3918345" y="514350"/>
                </a:lnTo>
                <a:lnTo>
                  <a:pt x="0" y="514350"/>
                </a:lnTo>
                <a:close/>
              </a:path>
            </a:pathLst>
          </a:custGeom>
          <a:solidFill>
            <a:srgbClr val="FFFFFF">
              <a:alpha val="0"/>
            </a:srgbClr>
          </a:solidFill>
          <a:ln/>
        </p:spPr>
      </p:sp>
      <p:sp>
        <p:nvSpPr>
          <p:cNvPr id="64" name="Text 49"/>
          <p:cNvSpPr/>
          <p:nvPr/>
        </p:nvSpPr>
        <p:spPr>
          <a:xfrm>
            <a:off x="87167" y="744598"/>
            <a:ext cx="3918345" cy="514350"/>
          </a:xfrm>
          <a:prstGeom prst="rect">
            <a:avLst/>
          </a:prstGeom>
          <a:noFill/>
          <a:ln/>
        </p:spPr>
        <p:txBody>
          <a:bodyPr wrap="square" rtlCol="0" anchor="t"/>
          <a:lstStyle/>
          <a:p>
            <a:pPr indent="0" marL="0">
              <a:spcBef>
                <a:spcPts val="375"/>
              </a:spcBef>
              <a:buNone/>
            </a:pPr>
            <a:endParaRPr lang="en-US" sz="1050" dirty="0"/>
          </a:p>
        </p:txBody>
      </p:sp>
      <p:sp>
        <p:nvSpPr>
          <p:cNvPr id="65" name="Shape 50"/>
          <p:cNvSpPr/>
          <p:nvPr/>
        </p:nvSpPr>
        <p:spPr>
          <a:xfrm>
            <a:off x="87167" y="744598"/>
            <a:ext cx="3918345" cy="514350"/>
          </a:xfrm>
          <a:custGeom>
            <a:avLst/>
            <a:gdLst/>
            <a:ahLst/>
            <a:cxnLst/>
            <a:rect l="l" t="t" r="r" b="b"/>
            <a:pathLst>
              <a:path w="3918345" h="514350">
                <a:moveTo>
                  <a:pt x="0" y="0"/>
                </a:moveTo>
                <a:lnTo>
                  <a:pt x="3918345" y="0"/>
                </a:lnTo>
                <a:lnTo>
                  <a:pt x="3918345" y="514350"/>
                </a:lnTo>
                <a:lnTo>
                  <a:pt x="0" y="514350"/>
                </a:lnTo>
                <a:close/>
              </a:path>
            </a:pathLst>
          </a:custGeom>
          <a:solidFill>
            <a:srgbClr val="000000">
              <a:alpha val="0"/>
            </a:srgbClr>
          </a:solidFill>
          <a:ln/>
        </p:spPr>
      </p:sp>
      <p:sp>
        <p:nvSpPr>
          <p:cNvPr id="66" name="Text 51"/>
          <p:cNvSpPr/>
          <p:nvPr/>
        </p:nvSpPr>
        <p:spPr>
          <a:xfrm>
            <a:off x="87167" y="744598"/>
            <a:ext cx="3918345" cy="5143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67" name="Shape 52"/>
          <p:cNvSpPr/>
          <p:nvPr/>
        </p:nvSpPr>
        <p:spPr>
          <a:xfrm>
            <a:off x="87167" y="744598"/>
            <a:ext cx="3918345" cy="514350"/>
          </a:xfrm>
          <a:custGeom>
            <a:avLst/>
            <a:gdLst/>
            <a:ahLst/>
            <a:cxnLst/>
            <a:rect l="l" t="t" r="r" b="b"/>
            <a:pathLst>
              <a:path w="3918345" h="514350">
                <a:moveTo>
                  <a:pt x="0" y="0"/>
                </a:moveTo>
                <a:lnTo>
                  <a:pt x="3918345" y="0"/>
                </a:lnTo>
                <a:lnTo>
                  <a:pt x="3918345" y="514350"/>
                </a:lnTo>
                <a:lnTo>
                  <a:pt x="0" y="514350"/>
                </a:lnTo>
                <a:close/>
              </a:path>
            </a:pathLst>
          </a:custGeom>
          <a:solidFill>
            <a:srgbClr val="FFFFFF">
              <a:alpha val="0"/>
            </a:srgbClr>
          </a:solidFill>
          <a:ln/>
        </p:spPr>
      </p:sp>
      <p:sp>
        <p:nvSpPr>
          <p:cNvPr id="68" name="Text 53"/>
          <p:cNvSpPr/>
          <p:nvPr/>
        </p:nvSpPr>
        <p:spPr>
          <a:xfrm>
            <a:off x="87167" y="744598"/>
            <a:ext cx="3918345" cy="514350"/>
          </a:xfrm>
          <a:prstGeom prst="rect">
            <a:avLst/>
          </a:prstGeom>
          <a:noFill/>
          <a:ln/>
        </p:spPr>
        <p:txBody>
          <a:bodyPr wrap="square" rtlCol="0" anchor="t"/>
          <a:lstStyle/>
          <a:p>
            <a:pPr indent="0" marL="0">
              <a:spcBef>
                <a:spcPts val="375"/>
              </a:spcBef>
              <a:buNone/>
            </a:pPr>
            <a:endParaRPr lang="en-US" sz="1050" dirty="0"/>
          </a:p>
        </p:txBody>
      </p:sp>
      <p:sp>
        <p:nvSpPr>
          <p:cNvPr id="69" name="Shape 54"/>
          <p:cNvSpPr/>
          <p:nvPr/>
        </p:nvSpPr>
        <p:spPr>
          <a:xfrm>
            <a:off x="87167" y="744598"/>
            <a:ext cx="3918345" cy="514350"/>
          </a:xfrm>
          <a:custGeom>
            <a:avLst/>
            <a:gdLst/>
            <a:ahLst/>
            <a:cxnLst/>
            <a:rect l="l" t="t" r="r" b="b"/>
            <a:pathLst>
              <a:path w="3918345" h="514350">
                <a:moveTo>
                  <a:pt x="0" y="0"/>
                </a:moveTo>
                <a:lnTo>
                  <a:pt x="3918345" y="0"/>
                </a:lnTo>
                <a:lnTo>
                  <a:pt x="3918345" y="514350"/>
                </a:lnTo>
                <a:lnTo>
                  <a:pt x="0" y="514350"/>
                </a:lnTo>
                <a:close/>
              </a:path>
            </a:pathLst>
          </a:custGeom>
          <a:solidFill>
            <a:srgbClr val="000000">
              <a:alpha val="0"/>
            </a:srgbClr>
          </a:solidFill>
          <a:ln/>
        </p:spPr>
      </p:sp>
      <p:sp>
        <p:nvSpPr>
          <p:cNvPr id="70" name="Text 55"/>
          <p:cNvSpPr/>
          <p:nvPr/>
        </p:nvSpPr>
        <p:spPr>
          <a:xfrm>
            <a:off x="87167" y="744598"/>
            <a:ext cx="3918345" cy="514350"/>
          </a:xfrm>
          <a:prstGeom prst="rect">
            <a:avLst/>
          </a:prstGeom>
          <a:noFill/>
          <a:ln/>
        </p:spPr>
        <p:txBody>
          <a:bodyPr wrap="square" rtlCol="0" anchor="t"/>
          <a:lstStyle/>
          <a:p>
            <a:pPr algn="l" indent="0" marL="0">
              <a:spcBef>
                <a:spcPts val="375"/>
              </a:spcBef>
              <a:buNone/>
            </a:pPr>
            <a:r>
              <a:rPr lang="en-US" sz="3300" dirty="0">
                <a:solidFill>
                  <a:srgbClr val="45464D"/>
                </a:solidFill>
                <a:latin typeface="Caveat Brush" pitchFamily="34" charset="0"/>
                <a:ea typeface="Caveat Brush" pitchFamily="34" charset="-122"/>
                <a:cs typeface="Caveat Brush" pitchFamily="34" charset="-120"/>
              </a:rPr>
              <a:t>Reja:</a:t>
            </a:r>
            <a:endParaRPr lang="en-US" sz="1050" dirty="0"/>
          </a:p>
        </p:txBody>
      </p:sp>
      <p:sp>
        <p:nvSpPr>
          <p:cNvPr id="71" name="Shape 56"/>
          <p:cNvSpPr/>
          <p:nvPr/>
        </p:nvSpPr>
        <p:spPr>
          <a:xfrm>
            <a:off x="4339822" y="78995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FFFFFF">
              <a:alpha val="0"/>
            </a:srgbClr>
          </a:solidFill>
          <a:ln/>
        </p:spPr>
      </p:sp>
      <p:sp>
        <p:nvSpPr>
          <p:cNvPr id="72" name="Text 57"/>
          <p:cNvSpPr/>
          <p:nvPr/>
        </p:nvSpPr>
        <p:spPr>
          <a:xfrm>
            <a:off x="4339822" y="789952"/>
            <a:ext cx="519060" cy="828675"/>
          </a:xfrm>
          <a:prstGeom prst="rect">
            <a:avLst/>
          </a:prstGeom>
          <a:noFill/>
          <a:ln/>
        </p:spPr>
        <p:txBody>
          <a:bodyPr wrap="square" rtlCol="0" anchor="t"/>
          <a:lstStyle/>
          <a:p>
            <a:pPr indent="0" marL="0">
              <a:spcBef>
                <a:spcPts val="375"/>
              </a:spcBef>
              <a:buNone/>
            </a:pPr>
            <a:endParaRPr lang="en-US" sz="1050" dirty="0"/>
          </a:p>
        </p:txBody>
      </p:sp>
      <p:sp>
        <p:nvSpPr>
          <p:cNvPr id="73" name="Shape 58"/>
          <p:cNvSpPr/>
          <p:nvPr/>
        </p:nvSpPr>
        <p:spPr>
          <a:xfrm>
            <a:off x="4339822" y="78995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74" name="Text 59"/>
          <p:cNvSpPr/>
          <p:nvPr/>
        </p:nvSpPr>
        <p:spPr>
          <a:xfrm>
            <a:off x="4339822" y="789952"/>
            <a:ext cx="519060" cy="828675"/>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75" name="Shape 60"/>
          <p:cNvSpPr/>
          <p:nvPr/>
        </p:nvSpPr>
        <p:spPr>
          <a:xfrm>
            <a:off x="4339822" y="78995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FFFFFF">
              <a:alpha val="0"/>
            </a:srgbClr>
          </a:solidFill>
          <a:ln/>
        </p:spPr>
      </p:sp>
      <p:sp>
        <p:nvSpPr>
          <p:cNvPr id="76" name="Text 61"/>
          <p:cNvSpPr/>
          <p:nvPr/>
        </p:nvSpPr>
        <p:spPr>
          <a:xfrm>
            <a:off x="4339822" y="789952"/>
            <a:ext cx="519060" cy="828675"/>
          </a:xfrm>
          <a:prstGeom prst="rect">
            <a:avLst/>
          </a:prstGeom>
          <a:noFill/>
          <a:ln/>
        </p:spPr>
        <p:txBody>
          <a:bodyPr wrap="square" rtlCol="0" anchor="t"/>
          <a:lstStyle/>
          <a:p>
            <a:pPr indent="0" marL="0">
              <a:spcBef>
                <a:spcPts val="375"/>
              </a:spcBef>
              <a:buNone/>
            </a:pPr>
            <a:endParaRPr lang="en-US" sz="1050" dirty="0"/>
          </a:p>
        </p:txBody>
      </p:sp>
      <p:sp>
        <p:nvSpPr>
          <p:cNvPr id="77" name="Shape 62"/>
          <p:cNvSpPr/>
          <p:nvPr/>
        </p:nvSpPr>
        <p:spPr>
          <a:xfrm>
            <a:off x="4339822" y="78995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78" name="Text 63"/>
          <p:cNvSpPr/>
          <p:nvPr/>
        </p:nvSpPr>
        <p:spPr>
          <a:xfrm>
            <a:off x="4339822" y="789952"/>
            <a:ext cx="519060" cy="828675"/>
          </a:xfrm>
          <a:prstGeom prst="rect">
            <a:avLst/>
          </a:prstGeom>
          <a:noFill/>
          <a:ln/>
        </p:spPr>
        <p:txBody>
          <a:bodyPr wrap="square" rtlCol="0" anchor="t"/>
          <a:lstStyle/>
          <a:p>
            <a:pPr algn="l" indent="0" marL="0">
              <a:spcBef>
                <a:spcPts val="375"/>
              </a:spcBef>
              <a:buNone/>
            </a:pPr>
            <a:r>
              <a:rPr lang="en-US" sz="5775" dirty="0">
                <a:solidFill>
                  <a:srgbClr val="45464D"/>
                </a:solidFill>
                <a:latin typeface="Caveat Brush" pitchFamily="34" charset="0"/>
                <a:ea typeface="Caveat Brush" pitchFamily="34" charset="-122"/>
                <a:cs typeface="Caveat Brush" pitchFamily="34" charset="-120"/>
              </a:rPr>
              <a:t>1</a:t>
            </a:r>
            <a:endParaRPr lang="en-US" sz="1050" dirty="0"/>
          </a:p>
        </p:txBody>
      </p:sp>
      <p:sp>
        <p:nvSpPr>
          <p:cNvPr id="79" name="Shape 64"/>
          <p:cNvSpPr/>
          <p:nvPr/>
        </p:nvSpPr>
        <p:spPr>
          <a:xfrm>
            <a:off x="4339822" y="2147277"/>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FFFFFF">
              <a:alpha val="0"/>
            </a:srgbClr>
          </a:solidFill>
          <a:ln/>
        </p:spPr>
      </p:sp>
      <p:sp>
        <p:nvSpPr>
          <p:cNvPr id="80" name="Text 65"/>
          <p:cNvSpPr/>
          <p:nvPr/>
        </p:nvSpPr>
        <p:spPr>
          <a:xfrm>
            <a:off x="4339822" y="2147277"/>
            <a:ext cx="519060" cy="828675"/>
          </a:xfrm>
          <a:prstGeom prst="rect">
            <a:avLst/>
          </a:prstGeom>
          <a:noFill/>
          <a:ln/>
        </p:spPr>
        <p:txBody>
          <a:bodyPr wrap="square" rtlCol="0" anchor="t"/>
          <a:lstStyle/>
          <a:p>
            <a:pPr indent="0" marL="0">
              <a:spcBef>
                <a:spcPts val="375"/>
              </a:spcBef>
              <a:buNone/>
            </a:pPr>
            <a:endParaRPr lang="en-US" sz="1050" dirty="0"/>
          </a:p>
        </p:txBody>
      </p:sp>
      <p:sp>
        <p:nvSpPr>
          <p:cNvPr id="81" name="Shape 66"/>
          <p:cNvSpPr/>
          <p:nvPr/>
        </p:nvSpPr>
        <p:spPr>
          <a:xfrm>
            <a:off x="4339822" y="2147277"/>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82" name="Text 67"/>
          <p:cNvSpPr/>
          <p:nvPr/>
        </p:nvSpPr>
        <p:spPr>
          <a:xfrm>
            <a:off x="4339822" y="2147277"/>
            <a:ext cx="519060" cy="828675"/>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3" name="Shape 68"/>
          <p:cNvSpPr/>
          <p:nvPr/>
        </p:nvSpPr>
        <p:spPr>
          <a:xfrm>
            <a:off x="4339822" y="2147277"/>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FFFFFF">
              <a:alpha val="0"/>
            </a:srgbClr>
          </a:solidFill>
          <a:ln/>
        </p:spPr>
      </p:sp>
      <p:sp>
        <p:nvSpPr>
          <p:cNvPr id="84" name="Text 69"/>
          <p:cNvSpPr/>
          <p:nvPr/>
        </p:nvSpPr>
        <p:spPr>
          <a:xfrm>
            <a:off x="4339822" y="2147277"/>
            <a:ext cx="519060" cy="828675"/>
          </a:xfrm>
          <a:prstGeom prst="rect">
            <a:avLst/>
          </a:prstGeom>
          <a:noFill/>
          <a:ln/>
        </p:spPr>
        <p:txBody>
          <a:bodyPr wrap="square" rtlCol="0" anchor="t"/>
          <a:lstStyle/>
          <a:p>
            <a:pPr indent="0" marL="0">
              <a:spcBef>
                <a:spcPts val="375"/>
              </a:spcBef>
              <a:buNone/>
            </a:pPr>
            <a:endParaRPr lang="en-US" sz="1050" dirty="0"/>
          </a:p>
        </p:txBody>
      </p:sp>
      <p:sp>
        <p:nvSpPr>
          <p:cNvPr id="85" name="Shape 70"/>
          <p:cNvSpPr/>
          <p:nvPr/>
        </p:nvSpPr>
        <p:spPr>
          <a:xfrm>
            <a:off x="4339822" y="2147277"/>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86" name="Text 71"/>
          <p:cNvSpPr/>
          <p:nvPr/>
        </p:nvSpPr>
        <p:spPr>
          <a:xfrm>
            <a:off x="4339822" y="2147277"/>
            <a:ext cx="519060" cy="828675"/>
          </a:xfrm>
          <a:prstGeom prst="rect">
            <a:avLst/>
          </a:prstGeom>
          <a:noFill/>
          <a:ln/>
        </p:spPr>
        <p:txBody>
          <a:bodyPr wrap="square" rtlCol="0" anchor="t"/>
          <a:lstStyle/>
          <a:p>
            <a:pPr algn="l" indent="0" marL="0">
              <a:spcBef>
                <a:spcPts val="375"/>
              </a:spcBef>
              <a:buNone/>
            </a:pPr>
            <a:r>
              <a:rPr lang="en-US" sz="5775" dirty="0">
                <a:solidFill>
                  <a:srgbClr val="45464D"/>
                </a:solidFill>
                <a:latin typeface="Caveat Brush" pitchFamily="34" charset="0"/>
                <a:ea typeface="Caveat Brush" pitchFamily="34" charset="-122"/>
                <a:cs typeface="Caveat Brush" pitchFamily="34" charset="-120"/>
              </a:rPr>
              <a:t>2</a:t>
            </a:r>
            <a:endParaRPr lang="en-US" sz="1050" dirty="0"/>
          </a:p>
        </p:txBody>
      </p:sp>
      <p:sp>
        <p:nvSpPr>
          <p:cNvPr id="87" name="Shape 72"/>
          <p:cNvSpPr/>
          <p:nvPr/>
        </p:nvSpPr>
        <p:spPr>
          <a:xfrm>
            <a:off x="4339822" y="350460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FFFFFF">
              <a:alpha val="0"/>
            </a:srgbClr>
          </a:solidFill>
          <a:ln/>
        </p:spPr>
      </p:sp>
      <p:sp>
        <p:nvSpPr>
          <p:cNvPr id="88" name="Text 73"/>
          <p:cNvSpPr/>
          <p:nvPr/>
        </p:nvSpPr>
        <p:spPr>
          <a:xfrm>
            <a:off x="4339822" y="3504602"/>
            <a:ext cx="519060" cy="828675"/>
          </a:xfrm>
          <a:prstGeom prst="rect">
            <a:avLst/>
          </a:prstGeom>
          <a:noFill/>
          <a:ln/>
        </p:spPr>
        <p:txBody>
          <a:bodyPr wrap="square" rtlCol="0" anchor="t"/>
          <a:lstStyle/>
          <a:p>
            <a:pPr indent="0" marL="0">
              <a:spcBef>
                <a:spcPts val="375"/>
              </a:spcBef>
              <a:buNone/>
            </a:pPr>
            <a:endParaRPr lang="en-US" sz="1050" dirty="0"/>
          </a:p>
        </p:txBody>
      </p:sp>
      <p:sp>
        <p:nvSpPr>
          <p:cNvPr id="89" name="Shape 74"/>
          <p:cNvSpPr/>
          <p:nvPr/>
        </p:nvSpPr>
        <p:spPr>
          <a:xfrm>
            <a:off x="4339822" y="350460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90" name="Text 75"/>
          <p:cNvSpPr/>
          <p:nvPr/>
        </p:nvSpPr>
        <p:spPr>
          <a:xfrm>
            <a:off x="4339822" y="3504602"/>
            <a:ext cx="519060" cy="828675"/>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91" name="Shape 76"/>
          <p:cNvSpPr/>
          <p:nvPr/>
        </p:nvSpPr>
        <p:spPr>
          <a:xfrm>
            <a:off x="4339822" y="350460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FFFFFF">
              <a:alpha val="0"/>
            </a:srgbClr>
          </a:solidFill>
          <a:ln/>
        </p:spPr>
      </p:sp>
      <p:sp>
        <p:nvSpPr>
          <p:cNvPr id="92" name="Text 77"/>
          <p:cNvSpPr/>
          <p:nvPr/>
        </p:nvSpPr>
        <p:spPr>
          <a:xfrm>
            <a:off x="4339822" y="3504602"/>
            <a:ext cx="519060" cy="828675"/>
          </a:xfrm>
          <a:prstGeom prst="rect">
            <a:avLst/>
          </a:prstGeom>
          <a:noFill/>
          <a:ln/>
        </p:spPr>
        <p:txBody>
          <a:bodyPr wrap="square" rtlCol="0" anchor="t"/>
          <a:lstStyle/>
          <a:p>
            <a:pPr indent="0" marL="0">
              <a:spcBef>
                <a:spcPts val="375"/>
              </a:spcBef>
              <a:buNone/>
            </a:pPr>
            <a:endParaRPr lang="en-US" sz="1050" dirty="0"/>
          </a:p>
        </p:txBody>
      </p:sp>
      <p:sp>
        <p:nvSpPr>
          <p:cNvPr id="93" name="Shape 78"/>
          <p:cNvSpPr/>
          <p:nvPr/>
        </p:nvSpPr>
        <p:spPr>
          <a:xfrm>
            <a:off x="4339822" y="350460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94" name="Text 79"/>
          <p:cNvSpPr/>
          <p:nvPr/>
        </p:nvSpPr>
        <p:spPr>
          <a:xfrm>
            <a:off x="4339822" y="3504602"/>
            <a:ext cx="519060" cy="828675"/>
          </a:xfrm>
          <a:prstGeom prst="rect">
            <a:avLst/>
          </a:prstGeom>
          <a:noFill/>
          <a:ln/>
        </p:spPr>
        <p:txBody>
          <a:bodyPr wrap="square" rtlCol="0" anchor="t"/>
          <a:lstStyle/>
          <a:p>
            <a:pPr algn="l" indent="0" marL="0">
              <a:spcBef>
                <a:spcPts val="375"/>
              </a:spcBef>
              <a:buNone/>
            </a:pPr>
            <a:r>
              <a:rPr lang="en-US" sz="5775" dirty="0">
                <a:solidFill>
                  <a:srgbClr val="45464D"/>
                </a:solidFill>
                <a:latin typeface="Caveat Brush" pitchFamily="34" charset="0"/>
                <a:ea typeface="Caveat Brush" pitchFamily="34" charset="-122"/>
                <a:cs typeface="Caveat Brush" pitchFamily="34" charset="-120"/>
              </a:rPr>
              <a:t>3</a:t>
            </a:r>
            <a:endParaRPr lang="en-US" sz="1050" dirty="0"/>
          </a:p>
        </p:txBody>
      </p:sp>
      <p:sp>
        <p:nvSpPr>
          <p:cNvPr id="95" name="Shape 80"/>
          <p:cNvSpPr/>
          <p:nvPr/>
        </p:nvSpPr>
        <p:spPr>
          <a:xfrm>
            <a:off x="5040496" y="901652"/>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FFFFFF">
              <a:alpha val="0"/>
            </a:srgbClr>
          </a:solidFill>
          <a:ln/>
        </p:spPr>
      </p:sp>
      <p:sp>
        <p:nvSpPr>
          <p:cNvPr id="96" name="Text 81"/>
          <p:cNvSpPr/>
          <p:nvPr/>
        </p:nvSpPr>
        <p:spPr>
          <a:xfrm>
            <a:off x="5040496" y="901652"/>
            <a:ext cx="3470826" cy="285750"/>
          </a:xfrm>
          <a:prstGeom prst="rect">
            <a:avLst/>
          </a:prstGeom>
          <a:noFill/>
          <a:ln/>
        </p:spPr>
        <p:txBody>
          <a:bodyPr wrap="square" rtlCol="0" anchor="t"/>
          <a:lstStyle/>
          <a:p>
            <a:pPr indent="0" marL="0">
              <a:spcBef>
                <a:spcPts val="375"/>
              </a:spcBef>
              <a:buNone/>
            </a:pPr>
            <a:endParaRPr lang="en-US" sz="1050" dirty="0"/>
          </a:p>
        </p:txBody>
      </p:sp>
      <p:sp>
        <p:nvSpPr>
          <p:cNvPr id="97" name="Shape 82"/>
          <p:cNvSpPr/>
          <p:nvPr/>
        </p:nvSpPr>
        <p:spPr>
          <a:xfrm>
            <a:off x="5040496" y="901652"/>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98" name="Text 83"/>
          <p:cNvSpPr/>
          <p:nvPr/>
        </p:nvSpPr>
        <p:spPr>
          <a:xfrm>
            <a:off x="5040496" y="901652"/>
            <a:ext cx="3470826" cy="2857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99" name="Shape 84"/>
          <p:cNvSpPr/>
          <p:nvPr/>
        </p:nvSpPr>
        <p:spPr>
          <a:xfrm>
            <a:off x="5040496" y="901652"/>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FFFFFF">
              <a:alpha val="0"/>
            </a:srgbClr>
          </a:solidFill>
          <a:ln/>
        </p:spPr>
      </p:sp>
      <p:sp>
        <p:nvSpPr>
          <p:cNvPr id="100" name="Text 85"/>
          <p:cNvSpPr/>
          <p:nvPr/>
        </p:nvSpPr>
        <p:spPr>
          <a:xfrm>
            <a:off x="5040496" y="901652"/>
            <a:ext cx="3470826" cy="285750"/>
          </a:xfrm>
          <a:prstGeom prst="rect">
            <a:avLst/>
          </a:prstGeom>
          <a:noFill/>
          <a:ln/>
        </p:spPr>
        <p:txBody>
          <a:bodyPr wrap="square" rtlCol="0" anchor="t"/>
          <a:lstStyle/>
          <a:p>
            <a:pPr indent="0" marL="0">
              <a:spcBef>
                <a:spcPts val="375"/>
              </a:spcBef>
              <a:buNone/>
            </a:pPr>
            <a:endParaRPr lang="en-US" sz="1050" dirty="0"/>
          </a:p>
        </p:txBody>
      </p:sp>
      <p:sp>
        <p:nvSpPr>
          <p:cNvPr id="101" name="Shape 86"/>
          <p:cNvSpPr/>
          <p:nvPr/>
        </p:nvSpPr>
        <p:spPr>
          <a:xfrm>
            <a:off x="5040496" y="901652"/>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102" name="Text 87"/>
          <p:cNvSpPr/>
          <p:nvPr/>
        </p:nvSpPr>
        <p:spPr>
          <a:xfrm>
            <a:off x="5040496" y="901652"/>
            <a:ext cx="3470826" cy="285750"/>
          </a:xfrm>
          <a:prstGeom prst="rect">
            <a:avLst/>
          </a:prstGeom>
          <a:noFill/>
          <a:ln/>
        </p:spPr>
        <p:txBody>
          <a:bodyPr wrap="square" rtlCol="0" anchor="t"/>
          <a:lstStyle/>
          <a:p>
            <a:pPr algn="l" indent="0" marL="0">
              <a:spcBef>
                <a:spcPts val="375"/>
              </a:spcBef>
              <a:buNone/>
            </a:pPr>
            <a:r>
              <a:rPr lang="en-US" sz="1500" dirty="0">
                <a:solidFill>
                  <a:srgbClr val="45464D"/>
                </a:solidFill>
                <a:latin typeface="Caveat Brush" pitchFamily="34" charset="0"/>
                <a:ea typeface="Caveat Brush" pitchFamily="34" charset="-122"/>
                <a:cs typeface="Caveat Brush" pitchFamily="34" charset="-120"/>
              </a:rPr>
              <a:t>1. Nerv tizimining o'smalari: Tushuncha va Turlari</a:t>
            </a:r>
            <a:endParaRPr lang="en-US" sz="1050" dirty="0"/>
          </a:p>
        </p:txBody>
      </p:sp>
      <p:sp>
        <p:nvSpPr>
          <p:cNvPr id="103" name="Shape 88"/>
          <p:cNvSpPr/>
          <p:nvPr/>
        </p:nvSpPr>
        <p:spPr>
          <a:xfrm>
            <a:off x="5040496" y="2208530"/>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FFFFFF">
              <a:alpha val="0"/>
            </a:srgbClr>
          </a:solidFill>
          <a:ln/>
        </p:spPr>
      </p:sp>
      <p:sp>
        <p:nvSpPr>
          <p:cNvPr id="104" name="Text 89"/>
          <p:cNvSpPr/>
          <p:nvPr/>
        </p:nvSpPr>
        <p:spPr>
          <a:xfrm>
            <a:off x="5040496" y="2208530"/>
            <a:ext cx="3470826" cy="285750"/>
          </a:xfrm>
          <a:prstGeom prst="rect">
            <a:avLst/>
          </a:prstGeom>
          <a:noFill/>
          <a:ln/>
        </p:spPr>
        <p:txBody>
          <a:bodyPr wrap="square" rtlCol="0" anchor="t"/>
          <a:lstStyle/>
          <a:p>
            <a:pPr indent="0" marL="0">
              <a:spcBef>
                <a:spcPts val="375"/>
              </a:spcBef>
              <a:buNone/>
            </a:pPr>
            <a:endParaRPr lang="en-US" sz="1050" dirty="0"/>
          </a:p>
        </p:txBody>
      </p:sp>
      <p:sp>
        <p:nvSpPr>
          <p:cNvPr id="105" name="Shape 90"/>
          <p:cNvSpPr/>
          <p:nvPr/>
        </p:nvSpPr>
        <p:spPr>
          <a:xfrm>
            <a:off x="5040496" y="2208530"/>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106" name="Text 91"/>
          <p:cNvSpPr/>
          <p:nvPr/>
        </p:nvSpPr>
        <p:spPr>
          <a:xfrm>
            <a:off x="5040496" y="2208530"/>
            <a:ext cx="3470826" cy="2857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07" name="Shape 92"/>
          <p:cNvSpPr/>
          <p:nvPr/>
        </p:nvSpPr>
        <p:spPr>
          <a:xfrm>
            <a:off x="5040496" y="2208530"/>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FFFFFF">
              <a:alpha val="0"/>
            </a:srgbClr>
          </a:solidFill>
          <a:ln/>
        </p:spPr>
      </p:sp>
      <p:sp>
        <p:nvSpPr>
          <p:cNvPr id="108" name="Text 93"/>
          <p:cNvSpPr/>
          <p:nvPr/>
        </p:nvSpPr>
        <p:spPr>
          <a:xfrm>
            <a:off x="5040496" y="2208530"/>
            <a:ext cx="3470826" cy="285750"/>
          </a:xfrm>
          <a:prstGeom prst="rect">
            <a:avLst/>
          </a:prstGeom>
          <a:noFill/>
          <a:ln/>
        </p:spPr>
        <p:txBody>
          <a:bodyPr wrap="square" rtlCol="0" anchor="t"/>
          <a:lstStyle/>
          <a:p>
            <a:pPr indent="0" marL="0">
              <a:spcBef>
                <a:spcPts val="375"/>
              </a:spcBef>
              <a:buNone/>
            </a:pPr>
            <a:endParaRPr lang="en-US" sz="1050" dirty="0"/>
          </a:p>
        </p:txBody>
      </p:sp>
      <p:sp>
        <p:nvSpPr>
          <p:cNvPr id="109" name="Shape 94"/>
          <p:cNvSpPr/>
          <p:nvPr/>
        </p:nvSpPr>
        <p:spPr>
          <a:xfrm>
            <a:off x="5040496" y="2208530"/>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110" name="Text 95"/>
          <p:cNvSpPr/>
          <p:nvPr/>
        </p:nvSpPr>
        <p:spPr>
          <a:xfrm>
            <a:off x="5040496" y="2208530"/>
            <a:ext cx="3470826" cy="285750"/>
          </a:xfrm>
          <a:prstGeom prst="rect">
            <a:avLst/>
          </a:prstGeom>
          <a:noFill/>
          <a:ln/>
        </p:spPr>
        <p:txBody>
          <a:bodyPr wrap="square" rtlCol="0" anchor="t"/>
          <a:lstStyle/>
          <a:p>
            <a:pPr algn="l" indent="0" marL="0">
              <a:spcBef>
                <a:spcPts val="375"/>
              </a:spcBef>
              <a:buNone/>
            </a:pPr>
            <a:r>
              <a:rPr lang="en-US" sz="1500" dirty="0">
                <a:solidFill>
                  <a:srgbClr val="45464D"/>
                </a:solidFill>
                <a:latin typeface="Caveat Brush" pitchFamily="34" charset="0"/>
                <a:ea typeface="Caveat Brush" pitchFamily="34" charset="-122"/>
                <a:cs typeface="Caveat Brush" pitchFamily="34" charset="-120"/>
              </a:rPr>
              <a:t>2. Nerv tizimi o'smalarining Belgilari va Diagnostika</a:t>
            </a:r>
            <a:endParaRPr lang="en-US" sz="1050" dirty="0"/>
          </a:p>
        </p:txBody>
      </p:sp>
      <p:sp>
        <p:nvSpPr>
          <p:cNvPr id="111" name="Shape 96"/>
          <p:cNvSpPr/>
          <p:nvPr/>
        </p:nvSpPr>
        <p:spPr>
          <a:xfrm>
            <a:off x="5040496" y="3567401"/>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FFFFFF">
              <a:alpha val="0"/>
            </a:srgbClr>
          </a:solidFill>
          <a:ln/>
        </p:spPr>
      </p:sp>
      <p:sp>
        <p:nvSpPr>
          <p:cNvPr id="112" name="Text 97"/>
          <p:cNvSpPr/>
          <p:nvPr/>
        </p:nvSpPr>
        <p:spPr>
          <a:xfrm>
            <a:off x="5040496" y="3567401"/>
            <a:ext cx="3470826" cy="285750"/>
          </a:xfrm>
          <a:prstGeom prst="rect">
            <a:avLst/>
          </a:prstGeom>
          <a:noFill/>
          <a:ln/>
        </p:spPr>
        <p:txBody>
          <a:bodyPr wrap="square" rtlCol="0" anchor="t"/>
          <a:lstStyle/>
          <a:p>
            <a:pPr indent="0" marL="0">
              <a:spcBef>
                <a:spcPts val="375"/>
              </a:spcBef>
              <a:buNone/>
            </a:pPr>
            <a:endParaRPr lang="en-US" sz="1050" dirty="0"/>
          </a:p>
        </p:txBody>
      </p:sp>
      <p:sp>
        <p:nvSpPr>
          <p:cNvPr id="113" name="Shape 98"/>
          <p:cNvSpPr/>
          <p:nvPr/>
        </p:nvSpPr>
        <p:spPr>
          <a:xfrm>
            <a:off x="5040496" y="3567401"/>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114" name="Text 99"/>
          <p:cNvSpPr/>
          <p:nvPr/>
        </p:nvSpPr>
        <p:spPr>
          <a:xfrm>
            <a:off x="5040496" y="3567401"/>
            <a:ext cx="3470826" cy="2857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15" name="Shape 100"/>
          <p:cNvSpPr/>
          <p:nvPr/>
        </p:nvSpPr>
        <p:spPr>
          <a:xfrm>
            <a:off x="5040496" y="3567401"/>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FFFFFF">
              <a:alpha val="0"/>
            </a:srgbClr>
          </a:solidFill>
          <a:ln/>
        </p:spPr>
      </p:sp>
      <p:sp>
        <p:nvSpPr>
          <p:cNvPr id="116" name="Text 101"/>
          <p:cNvSpPr/>
          <p:nvPr/>
        </p:nvSpPr>
        <p:spPr>
          <a:xfrm>
            <a:off x="5040496" y="3567401"/>
            <a:ext cx="3470826" cy="285750"/>
          </a:xfrm>
          <a:prstGeom prst="rect">
            <a:avLst/>
          </a:prstGeom>
          <a:noFill/>
          <a:ln/>
        </p:spPr>
        <p:txBody>
          <a:bodyPr wrap="square" rtlCol="0" anchor="t"/>
          <a:lstStyle/>
          <a:p>
            <a:pPr indent="0" marL="0">
              <a:spcBef>
                <a:spcPts val="375"/>
              </a:spcBef>
              <a:buNone/>
            </a:pPr>
            <a:endParaRPr lang="en-US" sz="1050" dirty="0"/>
          </a:p>
        </p:txBody>
      </p:sp>
      <p:sp>
        <p:nvSpPr>
          <p:cNvPr id="117" name="Shape 102"/>
          <p:cNvSpPr/>
          <p:nvPr/>
        </p:nvSpPr>
        <p:spPr>
          <a:xfrm>
            <a:off x="5040496" y="3567401"/>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118" name="Text 103"/>
          <p:cNvSpPr/>
          <p:nvPr/>
        </p:nvSpPr>
        <p:spPr>
          <a:xfrm>
            <a:off x="5040496" y="3567401"/>
            <a:ext cx="3470826" cy="285750"/>
          </a:xfrm>
          <a:prstGeom prst="rect">
            <a:avLst/>
          </a:prstGeom>
          <a:noFill/>
          <a:ln/>
        </p:spPr>
        <p:txBody>
          <a:bodyPr wrap="square" rtlCol="0" anchor="t"/>
          <a:lstStyle/>
          <a:p>
            <a:pPr algn="l" indent="0" marL="0">
              <a:spcBef>
                <a:spcPts val="375"/>
              </a:spcBef>
              <a:buNone/>
            </a:pPr>
            <a:r>
              <a:rPr lang="en-US" sz="1500" dirty="0">
                <a:solidFill>
                  <a:srgbClr val="45464D"/>
                </a:solidFill>
                <a:latin typeface="Caveat Brush" pitchFamily="34" charset="0"/>
                <a:ea typeface="Caveat Brush" pitchFamily="34" charset="-122"/>
                <a:cs typeface="Caveat Brush" pitchFamily="34" charset="-120"/>
              </a:rPr>
              <a:t>3. Nerv tizimi o'smalarining Davolash Usullari</a:t>
            </a:r>
            <a:endParaRPr lang="en-US" sz="1050" dirty="0"/>
          </a:p>
        </p:txBody>
      </p:sp>
      <p:pic>
        <p:nvPicPr>
          <p:cNvPr id="119" name="Image 13" descr="./images\slide1_img20.png">    </p:cNvPr>
          <p:cNvPicPr>
            <a:picLocks noChangeAspect="1"/>
          </p:cNvPicPr>
          <p:nvPr/>
        </p:nvPicPr>
        <p:blipFill>
          <a:blip r:embed="rId14"/>
          <a:stretch>
            <a:fillRect/>
          </a:stretch>
        </p:blipFill>
        <p:spPr>
          <a:xfrm>
            <a:off x="890516" y="2422794"/>
            <a:ext cx="1839121" cy="2072151"/>
          </a:xfrm>
          <a:prstGeom prst="rect">
            <a:avLst/>
          </a:prstGeom>
        </p:spPr>
      </p:pic>
      <p:sp>
        <p:nvSpPr>
          <p:cNvPr id="120" name="Shape 104"/>
          <p:cNvSpPr/>
          <p:nvPr/>
        </p:nvSpPr>
        <p:spPr>
          <a:xfrm>
            <a:off x="890516" y="2422794"/>
            <a:ext cx="1839121" cy="2072151"/>
          </a:xfrm>
          <a:custGeom>
            <a:avLst/>
            <a:gdLst/>
            <a:ahLst/>
            <a:cxnLst/>
            <a:rect l="l" t="t" r="r" b="b"/>
            <a:pathLst>
              <a:path w="1839121" h="2072151">
                <a:moveTo>
                  <a:pt x="0" y="0"/>
                </a:moveTo>
                <a:lnTo>
                  <a:pt x="1839121" y="0"/>
                </a:lnTo>
                <a:lnTo>
                  <a:pt x="1839121" y="2072151"/>
                </a:lnTo>
                <a:lnTo>
                  <a:pt x="0" y="2072151"/>
                </a:lnTo>
                <a:close/>
              </a:path>
            </a:pathLst>
          </a:custGeom>
          <a:solidFill>
            <a:srgbClr val="FFFFFF">
              <a:alpha val="0"/>
            </a:srgbClr>
          </a:solidFill>
          <a:ln/>
        </p:spPr>
      </p:sp>
      <p:sp>
        <p:nvSpPr>
          <p:cNvPr id="121" name="Text 105"/>
          <p:cNvSpPr/>
          <p:nvPr/>
        </p:nvSpPr>
        <p:spPr>
          <a:xfrm>
            <a:off x="890516" y="2422794"/>
            <a:ext cx="1839121" cy="2072151"/>
          </a:xfrm>
          <a:prstGeom prst="rect">
            <a:avLst/>
          </a:prstGeom>
          <a:noFill/>
          <a:ln/>
        </p:spPr>
        <p:txBody>
          <a:bodyPr wrap="square" rtlCol="0" anchor="t"/>
          <a:lstStyle/>
          <a:p>
            <a:pPr indent="0" marL="0">
              <a:spcBef>
                <a:spcPts val="375"/>
              </a:spcBef>
              <a:buNone/>
            </a:pPr>
            <a:endParaRPr lang="en-US" sz="1050" dirty="0"/>
          </a:p>
        </p:txBody>
      </p:sp>
      <p:sp>
        <p:nvSpPr>
          <p:cNvPr id="122" name="Shape 106"/>
          <p:cNvSpPr/>
          <p:nvPr/>
        </p:nvSpPr>
        <p:spPr>
          <a:xfrm>
            <a:off x="890516" y="2422794"/>
            <a:ext cx="1839121" cy="2072151"/>
          </a:xfrm>
          <a:custGeom>
            <a:avLst/>
            <a:gdLst/>
            <a:ahLst/>
            <a:cxnLst/>
            <a:rect l="l" t="t" r="r" b="b"/>
            <a:pathLst>
              <a:path w="1839121" h="2072151">
                <a:moveTo>
                  <a:pt x="0" y="0"/>
                </a:moveTo>
                <a:lnTo>
                  <a:pt x="1839121" y="0"/>
                </a:lnTo>
                <a:lnTo>
                  <a:pt x="1839121" y="2072151"/>
                </a:lnTo>
                <a:lnTo>
                  <a:pt x="0" y="2072151"/>
                </a:lnTo>
                <a:close/>
              </a:path>
            </a:pathLst>
          </a:custGeom>
          <a:solidFill>
            <a:srgbClr val="000000">
              <a:alpha val="0"/>
            </a:srgbClr>
          </a:solidFill>
          <a:ln/>
        </p:spPr>
      </p:sp>
      <p:sp>
        <p:nvSpPr>
          <p:cNvPr id="123" name="Text 107"/>
          <p:cNvSpPr/>
          <p:nvPr/>
        </p:nvSpPr>
        <p:spPr>
          <a:xfrm>
            <a:off x="890516" y="2422794"/>
            <a:ext cx="1839121" cy="207215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24" name="Shape 108"/>
          <p:cNvSpPr/>
          <p:nvPr/>
        </p:nvSpPr>
        <p:spPr>
          <a:xfrm>
            <a:off x="890516" y="2422794"/>
            <a:ext cx="1839121" cy="2072151"/>
          </a:xfrm>
          <a:custGeom>
            <a:avLst/>
            <a:gdLst/>
            <a:ahLst/>
            <a:cxnLst/>
            <a:rect l="l" t="t" r="r" b="b"/>
            <a:pathLst>
              <a:path w="1839121" h="2072151">
                <a:moveTo>
                  <a:pt x="0" y="0"/>
                </a:moveTo>
                <a:lnTo>
                  <a:pt x="1839121" y="0"/>
                </a:lnTo>
                <a:lnTo>
                  <a:pt x="1839121" y="2072151"/>
                </a:lnTo>
                <a:lnTo>
                  <a:pt x="0" y="2072151"/>
                </a:lnTo>
                <a:close/>
              </a:path>
            </a:pathLst>
          </a:custGeom>
          <a:solidFill>
            <a:srgbClr val="FFFFFF">
              <a:alpha val="0"/>
            </a:srgbClr>
          </a:solidFill>
          <a:ln/>
        </p:spPr>
      </p:sp>
      <p:sp>
        <p:nvSpPr>
          <p:cNvPr id="125" name="Text 109"/>
          <p:cNvSpPr/>
          <p:nvPr/>
        </p:nvSpPr>
        <p:spPr>
          <a:xfrm>
            <a:off x="890516" y="2422794"/>
            <a:ext cx="1839121" cy="2072151"/>
          </a:xfrm>
          <a:prstGeom prst="rect">
            <a:avLst/>
          </a:prstGeom>
          <a:noFill/>
          <a:ln/>
        </p:spPr>
        <p:txBody>
          <a:bodyPr wrap="square" rtlCol="0" anchor="t"/>
          <a:lstStyle/>
          <a:p>
            <a:pPr indent="0" marL="0">
              <a:spcBef>
                <a:spcPts val="375"/>
              </a:spcBef>
              <a:buNone/>
            </a:pPr>
            <a:endParaRPr lang="en-US" sz="1050" dirty="0"/>
          </a:p>
        </p:txBody>
      </p:sp>
      <p:sp>
        <p:nvSpPr>
          <p:cNvPr id="126" name="Shape 110"/>
          <p:cNvSpPr/>
          <p:nvPr/>
        </p:nvSpPr>
        <p:spPr>
          <a:xfrm>
            <a:off x="890516" y="2422794"/>
            <a:ext cx="1839121" cy="2072151"/>
          </a:xfrm>
          <a:custGeom>
            <a:avLst/>
            <a:gdLst/>
            <a:ahLst/>
            <a:cxnLst/>
            <a:rect l="l" t="t" r="r" b="b"/>
            <a:pathLst>
              <a:path w="1839121" h="2072151">
                <a:moveTo>
                  <a:pt x="0" y="0"/>
                </a:moveTo>
                <a:lnTo>
                  <a:pt x="1839121" y="0"/>
                </a:lnTo>
                <a:lnTo>
                  <a:pt x="1839121" y="2072151"/>
                </a:lnTo>
                <a:lnTo>
                  <a:pt x="0" y="2072151"/>
                </a:lnTo>
                <a:close/>
              </a:path>
            </a:pathLst>
          </a:custGeom>
          <a:solidFill>
            <a:srgbClr val="000000">
              <a:alpha val="0"/>
            </a:srgbClr>
          </a:solidFill>
          <a:ln/>
        </p:spPr>
      </p:sp>
      <p:sp>
        <p:nvSpPr>
          <p:cNvPr id="127" name="Text 111"/>
          <p:cNvSpPr/>
          <p:nvPr/>
        </p:nvSpPr>
        <p:spPr>
          <a:xfrm>
            <a:off x="890516" y="2422794"/>
            <a:ext cx="1839121" cy="207215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28" name="Shape 112"/>
          <p:cNvSpPr/>
          <p:nvPr/>
        </p:nvSpPr>
        <p:spPr>
          <a:xfrm>
            <a:off x="890516" y="2422794"/>
            <a:ext cx="1839121" cy="2072151"/>
          </a:xfrm>
          <a:custGeom>
            <a:avLst/>
            <a:gdLst/>
            <a:ahLst/>
            <a:cxnLst/>
            <a:rect l="l" t="t" r="r" b="b"/>
            <a:pathLst>
              <a:path w="1839121" h="2072151">
                <a:moveTo>
                  <a:pt x="0" y="0"/>
                </a:moveTo>
                <a:lnTo>
                  <a:pt x="1839121" y="0"/>
                </a:lnTo>
                <a:lnTo>
                  <a:pt x="1839121" y="2072151"/>
                </a:lnTo>
                <a:lnTo>
                  <a:pt x="0" y="2072151"/>
                </a:lnTo>
                <a:close/>
              </a:path>
            </a:pathLst>
          </a:custGeom>
          <a:solidFill>
            <a:srgbClr val="FFFFFF">
              <a:alpha val="0"/>
            </a:srgbClr>
          </a:solidFill>
          <a:ln/>
        </p:spPr>
      </p:sp>
      <p:sp>
        <p:nvSpPr>
          <p:cNvPr id="129" name="Text 113"/>
          <p:cNvSpPr/>
          <p:nvPr/>
        </p:nvSpPr>
        <p:spPr>
          <a:xfrm>
            <a:off x="890516" y="2422794"/>
            <a:ext cx="1839121" cy="2072151"/>
          </a:xfrm>
          <a:prstGeom prst="rect">
            <a:avLst/>
          </a:prstGeom>
          <a:noFill/>
          <a:ln/>
        </p:spPr>
        <p:txBody>
          <a:bodyPr wrap="square" rtlCol="0" anchor="t"/>
          <a:lstStyle/>
          <a:p>
            <a:pPr indent="0" marL="0">
              <a:spcBef>
                <a:spcPts val="375"/>
              </a:spcBef>
              <a:buNone/>
            </a:pPr>
            <a:endParaRPr lang="en-US" sz="1050" dirty="0"/>
          </a:p>
        </p:txBody>
      </p:sp>
      <p:sp>
        <p:nvSpPr>
          <p:cNvPr id="130" name="Shape 114"/>
          <p:cNvSpPr/>
          <p:nvPr/>
        </p:nvSpPr>
        <p:spPr>
          <a:xfrm>
            <a:off x="890516" y="2422794"/>
            <a:ext cx="1839121" cy="2072151"/>
          </a:xfrm>
          <a:custGeom>
            <a:avLst/>
            <a:gdLst/>
            <a:ahLst/>
            <a:cxnLst/>
            <a:rect l="l" t="t" r="r" b="b"/>
            <a:pathLst>
              <a:path w="1839121" h="2072151">
                <a:moveTo>
                  <a:pt x="0" y="0"/>
                </a:moveTo>
                <a:lnTo>
                  <a:pt x="1839121" y="0"/>
                </a:lnTo>
                <a:lnTo>
                  <a:pt x="1839121" y="2072151"/>
                </a:lnTo>
                <a:lnTo>
                  <a:pt x="0" y="2072151"/>
                </a:lnTo>
                <a:close/>
              </a:path>
            </a:pathLst>
          </a:custGeom>
          <a:solidFill>
            <a:srgbClr val="000000">
              <a:alpha val="0"/>
            </a:srgbClr>
          </a:solidFill>
          <a:ln/>
        </p:spPr>
      </p:sp>
      <p:sp>
        <p:nvSpPr>
          <p:cNvPr id="131" name="Text 115"/>
          <p:cNvSpPr/>
          <p:nvPr/>
        </p:nvSpPr>
        <p:spPr>
          <a:xfrm>
            <a:off x="890516" y="2422794"/>
            <a:ext cx="1839121" cy="207215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132" name="Image 14" descr="./images\slide1_img21.png">    </p:cNvPr>
          <p:cNvPicPr>
            <a:picLocks noChangeAspect="1"/>
          </p:cNvPicPr>
          <p:nvPr/>
        </p:nvPicPr>
        <p:blipFill>
          <a:blip r:embed="rId15"/>
          <a:stretch>
            <a:fillRect/>
          </a:stretch>
        </p:blipFill>
        <p:spPr>
          <a:xfrm>
            <a:off x="890516" y="2422794"/>
            <a:ext cx="1839121" cy="207215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1F1"/>
        </a:solidFill>
      </p:bgPr>
    </p:bg>
    <p:spTree>
      <p:nvGrpSpPr>
        <p:cNvPr id="1" name=""/>
        <p:cNvGrpSpPr/>
        <p:nvPr/>
      </p:nvGrpSpPr>
      <p:grpSpPr>
        <a:xfrm>
          <a:off x="0" y="0"/>
          <a:ext cx="0" cy="0"/>
          <a:chOff x="0" y="0"/>
          <a:chExt cx="0" cy="0"/>
        </a:xfrm>
      </p:grpSpPr>
      <p:pic>
        <p:nvPicPr>
          <p:cNvPr id="2" name="Image 0" descr="./images\slide4_img37.png">    </p:cNvPr>
          <p:cNvPicPr>
            <a:picLocks noChangeAspect="1"/>
          </p:cNvPicPr>
          <p:nvPr/>
        </p:nvPicPr>
        <p:blipFill>
          <a:blip r:embed="rId1"/>
          <a:stretch>
            <a:fillRect/>
          </a:stretch>
        </p:blipFill>
        <p:spPr>
          <a:xfrm>
            <a:off x="0" y="0"/>
            <a:ext cx="9144000" cy="514350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8465" y="1137012"/>
          <a:ext cx="7147070" cy="2771477"/>
        </p:xfrm>
        <a:graphic>
          <a:graphicData uri="http://schemas.openxmlformats.org/drawingml/2006/table">
            <a:tbl>
              <a:tblPr/>
              <a:tblGrid>
                <a:gridCol w="3573535"/>
                <a:gridCol w="3573535"/>
              </a:tblGrid>
              <a:tr h="554295">
                <a:tc>
                  <a:txBody>
                    <a:bodyPr/>
                    <a:lstStyle/>
                    <a:p>
                      <a:pPr algn="l" indent="0" marL="0">
                        <a:buNone/>
                      </a:pPr>
                      <a:r>
                        <a:rPr lang="en-US" sz="900" u="none" dirty="0">
                          <a:solidFill>
                            <a:srgbClr val="000000"/>
                          </a:solidFill>
                          <a:latin typeface="Nunito" pitchFamily="34" charset="0"/>
                          <a:ea typeface="Nunito" pitchFamily="34" charset="-122"/>
                          <a:cs typeface="Nunito" pitchFamily="34" charset="-120"/>
                        </a:rPr>
                        <a:t>Yil</a:t>
                      </a:r>
                      <a:endParaRPr lang="en-US" sz="900"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c>
                  <a:txBody>
                    <a:bodyPr/>
                    <a:lstStyle/>
                    <a:p>
                      <a:pPr algn="l" indent="0" marL="0">
                        <a:buNone/>
                      </a:pPr>
                      <a:r>
                        <a:rPr lang="en-US" sz="900" u="none" dirty="0">
                          <a:solidFill>
                            <a:srgbClr val="000000"/>
                          </a:solidFill>
                          <a:latin typeface="Nunito" pitchFamily="34" charset="0"/>
                          <a:ea typeface="Nunito" pitchFamily="34" charset="-122"/>
                          <a:cs typeface="Nunito" pitchFamily="34" charset="-120"/>
                        </a:rPr>
                        <a:t>Voqea</a:t>
                      </a:r>
                      <a:endParaRPr lang="en-US" sz="900"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r>
              <a:tr h="554295">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1924</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O'zbekiston SSR tashkil topdi</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554295">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1991</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Mustaqillik e'lon qilindi</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554295">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2005</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Harbiy islohotlar boshlandi</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554295">
                <a:tc>
                  <a:txBody>
                    <a:bodyPr/>
                    <a:lstStyle/>
                    <a:p>
                      <a:pPr algn="l" indent="0" marL="0">
                        <a:buNone/>
                      </a:pPr>
                      <a:r>
                        <a:rPr lang="en-US" sz="1050" u="none" dirty="0">
                          <a:solidFill>
                            <a:srgbClr val="000000"/>
                          </a:solidFill>
                          <a:latin typeface="微软雅黑" pitchFamily="34" charset="0"/>
                          <a:ea typeface="微软雅黑" pitchFamily="34" charset="-122"/>
                          <a:cs typeface="微软雅黑" pitchFamily="34" charset="-120"/>
                        </a:rPr>
                        <a:t>2017</a:t>
                      </a:r>
                      <a:endParaRPr lang="en-US" sz="1050" dirty="0">
                        <a:latin typeface="微软雅黑" charset="0"/>
                        <a:ea typeface="微软雅黑" charset="0"/>
                        <a:cs typeface="微软雅黑"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1050" u="none" dirty="0">
                          <a:solidFill>
                            <a:srgbClr val="000000"/>
                          </a:solidFill>
                          <a:latin typeface="微软雅黑" pitchFamily="34" charset="0"/>
                          <a:ea typeface="微软雅黑" pitchFamily="34" charset="-122"/>
                          <a:cs typeface="微软雅黑" pitchFamily="34" charset="-120"/>
                        </a:rPr>
                        <a:t>Yangi strategiyalar qabul qilindi</a:t>
                      </a:r>
                      <a:endParaRPr lang="en-US" sz="1050" dirty="0">
                        <a:latin typeface="微软雅黑" charset="0"/>
                        <a:ea typeface="微软雅黑" charset="0"/>
                        <a:cs typeface="微软雅黑"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bl>
          </a:graphicData>
        </a:graphic>
      </p:graphicFrame>
      <p:sp>
        <p:nvSpPr>
          <p:cNvPr id="4" name="Shape 0"/>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FFFFFF">
              <a:alpha val="0"/>
            </a:srgbClr>
          </a:solidFill>
          <a:ln/>
        </p:spPr>
      </p:sp>
      <p:sp>
        <p:nvSpPr>
          <p:cNvPr id="5" name="Text 1"/>
          <p:cNvSpPr/>
          <p:nvPr/>
        </p:nvSpPr>
        <p:spPr>
          <a:xfrm>
            <a:off x="874050" y="246298"/>
            <a:ext cx="7395900" cy="666750"/>
          </a:xfrm>
          <a:prstGeom prst="rect">
            <a:avLst/>
          </a:prstGeom>
          <a:noFill/>
          <a:ln/>
        </p:spPr>
        <p:txBody>
          <a:bodyPr wrap="square" rtlCol="0" anchor="t"/>
          <a:lstStyle/>
          <a:p>
            <a:pPr indent="0" marL="0">
              <a:spcBef>
                <a:spcPts val="375"/>
              </a:spcBef>
              <a:buNone/>
            </a:pPr>
            <a:endParaRPr lang="en-US" sz="1050" dirty="0"/>
          </a:p>
        </p:txBody>
      </p:sp>
      <p:sp>
        <p:nvSpPr>
          <p:cNvPr id="6" name="Shape 2"/>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000000">
              <a:alpha val="0"/>
            </a:srgbClr>
          </a:solidFill>
          <a:ln/>
        </p:spPr>
      </p:sp>
      <p:sp>
        <p:nvSpPr>
          <p:cNvPr id="7" name="Text 3"/>
          <p:cNvSpPr/>
          <p:nvPr/>
        </p:nvSpPr>
        <p:spPr>
          <a:xfrm>
            <a:off x="874050" y="246298"/>
            <a:ext cx="7395900" cy="6667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 name="Shape 4"/>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FFFFFF">
              <a:alpha val="0"/>
            </a:srgbClr>
          </a:solidFill>
          <a:ln/>
        </p:spPr>
      </p:sp>
      <p:sp>
        <p:nvSpPr>
          <p:cNvPr id="9" name="Text 5"/>
          <p:cNvSpPr/>
          <p:nvPr/>
        </p:nvSpPr>
        <p:spPr>
          <a:xfrm>
            <a:off x="874050" y="246298"/>
            <a:ext cx="7395900" cy="666750"/>
          </a:xfrm>
          <a:prstGeom prst="rect">
            <a:avLst/>
          </a:prstGeom>
          <a:noFill/>
          <a:ln/>
        </p:spPr>
        <p:txBody>
          <a:bodyPr wrap="square" rtlCol="0" anchor="t"/>
          <a:lstStyle/>
          <a:p>
            <a:pPr indent="0" marL="0">
              <a:spcBef>
                <a:spcPts val="375"/>
              </a:spcBef>
              <a:buNone/>
            </a:pPr>
            <a:endParaRPr lang="en-US" sz="1050" dirty="0"/>
          </a:p>
        </p:txBody>
      </p:sp>
      <p:sp>
        <p:nvSpPr>
          <p:cNvPr id="10" name="Shape 6"/>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000000">
              <a:alpha val="0"/>
            </a:srgbClr>
          </a:solidFill>
          <a:ln/>
        </p:spPr>
      </p:sp>
      <p:sp>
        <p:nvSpPr>
          <p:cNvPr id="11" name="Text 7"/>
          <p:cNvSpPr/>
          <p:nvPr/>
        </p:nvSpPr>
        <p:spPr>
          <a:xfrm>
            <a:off x="874050" y="246298"/>
            <a:ext cx="7395900" cy="6667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O'zbekiston armiyasining tarixi haqida ma'lumotlar</a:t>
            </a:r>
            <a:endParaRPr lang="en-US" sz="1050" dirty="0"/>
          </a:p>
        </p:txBody>
      </p:sp>
      <p:pic>
        <p:nvPicPr>
          <p:cNvPr id="12" name="Image 1" descr="./images\slide4_img38.png">    </p:cNvPr>
          <p:cNvPicPr>
            <a:picLocks noChangeAspect="1"/>
          </p:cNvPicPr>
          <p:nvPr/>
        </p:nvPicPr>
        <p:blipFill>
          <a:blip r:embed="rId2"/>
          <a:stretch>
            <a:fillRect/>
          </a:stretch>
        </p:blipFill>
        <p:spPr>
          <a:xfrm rot="-1800000">
            <a:off x="7936523" y="1969549"/>
            <a:ext cx="1198261" cy="1707367"/>
          </a:xfrm>
          <a:prstGeom prst="rect">
            <a:avLst/>
          </a:prstGeom>
        </p:spPr>
      </p:pic>
      <p:sp>
        <p:nvSpPr>
          <p:cNvPr id="13" name="Shape 8"/>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FFFFFF">
              <a:alpha val="0"/>
            </a:srgbClr>
          </a:solidFill>
          <a:ln/>
        </p:spPr>
      </p:sp>
      <p:sp>
        <p:nvSpPr>
          <p:cNvPr id="14" name="Text 9"/>
          <p:cNvSpPr/>
          <p:nvPr/>
        </p:nvSpPr>
        <p:spPr>
          <a:xfrm rot="-1800000">
            <a:off x="7936523" y="1969549"/>
            <a:ext cx="1198261" cy="1707367"/>
          </a:xfrm>
          <a:prstGeom prst="rect">
            <a:avLst/>
          </a:prstGeom>
          <a:noFill/>
          <a:ln/>
        </p:spPr>
        <p:txBody>
          <a:bodyPr wrap="square" rtlCol="0" anchor="t"/>
          <a:lstStyle/>
          <a:p>
            <a:pPr indent="0" marL="0">
              <a:spcBef>
                <a:spcPts val="375"/>
              </a:spcBef>
              <a:buNone/>
            </a:pPr>
            <a:endParaRPr lang="en-US" sz="1050" dirty="0"/>
          </a:p>
        </p:txBody>
      </p:sp>
      <p:sp>
        <p:nvSpPr>
          <p:cNvPr id="15" name="Shape 10"/>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000000">
              <a:alpha val="0"/>
            </a:srgbClr>
          </a:solidFill>
          <a:ln/>
        </p:spPr>
      </p:sp>
      <p:sp>
        <p:nvSpPr>
          <p:cNvPr id="16" name="Text 11"/>
          <p:cNvSpPr/>
          <p:nvPr/>
        </p:nvSpPr>
        <p:spPr>
          <a:xfrm rot="-1800000">
            <a:off x="7936523" y="1969549"/>
            <a:ext cx="1198261" cy="1707367"/>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7" name="Shape 12"/>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FFFFFF">
              <a:alpha val="0"/>
            </a:srgbClr>
          </a:solidFill>
          <a:ln/>
        </p:spPr>
      </p:sp>
      <p:sp>
        <p:nvSpPr>
          <p:cNvPr id="18" name="Text 13"/>
          <p:cNvSpPr/>
          <p:nvPr/>
        </p:nvSpPr>
        <p:spPr>
          <a:xfrm rot="-1800000">
            <a:off x="7936523" y="1969549"/>
            <a:ext cx="1198261" cy="1707367"/>
          </a:xfrm>
          <a:prstGeom prst="rect">
            <a:avLst/>
          </a:prstGeom>
          <a:noFill/>
          <a:ln/>
        </p:spPr>
        <p:txBody>
          <a:bodyPr wrap="square" rtlCol="0" anchor="t"/>
          <a:lstStyle/>
          <a:p>
            <a:pPr indent="0" marL="0">
              <a:spcBef>
                <a:spcPts val="375"/>
              </a:spcBef>
              <a:buNone/>
            </a:pPr>
            <a:endParaRPr lang="en-US" sz="1050" dirty="0"/>
          </a:p>
        </p:txBody>
      </p:sp>
      <p:sp>
        <p:nvSpPr>
          <p:cNvPr id="19" name="Shape 14"/>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000000">
              <a:alpha val="0"/>
            </a:srgbClr>
          </a:solidFill>
          <a:ln/>
        </p:spPr>
      </p:sp>
      <p:sp>
        <p:nvSpPr>
          <p:cNvPr id="20" name="Text 15"/>
          <p:cNvSpPr/>
          <p:nvPr/>
        </p:nvSpPr>
        <p:spPr>
          <a:xfrm rot="-1800000">
            <a:off x="7936523" y="1969549"/>
            <a:ext cx="1198261" cy="1707367"/>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21" name="Image 2" descr="./images\slide4_img39.png">    </p:cNvPr>
          <p:cNvPicPr>
            <a:picLocks noChangeAspect="1"/>
          </p:cNvPicPr>
          <p:nvPr/>
        </p:nvPicPr>
        <p:blipFill>
          <a:blip r:embed="rId3"/>
          <a:stretch>
            <a:fillRect/>
          </a:stretch>
        </p:blipFill>
        <p:spPr>
          <a:xfrm rot="-1800000">
            <a:off x="7936523" y="1969549"/>
            <a:ext cx="1198261" cy="1707367"/>
          </a:xfrm>
          <a:prstGeom prst="rect">
            <a:avLst/>
          </a:prstGeom>
        </p:spPr>
      </p:pic>
      <p:pic>
        <p:nvPicPr>
          <p:cNvPr id="22" name="Image 3" descr="./images\slide4_img40.png">    </p:cNvPr>
          <p:cNvPicPr>
            <a:picLocks noChangeAspect="1"/>
          </p:cNvPicPr>
          <p:nvPr/>
        </p:nvPicPr>
        <p:blipFill>
          <a:blip r:embed="rId4"/>
          <a:stretch>
            <a:fillRect/>
          </a:stretch>
        </p:blipFill>
        <p:spPr>
          <a:xfrm rot="4620000">
            <a:off x="-282748" y="3452461"/>
            <a:ext cx="1086318" cy="1547864"/>
          </a:xfrm>
          <a:prstGeom prst="rect">
            <a:avLst/>
          </a:prstGeom>
        </p:spPr>
      </p:pic>
      <p:sp>
        <p:nvSpPr>
          <p:cNvPr id="23" name="Shape 16"/>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FFFFFF">
              <a:alpha val="0"/>
            </a:srgbClr>
          </a:solidFill>
          <a:ln/>
        </p:spPr>
      </p:sp>
      <p:sp>
        <p:nvSpPr>
          <p:cNvPr id="24" name="Text 17"/>
          <p:cNvSpPr/>
          <p:nvPr/>
        </p:nvSpPr>
        <p:spPr>
          <a:xfrm rot="4620000">
            <a:off x="-282748" y="3452461"/>
            <a:ext cx="1086318" cy="1547864"/>
          </a:xfrm>
          <a:prstGeom prst="rect">
            <a:avLst/>
          </a:prstGeom>
          <a:noFill/>
          <a:ln/>
        </p:spPr>
        <p:txBody>
          <a:bodyPr wrap="square" rtlCol="0" anchor="t"/>
          <a:lstStyle/>
          <a:p>
            <a:pPr indent="0" marL="0">
              <a:spcBef>
                <a:spcPts val="375"/>
              </a:spcBef>
              <a:buNone/>
            </a:pPr>
            <a:endParaRPr lang="en-US" sz="1050" dirty="0"/>
          </a:p>
        </p:txBody>
      </p:sp>
      <p:sp>
        <p:nvSpPr>
          <p:cNvPr id="25" name="Shape 18"/>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000000">
              <a:alpha val="0"/>
            </a:srgbClr>
          </a:solidFill>
          <a:ln/>
        </p:spPr>
      </p:sp>
      <p:sp>
        <p:nvSpPr>
          <p:cNvPr id="26" name="Text 19"/>
          <p:cNvSpPr/>
          <p:nvPr/>
        </p:nvSpPr>
        <p:spPr>
          <a:xfrm rot="4620000">
            <a:off x="-282748" y="3452461"/>
            <a:ext cx="1086318" cy="1547864"/>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7" name="Shape 20"/>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FFFFFF">
              <a:alpha val="0"/>
            </a:srgbClr>
          </a:solidFill>
          <a:ln/>
        </p:spPr>
      </p:sp>
      <p:sp>
        <p:nvSpPr>
          <p:cNvPr id="28" name="Text 21"/>
          <p:cNvSpPr/>
          <p:nvPr/>
        </p:nvSpPr>
        <p:spPr>
          <a:xfrm rot="4620000">
            <a:off x="-282748" y="3452461"/>
            <a:ext cx="1086318" cy="1547864"/>
          </a:xfrm>
          <a:prstGeom prst="rect">
            <a:avLst/>
          </a:prstGeom>
          <a:noFill/>
          <a:ln/>
        </p:spPr>
        <p:txBody>
          <a:bodyPr wrap="square" rtlCol="0" anchor="t"/>
          <a:lstStyle/>
          <a:p>
            <a:pPr indent="0" marL="0">
              <a:spcBef>
                <a:spcPts val="375"/>
              </a:spcBef>
              <a:buNone/>
            </a:pPr>
            <a:endParaRPr lang="en-US" sz="1050" dirty="0"/>
          </a:p>
        </p:txBody>
      </p:sp>
      <p:sp>
        <p:nvSpPr>
          <p:cNvPr id="29" name="Shape 22"/>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000000">
              <a:alpha val="0"/>
            </a:srgbClr>
          </a:solidFill>
          <a:ln/>
        </p:spPr>
      </p:sp>
      <p:sp>
        <p:nvSpPr>
          <p:cNvPr id="30" name="Text 23"/>
          <p:cNvSpPr/>
          <p:nvPr/>
        </p:nvSpPr>
        <p:spPr>
          <a:xfrm rot="4620000">
            <a:off x="-282748" y="3452461"/>
            <a:ext cx="1086318" cy="1547864"/>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31" name="Image 4" descr="./images\slide4_img41.png">    </p:cNvPr>
          <p:cNvPicPr>
            <a:picLocks noChangeAspect="1"/>
          </p:cNvPicPr>
          <p:nvPr/>
        </p:nvPicPr>
        <p:blipFill>
          <a:blip r:embed="rId5"/>
          <a:stretch>
            <a:fillRect/>
          </a:stretch>
        </p:blipFill>
        <p:spPr>
          <a:xfrm rot="4620000">
            <a:off x="-282748" y="3452461"/>
            <a:ext cx="1086318" cy="15478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1F1"/>
        </a:solidFill>
      </p:bgPr>
    </p:bg>
    <p:spTree>
      <p:nvGrpSpPr>
        <p:cNvPr id="1" name=""/>
        <p:cNvGrpSpPr/>
        <p:nvPr/>
      </p:nvGrpSpPr>
      <p:grpSpPr>
        <a:xfrm>
          <a:off x="0" y="0"/>
          <a:ext cx="0" cy="0"/>
          <a:chOff x="0" y="0"/>
          <a:chExt cx="0" cy="0"/>
        </a:xfrm>
      </p:grpSpPr>
      <p:pic>
        <p:nvPicPr>
          <p:cNvPr id="2" name="Image 0" descr="./images\slide5_img42.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images\slide5_img43.png">    </p:cNvPr>
          <p:cNvPicPr>
            <a:picLocks noChangeAspect="1"/>
          </p:cNvPicPr>
          <p:nvPr/>
        </p:nvPicPr>
        <p:blipFill>
          <a:blip r:embed="rId2"/>
          <a:stretch>
            <a:fillRect/>
          </a:stretch>
        </p:blipFill>
        <p:spPr>
          <a:xfrm>
            <a:off x="6087098" y="1683097"/>
            <a:ext cx="2542552" cy="3046631"/>
          </a:xfrm>
          <a:prstGeom prst="rect">
            <a:avLst/>
          </a:prstGeom>
        </p:spPr>
      </p:pic>
      <p:sp>
        <p:nvSpPr>
          <p:cNvPr id="4" name="Shape 0"/>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FFFFFF">
              <a:alpha val="0"/>
            </a:srgbClr>
          </a:solidFill>
          <a:ln/>
        </p:spPr>
      </p:sp>
      <p:sp>
        <p:nvSpPr>
          <p:cNvPr id="5" name="Text 1"/>
          <p:cNvSpPr/>
          <p:nvPr/>
        </p:nvSpPr>
        <p:spPr>
          <a:xfrm>
            <a:off x="874042" y="518568"/>
            <a:ext cx="7395915" cy="476250"/>
          </a:xfrm>
          <a:prstGeom prst="rect">
            <a:avLst/>
          </a:prstGeom>
          <a:noFill/>
          <a:ln/>
        </p:spPr>
        <p:txBody>
          <a:bodyPr wrap="square" rtlCol="0" anchor="t"/>
          <a:lstStyle/>
          <a:p>
            <a:pPr indent="0" marL="0">
              <a:spcBef>
                <a:spcPts val="375"/>
              </a:spcBef>
              <a:buNone/>
            </a:pPr>
            <a:endParaRPr lang="en-US" sz="1050" dirty="0"/>
          </a:p>
        </p:txBody>
      </p:sp>
      <p:sp>
        <p:nvSpPr>
          <p:cNvPr id="6" name="Shape 2"/>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000000">
              <a:alpha val="0"/>
            </a:srgbClr>
          </a:solidFill>
          <a:ln/>
        </p:spPr>
      </p:sp>
      <p:sp>
        <p:nvSpPr>
          <p:cNvPr id="7" name="Text 3"/>
          <p:cNvSpPr/>
          <p:nvPr/>
        </p:nvSpPr>
        <p:spPr>
          <a:xfrm>
            <a:off x="874042" y="518568"/>
            <a:ext cx="7395915"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 name="Shape 4"/>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FFFFFF">
              <a:alpha val="0"/>
            </a:srgbClr>
          </a:solidFill>
          <a:ln/>
        </p:spPr>
      </p:sp>
      <p:sp>
        <p:nvSpPr>
          <p:cNvPr id="9" name="Text 5"/>
          <p:cNvSpPr/>
          <p:nvPr/>
        </p:nvSpPr>
        <p:spPr>
          <a:xfrm>
            <a:off x="874042" y="518568"/>
            <a:ext cx="7395915" cy="476250"/>
          </a:xfrm>
          <a:prstGeom prst="rect">
            <a:avLst/>
          </a:prstGeom>
          <a:noFill/>
          <a:ln/>
        </p:spPr>
        <p:txBody>
          <a:bodyPr wrap="square" rtlCol="0" anchor="t"/>
          <a:lstStyle/>
          <a:p>
            <a:pPr indent="0" marL="0">
              <a:spcBef>
                <a:spcPts val="375"/>
              </a:spcBef>
              <a:buNone/>
            </a:pPr>
            <a:endParaRPr lang="en-US" sz="1050" dirty="0"/>
          </a:p>
        </p:txBody>
      </p:sp>
      <p:sp>
        <p:nvSpPr>
          <p:cNvPr id="10" name="Shape 6"/>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000000">
              <a:alpha val="0"/>
            </a:srgbClr>
          </a:solidFill>
          <a:ln/>
        </p:spPr>
      </p:sp>
      <p:sp>
        <p:nvSpPr>
          <p:cNvPr id="11" name="Text 7"/>
          <p:cNvSpPr/>
          <p:nvPr/>
        </p:nvSpPr>
        <p:spPr>
          <a:xfrm>
            <a:off x="874042" y="518568"/>
            <a:ext cx="7395915"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O'zbekiston Armiyasi Tuzilishi</a:t>
            </a:r>
            <a:endParaRPr lang="en-US" sz="1050" dirty="0"/>
          </a:p>
        </p:txBody>
      </p:sp>
      <p:sp>
        <p:nvSpPr>
          <p:cNvPr id="12" name="Shape 8"/>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FFFFFF">
              <a:alpha val="0"/>
            </a:srgbClr>
          </a:solidFill>
          <a:ln/>
        </p:spPr>
      </p:sp>
      <p:sp>
        <p:nvSpPr>
          <p:cNvPr id="13" name="Text 9"/>
          <p:cNvSpPr/>
          <p:nvPr/>
        </p:nvSpPr>
        <p:spPr>
          <a:xfrm>
            <a:off x="705902" y="1623611"/>
            <a:ext cx="1713750" cy="552450"/>
          </a:xfrm>
          <a:prstGeom prst="rect">
            <a:avLst/>
          </a:prstGeom>
          <a:noFill/>
          <a:ln/>
        </p:spPr>
        <p:txBody>
          <a:bodyPr wrap="square" rtlCol="0" anchor="t"/>
          <a:lstStyle/>
          <a:p>
            <a:pPr indent="0" marL="0">
              <a:spcBef>
                <a:spcPts val="375"/>
              </a:spcBef>
              <a:buNone/>
            </a:pPr>
            <a:endParaRPr lang="en-US" sz="1050" dirty="0"/>
          </a:p>
        </p:txBody>
      </p:sp>
      <p:sp>
        <p:nvSpPr>
          <p:cNvPr id="14" name="Shape 10"/>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000000">
              <a:alpha val="0"/>
            </a:srgbClr>
          </a:solidFill>
          <a:ln/>
        </p:spPr>
      </p:sp>
      <p:sp>
        <p:nvSpPr>
          <p:cNvPr id="15" name="Text 11"/>
          <p:cNvSpPr/>
          <p:nvPr/>
        </p:nvSpPr>
        <p:spPr>
          <a:xfrm>
            <a:off x="705902" y="1623611"/>
            <a:ext cx="1713750"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6" name="Shape 12"/>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FFFFFF">
              <a:alpha val="0"/>
            </a:srgbClr>
          </a:solidFill>
          <a:ln/>
        </p:spPr>
      </p:sp>
      <p:sp>
        <p:nvSpPr>
          <p:cNvPr id="17" name="Text 13"/>
          <p:cNvSpPr/>
          <p:nvPr/>
        </p:nvSpPr>
        <p:spPr>
          <a:xfrm>
            <a:off x="705902" y="1623611"/>
            <a:ext cx="1713750" cy="552450"/>
          </a:xfrm>
          <a:prstGeom prst="rect">
            <a:avLst/>
          </a:prstGeom>
          <a:noFill/>
          <a:ln/>
        </p:spPr>
        <p:txBody>
          <a:bodyPr wrap="square" rtlCol="0" anchor="t"/>
          <a:lstStyle/>
          <a:p>
            <a:pPr indent="0" marL="0">
              <a:spcBef>
                <a:spcPts val="375"/>
              </a:spcBef>
              <a:buNone/>
            </a:pPr>
            <a:endParaRPr lang="en-US" sz="1050" dirty="0"/>
          </a:p>
        </p:txBody>
      </p:sp>
      <p:sp>
        <p:nvSpPr>
          <p:cNvPr id="18" name="Shape 14"/>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000000">
              <a:alpha val="0"/>
            </a:srgbClr>
          </a:solidFill>
          <a:ln/>
        </p:spPr>
      </p:sp>
      <p:sp>
        <p:nvSpPr>
          <p:cNvPr id="19" name="Text 15"/>
          <p:cNvSpPr/>
          <p:nvPr/>
        </p:nvSpPr>
        <p:spPr>
          <a:xfrm>
            <a:off x="705902" y="1623611"/>
            <a:ext cx="1713750"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Qurolli kuchlar</a:t>
            </a:r>
            <a:endParaRPr lang="en-US" sz="1050" dirty="0"/>
          </a:p>
        </p:txBody>
      </p:sp>
      <p:sp>
        <p:nvSpPr>
          <p:cNvPr id="20" name="Shape 16"/>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FFFFFF">
              <a:alpha val="0"/>
            </a:srgbClr>
          </a:solidFill>
          <a:ln/>
        </p:spPr>
      </p:sp>
      <p:sp>
        <p:nvSpPr>
          <p:cNvPr id="21" name="Text 17"/>
          <p:cNvSpPr/>
          <p:nvPr/>
        </p:nvSpPr>
        <p:spPr>
          <a:xfrm>
            <a:off x="640191" y="3311188"/>
            <a:ext cx="1998818" cy="552450"/>
          </a:xfrm>
          <a:prstGeom prst="rect">
            <a:avLst/>
          </a:prstGeom>
          <a:noFill/>
          <a:ln/>
        </p:spPr>
        <p:txBody>
          <a:bodyPr wrap="square" rtlCol="0" anchor="t"/>
          <a:lstStyle/>
          <a:p>
            <a:pPr indent="0" marL="0">
              <a:spcBef>
                <a:spcPts val="375"/>
              </a:spcBef>
              <a:buNone/>
            </a:pPr>
            <a:endParaRPr lang="en-US" sz="1050" dirty="0"/>
          </a:p>
        </p:txBody>
      </p:sp>
      <p:sp>
        <p:nvSpPr>
          <p:cNvPr id="22" name="Shape 18"/>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000000">
              <a:alpha val="0"/>
            </a:srgbClr>
          </a:solidFill>
          <a:ln/>
        </p:spPr>
      </p:sp>
      <p:sp>
        <p:nvSpPr>
          <p:cNvPr id="23" name="Text 19"/>
          <p:cNvSpPr/>
          <p:nvPr/>
        </p:nvSpPr>
        <p:spPr>
          <a:xfrm>
            <a:off x="640191" y="3311188"/>
            <a:ext cx="1998818"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4" name="Shape 20"/>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FFFFFF">
              <a:alpha val="0"/>
            </a:srgbClr>
          </a:solidFill>
          <a:ln/>
        </p:spPr>
      </p:sp>
      <p:sp>
        <p:nvSpPr>
          <p:cNvPr id="25" name="Text 21"/>
          <p:cNvSpPr/>
          <p:nvPr/>
        </p:nvSpPr>
        <p:spPr>
          <a:xfrm>
            <a:off x="640191" y="3311188"/>
            <a:ext cx="1998818" cy="552450"/>
          </a:xfrm>
          <a:prstGeom prst="rect">
            <a:avLst/>
          </a:prstGeom>
          <a:noFill/>
          <a:ln/>
        </p:spPr>
        <p:txBody>
          <a:bodyPr wrap="square" rtlCol="0" anchor="t"/>
          <a:lstStyle/>
          <a:p>
            <a:pPr indent="0" marL="0">
              <a:spcBef>
                <a:spcPts val="375"/>
              </a:spcBef>
              <a:buNone/>
            </a:pPr>
            <a:endParaRPr lang="en-US" sz="1050" dirty="0"/>
          </a:p>
        </p:txBody>
      </p:sp>
      <p:sp>
        <p:nvSpPr>
          <p:cNvPr id="26" name="Shape 22"/>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000000">
              <a:alpha val="0"/>
            </a:srgbClr>
          </a:solidFill>
          <a:ln/>
        </p:spPr>
      </p:sp>
      <p:sp>
        <p:nvSpPr>
          <p:cNvPr id="27" name="Text 23"/>
          <p:cNvSpPr/>
          <p:nvPr/>
        </p:nvSpPr>
        <p:spPr>
          <a:xfrm>
            <a:off x="640191" y="3311188"/>
            <a:ext cx="1998818"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Havo kuchlari</a:t>
            </a:r>
            <a:endParaRPr lang="en-US" sz="1050" dirty="0"/>
          </a:p>
        </p:txBody>
      </p:sp>
      <p:sp>
        <p:nvSpPr>
          <p:cNvPr id="28" name="Shape 24"/>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FFFFFF">
              <a:alpha val="0"/>
            </a:srgbClr>
          </a:solidFill>
          <a:ln/>
        </p:spPr>
      </p:sp>
      <p:sp>
        <p:nvSpPr>
          <p:cNvPr id="29" name="Text 25"/>
          <p:cNvSpPr/>
          <p:nvPr/>
        </p:nvSpPr>
        <p:spPr>
          <a:xfrm>
            <a:off x="3848551" y="1623612"/>
            <a:ext cx="1082550" cy="552450"/>
          </a:xfrm>
          <a:prstGeom prst="rect">
            <a:avLst/>
          </a:prstGeom>
          <a:noFill/>
          <a:ln/>
        </p:spPr>
        <p:txBody>
          <a:bodyPr wrap="square" rtlCol="0" anchor="t"/>
          <a:lstStyle/>
          <a:p>
            <a:pPr indent="0" marL="0">
              <a:spcBef>
                <a:spcPts val="375"/>
              </a:spcBef>
              <a:buNone/>
            </a:pPr>
            <a:endParaRPr lang="en-US" sz="1050" dirty="0"/>
          </a:p>
        </p:txBody>
      </p:sp>
      <p:sp>
        <p:nvSpPr>
          <p:cNvPr id="30" name="Shape 26"/>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000000">
              <a:alpha val="0"/>
            </a:srgbClr>
          </a:solidFill>
          <a:ln/>
        </p:spPr>
      </p:sp>
      <p:sp>
        <p:nvSpPr>
          <p:cNvPr id="31" name="Text 27"/>
          <p:cNvSpPr/>
          <p:nvPr/>
        </p:nvSpPr>
        <p:spPr>
          <a:xfrm>
            <a:off x="3848551" y="1623612"/>
            <a:ext cx="1082550"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32" name="Shape 28"/>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FFFFFF">
              <a:alpha val="0"/>
            </a:srgbClr>
          </a:solidFill>
          <a:ln/>
        </p:spPr>
      </p:sp>
      <p:sp>
        <p:nvSpPr>
          <p:cNvPr id="33" name="Text 29"/>
          <p:cNvSpPr/>
          <p:nvPr/>
        </p:nvSpPr>
        <p:spPr>
          <a:xfrm>
            <a:off x="3848551" y="1623612"/>
            <a:ext cx="1082550" cy="552450"/>
          </a:xfrm>
          <a:prstGeom prst="rect">
            <a:avLst/>
          </a:prstGeom>
          <a:noFill/>
          <a:ln/>
        </p:spPr>
        <p:txBody>
          <a:bodyPr wrap="square" rtlCol="0" anchor="t"/>
          <a:lstStyle/>
          <a:p>
            <a:pPr indent="0" marL="0">
              <a:spcBef>
                <a:spcPts val="375"/>
              </a:spcBef>
              <a:buNone/>
            </a:pPr>
            <a:endParaRPr lang="en-US" sz="1050" dirty="0"/>
          </a:p>
        </p:txBody>
      </p:sp>
      <p:sp>
        <p:nvSpPr>
          <p:cNvPr id="34" name="Shape 30"/>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000000">
              <a:alpha val="0"/>
            </a:srgbClr>
          </a:solidFill>
          <a:ln/>
        </p:spPr>
      </p:sp>
      <p:sp>
        <p:nvSpPr>
          <p:cNvPr id="35" name="Text 31"/>
          <p:cNvSpPr/>
          <p:nvPr/>
        </p:nvSpPr>
        <p:spPr>
          <a:xfrm>
            <a:off x="3848551" y="1623612"/>
            <a:ext cx="1082550"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Dengiz kuchlari</a:t>
            </a:r>
            <a:endParaRPr lang="en-US" sz="1050" dirty="0"/>
          </a:p>
        </p:txBody>
      </p:sp>
      <p:sp>
        <p:nvSpPr>
          <p:cNvPr id="36" name="Shape 32"/>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FFFFFF">
              <a:alpha val="0"/>
            </a:srgbClr>
          </a:solidFill>
          <a:ln/>
        </p:spPr>
      </p:sp>
      <p:sp>
        <p:nvSpPr>
          <p:cNvPr id="37" name="Text 33"/>
          <p:cNvSpPr/>
          <p:nvPr/>
        </p:nvSpPr>
        <p:spPr>
          <a:xfrm>
            <a:off x="2875893" y="3311188"/>
            <a:ext cx="2968866" cy="552450"/>
          </a:xfrm>
          <a:prstGeom prst="rect">
            <a:avLst/>
          </a:prstGeom>
          <a:noFill/>
          <a:ln/>
        </p:spPr>
        <p:txBody>
          <a:bodyPr wrap="square" rtlCol="0" anchor="t"/>
          <a:lstStyle/>
          <a:p>
            <a:pPr indent="0" marL="0">
              <a:spcBef>
                <a:spcPts val="375"/>
              </a:spcBef>
              <a:buNone/>
            </a:pPr>
            <a:endParaRPr lang="en-US" sz="1050" dirty="0"/>
          </a:p>
        </p:txBody>
      </p:sp>
      <p:sp>
        <p:nvSpPr>
          <p:cNvPr id="38" name="Shape 34"/>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000000">
              <a:alpha val="0"/>
            </a:srgbClr>
          </a:solidFill>
          <a:ln/>
        </p:spPr>
      </p:sp>
      <p:sp>
        <p:nvSpPr>
          <p:cNvPr id="39" name="Text 35"/>
          <p:cNvSpPr/>
          <p:nvPr/>
        </p:nvSpPr>
        <p:spPr>
          <a:xfrm>
            <a:off x="2875893" y="3311188"/>
            <a:ext cx="2968866"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40" name="Shape 36"/>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FFFFFF">
              <a:alpha val="0"/>
            </a:srgbClr>
          </a:solidFill>
          <a:ln/>
        </p:spPr>
      </p:sp>
      <p:sp>
        <p:nvSpPr>
          <p:cNvPr id="41" name="Text 37"/>
          <p:cNvSpPr/>
          <p:nvPr/>
        </p:nvSpPr>
        <p:spPr>
          <a:xfrm>
            <a:off x="2875893" y="3311188"/>
            <a:ext cx="2968866" cy="552450"/>
          </a:xfrm>
          <a:prstGeom prst="rect">
            <a:avLst/>
          </a:prstGeom>
          <a:noFill/>
          <a:ln/>
        </p:spPr>
        <p:txBody>
          <a:bodyPr wrap="square" rtlCol="0" anchor="t"/>
          <a:lstStyle/>
          <a:p>
            <a:pPr indent="0" marL="0">
              <a:spcBef>
                <a:spcPts val="375"/>
              </a:spcBef>
              <a:buNone/>
            </a:pPr>
            <a:endParaRPr lang="en-US" sz="1050" dirty="0"/>
          </a:p>
        </p:txBody>
      </p:sp>
      <p:sp>
        <p:nvSpPr>
          <p:cNvPr id="42" name="Shape 38"/>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000000">
              <a:alpha val="0"/>
            </a:srgbClr>
          </a:solidFill>
          <a:ln/>
        </p:spPr>
      </p:sp>
      <p:sp>
        <p:nvSpPr>
          <p:cNvPr id="43" name="Text 39"/>
          <p:cNvSpPr/>
          <p:nvPr/>
        </p:nvSpPr>
        <p:spPr>
          <a:xfrm>
            <a:off x="2875893" y="3311188"/>
            <a:ext cx="2968866"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Maxsus kuchlar</a:t>
            </a:r>
            <a:endParaRPr lang="en-US" sz="1050" dirty="0"/>
          </a:p>
        </p:txBody>
      </p:sp>
      <p:sp>
        <p:nvSpPr>
          <p:cNvPr id="44" name="Shape 40"/>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FFFFFF">
              <a:alpha val="0"/>
            </a:srgbClr>
          </a:solidFill>
          <a:ln/>
        </p:spPr>
      </p:sp>
      <p:sp>
        <p:nvSpPr>
          <p:cNvPr id="45" name="Text 41"/>
          <p:cNvSpPr/>
          <p:nvPr/>
        </p:nvSpPr>
        <p:spPr>
          <a:xfrm>
            <a:off x="705902" y="2176061"/>
            <a:ext cx="1890959" cy="932710"/>
          </a:xfrm>
          <a:prstGeom prst="rect">
            <a:avLst/>
          </a:prstGeom>
          <a:noFill/>
          <a:ln/>
        </p:spPr>
        <p:txBody>
          <a:bodyPr wrap="square" rtlCol="0" anchor="t"/>
          <a:lstStyle/>
          <a:p>
            <a:pPr indent="0" marL="0">
              <a:spcBef>
                <a:spcPts val="375"/>
              </a:spcBef>
              <a:buNone/>
            </a:pPr>
            <a:endParaRPr lang="en-US" sz="1050" dirty="0"/>
          </a:p>
        </p:txBody>
      </p:sp>
      <p:sp>
        <p:nvSpPr>
          <p:cNvPr id="46" name="Shape 42"/>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000000">
              <a:alpha val="0"/>
            </a:srgbClr>
          </a:solidFill>
          <a:ln/>
        </p:spPr>
      </p:sp>
      <p:sp>
        <p:nvSpPr>
          <p:cNvPr id="47" name="Text 43"/>
          <p:cNvSpPr/>
          <p:nvPr/>
        </p:nvSpPr>
        <p:spPr>
          <a:xfrm>
            <a:off x="705902" y="2176061"/>
            <a:ext cx="1890959" cy="93271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48" name="Shape 44"/>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FFFFFF">
              <a:alpha val="0"/>
            </a:srgbClr>
          </a:solidFill>
          <a:ln/>
        </p:spPr>
      </p:sp>
      <p:sp>
        <p:nvSpPr>
          <p:cNvPr id="49" name="Text 45"/>
          <p:cNvSpPr/>
          <p:nvPr/>
        </p:nvSpPr>
        <p:spPr>
          <a:xfrm>
            <a:off x="705902" y="2176061"/>
            <a:ext cx="1890959" cy="932710"/>
          </a:xfrm>
          <a:prstGeom prst="rect">
            <a:avLst/>
          </a:prstGeom>
          <a:noFill/>
          <a:ln/>
        </p:spPr>
        <p:txBody>
          <a:bodyPr wrap="square" rtlCol="0" anchor="t"/>
          <a:lstStyle/>
          <a:p>
            <a:pPr indent="0" marL="0">
              <a:spcBef>
                <a:spcPts val="375"/>
              </a:spcBef>
              <a:buNone/>
            </a:pPr>
            <a:endParaRPr lang="en-US" sz="1050" dirty="0"/>
          </a:p>
        </p:txBody>
      </p:sp>
      <p:sp>
        <p:nvSpPr>
          <p:cNvPr id="50" name="Shape 46"/>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000000">
              <a:alpha val="0"/>
            </a:srgbClr>
          </a:solidFill>
          <a:ln/>
        </p:spPr>
      </p:sp>
      <p:sp>
        <p:nvSpPr>
          <p:cNvPr id="51" name="Text 47"/>
          <p:cNvSpPr/>
          <p:nvPr/>
        </p:nvSpPr>
        <p:spPr>
          <a:xfrm>
            <a:off x="705902" y="2176061"/>
            <a:ext cx="1890959" cy="932710"/>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O'zbekiston armiyasi milliy xavfsizlikni ta'minlash, davlat chegarasini himoya qilish va ichki tartibni saqlash uchun tashkil etilgan.</a:t>
            </a:r>
            <a:endParaRPr lang="en-US" sz="1050" dirty="0"/>
          </a:p>
        </p:txBody>
      </p:sp>
      <p:sp>
        <p:nvSpPr>
          <p:cNvPr id="52" name="Shape 48"/>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FFFFFF">
              <a:alpha val="0"/>
            </a:srgbClr>
          </a:solidFill>
          <a:ln/>
        </p:spPr>
      </p:sp>
      <p:sp>
        <p:nvSpPr>
          <p:cNvPr id="53" name="Text 49"/>
          <p:cNvSpPr/>
          <p:nvPr/>
        </p:nvSpPr>
        <p:spPr>
          <a:xfrm>
            <a:off x="705902" y="3917979"/>
            <a:ext cx="1713750" cy="1225521"/>
          </a:xfrm>
          <a:prstGeom prst="rect">
            <a:avLst/>
          </a:prstGeom>
          <a:noFill/>
          <a:ln/>
        </p:spPr>
        <p:txBody>
          <a:bodyPr wrap="square" rtlCol="0" anchor="t"/>
          <a:lstStyle/>
          <a:p>
            <a:pPr indent="0" marL="0">
              <a:spcBef>
                <a:spcPts val="375"/>
              </a:spcBef>
              <a:buNone/>
            </a:pPr>
            <a:endParaRPr lang="en-US" sz="1050" dirty="0"/>
          </a:p>
        </p:txBody>
      </p:sp>
      <p:sp>
        <p:nvSpPr>
          <p:cNvPr id="54" name="Shape 50"/>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000000">
              <a:alpha val="0"/>
            </a:srgbClr>
          </a:solidFill>
          <a:ln/>
        </p:spPr>
      </p:sp>
      <p:sp>
        <p:nvSpPr>
          <p:cNvPr id="55" name="Text 51"/>
          <p:cNvSpPr/>
          <p:nvPr/>
        </p:nvSpPr>
        <p:spPr>
          <a:xfrm>
            <a:off x="705902" y="3917979"/>
            <a:ext cx="1713750" cy="122552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56" name="Shape 52"/>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FFFFFF">
              <a:alpha val="0"/>
            </a:srgbClr>
          </a:solidFill>
          <a:ln/>
        </p:spPr>
      </p:sp>
      <p:sp>
        <p:nvSpPr>
          <p:cNvPr id="57" name="Text 53"/>
          <p:cNvSpPr/>
          <p:nvPr/>
        </p:nvSpPr>
        <p:spPr>
          <a:xfrm>
            <a:off x="705902" y="3917979"/>
            <a:ext cx="1713750" cy="1225521"/>
          </a:xfrm>
          <a:prstGeom prst="rect">
            <a:avLst/>
          </a:prstGeom>
          <a:noFill/>
          <a:ln/>
        </p:spPr>
        <p:txBody>
          <a:bodyPr wrap="square" rtlCol="0" anchor="t"/>
          <a:lstStyle/>
          <a:p>
            <a:pPr indent="0" marL="0">
              <a:spcBef>
                <a:spcPts val="375"/>
              </a:spcBef>
              <a:buNone/>
            </a:pPr>
            <a:endParaRPr lang="en-US" sz="1050" dirty="0"/>
          </a:p>
        </p:txBody>
      </p:sp>
      <p:sp>
        <p:nvSpPr>
          <p:cNvPr id="58" name="Shape 54"/>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000000">
              <a:alpha val="0"/>
            </a:srgbClr>
          </a:solidFill>
          <a:ln/>
        </p:spPr>
      </p:sp>
      <p:sp>
        <p:nvSpPr>
          <p:cNvPr id="59" name="Text 55"/>
          <p:cNvSpPr/>
          <p:nvPr/>
        </p:nvSpPr>
        <p:spPr>
          <a:xfrm>
            <a:off x="705902" y="3917979"/>
            <a:ext cx="1713750" cy="1225521"/>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Armiyaning asosiy vazifalari ichki va tashqi tahdidlarga qarshi kurash, tinchlikni saqlash va xalqaro missiyalarda ishtirok etishni o'z ichiga oladi.</a:t>
            </a:r>
            <a:endParaRPr lang="en-US" sz="1050" dirty="0"/>
          </a:p>
        </p:txBody>
      </p:sp>
      <p:sp>
        <p:nvSpPr>
          <p:cNvPr id="60" name="Shape 56"/>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FFFFFF">
              <a:alpha val="0"/>
            </a:srgbClr>
          </a:solidFill>
          <a:ln/>
        </p:spPr>
      </p:sp>
      <p:sp>
        <p:nvSpPr>
          <p:cNvPr id="61" name="Text 57"/>
          <p:cNvSpPr/>
          <p:nvPr/>
        </p:nvSpPr>
        <p:spPr>
          <a:xfrm>
            <a:off x="3532953" y="3917979"/>
            <a:ext cx="1926401" cy="1225521"/>
          </a:xfrm>
          <a:prstGeom prst="rect">
            <a:avLst/>
          </a:prstGeom>
          <a:noFill/>
          <a:ln/>
        </p:spPr>
        <p:txBody>
          <a:bodyPr wrap="square" rtlCol="0" anchor="t"/>
          <a:lstStyle/>
          <a:p>
            <a:pPr indent="0" marL="0">
              <a:spcBef>
                <a:spcPts val="375"/>
              </a:spcBef>
              <a:buNone/>
            </a:pPr>
            <a:endParaRPr lang="en-US" sz="1050" dirty="0"/>
          </a:p>
        </p:txBody>
      </p:sp>
      <p:sp>
        <p:nvSpPr>
          <p:cNvPr id="62" name="Shape 58"/>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000000">
              <a:alpha val="0"/>
            </a:srgbClr>
          </a:solidFill>
          <a:ln/>
        </p:spPr>
      </p:sp>
      <p:sp>
        <p:nvSpPr>
          <p:cNvPr id="63" name="Text 59"/>
          <p:cNvSpPr/>
          <p:nvPr/>
        </p:nvSpPr>
        <p:spPr>
          <a:xfrm>
            <a:off x="3532953" y="3917979"/>
            <a:ext cx="1926401" cy="122552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64" name="Shape 60"/>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FFFFFF">
              <a:alpha val="0"/>
            </a:srgbClr>
          </a:solidFill>
          <a:ln/>
        </p:spPr>
      </p:sp>
      <p:sp>
        <p:nvSpPr>
          <p:cNvPr id="65" name="Text 61"/>
          <p:cNvSpPr/>
          <p:nvPr/>
        </p:nvSpPr>
        <p:spPr>
          <a:xfrm>
            <a:off x="3532953" y="3917979"/>
            <a:ext cx="1926401" cy="1225521"/>
          </a:xfrm>
          <a:prstGeom prst="rect">
            <a:avLst/>
          </a:prstGeom>
          <a:noFill/>
          <a:ln/>
        </p:spPr>
        <p:txBody>
          <a:bodyPr wrap="square" rtlCol="0" anchor="t"/>
          <a:lstStyle/>
          <a:p>
            <a:pPr indent="0" marL="0">
              <a:spcBef>
                <a:spcPts val="375"/>
              </a:spcBef>
              <a:buNone/>
            </a:pPr>
            <a:endParaRPr lang="en-US" sz="1050" dirty="0"/>
          </a:p>
        </p:txBody>
      </p:sp>
      <p:sp>
        <p:nvSpPr>
          <p:cNvPr id="66" name="Shape 62"/>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000000">
              <a:alpha val="0"/>
            </a:srgbClr>
          </a:solidFill>
          <a:ln/>
        </p:spPr>
      </p:sp>
      <p:sp>
        <p:nvSpPr>
          <p:cNvPr id="67" name="Text 63"/>
          <p:cNvSpPr/>
          <p:nvPr/>
        </p:nvSpPr>
        <p:spPr>
          <a:xfrm>
            <a:off x="3532953" y="3917979"/>
            <a:ext cx="1926401" cy="1225521"/>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O'zbekiston armiyasi zamonaviy qurollar va texnologiyalar bilan jihozlangan. Harbiy tayyorgarlik va ma'lumotlarni oshirish ustuvor vazifalardir.</a:t>
            </a:r>
            <a:endParaRPr lang="en-US" sz="1050" dirty="0"/>
          </a:p>
        </p:txBody>
      </p:sp>
      <p:sp>
        <p:nvSpPr>
          <p:cNvPr id="68" name="Shape 64"/>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FFFFFF">
              <a:alpha val="0"/>
            </a:srgbClr>
          </a:solidFill>
          <a:ln/>
        </p:spPr>
      </p:sp>
      <p:sp>
        <p:nvSpPr>
          <p:cNvPr id="69" name="Text 65"/>
          <p:cNvSpPr/>
          <p:nvPr/>
        </p:nvSpPr>
        <p:spPr>
          <a:xfrm>
            <a:off x="3473884" y="2053192"/>
            <a:ext cx="2079983" cy="866556"/>
          </a:xfrm>
          <a:prstGeom prst="rect">
            <a:avLst/>
          </a:prstGeom>
          <a:noFill/>
          <a:ln/>
        </p:spPr>
        <p:txBody>
          <a:bodyPr wrap="square" rtlCol="0" anchor="t"/>
          <a:lstStyle/>
          <a:p>
            <a:pPr indent="0" marL="0">
              <a:spcBef>
                <a:spcPts val="375"/>
              </a:spcBef>
              <a:buNone/>
            </a:pPr>
            <a:endParaRPr lang="en-US" sz="1050" dirty="0"/>
          </a:p>
        </p:txBody>
      </p:sp>
      <p:sp>
        <p:nvSpPr>
          <p:cNvPr id="70" name="Shape 66"/>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000000">
              <a:alpha val="0"/>
            </a:srgbClr>
          </a:solidFill>
          <a:ln/>
        </p:spPr>
      </p:sp>
      <p:sp>
        <p:nvSpPr>
          <p:cNvPr id="71" name="Text 67"/>
          <p:cNvSpPr/>
          <p:nvPr/>
        </p:nvSpPr>
        <p:spPr>
          <a:xfrm>
            <a:off x="3473884" y="2053192"/>
            <a:ext cx="2079983" cy="8665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72" name="Shape 68"/>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FFFFFF">
              <a:alpha val="0"/>
            </a:srgbClr>
          </a:solidFill>
          <a:ln/>
        </p:spPr>
      </p:sp>
      <p:sp>
        <p:nvSpPr>
          <p:cNvPr id="73" name="Text 69"/>
          <p:cNvSpPr/>
          <p:nvPr/>
        </p:nvSpPr>
        <p:spPr>
          <a:xfrm>
            <a:off x="3473884" y="2053192"/>
            <a:ext cx="2079983" cy="866556"/>
          </a:xfrm>
          <a:prstGeom prst="rect">
            <a:avLst/>
          </a:prstGeom>
          <a:noFill/>
          <a:ln/>
        </p:spPr>
        <p:txBody>
          <a:bodyPr wrap="square" rtlCol="0" anchor="t"/>
          <a:lstStyle/>
          <a:p>
            <a:pPr indent="0" marL="0">
              <a:spcBef>
                <a:spcPts val="375"/>
              </a:spcBef>
              <a:buNone/>
            </a:pPr>
            <a:endParaRPr lang="en-US" sz="1050" dirty="0"/>
          </a:p>
        </p:txBody>
      </p:sp>
      <p:sp>
        <p:nvSpPr>
          <p:cNvPr id="74" name="Shape 70"/>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000000">
              <a:alpha val="0"/>
            </a:srgbClr>
          </a:solidFill>
          <a:ln/>
        </p:spPr>
      </p:sp>
      <p:sp>
        <p:nvSpPr>
          <p:cNvPr id="75" name="Text 71"/>
          <p:cNvSpPr/>
          <p:nvPr/>
        </p:nvSpPr>
        <p:spPr>
          <a:xfrm>
            <a:off x="3473884" y="2053192"/>
            <a:ext cx="2079983" cy="866556"/>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Milliy armiyaning rivojlanishi va harbiy qobiliyatlarini oshirish uchun doimiy ravishda yangi dasturlar va loyihalar amalga oshirilmoqda.</a:t>
            </a:r>
            <a:endParaRPr lang="en-US" sz="1050" dirty="0"/>
          </a:p>
        </p:txBody>
      </p:sp>
      <p:sp>
        <p:nvSpPr>
          <p:cNvPr id="76" name="Shape 72"/>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FFFFFF">
              <a:alpha val="0"/>
            </a:srgbClr>
          </a:solidFill>
          <a:ln/>
        </p:spPr>
      </p:sp>
      <p:sp>
        <p:nvSpPr>
          <p:cNvPr id="77" name="Text 73"/>
          <p:cNvSpPr/>
          <p:nvPr/>
        </p:nvSpPr>
        <p:spPr>
          <a:xfrm>
            <a:off x="0" y="0"/>
            <a:ext cx="2857500" cy="238125"/>
          </a:xfrm>
          <a:prstGeom prst="rect">
            <a:avLst/>
          </a:prstGeom>
          <a:noFill/>
          <a:ln/>
        </p:spPr>
        <p:txBody>
          <a:bodyPr wrap="square" rtlCol="0" anchor="t"/>
          <a:lstStyle/>
          <a:p>
            <a:pPr indent="0" marL="0">
              <a:spcBef>
                <a:spcPts val="375"/>
              </a:spcBef>
              <a:buNone/>
            </a:pPr>
            <a:endParaRPr lang="en-US" sz="1050" dirty="0"/>
          </a:p>
        </p:txBody>
      </p:sp>
      <p:sp>
        <p:nvSpPr>
          <p:cNvPr id="78" name="Shape 74"/>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000000">
              <a:alpha val="0"/>
            </a:srgbClr>
          </a:solidFill>
          <a:ln/>
        </p:spPr>
      </p:sp>
      <p:sp>
        <p:nvSpPr>
          <p:cNvPr id="79" name="Text 75"/>
          <p:cNvSpPr/>
          <p:nvPr/>
        </p:nvSpPr>
        <p:spPr>
          <a:xfrm>
            <a:off x="0" y="0"/>
            <a:ext cx="2857500" cy="238125"/>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0" name="Shape 76"/>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FFFFFF">
              <a:alpha val="0"/>
            </a:srgbClr>
          </a:solidFill>
          <a:ln/>
        </p:spPr>
      </p:sp>
      <p:sp>
        <p:nvSpPr>
          <p:cNvPr id="81" name="Text 77"/>
          <p:cNvSpPr/>
          <p:nvPr/>
        </p:nvSpPr>
        <p:spPr>
          <a:xfrm>
            <a:off x="0" y="0"/>
            <a:ext cx="2857500" cy="238125"/>
          </a:xfrm>
          <a:prstGeom prst="rect">
            <a:avLst/>
          </a:prstGeom>
          <a:noFill/>
          <a:ln/>
        </p:spPr>
        <p:txBody>
          <a:bodyPr wrap="square" rtlCol="0" anchor="t"/>
          <a:lstStyle/>
          <a:p>
            <a:pPr indent="0" marL="0">
              <a:spcBef>
                <a:spcPts val="375"/>
              </a:spcBef>
              <a:buNone/>
            </a:pPr>
            <a:endParaRPr lang="en-US" sz="1050" dirty="0"/>
          </a:p>
        </p:txBody>
      </p:sp>
      <p:sp>
        <p:nvSpPr>
          <p:cNvPr id="82" name="Shape 78"/>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000000">
              <a:alpha val="0"/>
            </a:srgbClr>
          </a:solidFill>
          <a:ln/>
        </p:spPr>
      </p:sp>
      <p:sp>
        <p:nvSpPr>
          <p:cNvPr id="83" name="Text 79"/>
          <p:cNvSpPr/>
          <p:nvPr/>
        </p:nvSpPr>
        <p:spPr>
          <a:xfrm>
            <a:off x="0" y="0"/>
            <a:ext cx="2857500" cy="238125"/>
          </a:xfrm>
          <a:prstGeom prst="rect">
            <a:avLst/>
          </a:prstGeom>
          <a:noFill/>
          <a:ln/>
        </p:spPr>
        <p:txBody>
          <a:bodyPr wrap="square" rtlCol="0" anchor="t"/>
          <a:lstStyle/>
          <a:p>
            <a:pPr algn="l" indent="0" marL="0">
              <a:spcBef>
                <a:spcPts val="375"/>
              </a:spcBef>
              <a:buNone/>
            </a:pPr>
            <a:r>
              <a:rPr lang="en-US" sz="600" dirty="0">
                <a:solidFill>
                  <a:srgbClr val="333333"/>
                </a:solidFill>
                <a:latin typeface="微软雅黑" pitchFamily="34" charset="0"/>
                <a:ea typeface="微软雅黑" pitchFamily="34" charset="-122"/>
                <a:cs typeface="微软雅黑" pitchFamily="34" charset="-120"/>
              </a:rPr>
              <a:t>Armiyaning vazifalari va roli</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1F1"/>
        </a:solidFill>
      </p:bgPr>
    </p:bg>
    <p:spTree>
      <p:nvGrpSpPr>
        <p:cNvPr id="1" name=""/>
        <p:cNvGrpSpPr/>
        <p:nvPr/>
      </p:nvGrpSpPr>
      <p:grpSpPr>
        <a:xfrm>
          <a:off x="0" y="0"/>
          <a:ext cx="0" cy="0"/>
          <a:chOff x="0" y="0"/>
          <a:chExt cx="0" cy="0"/>
        </a:xfrm>
      </p:grpSpPr>
      <p:pic>
        <p:nvPicPr>
          <p:cNvPr id="2" name="Image 0" descr="./images\slide6_img44.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images\slide6_img45.png">    </p:cNvPr>
          <p:cNvPicPr>
            <a:picLocks noChangeAspect="1"/>
          </p:cNvPicPr>
          <p:nvPr/>
        </p:nvPicPr>
        <p:blipFill>
          <a:blip r:embed="rId2"/>
          <a:stretch>
            <a:fillRect/>
          </a:stretch>
        </p:blipFill>
        <p:spPr>
          <a:xfrm>
            <a:off x="419387" y="1645896"/>
            <a:ext cx="2957551" cy="3098256"/>
          </a:xfrm>
          <a:prstGeom prst="rect">
            <a:avLst/>
          </a:prstGeom>
        </p:spPr>
      </p:pic>
      <p:sp>
        <p:nvSpPr>
          <p:cNvPr id="4" name="Shape 0"/>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FFFFFF">
              <a:alpha val="0"/>
            </a:srgbClr>
          </a:solidFill>
          <a:ln/>
        </p:spPr>
      </p:sp>
      <p:sp>
        <p:nvSpPr>
          <p:cNvPr id="5" name="Text 1"/>
          <p:cNvSpPr/>
          <p:nvPr/>
        </p:nvSpPr>
        <p:spPr>
          <a:xfrm>
            <a:off x="419387" y="1645896"/>
            <a:ext cx="2957551" cy="3098256"/>
          </a:xfrm>
          <a:prstGeom prst="rect">
            <a:avLst/>
          </a:prstGeom>
          <a:noFill/>
          <a:ln/>
        </p:spPr>
        <p:txBody>
          <a:bodyPr wrap="square" rtlCol="0" anchor="t"/>
          <a:lstStyle/>
          <a:p>
            <a:pPr indent="0" marL="0">
              <a:spcBef>
                <a:spcPts val="375"/>
              </a:spcBef>
              <a:buNone/>
            </a:pPr>
            <a:endParaRPr lang="en-US" sz="1050" dirty="0"/>
          </a:p>
        </p:txBody>
      </p:sp>
      <p:sp>
        <p:nvSpPr>
          <p:cNvPr id="6" name="Shape 2"/>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7" name="Text 3"/>
          <p:cNvSpPr/>
          <p:nvPr/>
        </p:nvSpPr>
        <p:spPr>
          <a:xfrm>
            <a:off x="419387" y="1645896"/>
            <a:ext cx="2957551" cy="30982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 name="Shape 4"/>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FFFFFF">
              <a:alpha val="0"/>
            </a:srgbClr>
          </a:solidFill>
          <a:ln/>
        </p:spPr>
      </p:sp>
      <p:sp>
        <p:nvSpPr>
          <p:cNvPr id="9" name="Text 5"/>
          <p:cNvSpPr/>
          <p:nvPr/>
        </p:nvSpPr>
        <p:spPr>
          <a:xfrm>
            <a:off x="419387" y="1645896"/>
            <a:ext cx="2957551" cy="3098256"/>
          </a:xfrm>
          <a:prstGeom prst="rect">
            <a:avLst/>
          </a:prstGeom>
          <a:noFill/>
          <a:ln/>
        </p:spPr>
        <p:txBody>
          <a:bodyPr wrap="square" rtlCol="0" anchor="t"/>
          <a:lstStyle/>
          <a:p>
            <a:pPr indent="0" marL="0">
              <a:spcBef>
                <a:spcPts val="375"/>
              </a:spcBef>
              <a:buNone/>
            </a:pPr>
            <a:endParaRPr lang="en-US" sz="1050" dirty="0"/>
          </a:p>
        </p:txBody>
      </p:sp>
      <p:sp>
        <p:nvSpPr>
          <p:cNvPr id="10" name="Shape 6"/>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11" name="Text 7"/>
          <p:cNvSpPr/>
          <p:nvPr/>
        </p:nvSpPr>
        <p:spPr>
          <a:xfrm>
            <a:off x="419387" y="1645896"/>
            <a:ext cx="2957551" cy="30982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12" name="Image 2" descr="./images\slide6_img46.png">    </p:cNvPr>
          <p:cNvPicPr>
            <a:picLocks noChangeAspect="1"/>
          </p:cNvPicPr>
          <p:nvPr/>
        </p:nvPicPr>
        <p:blipFill>
          <a:blip r:embed="rId3"/>
          <a:stretch>
            <a:fillRect/>
          </a:stretch>
        </p:blipFill>
        <p:spPr>
          <a:xfrm>
            <a:off x="419387" y="1645896"/>
            <a:ext cx="2957551" cy="3098256"/>
          </a:xfrm>
          <a:prstGeom prst="rect">
            <a:avLst/>
          </a:prstGeom>
        </p:spPr>
      </p:pic>
      <p:pic>
        <p:nvPicPr>
          <p:cNvPr id="13" name="Image 3" descr="./images\slide6_img47.png">    </p:cNvPr>
          <p:cNvPicPr>
            <a:picLocks noChangeAspect="1"/>
          </p:cNvPicPr>
          <p:nvPr/>
        </p:nvPicPr>
        <p:blipFill>
          <a:blip r:embed="rId4"/>
          <a:stretch>
            <a:fillRect/>
          </a:stretch>
        </p:blipFill>
        <p:spPr>
          <a:xfrm>
            <a:off x="1614449" y="1645896"/>
            <a:ext cx="2957551" cy="3098256"/>
          </a:xfrm>
          <a:prstGeom prst="rect">
            <a:avLst/>
          </a:prstGeom>
        </p:spPr>
      </p:pic>
      <p:sp>
        <p:nvSpPr>
          <p:cNvPr id="14" name="Shape 8"/>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FFFFFF">
              <a:alpha val="0"/>
            </a:srgbClr>
          </a:solidFill>
          <a:ln/>
        </p:spPr>
      </p:sp>
      <p:sp>
        <p:nvSpPr>
          <p:cNvPr id="15" name="Text 9"/>
          <p:cNvSpPr/>
          <p:nvPr/>
        </p:nvSpPr>
        <p:spPr>
          <a:xfrm>
            <a:off x="1614449" y="1645896"/>
            <a:ext cx="2957551" cy="3098256"/>
          </a:xfrm>
          <a:prstGeom prst="rect">
            <a:avLst/>
          </a:prstGeom>
          <a:noFill/>
          <a:ln/>
        </p:spPr>
        <p:txBody>
          <a:bodyPr wrap="square" rtlCol="0" anchor="t"/>
          <a:lstStyle/>
          <a:p>
            <a:pPr indent="0" marL="0">
              <a:spcBef>
                <a:spcPts val="375"/>
              </a:spcBef>
              <a:buNone/>
            </a:pPr>
            <a:endParaRPr lang="en-US" sz="1050" dirty="0"/>
          </a:p>
        </p:txBody>
      </p:sp>
      <p:sp>
        <p:nvSpPr>
          <p:cNvPr id="16" name="Shape 10"/>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17" name="Text 11"/>
          <p:cNvSpPr/>
          <p:nvPr/>
        </p:nvSpPr>
        <p:spPr>
          <a:xfrm>
            <a:off x="1614449" y="1645896"/>
            <a:ext cx="2957551" cy="30982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8" name="Shape 12"/>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FFFFFF">
              <a:alpha val="0"/>
            </a:srgbClr>
          </a:solidFill>
          <a:ln/>
        </p:spPr>
      </p:sp>
      <p:sp>
        <p:nvSpPr>
          <p:cNvPr id="19" name="Text 13"/>
          <p:cNvSpPr/>
          <p:nvPr/>
        </p:nvSpPr>
        <p:spPr>
          <a:xfrm>
            <a:off x="1614449" y="1645896"/>
            <a:ext cx="2957551" cy="3098256"/>
          </a:xfrm>
          <a:prstGeom prst="rect">
            <a:avLst/>
          </a:prstGeom>
          <a:noFill/>
          <a:ln/>
        </p:spPr>
        <p:txBody>
          <a:bodyPr wrap="square" rtlCol="0" anchor="t"/>
          <a:lstStyle/>
          <a:p>
            <a:pPr indent="0" marL="0">
              <a:spcBef>
                <a:spcPts val="375"/>
              </a:spcBef>
              <a:buNone/>
            </a:pPr>
            <a:endParaRPr lang="en-US" sz="1050" dirty="0"/>
          </a:p>
        </p:txBody>
      </p:sp>
      <p:sp>
        <p:nvSpPr>
          <p:cNvPr id="20" name="Shape 14"/>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21" name="Text 15"/>
          <p:cNvSpPr/>
          <p:nvPr/>
        </p:nvSpPr>
        <p:spPr>
          <a:xfrm>
            <a:off x="1614449" y="1645896"/>
            <a:ext cx="2957551" cy="30982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22" name="Image 4" descr="./images\slide6_img48.png">    </p:cNvPr>
          <p:cNvPicPr>
            <a:picLocks noChangeAspect="1"/>
          </p:cNvPicPr>
          <p:nvPr/>
        </p:nvPicPr>
        <p:blipFill>
          <a:blip r:embed="rId5"/>
          <a:stretch>
            <a:fillRect/>
          </a:stretch>
        </p:blipFill>
        <p:spPr>
          <a:xfrm>
            <a:off x="1614449" y="1645896"/>
            <a:ext cx="2957551" cy="3098256"/>
          </a:xfrm>
          <a:prstGeom prst="rect">
            <a:avLst/>
          </a:prstGeom>
        </p:spPr>
      </p:pic>
      <p:pic>
        <p:nvPicPr>
          <p:cNvPr id="23" name="Image 5" descr="./images\slide6_img49.jpeg">    </p:cNvPr>
          <p:cNvPicPr>
            <a:picLocks noChangeAspect="1"/>
          </p:cNvPicPr>
          <p:nvPr/>
        </p:nvPicPr>
        <p:blipFill>
          <a:blip r:embed="rId6"/>
          <a:srcRect l="2309" r="47694" t="0" b="45747"/>
          <a:stretch/>
        </p:blipFill>
        <p:spPr>
          <a:xfrm>
            <a:off x="534644" y="1797247"/>
            <a:ext cx="3551957" cy="2569595"/>
          </a:xfrm>
          <a:prstGeom prst="rect">
            <a:avLst/>
          </a:prstGeom>
        </p:spPr>
      </p:pic>
      <p:sp>
        <p:nvSpPr>
          <p:cNvPr id="24" name="Shape 16"/>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FFFFFF">
              <a:alpha val="0"/>
            </a:srgbClr>
          </a:solidFill>
          <a:ln/>
        </p:spPr>
      </p:sp>
      <p:sp>
        <p:nvSpPr>
          <p:cNvPr id="25" name="Text 17"/>
          <p:cNvSpPr/>
          <p:nvPr/>
        </p:nvSpPr>
        <p:spPr>
          <a:xfrm>
            <a:off x="874042" y="289968"/>
            <a:ext cx="7395900" cy="476250"/>
          </a:xfrm>
          <a:prstGeom prst="rect">
            <a:avLst/>
          </a:prstGeom>
          <a:noFill/>
          <a:ln/>
        </p:spPr>
        <p:txBody>
          <a:bodyPr wrap="square" rtlCol="0" anchor="t"/>
          <a:lstStyle/>
          <a:p>
            <a:pPr indent="0" marL="0">
              <a:spcBef>
                <a:spcPts val="375"/>
              </a:spcBef>
              <a:buNone/>
            </a:pPr>
            <a:endParaRPr lang="en-US" sz="1050" dirty="0"/>
          </a:p>
        </p:txBody>
      </p:sp>
      <p:sp>
        <p:nvSpPr>
          <p:cNvPr id="26" name="Shape 18"/>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000000">
              <a:alpha val="0"/>
            </a:srgbClr>
          </a:solidFill>
          <a:ln/>
        </p:spPr>
      </p:sp>
      <p:sp>
        <p:nvSpPr>
          <p:cNvPr id="27" name="Text 19"/>
          <p:cNvSpPr/>
          <p:nvPr/>
        </p:nvSpPr>
        <p:spPr>
          <a:xfrm>
            <a:off x="874042" y="289968"/>
            <a:ext cx="7395900"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8" name="Shape 20"/>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FFFFFF">
              <a:alpha val="0"/>
            </a:srgbClr>
          </a:solidFill>
          <a:ln/>
        </p:spPr>
      </p:sp>
      <p:sp>
        <p:nvSpPr>
          <p:cNvPr id="29" name="Text 21"/>
          <p:cNvSpPr/>
          <p:nvPr/>
        </p:nvSpPr>
        <p:spPr>
          <a:xfrm>
            <a:off x="874042" y="289968"/>
            <a:ext cx="7395900" cy="476250"/>
          </a:xfrm>
          <a:prstGeom prst="rect">
            <a:avLst/>
          </a:prstGeom>
          <a:noFill/>
          <a:ln/>
        </p:spPr>
        <p:txBody>
          <a:bodyPr wrap="square" rtlCol="0" anchor="t"/>
          <a:lstStyle/>
          <a:p>
            <a:pPr indent="0" marL="0">
              <a:spcBef>
                <a:spcPts val="375"/>
              </a:spcBef>
              <a:buNone/>
            </a:pPr>
            <a:endParaRPr lang="en-US" sz="1050" dirty="0"/>
          </a:p>
        </p:txBody>
      </p:sp>
      <p:sp>
        <p:nvSpPr>
          <p:cNvPr id="30" name="Shape 22"/>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000000">
              <a:alpha val="0"/>
            </a:srgbClr>
          </a:solidFill>
          <a:ln/>
        </p:spPr>
      </p:sp>
      <p:sp>
        <p:nvSpPr>
          <p:cNvPr id="31" name="Text 23"/>
          <p:cNvSpPr/>
          <p:nvPr/>
        </p:nvSpPr>
        <p:spPr>
          <a:xfrm>
            <a:off x="874042" y="289968"/>
            <a:ext cx="7395900"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Zamonaviy Harbiy Rivojlar</a:t>
            </a:r>
            <a:endParaRPr lang="en-US" sz="1050" dirty="0"/>
          </a:p>
        </p:txBody>
      </p:sp>
      <p:sp>
        <p:nvSpPr>
          <p:cNvPr id="32" name="Shape 24"/>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FFFFFF">
              <a:alpha val="0"/>
            </a:srgbClr>
          </a:solidFill>
          <a:ln/>
        </p:spPr>
      </p:sp>
      <p:sp>
        <p:nvSpPr>
          <p:cNvPr id="33" name="Text 25"/>
          <p:cNvSpPr/>
          <p:nvPr/>
        </p:nvSpPr>
        <p:spPr>
          <a:xfrm>
            <a:off x="4572000" y="1768209"/>
            <a:ext cx="1448190" cy="476250"/>
          </a:xfrm>
          <a:prstGeom prst="rect">
            <a:avLst/>
          </a:prstGeom>
          <a:noFill/>
          <a:ln/>
        </p:spPr>
        <p:txBody>
          <a:bodyPr wrap="square" rtlCol="0" anchor="t"/>
          <a:lstStyle/>
          <a:p>
            <a:pPr indent="0" marL="0">
              <a:spcBef>
                <a:spcPts val="375"/>
              </a:spcBef>
              <a:buNone/>
            </a:pPr>
            <a:endParaRPr lang="en-US" sz="1050" dirty="0"/>
          </a:p>
        </p:txBody>
      </p:sp>
      <p:sp>
        <p:nvSpPr>
          <p:cNvPr id="34" name="Shape 26"/>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000000">
              <a:alpha val="0"/>
            </a:srgbClr>
          </a:solidFill>
          <a:ln/>
        </p:spPr>
      </p:sp>
      <p:sp>
        <p:nvSpPr>
          <p:cNvPr id="35" name="Text 27"/>
          <p:cNvSpPr/>
          <p:nvPr/>
        </p:nvSpPr>
        <p:spPr>
          <a:xfrm>
            <a:off x="4572000" y="1768209"/>
            <a:ext cx="1448190"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36" name="Shape 28"/>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FFFFFF">
              <a:alpha val="0"/>
            </a:srgbClr>
          </a:solidFill>
          <a:ln/>
        </p:spPr>
      </p:sp>
      <p:sp>
        <p:nvSpPr>
          <p:cNvPr id="37" name="Text 29"/>
          <p:cNvSpPr/>
          <p:nvPr/>
        </p:nvSpPr>
        <p:spPr>
          <a:xfrm>
            <a:off x="4572000" y="1768209"/>
            <a:ext cx="1448190" cy="476250"/>
          </a:xfrm>
          <a:prstGeom prst="rect">
            <a:avLst/>
          </a:prstGeom>
          <a:noFill/>
          <a:ln/>
        </p:spPr>
        <p:txBody>
          <a:bodyPr wrap="square" rtlCol="0" anchor="t"/>
          <a:lstStyle/>
          <a:p>
            <a:pPr indent="0" marL="0">
              <a:spcBef>
                <a:spcPts val="375"/>
              </a:spcBef>
              <a:buNone/>
            </a:pPr>
            <a:endParaRPr lang="en-US" sz="1050" dirty="0"/>
          </a:p>
        </p:txBody>
      </p:sp>
      <p:sp>
        <p:nvSpPr>
          <p:cNvPr id="38" name="Shape 30"/>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000000">
              <a:alpha val="0"/>
            </a:srgbClr>
          </a:solidFill>
          <a:ln/>
        </p:spPr>
      </p:sp>
      <p:sp>
        <p:nvSpPr>
          <p:cNvPr id="39" name="Text 31"/>
          <p:cNvSpPr/>
          <p:nvPr/>
        </p:nvSpPr>
        <p:spPr>
          <a:xfrm>
            <a:off x="4572000" y="1768209"/>
            <a:ext cx="1448190"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Strategiya</a:t>
            </a:r>
            <a:endParaRPr lang="en-US" sz="1050" dirty="0"/>
          </a:p>
        </p:txBody>
      </p:sp>
      <p:sp>
        <p:nvSpPr>
          <p:cNvPr id="40" name="Shape 32"/>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FFFFFF">
              <a:alpha val="0"/>
            </a:srgbClr>
          </a:solidFill>
          <a:ln/>
        </p:spPr>
      </p:sp>
      <p:sp>
        <p:nvSpPr>
          <p:cNvPr id="41" name="Text 33"/>
          <p:cNvSpPr/>
          <p:nvPr/>
        </p:nvSpPr>
        <p:spPr>
          <a:xfrm>
            <a:off x="4572000" y="2582210"/>
            <a:ext cx="1319049" cy="476250"/>
          </a:xfrm>
          <a:prstGeom prst="rect">
            <a:avLst/>
          </a:prstGeom>
          <a:noFill/>
          <a:ln/>
        </p:spPr>
        <p:txBody>
          <a:bodyPr wrap="square" rtlCol="0" anchor="t"/>
          <a:lstStyle/>
          <a:p>
            <a:pPr indent="0" marL="0">
              <a:spcBef>
                <a:spcPts val="375"/>
              </a:spcBef>
              <a:buNone/>
            </a:pPr>
            <a:endParaRPr lang="en-US" sz="1050" dirty="0"/>
          </a:p>
        </p:txBody>
      </p:sp>
      <p:sp>
        <p:nvSpPr>
          <p:cNvPr id="42" name="Shape 34"/>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43" name="Text 35"/>
          <p:cNvSpPr/>
          <p:nvPr/>
        </p:nvSpPr>
        <p:spPr>
          <a:xfrm>
            <a:off x="4572000" y="2582210"/>
            <a:ext cx="1319049"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44" name="Shape 36"/>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FFFFFF">
              <a:alpha val="0"/>
            </a:srgbClr>
          </a:solidFill>
          <a:ln/>
        </p:spPr>
      </p:sp>
      <p:sp>
        <p:nvSpPr>
          <p:cNvPr id="45" name="Text 37"/>
          <p:cNvSpPr/>
          <p:nvPr/>
        </p:nvSpPr>
        <p:spPr>
          <a:xfrm>
            <a:off x="4572000" y="2582210"/>
            <a:ext cx="1319049" cy="476250"/>
          </a:xfrm>
          <a:prstGeom prst="rect">
            <a:avLst/>
          </a:prstGeom>
          <a:noFill/>
          <a:ln/>
        </p:spPr>
        <p:txBody>
          <a:bodyPr wrap="square" rtlCol="0" anchor="t"/>
          <a:lstStyle/>
          <a:p>
            <a:pPr indent="0" marL="0">
              <a:spcBef>
                <a:spcPts val="375"/>
              </a:spcBef>
              <a:buNone/>
            </a:pPr>
            <a:endParaRPr lang="en-US" sz="1050" dirty="0"/>
          </a:p>
        </p:txBody>
      </p:sp>
      <p:sp>
        <p:nvSpPr>
          <p:cNvPr id="46" name="Shape 38"/>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47" name="Text 39"/>
          <p:cNvSpPr/>
          <p:nvPr/>
        </p:nvSpPr>
        <p:spPr>
          <a:xfrm>
            <a:off x="4572000" y="2582210"/>
            <a:ext cx="1319049"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Rejalashtirish</a:t>
            </a:r>
            <a:endParaRPr lang="en-US" sz="1050" dirty="0"/>
          </a:p>
        </p:txBody>
      </p:sp>
      <p:sp>
        <p:nvSpPr>
          <p:cNvPr id="48" name="Shape 40"/>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FFFFFF">
              <a:alpha val="0"/>
            </a:srgbClr>
          </a:solidFill>
          <a:ln/>
        </p:spPr>
      </p:sp>
      <p:sp>
        <p:nvSpPr>
          <p:cNvPr id="49" name="Text 41"/>
          <p:cNvSpPr/>
          <p:nvPr/>
        </p:nvSpPr>
        <p:spPr>
          <a:xfrm>
            <a:off x="4572000" y="3663928"/>
            <a:ext cx="1319049" cy="476250"/>
          </a:xfrm>
          <a:prstGeom prst="rect">
            <a:avLst/>
          </a:prstGeom>
          <a:noFill/>
          <a:ln/>
        </p:spPr>
        <p:txBody>
          <a:bodyPr wrap="square" rtlCol="0" anchor="t"/>
          <a:lstStyle/>
          <a:p>
            <a:pPr indent="0" marL="0">
              <a:spcBef>
                <a:spcPts val="375"/>
              </a:spcBef>
              <a:buNone/>
            </a:pPr>
            <a:endParaRPr lang="en-US" sz="1050" dirty="0"/>
          </a:p>
        </p:txBody>
      </p:sp>
      <p:sp>
        <p:nvSpPr>
          <p:cNvPr id="50" name="Shape 42"/>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51" name="Text 43"/>
          <p:cNvSpPr/>
          <p:nvPr/>
        </p:nvSpPr>
        <p:spPr>
          <a:xfrm>
            <a:off x="4572000" y="3663928"/>
            <a:ext cx="1319049"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52" name="Shape 44"/>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FFFFFF">
              <a:alpha val="0"/>
            </a:srgbClr>
          </a:solidFill>
          <a:ln/>
        </p:spPr>
      </p:sp>
      <p:sp>
        <p:nvSpPr>
          <p:cNvPr id="53" name="Text 45"/>
          <p:cNvSpPr/>
          <p:nvPr/>
        </p:nvSpPr>
        <p:spPr>
          <a:xfrm>
            <a:off x="4572000" y="3663928"/>
            <a:ext cx="1319049" cy="476250"/>
          </a:xfrm>
          <a:prstGeom prst="rect">
            <a:avLst/>
          </a:prstGeom>
          <a:noFill/>
          <a:ln/>
        </p:spPr>
        <p:txBody>
          <a:bodyPr wrap="square" rtlCol="0" anchor="t"/>
          <a:lstStyle/>
          <a:p>
            <a:pPr indent="0" marL="0">
              <a:spcBef>
                <a:spcPts val="375"/>
              </a:spcBef>
              <a:buNone/>
            </a:pPr>
            <a:endParaRPr lang="en-US" sz="1050" dirty="0"/>
          </a:p>
        </p:txBody>
      </p:sp>
      <p:sp>
        <p:nvSpPr>
          <p:cNvPr id="54" name="Shape 46"/>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55" name="Text 47"/>
          <p:cNvSpPr/>
          <p:nvPr/>
        </p:nvSpPr>
        <p:spPr>
          <a:xfrm>
            <a:off x="4572000" y="3663928"/>
            <a:ext cx="1319049"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Yutuqlar</a:t>
            </a:r>
            <a:endParaRPr lang="en-US" sz="1050" dirty="0"/>
          </a:p>
        </p:txBody>
      </p:sp>
      <p:sp>
        <p:nvSpPr>
          <p:cNvPr id="56" name="Shape 48"/>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FFFFFF">
              <a:alpha val="0"/>
            </a:srgbClr>
          </a:solidFill>
          <a:ln/>
        </p:spPr>
      </p:sp>
      <p:sp>
        <p:nvSpPr>
          <p:cNvPr id="57" name="Text 49"/>
          <p:cNvSpPr/>
          <p:nvPr/>
        </p:nvSpPr>
        <p:spPr>
          <a:xfrm>
            <a:off x="6052785" y="1736990"/>
            <a:ext cx="3091215" cy="1016499"/>
          </a:xfrm>
          <a:prstGeom prst="rect">
            <a:avLst/>
          </a:prstGeom>
          <a:noFill/>
          <a:ln/>
        </p:spPr>
        <p:txBody>
          <a:bodyPr wrap="square" rtlCol="0" anchor="t"/>
          <a:lstStyle/>
          <a:p>
            <a:pPr indent="0" marL="0">
              <a:spcBef>
                <a:spcPts val="375"/>
              </a:spcBef>
              <a:buNone/>
            </a:pPr>
            <a:endParaRPr lang="en-US" sz="1050" dirty="0"/>
          </a:p>
        </p:txBody>
      </p:sp>
      <p:sp>
        <p:nvSpPr>
          <p:cNvPr id="58" name="Shape 50"/>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000000">
              <a:alpha val="0"/>
            </a:srgbClr>
          </a:solidFill>
          <a:ln/>
        </p:spPr>
      </p:sp>
      <p:sp>
        <p:nvSpPr>
          <p:cNvPr id="59" name="Text 51"/>
          <p:cNvSpPr/>
          <p:nvPr/>
        </p:nvSpPr>
        <p:spPr>
          <a:xfrm>
            <a:off x="6052785" y="1736990"/>
            <a:ext cx="3091215" cy="1016499"/>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60" name="Shape 52"/>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FFFFFF">
              <a:alpha val="0"/>
            </a:srgbClr>
          </a:solidFill>
          <a:ln/>
        </p:spPr>
      </p:sp>
      <p:sp>
        <p:nvSpPr>
          <p:cNvPr id="61" name="Text 53"/>
          <p:cNvSpPr/>
          <p:nvPr/>
        </p:nvSpPr>
        <p:spPr>
          <a:xfrm>
            <a:off x="6052785" y="1736990"/>
            <a:ext cx="3091215" cy="1016499"/>
          </a:xfrm>
          <a:prstGeom prst="rect">
            <a:avLst/>
          </a:prstGeom>
          <a:noFill/>
          <a:ln/>
        </p:spPr>
        <p:txBody>
          <a:bodyPr wrap="square" rtlCol="0" anchor="t"/>
          <a:lstStyle/>
          <a:p>
            <a:pPr indent="0" marL="0">
              <a:spcBef>
                <a:spcPts val="375"/>
              </a:spcBef>
              <a:buNone/>
            </a:pPr>
            <a:endParaRPr lang="en-US" sz="1050" dirty="0"/>
          </a:p>
        </p:txBody>
      </p:sp>
      <p:sp>
        <p:nvSpPr>
          <p:cNvPr id="62" name="Shape 54"/>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000000">
              <a:alpha val="0"/>
            </a:srgbClr>
          </a:solidFill>
          <a:ln/>
        </p:spPr>
      </p:sp>
      <p:sp>
        <p:nvSpPr>
          <p:cNvPr id="63" name="Text 55"/>
          <p:cNvSpPr/>
          <p:nvPr/>
        </p:nvSpPr>
        <p:spPr>
          <a:xfrm>
            <a:off x="6052785" y="1736990"/>
            <a:ext cx="3091215" cy="1016499"/>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O'zbekiston armiyasi zamonaviy texnologiyalarni joriy etib, jangovar tayyorgarlikni oshirishga qaratilgan strategiyalarni amalga oshirmoqda. Harbiy bilim va ko'nikmalarni takomillashtirish muhimdir.</a:t>
            </a:r>
            <a:endParaRPr lang="en-US" sz="1050" dirty="0"/>
          </a:p>
        </p:txBody>
      </p:sp>
      <p:sp>
        <p:nvSpPr>
          <p:cNvPr id="64" name="Shape 56"/>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FFFFFF">
              <a:alpha val="0"/>
            </a:srgbClr>
          </a:solidFill>
          <a:ln/>
        </p:spPr>
      </p:sp>
      <p:sp>
        <p:nvSpPr>
          <p:cNvPr id="65" name="Text 57"/>
          <p:cNvSpPr/>
          <p:nvPr/>
        </p:nvSpPr>
        <p:spPr>
          <a:xfrm>
            <a:off x="6052785" y="2753489"/>
            <a:ext cx="3091215" cy="910439"/>
          </a:xfrm>
          <a:prstGeom prst="rect">
            <a:avLst/>
          </a:prstGeom>
          <a:noFill/>
          <a:ln/>
        </p:spPr>
        <p:txBody>
          <a:bodyPr wrap="square" rtlCol="0" anchor="t"/>
          <a:lstStyle/>
          <a:p>
            <a:pPr indent="0" marL="0">
              <a:spcBef>
                <a:spcPts val="375"/>
              </a:spcBef>
              <a:buNone/>
            </a:pPr>
            <a:endParaRPr lang="en-US" sz="1050" dirty="0"/>
          </a:p>
        </p:txBody>
      </p:sp>
      <p:sp>
        <p:nvSpPr>
          <p:cNvPr id="66" name="Shape 58"/>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000000">
              <a:alpha val="0"/>
            </a:srgbClr>
          </a:solidFill>
          <a:ln/>
        </p:spPr>
      </p:sp>
      <p:sp>
        <p:nvSpPr>
          <p:cNvPr id="67" name="Text 59"/>
          <p:cNvSpPr/>
          <p:nvPr/>
        </p:nvSpPr>
        <p:spPr>
          <a:xfrm>
            <a:off x="6052785" y="2753489"/>
            <a:ext cx="3091215" cy="910439"/>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68" name="Shape 60"/>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FFFFFF">
              <a:alpha val="0"/>
            </a:srgbClr>
          </a:solidFill>
          <a:ln/>
        </p:spPr>
      </p:sp>
      <p:sp>
        <p:nvSpPr>
          <p:cNvPr id="69" name="Text 61"/>
          <p:cNvSpPr/>
          <p:nvPr/>
        </p:nvSpPr>
        <p:spPr>
          <a:xfrm>
            <a:off x="6052785" y="2753489"/>
            <a:ext cx="3091215" cy="910439"/>
          </a:xfrm>
          <a:prstGeom prst="rect">
            <a:avLst/>
          </a:prstGeom>
          <a:noFill/>
          <a:ln/>
        </p:spPr>
        <p:txBody>
          <a:bodyPr wrap="square" rtlCol="0" anchor="t"/>
          <a:lstStyle/>
          <a:p>
            <a:pPr indent="0" marL="0">
              <a:spcBef>
                <a:spcPts val="375"/>
              </a:spcBef>
              <a:buNone/>
            </a:pPr>
            <a:endParaRPr lang="en-US" sz="1050" dirty="0"/>
          </a:p>
        </p:txBody>
      </p:sp>
      <p:sp>
        <p:nvSpPr>
          <p:cNvPr id="70" name="Shape 62"/>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000000">
              <a:alpha val="0"/>
            </a:srgbClr>
          </a:solidFill>
          <a:ln/>
        </p:spPr>
      </p:sp>
      <p:sp>
        <p:nvSpPr>
          <p:cNvPr id="71" name="Text 63"/>
          <p:cNvSpPr/>
          <p:nvPr/>
        </p:nvSpPr>
        <p:spPr>
          <a:xfrm>
            <a:off x="6052785" y="2753489"/>
            <a:ext cx="3091215" cy="910439"/>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Zamonaviy harbiy tadqiqotlar, yangi qurollar va strategiyalarni ishlab chiqishga xizmat qiladi. O'zbekiston armiyasi global xavfsizlik muammolariga javob berishga tayyor.</a:t>
            </a:r>
            <a:endParaRPr lang="en-US" sz="1050" dirty="0"/>
          </a:p>
        </p:txBody>
      </p:sp>
      <p:sp>
        <p:nvSpPr>
          <p:cNvPr id="72" name="Shape 64"/>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FFFFFF">
              <a:alpha val="0"/>
            </a:srgbClr>
          </a:solidFill>
          <a:ln/>
        </p:spPr>
      </p:sp>
      <p:sp>
        <p:nvSpPr>
          <p:cNvPr id="73" name="Text 65"/>
          <p:cNvSpPr/>
          <p:nvPr/>
        </p:nvSpPr>
        <p:spPr>
          <a:xfrm>
            <a:off x="6052785" y="3847022"/>
            <a:ext cx="3091215" cy="981843"/>
          </a:xfrm>
          <a:prstGeom prst="rect">
            <a:avLst/>
          </a:prstGeom>
          <a:noFill/>
          <a:ln/>
        </p:spPr>
        <p:txBody>
          <a:bodyPr wrap="square" rtlCol="0" anchor="t"/>
          <a:lstStyle/>
          <a:p>
            <a:pPr indent="0" marL="0">
              <a:spcBef>
                <a:spcPts val="375"/>
              </a:spcBef>
              <a:buNone/>
            </a:pPr>
            <a:endParaRPr lang="en-US" sz="1050" dirty="0"/>
          </a:p>
        </p:txBody>
      </p:sp>
      <p:sp>
        <p:nvSpPr>
          <p:cNvPr id="74" name="Shape 66"/>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000000">
              <a:alpha val="0"/>
            </a:srgbClr>
          </a:solidFill>
          <a:ln/>
        </p:spPr>
      </p:sp>
      <p:sp>
        <p:nvSpPr>
          <p:cNvPr id="75" name="Text 67"/>
          <p:cNvSpPr/>
          <p:nvPr/>
        </p:nvSpPr>
        <p:spPr>
          <a:xfrm>
            <a:off x="6052785" y="3847022"/>
            <a:ext cx="3091215" cy="981843"/>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76" name="Shape 68"/>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FFFFFF">
              <a:alpha val="0"/>
            </a:srgbClr>
          </a:solidFill>
          <a:ln/>
        </p:spPr>
      </p:sp>
      <p:sp>
        <p:nvSpPr>
          <p:cNvPr id="77" name="Text 69"/>
          <p:cNvSpPr/>
          <p:nvPr/>
        </p:nvSpPr>
        <p:spPr>
          <a:xfrm>
            <a:off x="6052785" y="3847022"/>
            <a:ext cx="3091215" cy="981843"/>
          </a:xfrm>
          <a:prstGeom prst="rect">
            <a:avLst/>
          </a:prstGeom>
          <a:noFill/>
          <a:ln/>
        </p:spPr>
        <p:txBody>
          <a:bodyPr wrap="square" rtlCol="0" anchor="t"/>
          <a:lstStyle/>
          <a:p>
            <a:pPr indent="0" marL="0">
              <a:spcBef>
                <a:spcPts val="375"/>
              </a:spcBef>
              <a:buNone/>
            </a:pPr>
            <a:endParaRPr lang="en-US" sz="1050" dirty="0"/>
          </a:p>
        </p:txBody>
      </p:sp>
      <p:sp>
        <p:nvSpPr>
          <p:cNvPr id="78" name="Shape 70"/>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000000">
              <a:alpha val="0"/>
            </a:srgbClr>
          </a:solidFill>
          <a:ln/>
        </p:spPr>
      </p:sp>
      <p:sp>
        <p:nvSpPr>
          <p:cNvPr id="79" name="Text 71"/>
          <p:cNvSpPr/>
          <p:nvPr/>
        </p:nvSpPr>
        <p:spPr>
          <a:xfrm>
            <a:off x="6052785" y="3847022"/>
            <a:ext cx="3091215" cy="981843"/>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Armiyaning rivojlanishi yangi qonunlar va ichki tartiblarni takomillashtirishni talab qiladi. Bular harbiy xizmatchilarni tayyorlash va ularning malakasini oshirishda muhim rol o'ynaydi.</a:t>
            </a:r>
            <a:endParaRPr lang="en-US" sz="1050" dirty="0"/>
          </a:p>
        </p:txBody>
      </p:sp>
      <p:pic>
        <p:nvPicPr>
          <p:cNvPr id="80" name="Image 6" descr="./images\slide6_img50.png">    </p:cNvPr>
          <p:cNvPicPr>
            <a:picLocks noChangeAspect="1"/>
          </p:cNvPicPr>
          <p:nvPr/>
        </p:nvPicPr>
        <p:blipFill>
          <a:blip r:embed="rId7"/>
          <a:stretch>
            <a:fillRect/>
          </a:stretch>
        </p:blipFill>
        <p:spPr>
          <a:xfrm rot="-780000">
            <a:off x="-308256" y="617196"/>
            <a:ext cx="1713253" cy="2057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1F1"/>
        </a:solidFill>
      </p:bgPr>
    </p:bg>
    <p:spTree>
      <p:nvGrpSpPr>
        <p:cNvPr id="1" name=""/>
        <p:cNvGrpSpPr/>
        <p:nvPr/>
      </p:nvGrpSpPr>
      <p:grpSpPr>
        <a:xfrm>
          <a:off x="0" y="0"/>
          <a:ext cx="0" cy="0"/>
          <a:chOff x="0" y="0"/>
          <a:chExt cx="0" cy="0"/>
        </a:xfrm>
      </p:grpSpPr>
      <p:pic>
        <p:nvPicPr>
          <p:cNvPr id="2" name="Image 0" descr="./images\slide4_img37.png">    </p:cNvPr>
          <p:cNvPicPr>
            <a:picLocks noChangeAspect="1"/>
          </p:cNvPicPr>
          <p:nvPr/>
        </p:nvPicPr>
        <p:blipFill>
          <a:blip r:embed="rId1"/>
          <a:stretch>
            <a:fillRect/>
          </a:stretch>
        </p:blipFill>
        <p:spPr>
          <a:xfrm>
            <a:off x="0" y="0"/>
            <a:ext cx="9144000" cy="514350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8465" y="1137012"/>
          <a:ext cx="7147070" cy="2771477"/>
        </p:xfrm>
        <a:graphic>
          <a:graphicData uri="http://schemas.openxmlformats.org/drawingml/2006/table">
            <a:tbl>
              <a:tblPr/>
              <a:tblGrid>
                <a:gridCol w="2382357"/>
                <a:gridCol w="2382357"/>
                <a:gridCol w="2382357"/>
              </a:tblGrid>
              <a:tr h="692869">
                <a:tc>
                  <a:txBody>
                    <a:bodyPr/>
                    <a:lstStyle/>
                    <a:p>
                      <a:pPr algn="l" indent="0" marL="0">
                        <a:buNone/>
                      </a:pPr>
                      <a:r>
                        <a:rPr lang="en-US" sz="900" u="none" dirty="0">
                          <a:solidFill>
                            <a:srgbClr val="000000"/>
                          </a:solidFill>
                          <a:latin typeface="Nunito" pitchFamily="34" charset="0"/>
                          <a:ea typeface="Nunito" pitchFamily="34" charset="-122"/>
                          <a:cs typeface="Nunito" pitchFamily="34" charset="-120"/>
                        </a:rPr>
                        <a:t>Davr</a:t>
                      </a:r>
                      <a:endParaRPr lang="en-US" sz="900"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c>
                  <a:txBody>
                    <a:bodyPr/>
                    <a:lstStyle/>
                    <a:p>
                      <a:pPr algn="l" indent="0" marL="0">
                        <a:buNone/>
                      </a:pPr>
                      <a:r>
                        <a:rPr lang="en-US" sz="900" u="none" dirty="0">
                          <a:solidFill>
                            <a:srgbClr val="000000"/>
                          </a:solidFill>
                          <a:latin typeface="Nunito" pitchFamily="34" charset="0"/>
                          <a:ea typeface="Nunito" pitchFamily="34" charset="-122"/>
                          <a:cs typeface="Nunito" pitchFamily="34" charset="-120"/>
                        </a:rPr>
                        <a:t>Tashkil etilgan yil</a:t>
                      </a:r>
                      <a:endParaRPr lang="en-US" sz="900"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c>
                  <a:txBody>
                    <a:bodyPr/>
                    <a:lstStyle/>
                    <a:p>
                      <a:pPr algn="l" indent="0" marL="0">
                        <a:buNone/>
                      </a:pPr>
                      <a:r>
                        <a:rPr lang="en-US" sz="900" u="none" dirty="0">
                          <a:solidFill>
                            <a:srgbClr val="000000"/>
                          </a:solidFill>
                          <a:latin typeface="Nunito" pitchFamily="34" charset="0"/>
                          <a:ea typeface="Nunito" pitchFamily="34" charset="-122"/>
                          <a:cs typeface="Nunito" pitchFamily="34" charset="-120"/>
                        </a:rPr>
                        <a:t>Asosiy vazifalar</a:t>
                      </a:r>
                      <a:endParaRPr lang="en-US" sz="900"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r>
              <a:tr h="692869">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Kengash davri</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1924</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O'zbekistonni himoya qilish</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692869">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Mustaqillik davri</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1991</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Milliy xavfsizlikni ta'minlash</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692869">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Zamonaviy davr</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2017</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Harbiy modernizatsiya va rivojlantirish</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bl>
          </a:graphicData>
        </a:graphic>
      </p:graphicFrame>
      <p:sp>
        <p:nvSpPr>
          <p:cNvPr id="4" name="Shape 0"/>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FFFFFF">
              <a:alpha val="0"/>
            </a:srgbClr>
          </a:solidFill>
          <a:ln/>
        </p:spPr>
      </p:sp>
      <p:sp>
        <p:nvSpPr>
          <p:cNvPr id="5" name="Text 1"/>
          <p:cNvSpPr/>
          <p:nvPr/>
        </p:nvSpPr>
        <p:spPr>
          <a:xfrm>
            <a:off x="874050" y="246298"/>
            <a:ext cx="7395900" cy="666750"/>
          </a:xfrm>
          <a:prstGeom prst="rect">
            <a:avLst/>
          </a:prstGeom>
          <a:noFill/>
          <a:ln/>
        </p:spPr>
        <p:txBody>
          <a:bodyPr wrap="square" rtlCol="0" anchor="t"/>
          <a:lstStyle/>
          <a:p>
            <a:pPr indent="0" marL="0">
              <a:spcBef>
                <a:spcPts val="375"/>
              </a:spcBef>
              <a:buNone/>
            </a:pPr>
            <a:endParaRPr lang="en-US" sz="1050" dirty="0"/>
          </a:p>
        </p:txBody>
      </p:sp>
      <p:sp>
        <p:nvSpPr>
          <p:cNvPr id="6" name="Shape 2"/>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000000">
              <a:alpha val="0"/>
            </a:srgbClr>
          </a:solidFill>
          <a:ln/>
        </p:spPr>
      </p:sp>
      <p:sp>
        <p:nvSpPr>
          <p:cNvPr id="7" name="Text 3"/>
          <p:cNvSpPr/>
          <p:nvPr/>
        </p:nvSpPr>
        <p:spPr>
          <a:xfrm>
            <a:off x="874050" y="246298"/>
            <a:ext cx="7395900" cy="6667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 name="Shape 4"/>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FFFFFF">
              <a:alpha val="0"/>
            </a:srgbClr>
          </a:solidFill>
          <a:ln/>
        </p:spPr>
      </p:sp>
      <p:sp>
        <p:nvSpPr>
          <p:cNvPr id="9" name="Text 5"/>
          <p:cNvSpPr/>
          <p:nvPr/>
        </p:nvSpPr>
        <p:spPr>
          <a:xfrm>
            <a:off x="874050" y="246298"/>
            <a:ext cx="7395900" cy="666750"/>
          </a:xfrm>
          <a:prstGeom prst="rect">
            <a:avLst/>
          </a:prstGeom>
          <a:noFill/>
          <a:ln/>
        </p:spPr>
        <p:txBody>
          <a:bodyPr wrap="square" rtlCol="0" anchor="t"/>
          <a:lstStyle/>
          <a:p>
            <a:pPr indent="0" marL="0">
              <a:spcBef>
                <a:spcPts val="375"/>
              </a:spcBef>
              <a:buNone/>
            </a:pPr>
            <a:endParaRPr lang="en-US" sz="1050" dirty="0"/>
          </a:p>
        </p:txBody>
      </p:sp>
      <p:sp>
        <p:nvSpPr>
          <p:cNvPr id="10" name="Shape 6"/>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000000">
              <a:alpha val="0"/>
            </a:srgbClr>
          </a:solidFill>
          <a:ln/>
        </p:spPr>
      </p:sp>
      <p:sp>
        <p:nvSpPr>
          <p:cNvPr id="11" name="Text 7"/>
          <p:cNvSpPr/>
          <p:nvPr/>
        </p:nvSpPr>
        <p:spPr>
          <a:xfrm>
            <a:off x="874050" y="246298"/>
            <a:ext cx="7395900" cy="6667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O'zbekiston armiyasining tarixi va rivoji.</a:t>
            </a:r>
            <a:endParaRPr lang="en-US" sz="1050" dirty="0"/>
          </a:p>
        </p:txBody>
      </p:sp>
      <p:pic>
        <p:nvPicPr>
          <p:cNvPr id="12" name="Image 1" descr="./images\slide4_img38.png">    </p:cNvPr>
          <p:cNvPicPr>
            <a:picLocks noChangeAspect="1"/>
          </p:cNvPicPr>
          <p:nvPr/>
        </p:nvPicPr>
        <p:blipFill>
          <a:blip r:embed="rId2"/>
          <a:stretch>
            <a:fillRect/>
          </a:stretch>
        </p:blipFill>
        <p:spPr>
          <a:xfrm rot="-1800000">
            <a:off x="7936523" y="1969549"/>
            <a:ext cx="1198261" cy="1707367"/>
          </a:xfrm>
          <a:prstGeom prst="rect">
            <a:avLst/>
          </a:prstGeom>
        </p:spPr>
      </p:pic>
      <p:sp>
        <p:nvSpPr>
          <p:cNvPr id="13" name="Shape 8"/>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FFFFFF">
              <a:alpha val="0"/>
            </a:srgbClr>
          </a:solidFill>
          <a:ln/>
        </p:spPr>
      </p:sp>
      <p:sp>
        <p:nvSpPr>
          <p:cNvPr id="14" name="Text 9"/>
          <p:cNvSpPr/>
          <p:nvPr/>
        </p:nvSpPr>
        <p:spPr>
          <a:xfrm rot="-1800000">
            <a:off x="7936523" y="1969549"/>
            <a:ext cx="1198261" cy="1707367"/>
          </a:xfrm>
          <a:prstGeom prst="rect">
            <a:avLst/>
          </a:prstGeom>
          <a:noFill/>
          <a:ln/>
        </p:spPr>
        <p:txBody>
          <a:bodyPr wrap="square" rtlCol="0" anchor="t"/>
          <a:lstStyle/>
          <a:p>
            <a:pPr indent="0" marL="0">
              <a:spcBef>
                <a:spcPts val="375"/>
              </a:spcBef>
              <a:buNone/>
            </a:pPr>
            <a:endParaRPr lang="en-US" sz="1050" dirty="0"/>
          </a:p>
        </p:txBody>
      </p:sp>
      <p:sp>
        <p:nvSpPr>
          <p:cNvPr id="15" name="Shape 10"/>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000000">
              <a:alpha val="0"/>
            </a:srgbClr>
          </a:solidFill>
          <a:ln/>
        </p:spPr>
      </p:sp>
      <p:sp>
        <p:nvSpPr>
          <p:cNvPr id="16" name="Text 11"/>
          <p:cNvSpPr/>
          <p:nvPr/>
        </p:nvSpPr>
        <p:spPr>
          <a:xfrm rot="-1800000">
            <a:off x="7936523" y="1969549"/>
            <a:ext cx="1198261" cy="1707367"/>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7" name="Shape 12"/>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FFFFFF">
              <a:alpha val="0"/>
            </a:srgbClr>
          </a:solidFill>
          <a:ln/>
        </p:spPr>
      </p:sp>
      <p:sp>
        <p:nvSpPr>
          <p:cNvPr id="18" name="Text 13"/>
          <p:cNvSpPr/>
          <p:nvPr/>
        </p:nvSpPr>
        <p:spPr>
          <a:xfrm rot="-1800000">
            <a:off x="7936523" y="1969549"/>
            <a:ext cx="1198261" cy="1707367"/>
          </a:xfrm>
          <a:prstGeom prst="rect">
            <a:avLst/>
          </a:prstGeom>
          <a:noFill/>
          <a:ln/>
        </p:spPr>
        <p:txBody>
          <a:bodyPr wrap="square" rtlCol="0" anchor="t"/>
          <a:lstStyle/>
          <a:p>
            <a:pPr indent="0" marL="0">
              <a:spcBef>
                <a:spcPts val="375"/>
              </a:spcBef>
              <a:buNone/>
            </a:pPr>
            <a:endParaRPr lang="en-US" sz="1050" dirty="0"/>
          </a:p>
        </p:txBody>
      </p:sp>
      <p:sp>
        <p:nvSpPr>
          <p:cNvPr id="19" name="Shape 14"/>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000000">
              <a:alpha val="0"/>
            </a:srgbClr>
          </a:solidFill>
          <a:ln/>
        </p:spPr>
      </p:sp>
      <p:sp>
        <p:nvSpPr>
          <p:cNvPr id="20" name="Text 15"/>
          <p:cNvSpPr/>
          <p:nvPr/>
        </p:nvSpPr>
        <p:spPr>
          <a:xfrm rot="-1800000">
            <a:off x="7936523" y="1969549"/>
            <a:ext cx="1198261" cy="1707367"/>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21" name="Image 2" descr="./images\slide4_img39.png">    </p:cNvPr>
          <p:cNvPicPr>
            <a:picLocks noChangeAspect="1"/>
          </p:cNvPicPr>
          <p:nvPr/>
        </p:nvPicPr>
        <p:blipFill>
          <a:blip r:embed="rId3"/>
          <a:stretch>
            <a:fillRect/>
          </a:stretch>
        </p:blipFill>
        <p:spPr>
          <a:xfrm rot="-1800000">
            <a:off x="7936523" y="1969549"/>
            <a:ext cx="1198261" cy="1707367"/>
          </a:xfrm>
          <a:prstGeom prst="rect">
            <a:avLst/>
          </a:prstGeom>
        </p:spPr>
      </p:pic>
      <p:pic>
        <p:nvPicPr>
          <p:cNvPr id="22" name="Image 3" descr="./images\slide4_img40.png">    </p:cNvPr>
          <p:cNvPicPr>
            <a:picLocks noChangeAspect="1"/>
          </p:cNvPicPr>
          <p:nvPr/>
        </p:nvPicPr>
        <p:blipFill>
          <a:blip r:embed="rId4"/>
          <a:stretch>
            <a:fillRect/>
          </a:stretch>
        </p:blipFill>
        <p:spPr>
          <a:xfrm rot="4620000">
            <a:off x="-282748" y="3452461"/>
            <a:ext cx="1086318" cy="1547864"/>
          </a:xfrm>
          <a:prstGeom prst="rect">
            <a:avLst/>
          </a:prstGeom>
        </p:spPr>
      </p:pic>
      <p:sp>
        <p:nvSpPr>
          <p:cNvPr id="23" name="Shape 16"/>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FFFFFF">
              <a:alpha val="0"/>
            </a:srgbClr>
          </a:solidFill>
          <a:ln/>
        </p:spPr>
      </p:sp>
      <p:sp>
        <p:nvSpPr>
          <p:cNvPr id="24" name="Text 17"/>
          <p:cNvSpPr/>
          <p:nvPr/>
        </p:nvSpPr>
        <p:spPr>
          <a:xfrm rot="4620000">
            <a:off x="-282748" y="3452461"/>
            <a:ext cx="1086318" cy="1547864"/>
          </a:xfrm>
          <a:prstGeom prst="rect">
            <a:avLst/>
          </a:prstGeom>
          <a:noFill/>
          <a:ln/>
        </p:spPr>
        <p:txBody>
          <a:bodyPr wrap="square" rtlCol="0" anchor="t"/>
          <a:lstStyle/>
          <a:p>
            <a:pPr indent="0" marL="0">
              <a:spcBef>
                <a:spcPts val="375"/>
              </a:spcBef>
              <a:buNone/>
            </a:pPr>
            <a:endParaRPr lang="en-US" sz="1050" dirty="0"/>
          </a:p>
        </p:txBody>
      </p:sp>
      <p:sp>
        <p:nvSpPr>
          <p:cNvPr id="25" name="Shape 18"/>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000000">
              <a:alpha val="0"/>
            </a:srgbClr>
          </a:solidFill>
          <a:ln/>
        </p:spPr>
      </p:sp>
      <p:sp>
        <p:nvSpPr>
          <p:cNvPr id="26" name="Text 19"/>
          <p:cNvSpPr/>
          <p:nvPr/>
        </p:nvSpPr>
        <p:spPr>
          <a:xfrm rot="4620000">
            <a:off x="-282748" y="3452461"/>
            <a:ext cx="1086318" cy="1547864"/>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7" name="Shape 20"/>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FFFFFF">
              <a:alpha val="0"/>
            </a:srgbClr>
          </a:solidFill>
          <a:ln/>
        </p:spPr>
      </p:sp>
      <p:sp>
        <p:nvSpPr>
          <p:cNvPr id="28" name="Text 21"/>
          <p:cNvSpPr/>
          <p:nvPr/>
        </p:nvSpPr>
        <p:spPr>
          <a:xfrm rot="4620000">
            <a:off x="-282748" y="3452461"/>
            <a:ext cx="1086318" cy="1547864"/>
          </a:xfrm>
          <a:prstGeom prst="rect">
            <a:avLst/>
          </a:prstGeom>
          <a:noFill/>
          <a:ln/>
        </p:spPr>
        <p:txBody>
          <a:bodyPr wrap="square" rtlCol="0" anchor="t"/>
          <a:lstStyle/>
          <a:p>
            <a:pPr indent="0" marL="0">
              <a:spcBef>
                <a:spcPts val="375"/>
              </a:spcBef>
              <a:buNone/>
            </a:pPr>
            <a:endParaRPr lang="en-US" sz="1050" dirty="0"/>
          </a:p>
        </p:txBody>
      </p:sp>
      <p:sp>
        <p:nvSpPr>
          <p:cNvPr id="29" name="Shape 22"/>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000000">
              <a:alpha val="0"/>
            </a:srgbClr>
          </a:solidFill>
          <a:ln/>
        </p:spPr>
      </p:sp>
      <p:sp>
        <p:nvSpPr>
          <p:cNvPr id="30" name="Text 23"/>
          <p:cNvSpPr/>
          <p:nvPr/>
        </p:nvSpPr>
        <p:spPr>
          <a:xfrm rot="4620000">
            <a:off x="-282748" y="3452461"/>
            <a:ext cx="1086318" cy="1547864"/>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31" name="Image 4" descr="./images\slide4_img41.png">    </p:cNvPr>
          <p:cNvPicPr>
            <a:picLocks noChangeAspect="1"/>
          </p:cNvPicPr>
          <p:nvPr/>
        </p:nvPicPr>
        <p:blipFill>
          <a:blip r:embed="rId5"/>
          <a:stretch>
            <a:fillRect/>
          </a:stretch>
        </p:blipFill>
        <p:spPr>
          <a:xfrm rot="4620000">
            <a:off x="-282748" y="3452461"/>
            <a:ext cx="1086318" cy="15478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1F1"/>
        </a:solidFill>
      </p:bgPr>
    </p:bg>
    <p:spTree>
      <p:nvGrpSpPr>
        <p:cNvPr id="1" name=""/>
        <p:cNvGrpSpPr/>
        <p:nvPr/>
      </p:nvGrpSpPr>
      <p:grpSpPr>
        <a:xfrm>
          <a:off x="0" y="0"/>
          <a:ext cx="0" cy="0"/>
          <a:chOff x="0" y="0"/>
          <a:chExt cx="0" cy="0"/>
        </a:xfrm>
      </p:grpSpPr>
      <p:pic>
        <p:nvPicPr>
          <p:cNvPr id="2" name="Image 0" descr="./images\slide5_img42.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images\slide5_img43.png">    </p:cNvPr>
          <p:cNvPicPr>
            <a:picLocks noChangeAspect="1"/>
          </p:cNvPicPr>
          <p:nvPr/>
        </p:nvPicPr>
        <p:blipFill>
          <a:blip r:embed="rId2"/>
          <a:stretch>
            <a:fillRect/>
          </a:stretch>
        </p:blipFill>
        <p:spPr>
          <a:xfrm>
            <a:off x="6087098" y="1683097"/>
            <a:ext cx="2542552" cy="3046631"/>
          </a:xfrm>
          <a:prstGeom prst="rect">
            <a:avLst/>
          </a:prstGeom>
        </p:spPr>
      </p:pic>
      <p:sp>
        <p:nvSpPr>
          <p:cNvPr id="4" name="Shape 0"/>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FFFFFF">
              <a:alpha val="0"/>
            </a:srgbClr>
          </a:solidFill>
          <a:ln/>
        </p:spPr>
      </p:sp>
      <p:sp>
        <p:nvSpPr>
          <p:cNvPr id="5" name="Text 1"/>
          <p:cNvSpPr/>
          <p:nvPr/>
        </p:nvSpPr>
        <p:spPr>
          <a:xfrm>
            <a:off x="874042" y="518568"/>
            <a:ext cx="7395915" cy="476250"/>
          </a:xfrm>
          <a:prstGeom prst="rect">
            <a:avLst/>
          </a:prstGeom>
          <a:noFill/>
          <a:ln/>
        </p:spPr>
        <p:txBody>
          <a:bodyPr wrap="square" rtlCol="0" anchor="t"/>
          <a:lstStyle/>
          <a:p>
            <a:pPr indent="0" marL="0">
              <a:spcBef>
                <a:spcPts val="375"/>
              </a:spcBef>
              <a:buNone/>
            </a:pPr>
            <a:endParaRPr lang="en-US" sz="1050" dirty="0"/>
          </a:p>
        </p:txBody>
      </p:sp>
      <p:sp>
        <p:nvSpPr>
          <p:cNvPr id="6" name="Shape 2"/>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000000">
              <a:alpha val="0"/>
            </a:srgbClr>
          </a:solidFill>
          <a:ln/>
        </p:spPr>
      </p:sp>
      <p:sp>
        <p:nvSpPr>
          <p:cNvPr id="7" name="Text 3"/>
          <p:cNvSpPr/>
          <p:nvPr/>
        </p:nvSpPr>
        <p:spPr>
          <a:xfrm>
            <a:off x="874042" y="518568"/>
            <a:ext cx="7395915"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 name="Shape 4"/>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FFFFFF">
              <a:alpha val="0"/>
            </a:srgbClr>
          </a:solidFill>
          <a:ln/>
        </p:spPr>
      </p:sp>
      <p:sp>
        <p:nvSpPr>
          <p:cNvPr id="9" name="Text 5"/>
          <p:cNvSpPr/>
          <p:nvPr/>
        </p:nvSpPr>
        <p:spPr>
          <a:xfrm>
            <a:off x="874042" y="518568"/>
            <a:ext cx="7395915" cy="476250"/>
          </a:xfrm>
          <a:prstGeom prst="rect">
            <a:avLst/>
          </a:prstGeom>
          <a:noFill/>
          <a:ln/>
        </p:spPr>
        <p:txBody>
          <a:bodyPr wrap="square" rtlCol="0" anchor="t"/>
          <a:lstStyle/>
          <a:p>
            <a:pPr indent="0" marL="0">
              <a:spcBef>
                <a:spcPts val="375"/>
              </a:spcBef>
              <a:buNone/>
            </a:pPr>
            <a:endParaRPr lang="en-US" sz="1050" dirty="0"/>
          </a:p>
        </p:txBody>
      </p:sp>
      <p:sp>
        <p:nvSpPr>
          <p:cNvPr id="10" name="Shape 6"/>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000000">
              <a:alpha val="0"/>
            </a:srgbClr>
          </a:solidFill>
          <a:ln/>
        </p:spPr>
      </p:sp>
      <p:sp>
        <p:nvSpPr>
          <p:cNvPr id="11" name="Text 7"/>
          <p:cNvSpPr/>
          <p:nvPr/>
        </p:nvSpPr>
        <p:spPr>
          <a:xfrm>
            <a:off x="874042" y="518568"/>
            <a:ext cx="7395915"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O'zbekiston Armiyasi</a:t>
            </a:r>
            <a:endParaRPr lang="en-US" sz="1050" dirty="0"/>
          </a:p>
        </p:txBody>
      </p:sp>
      <p:sp>
        <p:nvSpPr>
          <p:cNvPr id="12" name="Shape 8"/>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FFFFFF">
              <a:alpha val="0"/>
            </a:srgbClr>
          </a:solidFill>
          <a:ln/>
        </p:spPr>
      </p:sp>
      <p:sp>
        <p:nvSpPr>
          <p:cNvPr id="13" name="Text 9"/>
          <p:cNvSpPr/>
          <p:nvPr/>
        </p:nvSpPr>
        <p:spPr>
          <a:xfrm>
            <a:off x="705902" y="1623611"/>
            <a:ext cx="1713750" cy="552450"/>
          </a:xfrm>
          <a:prstGeom prst="rect">
            <a:avLst/>
          </a:prstGeom>
          <a:noFill/>
          <a:ln/>
        </p:spPr>
        <p:txBody>
          <a:bodyPr wrap="square" rtlCol="0" anchor="t"/>
          <a:lstStyle/>
          <a:p>
            <a:pPr indent="0" marL="0">
              <a:spcBef>
                <a:spcPts val="375"/>
              </a:spcBef>
              <a:buNone/>
            </a:pPr>
            <a:endParaRPr lang="en-US" sz="1050" dirty="0"/>
          </a:p>
        </p:txBody>
      </p:sp>
      <p:sp>
        <p:nvSpPr>
          <p:cNvPr id="14" name="Shape 10"/>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000000">
              <a:alpha val="0"/>
            </a:srgbClr>
          </a:solidFill>
          <a:ln/>
        </p:spPr>
      </p:sp>
      <p:sp>
        <p:nvSpPr>
          <p:cNvPr id="15" name="Text 11"/>
          <p:cNvSpPr/>
          <p:nvPr/>
        </p:nvSpPr>
        <p:spPr>
          <a:xfrm>
            <a:off x="705902" y="1623611"/>
            <a:ext cx="1713750"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6" name="Shape 12"/>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FFFFFF">
              <a:alpha val="0"/>
            </a:srgbClr>
          </a:solidFill>
          <a:ln/>
        </p:spPr>
      </p:sp>
      <p:sp>
        <p:nvSpPr>
          <p:cNvPr id="17" name="Text 13"/>
          <p:cNvSpPr/>
          <p:nvPr/>
        </p:nvSpPr>
        <p:spPr>
          <a:xfrm>
            <a:off x="705902" y="1623611"/>
            <a:ext cx="1713750" cy="552450"/>
          </a:xfrm>
          <a:prstGeom prst="rect">
            <a:avLst/>
          </a:prstGeom>
          <a:noFill/>
          <a:ln/>
        </p:spPr>
        <p:txBody>
          <a:bodyPr wrap="square" rtlCol="0" anchor="t"/>
          <a:lstStyle/>
          <a:p>
            <a:pPr indent="0" marL="0">
              <a:spcBef>
                <a:spcPts val="375"/>
              </a:spcBef>
              <a:buNone/>
            </a:pPr>
            <a:endParaRPr lang="en-US" sz="1050" dirty="0"/>
          </a:p>
        </p:txBody>
      </p:sp>
      <p:sp>
        <p:nvSpPr>
          <p:cNvPr id="18" name="Shape 14"/>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000000">
              <a:alpha val="0"/>
            </a:srgbClr>
          </a:solidFill>
          <a:ln/>
        </p:spPr>
      </p:sp>
      <p:sp>
        <p:nvSpPr>
          <p:cNvPr id="19" name="Text 15"/>
          <p:cNvSpPr/>
          <p:nvPr/>
        </p:nvSpPr>
        <p:spPr>
          <a:xfrm>
            <a:off x="705902" y="1623611"/>
            <a:ext cx="1713750"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Tuzilishi</a:t>
            </a:r>
            <a:endParaRPr lang="en-US" sz="1050" dirty="0"/>
          </a:p>
        </p:txBody>
      </p:sp>
      <p:sp>
        <p:nvSpPr>
          <p:cNvPr id="20" name="Shape 16"/>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FFFFFF">
              <a:alpha val="0"/>
            </a:srgbClr>
          </a:solidFill>
          <a:ln/>
        </p:spPr>
      </p:sp>
      <p:sp>
        <p:nvSpPr>
          <p:cNvPr id="21" name="Text 17"/>
          <p:cNvSpPr/>
          <p:nvPr/>
        </p:nvSpPr>
        <p:spPr>
          <a:xfrm>
            <a:off x="640191" y="3311188"/>
            <a:ext cx="1998818" cy="552450"/>
          </a:xfrm>
          <a:prstGeom prst="rect">
            <a:avLst/>
          </a:prstGeom>
          <a:noFill/>
          <a:ln/>
        </p:spPr>
        <p:txBody>
          <a:bodyPr wrap="square" rtlCol="0" anchor="t"/>
          <a:lstStyle/>
          <a:p>
            <a:pPr indent="0" marL="0">
              <a:spcBef>
                <a:spcPts val="375"/>
              </a:spcBef>
              <a:buNone/>
            </a:pPr>
            <a:endParaRPr lang="en-US" sz="1050" dirty="0"/>
          </a:p>
        </p:txBody>
      </p:sp>
      <p:sp>
        <p:nvSpPr>
          <p:cNvPr id="22" name="Shape 18"/>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000000">
              <a:alpha val="0"/>
            </a:srgbClr>
          </a:solidFill>
          <a:ln/>
        </p:spPr>
      </p:sp>
      <p:sp>
        <p:nvSpPr>
          <p:cNvPr id="23" name="Text 19"/>
          <p:cNvSpPr/>
          <p:nvPr/>
        </p:nvSpPr>
        <p:spPr>
          <a:xfrm>
            <a:off x="640191" y="3311188"/>
            <a:ext cx="1998818"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4" name="Shape 20"/>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FFFFFF">
              <a:alpha val="0"/>
            </a:srgbClr>
          </a:solidFill>
          <a:ln/>
        </p:spPr>
      </p:sp>
      <p:sp>
        <p:nvSpPr>
          <p:cNvPr id="25" name="Text 21"/>
          <p:cNvSpPr/>
          <p:nvPr/>
        </p:nvSpPr>
        <p:spPr>
          <a:xfrm>
            <a:off x="640191" y="3311188"/>
            <a:ext cx="1998818" cy="552450"/>
          </a:xfrm>
          <a:prstGeom prst="rect">
            <a:avLst/>
          </a:prstGeom>
          <a:noFill/>
          <a:ln/>
        </p:spPr>
        <p:txBody>
          <a:bodyPr wrap="square" rtlCol="0" anchor="t"/>
          <a:lstStyle/>
          <a:p>
            <a:pPr indent="0" marL="0">
              <a:spcBef>
                <a:spcPts val="375"/>
              </a:spcBef>
              <a:buNone/>
            </a:pPr>
            <a:endParaRPr lang="en-US" sz="1050" dirty="0"/>
          </a:p>
        </p:txBody>
      </p:sp>
      <p:sp>
        <p:nvSpPr>
          <p:cNvPr id="26" name="Shape 22"/>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000000">
              <a:alpha val="0"/>
            </a:srgbClr>
          </a:solidFill>
          <a:ln/>
        </p:spPr>
      </p:sp>
      <p:sp>
        <p:nvSpPr>
          <p:cNvPr id="27" name="Text 23"/>
          <p:cNvSpPr/>
          <p:nvPr/>
        </p:nvSpPr>
        <p:spPr>
          <a:xfrm>
            <a:off x="640191" y="3311188"/>
            <a:ext cx="1998818"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Vazifalari</a:t>
            </a:r>
            <a:endParaRPr lang="en-US" sz="1050" dirty="0"/>
          </a:p>
        </p:txBody>
      </p:sp>
      <p:sp>
        <p:nvSpPr>
          <p:cNvPr id="28" name="Shape 24"/>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FFFFFF">
              <a:alpha val="0"/>
            </a:srgbClr>
          </a:solidFill>
          <a:ln/>
        </p:spPr>
      </p:sp>
      <p:sp>
        <p:nvSpPr>
          <p:cNvPr id="29" name="Text 25"/>
          <p:cNvSpPr/>
          <p:nvPr/>
        </p:nvSpPr>
        <p:spPr>
          <a:xfrm>
            <a:off x="3848551" y="1623612"/>
            <a:ext cx="1082550" cy="552450"/>
          </a:xfrm>
          <a:prstGeom prst="rect">
            <a:avLst/>
          </a:prstGeom>
          <a:noFill/>
          <a:ln/>
        </p:spPr>
        <p:txBody>
          <a:bodyPr wrap="square" rtlCol="0" anchor="t"/>
          <a:lstStyle/>
          <a:p>
            <a:pPr indent="0" marL="0">
              <a:spcBef>
                <a:spcPts val="375"/>
              </a:spcBef>
              <a:buNone/>
            </a:pPr>
            <a:endParaRPr lang="en-US" sz="1050" dirty="0"/>
          </a:p>
        </p:txBody>
      </p:sp>
      <p:sp>
        <p:nvSpPr>
          <p:cNvPr id="30" name="Shape 26"/>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000000">
              <a:alpha val="0"/>
            </a:srgbClr>
          </a:solidFill>
          <a:ln/>
        </p:spPr>
      </p:sp>
      <p:sp>
        <p:nvSpPr>
          <p:cNvPr id="31" name="Text 27"/>
          <p:cNvSpPr/>
          <p:nvPr/>
        </p:nvSpPr>
        <p:spPr>
          <a:xfrm>
            <a:off x="3848551" y="1623612"/>
            <a:ext cx="1082550"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32" name="Shape 28"/>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FFFFFF">
              <a:alpha val="0"/>
            </a:srgbClr>
          </a:solidFill>
          <a:ln/>
        </p:spPr>
      </p:sp>
      <p:sp>
        <p:nvSpPr>
          <p:cNvPr id="33" name="Text 29"/>
          <p:cNvSpPr/>
          <p:nvPr/>
        </p:nvSpPr>
        <p:spPr>
          <a:xfrm>
            <a:off x="3848551" y="1623612"/>
            <a:ext cx="1082550" cy="552450"/>
          </a:xfrm>
          <a:prstGeom prst="rect">
            <a:avLst/>
          </a:prstGeom>
          <a:noFill/>
          <a:ln/>
        </p:spPr>
        <p:txBody>
          <a:bodyPr wrap="square" rtlCol="0" anchor="t"/>
          <a:lstStyle/>
          <a:p>
            <a:pPr indent="0" marL="0">
              <a:spcBef>
                <a:spcPts val="375"/>
              </a:spcBef>
              <a:buNone/>
            </a:pPr>
            <a:endParaRPr lang="en-US" sz="1050" dirty="0"/>
          </a:p>
        </p:txBody>
      </p:sp>
      <p:sp>
        <p:nvSpPr>
          <p:cNvPr id="34" name="Shape 30"/>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000000">
              <a:alpha val="0"/>
            </a:srgbClr>
          </a:solidFill>
          <a:ln/>
        </p:spPr>
      </p:sp>
      <p:sp>
        <p:nvSpPr>
          <p:cNvPr id="35" name="Text 31"/>
          <p:cNvSpPr/>
          <p:nvPr/>
        </p:nvSpPr>
        <p:spPr>
          <a:xfrm>
            <a:off x="3848551" y="1623612"/>
            <a:ext cx="1082550"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Mudofaa tizimi</a:t>
            </a:r>
            <a:endParaRPr lang="en-US" sz="1050" dirty="0"/>
          </a:p>
        </p:txBody>
      </p:sp>
      <p:sp>
        <p:nvSpPr>
          <p:cNvPr id="36" name="Shape 32"/>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FFFFFF">
              <a:alpha val="0"/>
            </a:srgbClr>
          </a:solidFill>
          <a:ln/>
        </p:spPr>
      </p:sp>
      <p:sp>
        <p:nvSpPr>
          <p:cNvPr id="37" name="Text 33"/>
          <p:cNvSpPr/>
          <p:nvPr/>
        </p:nvSpPr>
        <p:spPr>
          <a:xfrm>
            <a:off x="2875893" y="3311188"/>
            <a:ext cx="2968866" cy="552450"/>
          </a:xfrm>
          <a:prstGeom prst="rect">
            <a:avLst/>
          </a:prstGeom>
          <a:noFill/>
          <a:ln/>
        </p:spPr>
        <p:txBody>
          <a:bodyPr wrap="square" rtlCol="0" anchor="t"/>
          <a:lstStyle/>
          <a:p>
            <a:pPr indent="0" marL="0">
              <a:spcBef>
                <a:spcPts val="375"/>
              </a:spcBef>
              <a:buNone/>
            </a:pPr>
            <a:endParaRPr lang="en-US" sz="1050" dirty="0"/>
          </a:p>
        </p:txBody>
      </p:sp>
      <p:sp>
        <p:nvSpPr>
          <p:cNvPr id="38" name="Shape 34"/>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000000">
              <a:alpha val="0"/>
            </a:srgbClr>
          </a:solidFill>
          <a:ln/>
        </p:spPr>
      </p:sp>
      <p:sp>
        <p:nvSpPr>
          <p:cNvPr id="39" name="Text 35"/>
          <p:cNvSpPr/>
          <p:nvPr/>
        </p:nvSpPr>
        <p:spPr>
          <a:xfrm>
            <a:off x="2875893" y="3311188"/>
            <a:ext cx="2968866"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40" name="Shape 36"/>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FFFFFF">
              <a:alpha val="0"/>
            </a:srgbClr>
          </a:solidFill>
          <a:ln/>
        </p:spPr>
      </p:sp>
      <p:sp>
        <p:nvSpPr>
          <p:cNvPr id="41" name="Text 37"/>
          <p:cNvSpPr/>
          <p:nvPr/>
        </p:nvSpPr>
        <p:spPr>
          <a:xfrm>
            <a:off x="2875893" y="3311188"/>
            <a:ext cx="2968866" cy="552450"/>
          </a:xfrm>
          <a:prstGeom prst="rect">
            <a:avLst/>
          </a:prstGeom>
          <a:noFill/>
          <a:ln/>
        </p:spPr>
        <p:txBody>
          <a:bodyPr wrap="square" rtlCol="0" anchor="t"/>
          <a:lstStyle/>
          <a:p>
            <a:pPr indent="0" marL="0">
              <a:spcBef>
                <a:spcPts val="375"/>
              </a:spcBef>
              <a:buNone/>
            </a:pPr>
            <a:endParaRPr lang="en-US" sz="1050" dirty="0"/>
          </a:p>
        </p:txBody>
      </p:sp>
      <p:sp>
        <p:nvSpPr>
          <p:cNvPr id="42" name="Shape 38"/>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000000">
              <a:alpha val="0"/>
            </a:srgbClr>
          </a:solidFill>
          <a:ln/>
        </p:spPr>
      </p:sp>
      <p:sp>
        <p:nvSpPr>
          <p:cNvPr id="43" name="Text 39"/>
          <p:cNvSpPr/>
          <p:nvPr/>
        </p:nvSpPr>
        <p:spPr>
          <a:xfrm>
            <a:off x="2875893" y="3311188"/>
            <a:ext cx="2968866"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Qurolli kuchlar</a:t>
            </a:r>
            <a:endParaRPr lang="en-US" sz="1050" dirty="0"/>
          </a:p>
        </p:txBody>
      </p:sp>
      <p:sp>
        <p:nvSpPr>
          <p:cNvPr id="44" name="Shape 40"/>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FFFFFF">
              <a:alpha val="0"/>
            </a:srgbClr>
          </a:solidFill>
          <a:ln/>
        </p:spPr>
      </p:sp>
      <p:sp>
        <p:nvSpPr>
          <p:cNvPr id="45" name="Text 41"/>
          <p:cNvSpPr/>
          <p:nvPr/>
        </p:nvSpPr>
        <p:spPr>
          <a:xfrm>
            <a:off x="705902" y="2176061"/>
            <a:ext cx="1890959" cy="932710"/>
          </a:xfrm>
          <a:prstGeom prst="rect">
            <a:avLst/>
          </a:prstGeom>
          <a:noFill/>
          <a:ln/>
        </p:spPr>
        <p:txBody>
          <a:bodyPr wrap="square" rtlCol="0" anchor="t"/>
          <a:lstStyle/>
          <a:p>
            <a:pPr indent="0" marL="0">
              <a:spcBef>
                <a:spcPts val="375"/>
              </a:spcBef>
              <a:buNone/>
            </a:pPr>
            <a:endParaRPr lang="en-US" sz="1050" dirty="0"/>
          </a:p>
        </p:txBody>
      </p:sp>
      <p:sp>
        <p:nvSpPr>
          <p:cNvPr id="46" name="Shape 42"/>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000000">
              <a:alpha val="0"/>
            </a:srgbClr>
          </a:solidFill>
          <a:ln/>
        </p:spPr>
      </p:sp>
      <p:sp>
        <p:nvSpPr>
          <p:cNvPr id="47" name="Text 43"/>
          <p:cNvSpPr/>
          <p:nvPr/>
        </p:nvSpPr>
        <p:spPr>
          <a:xfrm>
            <a:off x="705902" y="2176061"/>
            <a:ext cx="1890959" cy="93271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48" name="Shape 44"/>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FFFFFF">
              <a:alpha val="0"/>
            </a:srgbClr>
          </a:solidFill>
          <a:ln/>
        </p:spPr>
      </p:sp>
      <p:sp>
        <p:nvSpPr>
          <p:cNvPr id="49" name="Text 45"/>
          <p:cNvSpPr/>
          <p:nvPr/>
        </p:nvSpPr>
        <p:spPr>
          <a:xfrm>
            <a:off x="705902" y="2176061"/>
            <a:ext cx="1890959" cy="932710"/>
          </a:xfrm>
          <a:prstGeom prst="rect">
            <a:avLst/>
          </a:prstGeom>
          <a:noFill/>
          <a:ln/>
        </p:spPr>
        <p:txBody>
          <a:bodyPr wrap="square" rtlCol="0" anchor="t"/>
          <a:lstStyle/>
          <a:p>
            <a:pPr indent="0" marL="0">
              <a:spcBef>
                <a:spcPts val="375"/>
              </a:spcBef>
              <a:buNone/>
            </a:pPr>
            <a:endParaRPr lang="en-US" sz="1050" dirty="0"/>
          </a:p>
        </p:txBody>
      </p:sp>
      <p:sp>
        <p:nvSpPr>
          <p:cNvPr id="50" name="Shape 46"/>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000000">
              <a:alpha val="0"/>
            </a:srgbClr>
          </a:solidFill>
          <a:ln/>
        </p:spPr>
      </p:sp>
      <p:sp>
        <p:nvSpPr>
          <p:cNvPr id="51" name="Text 47"/>
          <p:cNvSpPr/>
          <p:nvPr/>
        </p:nvSpPr>
        <p:spPr>
          <a:xfrm>
            <a:off x="705902" y="2176061"/>
            <a:ext cx="1890959" cy="932710"/>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O'zbekiston armiyasi mamlakatni himoya qilish va tinchlikni ta'minlashda muhim rol o'ynaydi. Uning tuzilishi harbiy birliklar va boshqaruv tizimidan iborat.</a:t>
            </a:r>
            <a:endParaRPr lang="en-US" sz="1050" dirty="0"/>
          </a:p>
        </p:txBody>
      </p:sp>
      <p:sp>
        <p:nvSpPr>
          <p:cNvPr id="52" name="Shape 48"/>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FFFFFF">
              <a:alpha val="0"/>
            </a:srgbClr>
          </a:solidFill>
          <a:ln/>
        </p:spPr>
      </p:sp>
      <p:sp>
        <p:nvSpPr>
          <p:cNvPr id="53" name="Text 49"/>
          <p:cNvSpPr/>
          <p:nvPr/>
        </p:nvSpPr>
        <p:spPr>
          <a:xfrm>
            <a:off x="705902" y="3917979"/>
            <a:ext cx="1713750" cy="1225521"/>
          </a:xfrm>
          <a:prstGeom prst="rect">
            <a:avLst/>
          </a:prstGeom>
          <a:noFill/>
          <a:ln/>
        </p:spPr>
        <p:txBody>
          <a:bodyPr wrap="square" rtlCol="0" anchor="t"/>
          <a:lstStyle/>
          <a:p>
            <a:pPr indent="0" marL="0">
              <a:spcBef>
                <a:spcPts val="375"/>
              </a:spcBef>
              <a:buNone/>
            </a:pPr>
            <a:endParaRPr lang="en-US" sz="1050" dirty="0"/>
          </a:p>
        </p:txBody>
      </p:sp>
      <p:sp>
        <p:nvSpPr>
          <p:cNvPr id="54" name="Shape 50"/>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000000">
              <a:alpha val="0"/>
            </a:srgbClr>
          </a:solidFill>
          <a:ln/>
        </p:spPr>
      </p:sp>
      <p:sp>
        <p:nvSpPr>
          <p:cNvPr id="55" name="Text 51"/>
          <p:cNvSpPr/>
          <p:nvPr/>
        </p:nvSpPr>
        <p:spPr>
          <a:xfrm>
            <a:off x="705902" y="3917979"/>
            <a:ext cx="1713750" cy="122552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56" name="Shape 52"/>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FFFFFF">
              <a:alpha val="0"/>
            </a:srgbClr>
          </a:solidFill>
          <a:ln/>
        </p:spPr>
      </p:sp>
      <p:sp>
        <p:nvSpPr>
          <p:cNvPr id="57" name="Text 53"/>
          <p:cNvSpPr/>
          <p:nvPr/>
        </p:nvSpPr>
        <p:spPr>
          <a:xfrm>
            <a:off x="705902" y="3917979"/>
            <a:ext cx="1713750" cy="1225521"/>
          </a:xfrm>
          <a:prstGeom prst="rect">
            <a:avLst/>
          </a:prstGeom>
          <a:noFill/>
          <a:ln/>
        </p:spPr>
        <p:txBody>
          <a:bodyPr wrap="square" rtlCol="0" anchor="t"/>
          <a:lstStyle/>
          <a:p>
            <a:pPr indent="0" marL="0">
              <a:spcBef>
                <a:spcPts val="375"/>
              </a:spcBef>
              <a:buNone/>
            </a:pPr>
            <a:endParaRPr lang="en-US" sz="1050" dirty="0"/>
          </a:p>
        </p:txBody>
      </p:sp>
      <p:sp>
        <p:nvSpPr>
          <p:cNvPr id="58" name="Shape 54"/>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000000">
              <a:alpha val="0"/>
            </a:srgbClr>
          </a:solidFill>
          <a:ln/>
        </p:spPr>
      </p:sp>
      <p:sp>
        <p:nvSpPr>
          <p:cNvPr id="59" name="Text 55"/>
          <p:cNvSpPr/>
          <p:nvPr/>
        </p:nvSpPr>
        <p:spPr>
          <a:xfrm>
            <a:off x="705902" y="3917979"/>
            <a:ext cx="1713750" cy="1225521"/>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Armiya, milliy xavfsizlikni ta'minlaydi va strategik mudofaa vazifalarini bajaradi. Harbiy tayyorgarliklar muntazam ravishda o'tkaziladi.</a:t>
            </a:r>
            <a:endParaRPr lang="en-US" sz="1050" dirty="0"/>
          </a:p>
        </p:txBody>
      </p:sp>
      <p:sp>
        <p:nvSpPr>
          <p:cNvPr id="60" name="Shape 56"/>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FFFFFF">
              <a:alpha val="0"/>
            </a:srgbClr>
          </a:solidFill>
          <a:ln/>
        </p:spPr>
      </p:sp>
      <p:sp>
        <p:nvSpPr>
          <p:cNvPr id="61" name="Text 57"/>
          <p:cNvSpPr/>
          <p:nvPr/>
        </p:nvSpPr>
        <p:spPr>
          <a:xfrm>
            <a:off x="3532953" y="3917979"/>
            <a:ext cx="1926401" cy="1225521"/>
          </a:xfrm>
          <a:prstGeom prst="rect">
            <a:avLst/>
          </a:prstGeom>
          <a:noFill/>
          <a:ln/>
        </p:spPr>
        <p:txBody>
          <a:bodyPr wrap="square" rtlCol="0" anchor="t"/>
          <a:lstStyle/>
          <a:p>
            <a:pPr indent="0" marL="0">
              <a:spcBef>
                <a:spcPts val="375"/>
              </a:spcBef>
              <a:buNone/>
            </a:pPr>
            <a:endParaRPr lang="en-US" sz="1050" dirty="0"/>
          </a:p>
        </p:txBody>
      </p:sp>
      <p:sp>
        <p:nvSpPr>
          <p:cNvPr id="62" name="Shape 58"/>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000000">
              <a:alpha val="0"/>
            </a:srgbClr>
          </a:solidFill>
          <a:ln/>
        </p:spPr>
      </p:sp>
      <p:sp>
        <p:nvSpPr>
          <p:cNvPr id="63" name="Text 59"/>
          <p:cNvSpPr/>
          <p:nvPr/>
        </p:nvSpPr>
        <p:spPr>
          <a:xfrm>
            <a:off x="3532953" y="3917979"/>
            <a:ext cx="1926401" cy="1225521"/>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64" name="Shape 60"/>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FFFFFF">
              <a:alpha val="0"/>
            </a:srgbClr>
          </a:solidFill>
          <a:ln/>
        </p:spPr>
      </p:sp>
      <p:sp>
        <p:nvSpPr>
          <p:cNvPr id="65" name="Text 61"/>
          <p:cNvSpPr/>
          <p:nvPr/>
        </p:nvSpPr>
        <p:spPr>
          <a:xfrm>
            <a:off x="3532953" y="3917979"/>
            <a:ext cx="1926401" cy="1225521"/>
          </a:xfrm>
          <a:prstGeom prst="rect">
            <a:avLst/>
          </a:prstGeom>
          <a:noFill/>
          <a:ln/>
        </p:spPr>
        <p:txBody>
          <a:bodyPr wrap="square" rtlCol="0" anchor="t"/>
          <a:lstStyle/>
          <a:p>
            <a:pPr indent="0" marL="0">
              <a:spcBef>
                <a:spcPts val="375"/>
              </a:spcBef>
              <a:buNone/>
            </a:pPr>
            <a:endParaRPr lang="en-US" sz="1050" dirty="0"/>
          </a:p>
        </p:txBody>
      </p:sp>
      <p:sp>
        <p:nvSpPr>
          <p:cNvPr id="66" name="Shape 62"/>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000000">
              <a:alpha val="0"/>
            </a:srgbClr>
          </a:solidFill>
          <a:ln/>
        </p:spPr>
      </p:sp>
      <p:sp>
        <p:nvSpPr>
          <p:cNvPr id="67" name="Text 63"/>
          <p:cNvSpPr/>
          <p:nvPr/>
        </p:nvSpPr>
        <p:spPr>
          <a:xfrm>
            <a:off x="3532953" y="3917979"/>
            <a:ext cx="1926401" cy="1225521"/>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Yuqori malakali mutaxassislar tomonidan boshqariladigan armiyaning vazifalari, mamlakat ichki va tashqi tahdidlardan himoya qilishdir. Harbiy strategiyalar doimiy ravishda yangilanadi.</a:t>
            </a:r>
            <a:endParaRPr lang="en-US" sz="1050" dirty="0"/>
          </a:p>
        </p:txBody>
      </p:sp>
      <p:sp>
        <p:nvSpPr>
          <p:cNvPr id="68" name="Shape 64"/>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FFFFFF">
              <a:alpha val="0"/>
            </a:srgbClr>
          </a:solidFill>
          <a:ln/>
        </p:spPr>
      </p:sp>
      <p:sp>
        <p:nvSpPr>
          <p:cNvPr id="69" name="Text 65"/>
          <p:cNvSpPr/>
          <p:nvPr/>
        </p:nvSpPr>
        <p:spPr>
          <a:xfrm>
            <a:off x="3473884" y="2053192"/>
            <a:ext cx="2079983" cy="866556"/>
          </a:xfrm>
          <a:prstGeom prst="rect">
            <a:avLst/>
          </a:prstGeom>
          <a:noFill/>
          <a:ln/>
        </p:spPr>
        <p:txBody>
          <a:bodyPr wrap="square" rtlCol="0" anchor="t"/>
          <a:lstStyle/>
          <a:p>
            <a:pPr indent="0" marL="0">
              <a:spcBef>
                <a:spcPts val="375"/>
              </a:spcBef>
              <a:buNone/>
            </a:pPr>
            <a:endParaRPr lang="en-US" sz="1050" dirty="0"/>
          </a:p>
        </p:txBody>
      </p:sp>
      <p:sp>
        <p:nvSpPr>
          <p:cNvPr id="70" name="Shape 66"/>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000000">
              <a:alpha val="0"/>
            </a:srgbClr>
          </a:solidFill>
          <a:ln/>
        </p:spPr>
      </p:sp>
      <p:sp>
        <p:nvSpPr>
          <p:cNvPr id="71" name="Text 67"/>
          <p:cNvSpPr/>
          <p:nvPr/>
        </p:nvSpPr>
        <p:spPr>
          <a:xfrm>
            <a:off x="3473884" y="2053192"/>
            <a:ext cx="2079983" cy="8665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72" name="Shape 68"/>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FFFFFF">
              <a:alpha val="0"/>
            </a:srgbClr>
          </a:solidFill>
          <a:ln/>
        </p:spPr>
      </p:sp>
      <p:sp>
        <p:nvSpPr>
          <p:cNvPr id="73" name="Text 69"/>
          <p:cNvSpPr/>
          <p:nvPr/>
        </p:nvSpPr>
        <p:spPr>
          <a:xfrm>
            <a:off x="3473884" y="2053192"/>
            <a:ext cx="2079983" cy="866556"/>
          </a:xfrm>
          <a:prstGeom prst="rect">
            <a:avLst/>
          </a:prstGeom>
          <a:noFill/>
          <a:ln/>
        </p:spPr>
        <p:txBody>
          <a:bodyPr wrap="square" rtlCol="0" anchor="t"/>
          <a:lstStyle/>
          <a:p>
            <a:pPr indent="0" marL="0">
              <a:spcBef>
                <a:spcPts val="375"/>
              </a:spcBef>
              <a:buNone/>
            </a:pPr>
            <a:endParaRPr lang="en-US" sz="1050" dirty="0"/>
          </a:p>
        </p:txBody>
      </p:sp>
      <p:sp>
        <p:nvSpPr>
          <p:cNvPr id="74" name="Shape 70"/>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000000">
              <a:alpha val="0"/>
            </a:srgbClr>
          </a:solidFill>
          <a:ln/>
        </p:spPr>
      </p:sp>
      <p:sp>
        <p:nvSpPr>
          <p:cNvPr id="75" name="Text 71"/>
          <p:cNvSpPr/>
          <p:nvPr/>
        </p:nvSpPr>
        <p:spPr>
          <a:xfrm>
            <a:off x="3473884" y="2053192"/>
            <a:ext cx="2079983" cy="866556"/>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O'zbekiston armiyasining muvaffaqiyati, zamonaviy qurollar va uskunalarga asoslanadi. Barcha harbiy xizmatchilar uchun professional tayyorgarlik zarur.</a:t>
            </a:r>
            <a:endParaRPr lang="en-US" sz="1050" dirty="0"/>
          </a:p>
        </p:txBody>
      </p:sp>
      <p:sp>
        <p:nvSpPr>
          <p:cNvPr id="76" name="Shape 72"/>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FFFFFF">
              <a:alpha val="0"/>
            </a:srgbClr>
          </a:solidFill>
          <a:ln/>
        </p:spPr>
      </p:sp>
      <p:sp>
        <p:nvSpPr>
          <p:cNvPr id="77" name="Text 73"/>
          <p:cNvSpPr/>
          <p:nvPr/>
        </p:nvSpPr>
        <p:spPr>
          <a:xfrm>
            <a:off x="0" y="0"/>
            <a:ext cx="2857500" cy="238125"/>
          </a:xfrm>
          <a:prstGeom prst="rect">
            <a:avLst/>
          </a:prstGeom>
          <a:noFill/>
          <a:ln/>
        </p:spPr>
        <p:txBody>
          <a:bodyPr wrap="square" rtlCol="0" anchor="t"/>
          <a:lstStyle/>
          <a:p>
            <a:pPr indent="0" marL="0">
              <a:spcBef>
                <a:spcPts val="375"/>
              </a:spcBef>
              <a:buNone/>
            </a:pPr>
            <a:endParaRPr lang="en-US" sz="1050" dirty="0"/>
          </a:p>
        </p:txBody>
      </p:sp>
      <p:sp>
        <p:nvSpPr>
          <p:cNvPr id="78" name="Shape 74"/>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000000">
              <a:alpha val="0"/>
            </a:srgbClr>
          </a:solidFill>
          <a:ln/>
        </p:spPr>
      </p:sp>
      <p:sp>
        <p:nvSpPr>
          <p:cNvPr id="79" name="Text 75"/>
          <p:cNvSpPr/>
          <p:nvPr/>
        </p:nvSpPr>
        <p:spPr>
          <a:xfrm>
            <a:off x="0" y="0"/>
            <a:ext cx="2857500" cy="238125"/>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0" name="Shape 76"/>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FFFFFF">
              <a:alpha val="0"/>
            </a:srgbClr>
          </a:solidFill>
          <a:ln/>
        </p:spPr>
      </p:sp>
      <p:sp>
        <p:nvSpPr>
          <p:cNvPr id="81" name="Text 77"/>
          <p:cNvSpPr/>
          <p:nvPr/>
        </p:nvSpPr>
        <p:spPr>
          <a:xfrm>
            <a:off x="0" y="0"/>
            <a:ext cx="2857500" cy="238125"/>
          </a:xfrm>
          <a:prstGeom prst="rect">
            <a:avLst/>
          </a:prstGeom>
          <a:noFill/>
          <a:ln/>
        </p:spPr>
        <p:txBody>
          <a:bodyPr wrap="square" rtlCol="0" anchor="t"/>
          <a:lstStyle/>
          <a:p>
            <a:pPr indent="0" marL="0">
              <a:spcBef>
                <a:spcPts val="375"/>
              </a:spcBef>
              <a:buNone/>
            </a:pPr>
            <a:endParaRPr lang="en-US" sz="1050" dirty="0"/>
          </a:p>
        </p:txBody>
      </p:sp>
      <p:sp>
        <p:nvSpPr>
          <p:cNvPr id="82" name="Shape 78"/>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000000">
              <a:alpha val="0"/>
            </a:srgbClr>
          </a:solidFill>
          <a:ln/>
        </p:spPr>
      </p:sp>
      <p:sp>
        <p:nvSpPr>
          <p:cNvPr id="83" name="Text 79"/>
          <p:cNvSpPr/>
          <p:nvPr/>
        </p:nvSpPr>
        <p:spPr>
          <a:xfrm>
            <a:off x="0" y="0"/>
            <a:ext cx="2857500" cy="238125"/>
          </a:xfrm>
          <a:prstGeom prst="rect">
            <a:avLst/>
          </a:prstGeom>
          <a:noFill/>
          <a:ln/>
        </p:spPr>
        <p:txBody>
          <a:bodyPr wrap="square" rtlCol="0" anchor="t"/>
          <a:lstStyle/>
          <a:p>
            <a:pPr algn="l" indent="0" marL="0">
              <a:spcBef>
                <a:spcPts val="375"/>
              </a:spcBef>
              <a:buNone/>
            </a:pPr>
            <a:r>
              <a:rPr lang="en-US" sz="600" dirty="0">
                <a:solidFill>
                  <a:srgbClr val="333333"/>
                </a:solidFill>
                <a:latin typeface="微软雅黑" pitchFamily="34" charset="0"/>
                <a:ea typeface="微软雅黑" pitchFamily="34" charset="-122"/>
                <a:cs typeface="微软雅黑" pitchFamily="34" charset="-120"/>
              </a:rPr>
              <a:t>O'zbekiston Armiyasining Vazifalari</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1F1"/>
        </a:solidFill>
      </p:bgPr>
    </p:bg>
    <p:spTree>
      <p:nvGrpSpPr>
        <p:cNvPr id="1" name=""/>
        <p:cNvGrpSpPr/>
        <p:nvPr/>
      </p:nvGrpSpPr>
      <p:grpSpPr>
        <a:xfrm>
          <a:off x="0" y="0"/>
          <a:ext cx="0" cy="0"/>
          <a:chOff x="0" y="0"/>
          <a:chExt cx="0" cy="0"/>
        </a:xfrm>
      </p:grpSpPr>
      <p:pic>
        <p:nvPicPr>
          <p:cNvPr id="2" name="Image 0" descr="./images\slide6_img44.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images\slide6_img45.png">    </p:cNvPr>
          <p:cNvPicPr>
            <a:picLocks noChangeAspect="1"/>
          </p:cNvPicPr>
          <p:nvPr/>
        </p:nvPicPr>
        <p:blipFill>
          <a:blip r:embed="rId2"/>
          <a:stretch>
            <a:fillRect/>
          </a:stretch>
        </p:blipFill>
        <p:spPr>
          <a:xfrm>
            <a:off x="419387" y="1645896"/>
            <a:ext cx="2957551" cy="3098256"/>
          </a:xfrm>
          <a:prstGeom prst="rect">
            <a:avLst/>
          </a:prstGeom>
        </p:spPr>
      </p:pic>
      <p:sp>
        <p:nvSpPr>
          <p:cNvPr id="4" name="Shape 0"/>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FFFFFF">
              <a:alpha val="0"/>
            </a:srgbClr>
          </a:solidFill>
          <a:ln/>
        </p:spPr>
      </p:sp>
      <p:sp>
        <p:nvSpPr>
          <p:cNvPr id="5" name="Text 1"/>
          <p:cNvSpPr/>
          <p:nvPr/>
        </p:nvSpPr>
        <p:spPr>
          <a:xfrm>
            <a:off x="419387" y="1645896"/>
            <a:ext cx="2957551" cy="3098256"/>
          </a:xfrm>
          <a:prstGeom prst="rect">
            <a:avLst/>
          </a:prstGeom>
          <a:noFill/>
          <a:ln/>
        </p:spPr>
        <p:txBody>
          <a:bodyPr wrap="square" rtlCol="0" anchor="t"/>
          <a:lstStyle/>
          <a:p>
            <a:pPr indent="0" marL="0">
              <a:spcBef>
                <a:spcPts val="375"/>
              </a:spcBef>
              <a:buNone/>
            </a:pPr>
            <a:endParaRPr lang="en-US" sz="1050" dirty="0"/>
          </a:p>
        </p:txBody>
      </p:sp>
      <p:sp>
        <p:nvSpPr>
          <p:cNvPr id="6" name="Shape 2"/>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7" name="Text 3"/>
          <p:cNvSpPr/>
          <p:nvPr/>
        </p:nvSpPr>
        <p:spPr>
          <a:xfrm>
            <a:off x="419387" y="1645896"/>
            <a:ext cx="2957551" cy="30982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 name="Shape 4"/>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FFFFFF">
              <a:alpha val="0"/>
            </a:srgbClr>
          </a:solidFill>
          <a:ln/>
        </p:spPr>
      </p:sp>
      <p:sp>
        <p:nvSpPr>
          <p:cNvPr id="9" name="Text 5"/>
          <p:cNvSpPr/>
          <p:nvPr/>
        </p:nvSpPr>
        <p:spPr>
          <a:xfrm>
            <a:off x="419387" y="1645896"/>
            <a:ext cx="2957551" cy="3098256"/>
          </a:xfrm>
          <a:prstGeom prst="rect">
            <a:avLst/>
          </a:prstGeom>
          <a:noFill/>
          <a:ln/>
        </p:spPr>
        <p:txBody>
          <a:bodyPr wrap="square" rtlCol="0" anchor="t"/>
          <a:lstStyle/>
          <a:p>
            <a:pPr indent="0" marL="0">
              <a:spcBef>
                <a:spcPts val="375"/>
              </a:spcBef>
              <a:buNone/>
            </a:pPr>
            <a:endParaRPr lang="en-US" sz="1050" dirty="0"/>
          </a:p>
        </p:txBody>
      </p:sp>
      <p:sp>
        <p:nvSpPr>
          <p:cNvPr id="10" name="Shape 6"/>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11" name="Text 7"/>
          <p:cNvSpPr/>
          <p:nvPr/>
        </p:nvSpPr>
        <p:spPr>
          <a:xfrm>
            <a:off x="419387" y="1645896"/>
            <a:ext cx="2957551" cy="30982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12" name="Image 2" descr="./images\slide6_img46.png">    </p:cNvPr>
          <p:cNvPicPr>
            <a:picLocks noChangeAspect="1"/>
          </p:cNvPicPr>
          <p:nvPr/>
        </p:nvPicPr>
        <p:blipFill>
          <a:blip r:embed="rId3"/>
          <a:stretch>
            <a:fillRect/>
          </a:stretch>
        </p:blipFill>
        <p:spPr>
          <a:xfrm>
            <a:off x="419387" y="1645896"/>
            <a:ext cx="2957551" cy="3098256"/>
          </a:xfrm>
          <a:prstGeom prst="rect">
            <a:avLst/>
          </a:prstGeom>
        </p:spPr>
      </p:pic>
      <p:pic>
        <p:nvPicPr>
          <p:cNvPr id="13" name="Image 3" descr="./images\slide6_img47.png">    </p:cNvPr>
          <p:cNvPicPr>
            <a:picLocks noChangeAspect="1"/>
          </p:cNvPicPr>
          <p:nvPr/>
        </p:nvPicPr>
        <p:blipFill>
          <a:blip r:embed="rId4"/>
          <a:stretch>
            <a:fillRect/>
          </a:stretch>
        </p:blipFill>
        <p:spPr>
          <a:xfrm>
            <a:off x="1614449" y="1645896"/>
            <a:ext cx="2957551" cy="3098256"/>
          </a:xfrm>
          <a:prstGeom prst="rect">
            <a:avLst/>
          </a:prstGeom>
        </p:spPr>
      </p:pic>
      <p:sp>
        <p:nvSpPr>
          <p:cNvPr id="14" name="Shape 8"/>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FFFFFF">
              <a:alpha val="0"/>
            </a:srgbClr>
          </a:solidFill>
          <a:ln/>
        </p:spPr>
      </p:sp>
      <p:sp>
        <p:nvSpPr>
          <p:cNvPr id="15" name="Text 9"/>
          <p:cNvSpPr/>
          <p:nvPr/>
        </p:nvSpPr>
        <p:spPr>
          <a:xfrm>
            <a:off x="1614449" y="1645896"/>
            <a:ext cx="2957551" cy="3098256"/>
          </a:xfrm>
          <a:prstGeom prst="rect">
            <a:avLst/>
          </a:prstGeom>
          <a:noFill/>
          <a:ln/>
        </p:spPr>
        <p:txBody>
          <a:bodyPr wrap="square" rtlCol="0" anchor="t"/>
          <a:lstStyle/>
          <a:p>
            <a:pPr indent="0" marL="0">
              <a:spcBef>
                <a:spcPts val="375"/>
              </a:spcBef>
              <a:buNone/>
            </a:pPr>
            <a:endParaRPr lang="en-US" sz="1050" dirty="0"/>
          </a:p>
        </p:txBody>
      </p:sp>
      <p:sp>
        <p:nvSpPr>
          <p:cNvPr id="16" name="Shape 10"/>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17" name="Text 11"/>
          <p:cNvSpPr/>
          <p:nvPr/>
        </p:nvSpPr>
        <p:spPr>
          <a:xfrm>
            <a:off x="1614449" y="1645896"/>
            <a:ext cx="2957551" cy="30982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8" name="Shape 12"/>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FFFFFF">
              <a:alpha val="0"/>
            </a:srgbClr>
          </a:solidFill>
          <a:ln/>
        </p:spPr>
      </p:sp>
      <p:sp>
        <p:nvSpPr>
          <p:cNvPr id="19" name="Text 13"/>
          <p:cNvSpPr/>
          <p:nvPr/>
        </p:nvSpPr>
        <p:spPr>
          <a:xfrm>
            <a:off x="1614449" y="1645896"/>
            <a:ext cx="2957551" cy="3098256"/>
          </a:xfrm>
          <a:prstGeom prst="rect">
            <a:avLst/>
          </a:prstGeom>
          <a:noFill/>
          <a:ln/>
        </p:spPr>
        <p:txBody>
          <a:bodyPr wrap="square" rtlCol="0" anchor="t"/>
          <a:lstStyle/>
          <a:p>
            <a:pPr indent="0" marL="0">
              <a:spcBef>
                <a:spcPts val="375"/>
              </a:spcBef>
              <a:buNone/>
            </a:pPr>
            <a:endParaRPr lang="en-US" sz="1050" dirty="0"/>
          </a:p>
        </p:txBody>
      </p:sp>
      <p:sp>
        <p:nvSpPr>
          <p:cNvPr id="20" name="Shape 14"/>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21" name="Text 15"/>
          <p:cNvSpPr/>
          <p:nvPr/>
        </p:nvSpPr>
        <p:spPr>
          <a:xfrm>
            <a:off x="1614449" y="1645896"/>
            <a:ext cx="2957551" cy="3098256"/>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22" name="Image 4" descr="./images\slide6_img48.png">    </p:cNvPr>
          <p:cNvPicPr>
            <a:picLocks noChangeAspect="1"/>
          </p:cNvPicPr>
          <p:nvPr/>
        </p:nvPicPr>
        <p:blipFill>
          <a:blip r:embed="rId5"/>
          <a:stretch>
            <a:fillRect/>
          </a:stretch>
        </p:blipFill>
        <p:spPr>
          <a:xfrm>
            <a:off x="1614449" y="1645896"/>
            <a:ext cx="2957551" cy="3098256"/>
          </a:xfrm>
          <a:prstGeom prst="rect">
            <a:avLst/>
          </a:prstGeom>
        </p:spPr>
      </p:pic>
      <p:pic>
        <p:nvPicPr>
          <p:cNvPr id="23" name="Image 5" descr="./images\slide6_img49.jpeg">    </p:cNvPr>
          <p:cNvPicPr>
            <a:picLocks noChangeAspect="1"/>
          </p:cNvPicPr>
          <p:nvPr/>
        </p:nvPicPr>
        <p:blipFill>
          <a:blip r:embed="rId6"/>
          <a:srcRect l="2309" r="47694" t="0" b="45747"/>
          <a:stretch/>
        </p:blipFill>
        <p:spPr>
          <a:xfrm>
            <a:off x="534644" y="1797247"/>
            <a:ext cx="3551957" cy="2569595"/>
          </a:xfrm>
          <a:prstGeom prst="rect">
            <a:avLst/>
          </a:prstGeom>
        </p:spPr>
      </p:pic>
      <p:sp>
        <p:nvSpPr>
          <p:cNvPr id="24" name="Shape 16"/>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FFFFFF">
              <a:alpha val="0"/>
            </a:srgbClr>
          </a:solidFill>
          <a:ln/>
        </p:spPr>
      </p:sp>
      <p:sp>
        <p:nvSpPr>
          <p:cNvPr id="25" name="Text 17"/>
          <p:cNvSpPr/>
          <p:nvPr/>
        </p:nvSpPr>
        <p:spPr>
          <a:xfrm>
            <a:off x="874042" y="289968"/>
            <a:ext cx="7395900" cy="476250"/>
          </a:xfrm>
          <a:prstGeom prst="rect">
            <a:avLst/>
          </a:prstGeom>
          <a:noFill/>
          <a:ln/>
        </p:spPr>
        <p:txBody>
          <a:bodyPr wrap="square" rtlCol="0" anchor="t"/>
          <a:lstStyle/>
          <a:p>
            <a:pPr indent="0" marL="0">
              <a:spcBef>
                <a:spcPts val="375"/>
              </a:spcBef>
              <a:buNone/>
            </a:pPr>
            <a:endParaRPr lang="en-US" sz="1050" dirty="0"/>
          </a:p>
        </p:txBody>
      </p:sp>
      <p:sp>
        <p:nvSpPr>
          <p:cNvPr id="26" name="Shape 18"/>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000000">
              <a:alpha val="0"/>
            </a:srgbClr>
          </a:solidFill>
          <a:ln/>
        </p:spPr>
      </p:sp>
      <p:sp>
        <p:nvSpPr>
          <p:cNvPr id="27" name="Text 19"/>
          <p:cNvSpPr/>
          <p:nvPr/>
        </p:nvSpPr>
        <p:spPr>
          <a:xfrm>
            <a:off x="874042" y="289968"/>
            <a:ext cx="7395900"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8" name="Shape 20"/>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FFFFFF">
              <a:alpha val="0"/>
            </a:srgbClr>
          </a:solidFill>
          <a:ln/>
        </p:spPr>
      </p:sp>
      <p:sp>
        <p:nvSpPr>
          <p:cNvPr id="29" name="Text 21"/>
          <p:cNvSpPr/>
          <p:nvPr/>
        </p:nvSpPr>
        <p:spPr>
          <a:xfrm>
            <a:off x="874042" y="289968"/>
            <a:ext cx="7395900" cy="476250"/>
          </a:xfrm>
          <a:prstGeom prst="rect">
            <a:avLst/>
          </a:prstGeom>
          <a:noFill/>
          <a:ln/>
        </p:spPr>
        <p:txBody>
          <a:bodyPr wrap="square" rtlCol="0" anchor="t"/>
          <a:lstStyle/>
          <a:p>
            <a:pPr indent="0" marL="0">
              <a:spcBef>
                <a:spcPts val="375"/>
              </a:spcBef>
              <a:buNone/>
            </a:pPr>
            <a:endParaRPr lang="en-US" sz="1050" dirty="0"/>
          </a:p>
        </p:txBody>
      </p:sp>
      <p:sp>
        <p:nvSpPr>
          <p:cNvPr id="30" name="Shape 22"/>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000000">
              <a:alpha val="0"/>
            </a:srgbClr>
          </a:solidFill>
          <a:ln/>
        </p:spPr>
      </p:sp>
      <p:sp>
        <p:nvSpPr>
          <p:cNvPr id="31" name="Text 23"/>
          <p:cNvSpPr/>
          <p:nvPr/>
        </p:nvSpPr>
        <p:spPr>
          <a:xfrm>
            <a:off x="874042" y="289968"/>
            <a:ext cx="7395900"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Zamonaviy Harbiy Rivojlanish</a:t>
            </a:r>
            <a:endParaRPr lang="en-US" sz="1050" dirty="0"/>
          </a:p>
        </p:txBody>
      </p:sp>
      <p:sp>
        <p:nvSpPr>
          <p:cNvPr id="32" name="Shape 24"/>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FFFFFF">
              <a:alpha val="0"/>
            </a:srgbClr>
          </a:solidFill>
          <a:ln/>
        </p:spPr>
      </p:sp>
      <p:sp>
        <p:nvSpPr>
          <p:cNvPr id="33" name="Text 25"/>
          <p:cNvSpPr/>
          <p:nvPr/>
        </p:nvSpPr>
        <p:spPr>
          <a:xfrm>
            <a:off x="4572000" y="1768209"/>
            <a:ext cx="1448190" cy="476250"/>
          </a:xfrm>
          <a:prstGeom prst="rect">
            <a:avLst/>
          </a:prstGeom>
          <a:noFill/>
          <a:ln/>
        </p:spPr>
        <p:txBody>
          <a:bodyPr wrap="square" rtlCol="0" anchor="t"/>
          <a:lstStyle/>
          <a:p>
            <a:pPr indent="0" marL="0">
              <a:spcBef>
                <a:spcPts val="375"/>
              </a:spcBef>
              <a:buNone/>
            </a:pPr>
            <a:endParaRPr lang="en-US" sz="1050" dirty="0"/>
          </a:p>
        </p:txBody>
      </p:sp>
      <p:sp>
        <p:nvSpPr>
          <p:cNvPr id="34" name="Shape 26"/>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000000">
              <a:alpha val="0"/>
            </a:srgbClr>
          </a:solidFill>
          <a:ln/>
        </p:spPr>
      </p:sp>
      <p:sp>
        <p:nvSpPr>
          <p:cNvPr id="35" name="Text 27"/>
          <p:cNvSpPr/>
          <p:nvPr/>
        </p:nvSpPr>
        <p:spPr>
          <a:xfrm>
            <a:off x="4572000" y="1768209"/>
            <a:ext cx="1448190"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36" name="Shape 28"/>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FFFFFF">
              <a:alpha val="0"/>
            </a:srgbClr>
          </a:solidFill>
          <a:ln/>
        </p:spPr>
      </p:sp>
      <p:sp>
        <p:nvSpPr>
          <p:cNvPr id="37" name="Text 29"/>
          <p:cNvSpPr/>
          <p:nvPr/>
        </p:nvSpPr>
        <p:spPr>
          <a:xfrm>
            <a:off x="4572000" y="1768209"/>
            <a:ext cx="1448190" cy="476250"/>
          </a:xfrm>
          <a:prstGeom prst="rect">
            <a:avLst/>
          </a:prstGeom>
          <a:noFill/>
          <a:ln/>
        </p:spPr>
        <p:txBody>
          <a:bodyPr wrap="square" rtlCol="0" anchor="t"/>
          <a:lstStyle/>
          <a:p>
            <a:pPr indent="0" marL="0">
              <a:spcBef>
                <a:spcPts val="375"/>
              </a:spcBef>
              <a:buNone/>
            </a:pPr>
            <a:endParaRPr lang="en-US" sz="1050" dirty="0"/>
          </a:p>
        </p:txBody>
      </p:sp>
      <p:sp>
        <p:nvSpPr>
          <p:cNvPr id="38" name="Shape 30"/>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000000">
              <a:alpha val="0"/>
            </a:srgbClr>
          </a:solidFill>
          <a:ln/>
        </p:spPr>
      </p:sp>
      <p:sp>
        <p:nvSpPr>
          <p:cNvPr id="39" name="Text 31"/>
          <p:cNvSpPr/>
          <p:nvPr/>
        </p:nvSpPr>
        <p:spPr>
          <a:xfrm>
            <a:off x="4572000" y="1768209"/>
            <a:ext cx="1448190"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Yangiliklar</a:t>
            </a:r>
            <a:endParaRPr lang="en-US" sz="1050" dirty="0"/>
          </a:p>
        </p:txBody>
      </p:sp>
      <p:sp>
        <p:nvSpPr>
          <p:cNvPr id="40" name="Shape 32"/>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FFFFFF">
              <a:alpha val="0"/>
            </a:srgbClr>
          </a:solidFill>
          <a:ln/>
        </p:spPr>
      </p:sp>
      <p:sp>
        <p:nvSpPr>
          <p:cNvPr id="41" name="Text 33"/>
          <p:cNvSpPr/>
          <p:nvPr/>
        </p:nvSpPr>
        <p:spPr>
          <a:xfrm>
            <a:off x="4572000" y="2582210"/>
            <a:ext cx="1319049" cy="476250"/>
          </a:xfrm>
          <a:prstGeom prst="rect">
            <a:avLst/>
          </a:prstGeom>
          <a:noFill/>
          <a:ln/>
        </p:spPr>
        <p:txBody>
          <a:bodyPr wrap="square" rtlCol="0" anchor="t"/>
          <a:lstStyle/>
          <a:p>
            <a:pPr indent="0" marL="0">
              <a:spcBef>
                <a:spcPts val="375"/>
              </a:spcBef>
              <a:buNone/>
            </a:pPr>
            <a:endParaRPr lang="en-US" sz="1050" dirty="0"/>
          </a:p>
        </p:txBody>
      </p:sp>
      <p:sp>
        <p:nvSpPr>
          <p:cNvPr id="42" name="Shape 34"/>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43" name="Text 35"/>
          <p:cNvSpPr/>
          <p:nvPr/>
        </p:nvSpPr>
        <p:spPr>
          <a:xfrm>
            <a:off x="4572000" y="2582210"/>
            <a:ext cx="1319049"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44" name="Shape 36"/>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FFFFFF">
              <a:alpha val="0"/>
            </a:srgbClr>
          </a:solidFill>
          <a:ln/>
        </p:spPr>
      </p:sp>
      <p:sp>
        <p:nvSpPr>
          <p:cNvPr id="45" name="Text 37"/>
          <p:cNvSpPr/>
          <p:nvPr/>
        </p:nvSpPr>
        <p:spPr>
          <a:xfrm>
            <a:off x="4572000" y="2582210"/>
            <a:ext cx="1319049" cy="476250"/>
          </a:xfrm>
          <a:prstGeom prst="rect">
            <a:avLst/>
          </a:prstGeom>
          <a:noFill/>
          <a:ln/>
        </p:spPr>
        <p:txBody>
          <a:bodyPr wrap="square" rtlCol="0" anchor="t"/>
          <a:lstStyle/>
          <a:p>
            <a:pPr indent="0" marL="0">
              <a:spcBef>
                <a:spcPts val="375"/>
              </a:spcBef>
              <a:buNone/>
            </a:pPr>
            <a:endParaRPr lang="en-US" sz="1050" dirty="0"/>
          </a:p>
        </p:txBody>
      </p:sp>
      <p:sp>
        <p:nvSpPr>
          <p:cNvPr id="46" name="Shape 38"/>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47" name="Text 39"/>
          <p:cNvSpPr/>
          <p:nvPr/>
        </p:nvSpPr>
        <p:spPr>
          <a:xfrm>
            <a:off x="4572000" y="2582210"/>
            <a:ext cx="1319049"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Strategiyalari</a:t>
            </a:r>
            <a:endParaRPr lang="en-US" sz="1050" dirty="0"/>
          </a:p>
        </p:txBody>
      </p:sp>
      <p:sp>
        <p:nvSpPr>
          <p:cNvPr id="48" name="Shape 40"/>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FFFFFF">
              <a:alpha val="0"/>
            </a:srgbClr>
          </a:solidFill>
          <a:ln/>
        </p:spPr>
      </p:sp>
      <p:sp>
        <p:nvSpPr>
          <p:cNvPr id="49" name="Text 41"/>
          <p:cNvSpPr/>
          <p:nvPr/>
        </p:nvSpPr>
        <p:spPr>
          <a:xfrm>
            <a:off x="4572000" y="3663928"/>
            <a:ext cx="1319049" cy="476250"/>
          </a:xfrm>
          <a:prstGeom prst="rect">
            <a:avLst/>
          </a:prstGeom>
          <a:noFill/>
          <a:ln/>
        </p:spPr>
        <p:txBody>
          <a:bodyPr wrap="square" rtlCol="0" anchor="t"/>
          <a:lstStyle/>
          <a:p>
            <a:pPr indent="0" marL="0">
              <a:spcBef>
                <a:spcPts val="375"/>
              </a:spcBef>
              <a:buNone/>
            </a:pPr>
            <a:endParaRPr lang="en-US" sz="1050" dirty="0"/>
          </a:p>
        </p:txBody>
      </p:sp>
      <p:sp>
        <p:nvSpPr>
          <p:cNvPr id="50" name="Shape 42"/>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51" name="Text 43"/>
          <p:cNvSpPr/>
          <p:nvPr/>
        </p:nvSpPr>
        <p:spPr>
          <a:xfrm>
            <a:off x="4572000" y="3663928"/>
            <a:ext cx="1319049"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52" name="Shape 44"/>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FFFFFF">
              <a:alpha val="0"/>
            </a:srgbClr>
          </a:solidFill>
          <a:ln/>
        </p:spPr>
      </p:sp>
      <p:sp>
        <p:nvSpPr>
          <p:cNvPr id="53" name="Text 45"/>
          <p:cNvSpPr/>
          <p:nvPr/>
        </p:nvSpPr>
        <p:spPr>
          <a:xfrm>
            <a:off x="4572000" y="3663928"/>
            <a:ext cx="1319049" cy="476250"/>
          </a:xfrm>
          <a:prstGeom prst="rect">
            <a:avLst/>
          </a:prstGeom>
          <a:noFill/>
          <a:ln/>
        </p:spPr>
        <p:txBody>
          <a:bodyPr wrap="square" rtlCol="0" anchor="t"/>
          <a:lstStyle/>
          <a:p>
            <a:pPr indent="0" marL="0">
              <a:spcBef>
                <a:spcPts val="375"/>
              </a:spcBef>
              <a:buNone/>
            </a:pPr>
            <a:endParaRPr lang="en-US" sz="1050" dirty="0"/>
          </a:p>
        </p:txBody>
      </p:sp>
      <p:sp>
        <p:nvSpPr>
          <p:cNvPr id="54" name="Shape 46"/>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55" name="Text 47"/>
          <p:cNvSpPr/>
          <p:nvPr/>
        </p:nvSpPr>
        <p:spPr>
          <a:xfrm>
            <a:off x="4572000" y="3663928"/>
            <a:ext cx="1319049"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Dasturlari</a:t>
            </a:r>
            <a:endParaRPr lang="en-US" sz="1050" dirty="0"/>
          </a:p>
        </p:txBody>
      </p:sp>
      <p:sp>
        <p:nvSpPr>
          <p:cNvPr id="56" name="Shape 48"/>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FFFFFF">
              <a:alpha val="0"/>
            </a:srgbClr>
          </a:solidFill>
          <a:ln/>
        </p:spPr>
      </p:sp>
      <p:sp>
        <p:nvSpPr>
          <p:cNvPr id="57" name="Text 49"/>
          <p:cNvSpPr/>
          <p:nvPr/>
        </p:nvSpPr>
        <p:spPr>
          <a:xfrm>
            <a:off x="6052785" y="1736990"/>
            <a:ext cx="3091215" cy="1016499"/>
          </a:xfrm>
          <a:prstGeom prst="rect">
            <a:avLst/>
          </a:prstGeom>
          <a:noFill/>
          <a:ln/>
        </p:spPr>
        <p:txBody>
          <a:bodyPr wrap="square" rtlCol="0" anchor="t"/>
          <a:lstStyle/>
          <a:p>
            <a:pPr indent="0" marL="0">
              <a:spcBef>
                <a:spcPts val="375"/>
              </a:spcBef>
              <a:buNone/>
            </a:pPr>
            <a:endParaRPr lang="en-US" sz="1050" dirty="0"/>
          </a:p>
        </p:txBody>
      </p:sp>
      <p:sp>
        <p:nvSpPr>
          <p:cNvPr id="58" name="Shape 50"/>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000000">
              <a:alpha val="0"/>
            </a:srgbClr>
          </a:solidFill>
          <a:ln/>
        </p:spPr>
      </p:sp>
      <p:sp>
        <p:nvSpPr>
          <p:cNvPr id="59" name="Text 51"/>
          <p:cNvSpPr/>
          <p:nvPr/>
        </p:nvSpPr>
        <p:spPr>
          <a:xfrm>
            <a:off x="6052785" y="1736990"/>
            <a:ext cx="3091215" cy="1016499"/>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60" name="Shape 52"/>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FFFFFF">
              <a:alpha val="0"/>
            </a:srgbClr>
          </a:solidFill>
          <a:ln/>
        </p:spPr>
      </p:sp>
      <p:sp>
        <p:nvSpPr>
          <p:cNvPr id="61" name="Text 53"/>
          <p:cNvSpPr/>
          <p:nvPr/>
        </p:nvSpPr>
        <p:spPr>
          <a:xfrm>
            <a:off x="6052785" y="1736990"/>
            <a:ext cx="3091215" cy="1016499"/>
          </a:xfrm>
          <a:prstGeom prst="rect">
            <a:avLst/>
          </a:prstGeom>
          <a:noFill/>
          <a:ln/>
        </p:spPr>
        <p:txBody>
          <a:bodyPr wrap="square" rtlCol="0" anchor="t"/>
          <a:lstStyle/>
          <a:p>
            <a:pPr indent="0" marL="0">
              <a:spcBef>
                <a:spcPts val="375"/>
              </a:spcBef>
              <a:buNone/>
            </a:pPr>
            <a:endParaRPr lang="en-US" sz="1050" dirty="0"/>
          </a:p>
        </p:txBody>
      </p:sp>
      <p:sp>
        <p:nvSpPr>
          <p:cNvPr id="62" name="Shape 54"/>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000000">
              <a:alpha val="0"/>
            </a:srgbClr>
          </a:solidFill>
          <a:ln/>
        </p:spPr>
      </p:sp>
      <p:sp>
        <p:nvSpPr>
          <p:cNvPr id="63" name="Text 55"/>
          <p:cNvSpPr/>
          <p:nvPr/>
        </p:nvSpPr>
        <p:spPr>
          <a:xfrm>
            <a:off x="6052785" y="1736990"/>
            <a:ext cx="3091215" cy="1016499"/>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O'zbekiston armiyasi zamonaviy texnologiyalarni joriy etish orqali o'z qudratini oshirmoqda. Bu jarayon yangi harbiy strategiyalarni ishlab chiqish va zamonaviy qurollar bilan ta'minlashni o'z ichiga oladi.</a:t>
            </a:r>
            <a:endParaRPr lang="en-US" sz="1050" dirty="0"/>
          </a:p>
        </p:txBody>
      </p:sp>
      <p:sp>
        <p:nvSpPr>
          <p:cNvPr id="64" name="Shape 56"/>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FFFFFF">
              <a:alpha val="0"/>
            </a:srgbClr>
          </a:solidFill>
          <a:ln/>
        </p:spPr>
      </p:sp>
      <p:sp>
        <p:nvSpPr>
          <p:cNvPr id="65" name="Text 57"/>
          <p:cNvSpPr/>
          <p:nvPr/>
        </p:nvSpPr>
        <p:spPr>
          <a:xfrm>
            <a:off x="6052785" y="2753489"/>
            <a:ext cx="3091215" cy="910439"/>
          </a:xfrm>
          <a:prstGeom prst="rect">
            <a:avLst/>
          </a:prstGeom>
          <a:noFill/>
          <a:ln/>
        </p:spPr>
        <p:txBody>
          <a:bodyPr wrap="square" rtlCol="0" anchor="t"/>
          <a:lstStyle/>
          <a:p>
            <a:pPr indent="0" marL="0">
              <a:spcBef>
                <a:spcPts val="375"/>
              </a:spcBef>
              <a:buNone/>
            </a:pPr>
            <a:endParaRPr lang="en-US" sz="1050" dirty="0"/>
          </a:p>
        </p:txBody>
      </p:sp>
      <p:sp>
        <p:nvSpPr>
          <p:cNvPr id="66" name="Shape 58"/>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000000">
              <a:alpha val="0"/>
            </a:srgbClr>
          </a:solidFill>
          <a:ln/>
        </p:spPr>
      </p:sp>
      <p:sp>
        <p:nvSpPr>
          <p:cNvPr id="67" name="Text 59"/>
          <p:cNvSpPr/>
          <p:nvPr/>
        </p:nvSpPr>
        <p:spPr>
          <a:xfrm>
            <a:off x="6052785" y="2753489"/>
            <a:ext cx="3091215" cy="910439"/>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68" name="Shape 60"/>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FFFFFF">
              <a:alpha val="0"/>
            </a:srgbClr>
          </a:solidFill>
          <a:ln/>
        </p:spPr>
      </p:sp>
      <p:sp>
        <p:nvSpPr>
          <p:cNvPr id="69" name="Text 61"/>
          <p:cNvSpPr/>
          <p:nvPr/>
        </p:nvSpPr>
        <p:spPr>
          <a:xfrm>
            <a:off x="6052785" y="2753489"/>
            <a:ext cx="3091215" cy="910439"/>
          </a:xfrm>
          <a:prstGeom prst="rect">
            <a:avLst/>
          </a:prstGeom>
          <a:noFill/>
          <a:ln/>
        </p:spPr>
        <p:txBody>
          <a:bodyPr wrap="square" rtlCol="0" anchor="t"/>
          <a:lstStyle/>
          <a:p>
            <a:pPr indent="0" marL="0">
              <a:spcBef>
                <a:spcPts val="375"/>
              </a:spcBef>
              <a:buNone/>
            </a:pPr>
            <a:endParaRPr lang="en-US" sz="1050" dirty="0"/>
          </a:p>
        </p:txBody>
      </p:sp>
      <p:sp>
        <p:nvSpPr>
          <p:cNvPr id="70" name="Shape 62"/>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000000">
              <a:alpha val="0"/>
            </a:srgbClr>
          </a:solidFill>
          <a:ln/>
        </p:spPr>
      </p:sp>
      <p:sp>
        <p:nvSpPr>
          <p:cNvPr id="71" name="Text 63"/>
          <p:cNvSpPr/>
          <p:nvPr/>
        </p:nvSpPr>
        <p:spPr>
          <a:xfrm>
            <a:off x="6052785" y="2753489"/>
            <a:ext cx="3091215" cy="910439"/>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Zamonaviy armiyalarning rivojlanishi, ma'lumotlarni tahlil qilish va samarali qarorlar qabul qilish imkoniyatlarini oshiradi. Bu jarayon O'zbekiston uchun ham muhim ahamiyatga ega.</a:t>
            </a:r>
            <a:endParaRPr lang="en-US" sz="1050" dirty="0"/>
          </a:p>
        </p:txBody>
      </p:sp>
      <p:sp>
        <p:nvSpPr>
          <p:cNvPr id="72" name="Shape 64"/>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FFFFFF">
              <a:alpha val="0"/>
            </a:srgbClr>
          </a:solidFill>
          <a:ln/>
        </p:spPr>
      </p:sp>
      <p:sp>
        <p:nvSpPr>
          <p:cNvPr id="73" name="Text 65"/>
          <p:cNvSpPr/>
          <p:nvPr/>
        </p:nvSpPr>
        <p:spPr>
          <a:xfrm>
            <a:off x="6052785" y="3847022"/>
            <a:ext cx="3091215" cy="981843"/>
          </a:xfrm>
          <a:prstGeom prst="rect">
            <a:avLst/>
          </a:prstGeom>
          <a:noFill/>
          <a:ln/>
        </p:spPr>
        <p:txBody>
          <a:bodyPr wrap="square" rtlCol="0" anchor="t"/>
          <a:lstStyle/>
          <a:p>
            <a:pPr indent="0" marL="0">
              <a:spcBef>
                <a:spcPts val="375"/>
              </a:spcBef>
              <a:buNone/>
            </a:pPr>
            <a:endParaRPr lang="en-US" sz="1050" dirty="0"/>
          </a:p>
        </p:txBody>
      </p:sp>
      <p:sp>
        <p:nvSpPr>
          <p:cNvPr id="74" name="Shape 66"/>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000000">
              <a:alpha val="0"/>
            </a:srgbClr>
          </a:solidFill>
          <a:ln/>
        </p:spPr>
      </p:sp>
      <p:sp>
        <p:nvSpPr>
          <p:cNvPr id="75" name="Text 67"/>
          <p:cNvSpPr/>
          <p:nvPr/>
        </p:nvSpPr>
        <p:spPr>
          <a:xfrm>
            <a:off x="6052785" y="3847022"/>
            <a:ext cx="3091215" cy="981843"/>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76" name="Shape 68"/>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FFFFFF">
              <a:alpha val="0"/>
            </a:srgbClr>
          </a:solidFill>
          <a:ln/>
        </p:spPr>
      </p:sp>
      <p:sp>
        <p:nvSpPr>
          <p:cNvPr id="77" name="Text 69"/>
          <p:cNvSpPr/>
          <p:nvPr/>
        </p:nvSpPr>
        <p:spPr>
          <a:xfrm>
            <a:off x="6052785" y="3847022"/>
            <a:ext cx="3091215" cy="981843"/>
          </a:xfrm>
          <a:prstGeom prst="rect">
            <a:avLst/>
          </a:prstGeom>
          <a:noFill/>
          <a:ln/>
        </p:spPr>
        <p:txBody>
          <a:bodyPr wrap="square" rtlCol="0" anchor="t"/>
          <a:lstStyle/>
          <a:p>
            <a:pPr indent="0" marL="0">
              <a:spcBef>
                <a:spcPts val="375"/>
              </a:spcBef>
              <a:buNone/>
            </a:pPr>
            <a:endParaRPr lang="en-US" sz="1050" dirty="0"/>
          </a:p>
        </p:txBody>
      </p:sp>
      <p:sp>
        <p:nvSpPr>
          <p:cNvPr id="78" name="Shape 70"/>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000000">
              <a:alpha val="0"/>
            </a:srgbClr>
          </a:solidFill>
          <a:ln/>
        </p:spPr>
      </p:sp>
      <p:sp>
        <p:nvSpPr>
          <p:cNvPr id="79" name="Text 71"/>
          <p:cNvSpPr/>
          <p:nvPr/>
        </p:nvSpPr>
        <p:spPr>
          <a:xfrm>
            <a:off x="6052785" y="3847022"/>
            <a:ext cx="3091215" cy="981843"/>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O'zbekiston armiyasi yangi urush uslublarini o'rganib, ularni qo'llash bilan birga, xalqaro hamkorlikni ham rivojlantirmoqda, bu esa o'z harbiy qudratini yanada oshiradi.</a:t>
            </a:r>
            <a:endParaRPr lang="en-US" sz="1050" dirty="0"/>
          </a:p>
        </p:txBody>
      </p:sp>
      <p:pic>
        <p:nvPicPr>
          <p:cNvPr id="80" name="Image 6" descr="./images\slide6_img50.png">    </p:cNvPr>
          <p:cNvPicPr>
            <a:picLocks noChangeAspect="1"/>
          </p:cNvPicPr>
          <p:nvPr/>
        </p:nvPicPr>
        <p:blipFill>
          <a:blip r:embed="rId7"/>
          <a:stretch>
            <a:fillRect/>
          </a:stretch>
        </p:blipFill>
        <p:spPr>
          <a:xfrm rot="-780000">
            <a:off x="-308256" y="617196"/>
            <a:ext cx="1713253" cy="2057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1F1"/>
        </a:solidFill>
      </p:bgPr>
    </p:bg>
    <p:spTree>
      <p:nvGrpSpPr>
        <p:cNvPr id="1" name=""/>
        <p:cNvGrpSpPr/>
        <p:nvPr/>
      </p:nvGrpSpPr>
      <p:grpSpPr>
        <a:xfrm>
          <a:off x="0" y="0"/>
          <a:ext cx="0" cy="0"/>
          <a:chOff x="0" y="0"/>
          <a:chExt cx="0" cy="0"/>
        </a:xfrm>
      </p:grpSpPr>
      <p:pic>
        <p:nvPicPr>
          <p:cNvPr id="2" name="Image 0" descr="./images\slide7_img51.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images\slide7_img52.jpeg">    </p:cNvPr>
          <p:cNvPicPr>
            <a:picLocks noChangeAspect="1"/>
          </p:cNvPicPr>
          <p:nvPr/>
        </p:nvPicPr>
        <p:blipFill>
          <a:blip r:embed="rId2"/>
          <a:srcRect l="0" r="45747" t="4447" b="81054"/>
          <a:stretch/>
        </p:blipFill>
        <p:spPr>
          <a:xfrm>
            <a:off x="0" y="0"/>
            <a:ext cx="8427110" cy="1725523"/>
          </a:xfrm>
          <a:prstGeom prst="rect">
            <a:avLst/>
          </a:prstGeom>
        </p:spPr>
      </p:pic>
      <p:sp>
        <p:nvSpPr>
          <p:cNvPr id="4" name="Shape 0"/>
          <p:cNvSpPr/>
          <p:nvPr/>
        </p:nvSpPr>
        <p:spPr>
          <a:xfrm>
            <a:off x="614136" y="2207981"/>
            <a:ext cx="7826859" cy="552450"/>
          </a:xfrm>
          <a:custGeom>
            <a:avLst/>
            <a:gdLst/>
            <a:ahLst/>
            <a:cxnLst/>
            <a:rect l="l" t="t" r="r" b="b"/>
            <a:pathLst>
              <a:path w="7826859" h="552450">
                <a:moveTo>
                  <a:pt x="0" y="0"/>
                </a:moveTo>
                <a:lnTo>
                  <a:pt x="7826859" y="0"/>
                </a:lnTo>
                <a:lnTo>
                  <a:pt x="7826859" y="552450"/>
                </a:lnTo>
                <a:lnTo>
                  <a:pt x="0" y="552450"/>
                </a:lnTo>
                <a:close/>
              </a:path>
            </a:pathLst>
          </a:custGeom>
          <a:solidFill>
            <a:srgbClr val="FFFFFF">
              <a:alpha val="0"/>
            </a:srgbClr>
          </a:solidFill>
          <a:ln/>
        </p:spPr>
      </p:sp>
      <p:sp>
        <p:nvSpPr>
          <p:cNvPr id="5" name="Text 1"/>
          <p:cNvSpPr/>
          <p:nvPr/>
        </p:nvSpPr>
        <p:spPr>
          <a:xfrm>
            <a:off x="614136" y="2207981"/>
            <a:ext cx="7826859" cy="552450"/>
          </a:xfrm>
          <a:prstGeom prst="rect">
            <a:avLst/>
          </a:prstGeom>
          <a:noFill/>
          <a:ln/>
        </p:spPr>
        <p:txBody>
          <a:bodyPr wrap="square" rtlCol="0" anchor="t"/>
          <a:lstStyle/>
          <a:p>
            <a:pPr indent="0" marL="0">
              <a:spcBef>
                <a:spcPts val="375"/>
              </a:spcBef>
              <a:buNone/>
            </a:pPr>
            <a:endParaRPr lang="en-US" sz="1050" dirty="0"/>
          </a:p>
        </p:txBody>
      </p:sp>
      <p:sp>
        <p:nvSpPr>
          <p:cNvPr id="6" name="Shape 2"/>
          <p:cNvSpPr/>
          <p:nvPr/>
        </p:nvSpPr>
        <p:spPr>
          <a:xfrm>
            <a:off x="614136" y="2207981"/>
            <a:ext cx="7826859" cy="552450"/>
          </a:xfrm>
          <a:custGeom>
            <a:avLst/>
            <a:gdLst/>
            <a:ahLst/>
            <a:cxnLst/>
            <a:rect l="l" t="t" r="r" b="b"/>
            <a:pathLst>
              <a:path w="7826859" h="552450">
                <a:moveTo>
                  <a:pt x="0" y="0"/>
                </a:moveTo>
                <a:lnTo>
                  <a:pt x="7826859" y="0"/>
                </a:lnTo>
                <a:lnTo>
                  <a:pt x="7826859" y="552450"/>
                </a:lnTo>
                <a:lnTo>
                  <a:pt x="0" y="552450"/>
                </a:lnTo>
                <a:close/>
              </a:path>
            </a:pathLst>
          </a:custGeom>
          <a:solidFill>
            <a:srgbClr val="000000">
              <a:alpha val="0"/>
            </a:srgbClr>
          </a:solidFill>
          <a:ln/>
        </p:spPr>
      </p:sp>
      <p:sp>
        <p:nvSpPr>
          <p:cNvPr id="7" name="Text 3"/>
          <p:cNvSpPr/>
          <p:nvPr/>
        </p:nvSpPr>
        <p:spPr>
          <a:xfrm>
            <a:off x="614136" y="2207981"/>
            <a:ext cx="7826859" cy="5524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8" name="Shape 4"/>
          <p:cNvSpPr/>
          <p:nvPr/>
        </p:nvSpPr>
        <p:spPr>
          <a:xfrm>
            <a:off x="614136" y="2207981"/>
            <a:ext cx="7826859" cy="552450"/>
          </a:xfrm>
          <a:custGeom>
            <a:avLst/>
            <a:gdLst/>
            <a:ahLst/>
            <a:cxnLst/>
            <a:rect l="l" t="t" r="r" b="b"/>
            <a:pathLst>
              <a:path w="7826859" h="552450">
                <a:moveTo>
                  <a:pt x="0" y="0"/>
                </a:moveTo>
                <a:lnTo>
                  <a:pt x="7826859" y="0"/>
                </a:lnTo>
                <a:lnTo>
                  <a:pt x="7826859" y="552450"/>
                </a:lnTo>
                <a:lnTo>
                  <a:pt x="0" y="552450"/>
                </a:lnTo>
                <a:close/>
              </a:path>
            </a:pathLst>
          </a:custGeom>
          <a:solidFill>
            <a:srgbClr val="FFFFFF">
              <a:alpha val="0"/>
            </a:srgbClr>
          </a:solidFill>
          <a:ln/>
        </p:spPr>
      </p:sp>
      <p:sp>
        <p:nvSpPr>
          <p:cNvPr id="9" name="Text 5"/>
          <p:cNvSpPr/>
          <p:nvPr/>
        </p:nvSpPr>
        <p:spPr>
          <a:xfrm>
            <a:off x="614136" y="2207981"/>
            <a:ext cx="7826859" cy="552450"/>
          </a:xfrm>
          <a:prstGeom prst="rect">
            <a:avLst/>
          </a:prstGeom>
          <a:noFill/>
          <a:ln/>
        </p:spPr>
        <p:txBody>
          <a:bodyPr wrap="square" rtlCol="0" anchor="t"/>
          <a:lstStyle/>
          <a:p>
            <a:pPr indent="0" marL="0">
              <a:spcBef>
                <a:spcPts val="375"/>
              </a:spcBef>
              <a:buNone/>
            </a:pPr>
            <a:endParaRPr lang="en-US" sz="1050" dirty="0"/>
          </a:p>
        </p:txBody>
      </p:sp>
      <p:sp>
        <p:nvSpPr>
          <p:cNvPr id="10" name="Shape 6"/>
          <p:cNvSpPr/>
          <p:nvPr/>
        </p:nvSpPr>
        <p:spPr>
          <a:xfrm>
            <a:off x="614136" y="2207981"/>
            <a:ext cx="7826859" cy="552450"/>
          </a:xfrm>
          <a:custGeom>
            <a:avLst/>
            <a:gdLst/>
            <a:ahLst/>
            <a:cxnLst/>
            <a:rect l="l" t="t" r="r" b="b"/>
            <a:pathLst>
              <a:path w="7826859" h="552450">
                <a:moveTo>
                  <a:pt x="0" y="0"/>
                </a:moveTo>
                <a:lnTo>
                  <a:pt x="7826859" y="0"/>
                </a:lnTo>
                <a:lnTo>
                  <a:pt x="7826859" y="552450"/>
                </a:lnTo>
                <a:lnTo>
                  <a:pt x="0" y="552450"/>
                </a:lnTo>
                <a:close/>
              </a:path>
            </a:pathLst>
          </a:custGeom>
          <a:solidFill>
            <a:srgbClr val="000000">
              <a:alpha val="0"/>
            </a:srgbClr>
          </a:solidFill>
          <a:ln/>
        </p:spPr>
      </p:sp>
      <p:sp>
        <p:nvSpPr>
          <p:cNvPr id="11" name="Text 7"/>
          <p:cNvSpPr/>
          <p:nvPr/>
        </p:nvSpPr>
        <p:spPr>
          <a:xfrm>
            <a:off x="614136" y="2207981"/>
            <a:ext cx="7826859" cy="552450"/>
          </a:xfrm>
          <a:prstGeom prst="rect">
            <a:avLst/>
          </a:prstGeom>
          <a:noFill/>
          <a:ln/>
        </p:spPr>
        <p:txBody>
          <a:bodyPr wrap="square" rtlCol="0" anchor="t"/>
          <a:lstStyle/>
          <a:p>
            <a:pPr algn="ctr" indent="0" marL="0">
              <a:spcBef>
                <a:spcPts val="375"/>
              </a:spcBef>
              <a:buNone/>
            </a:pPr>
            <a:r>
              <a:rPr lang="en-US" sz="1800" dirty="0">
                <a:solidFill>
                  <a:srgbClr val="333333"/>
                </a:solidFill>
                <a:latin typeface="微软雅黑" pitchFamily="34" charset="0"/>
                <a:ea typeface="微软雅黑" pitchFamily="34" charset="-122"/>
                <a:cs typeface="微软雅黑" pitchFamily="34" charset="-120"/>
              </a:rPr>
              <a:t>Xulosa</a:t>
            </a:r>
            <a:endParaRPr lang="en-US" sz="1050" dirty="0"/>
          </a:p>
        </p:txBody>
      </p:sp>
      <p:sp>
        <p:nvSpPr>
          <p:cNvPr id="12" name="Shape 8"/>
          <p:cNvSpPr/>
          <p:nvPr/>
        </p:nvSpPr>
        <p:spPr>
          <a:xfrm>
            <a:off x="661391" y="2684231"/>
            <a:ext cx="7779603" cy="2159198"/>
          </a:xfrm>
          <a:custGeom>
            <a:avLst/>
            <a:gdLst/>
            <a:ahLst/>
            <a:cxnLst/>
            <a:rect l="l" t="t" r="r" b="b"/>
            <a:pathLst>
              <a:path w="7779603" h="2159198">
                <a:moveTo>
                  <a:pt x="0" y="0"/>
                </a:moveTo>
                <a:lnTo>
                  <a:pt x="7779603" y="0"/>
                </a:lnTo>
                <a:lnTo>
                  <a:pt x="7779603" y="2159198"/>
                </a:lnTo>
                <a:lnTo>
                  <a:pt x="0" y="2159198"/>
                </a:lnTo>
                <a:close/>
              </a:path>
            </a:pathLst>
          </a:custGeom>
          <a:solidFill>
            <a:srgbClr val="FFFFFF">
              <a:alpha val="0"/>
            </a:srgbClr>
          </a:solidFill>
          <a:ln/>
        </p:spPr>
      </p:sp>
      <p:sp>
        <p:nvSpPr>
          <p:cNvPr id="13" name="Text 9"/>
          <p:cNvSpPr/>
          <p:nvPr/>
        </p:nvSpPr>
        <p:spPr>
          <a:xfrm>
            <a:off x="661391" y="2684231"/>
            <a:ext cx="7779603" cy="2159198"/>
          </a:xfrm>
          <a:prstGeom prst="rect">
            <a:avLst/>
          </a:prstGeom>
          <a:noFill/>
          <a:ln/>
        </p:spPr>
        <p:txBody>
          <a:bodyPr wrap="square" rtlCol="0" anchor="t"/>
          <a:lstStyle/>
          <a:p>
            <a:pPr indent="0" marL="0">
              <a:spcBef>
                <a:spcPts val="375"/>
              </a:spcBef>
              <a:buNone/>
            </a:pPr>
            <a:endParaRPr lang="en-US" sz="1050" dirty="0"/>
          </a:p>
        </p:txBody>
      </p:sp>
      <p:sp>
        <p:nvSpPr>
          <p:cNvPr id="14" name="Shape 10"/>
          <p:cNvSpPr/>
          <p:nvPr/>
        </p:nvSpPr>
        <p:spPr>
          <a:xfrm>
            <a:off x="661391" y="2684231"/>
            <a:ext cx="7779603" cy="2159198"/>
          </a:xfrm>
          <a:custGeom>
            <a:avLst/>
            <a:gdLst/>
            <a:ahLst/>
            <a:cxnLst/>
            <a:rect l="l" t="t" r="r" b="b"/>
            <a:pathLst>
              <a:path w="7779603" h="2159198">
                <a:moveTo>
                  <a:pt x="0" y="0"/>
                </a:moveTo>
                <a:lnTo>
                  <a:pt x="7779603" y="0"/>
                </a:lnTo>
                <a:lnTo>
                  <a:pt x="7779603" y="2159198"/>
                </a:lnTo>
                <a:lnTo>
                  <a:pt x="0" y="2159198"/>
                </a:lnTo>
                <a:close/>
              </a:path>
            </a:pathLst>
          </a:custGeom>
          <a:solidFill>
            <a:srgbClr val="000000">
              <a:alpha val="0"/>
            </a:srgbClr>
          </a:solidFill>
          <a:ln/>
        </p:spPr>
      </p:sp>
      <p:sp>
        <p:nvSpPr>
          <p:cNvPr id="15" name="Text 11"/>
          <p:cNvSpPr/>
          <p:nvPr/>
        </p:nvSpPr>
        <p:spPr>
          <a:xfrm>
            <a:off x="661391" y="2684231"/>
            <a:ext cx="7779603" cy="2159198"/>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6" name="Shape 12"/>
          <p:cNvSpPr/>
          <p:nvPr/>
        </p:nvSpPr>
        <p:spPr>
          <a:xfrm>
            <a:off x="661391" y="2684231"/>
            <a:ext cx="7779603" cy="2159198"/>
          </a:xfrm>
          <a:custGeom>
            <a:avLst/>
            <a:gdLst/>
            <a:ahLst/>
            <a:cxnLst/>
            <a:rect l="l" t="t" r="r" b="b"/>
            <a:pathLst>
              <a:path w="7779603" h="2159198">
                <a:moveTo>
                  <a:pt x="0" y="0"/>
                </a:moveTo>
                <a:lnTo>
                  <a:pt x="7779603" y="0"/>
                </a:lnTo>
                <a:lnTo>
                  <a:pt x="7779603" y="2159198"/>
                </a:lnTo>
                <a:lnTo>
                  <a:pt x="0" y="2159198"/>
                </a:lnTo>
                <a:close/>
              </a:path>
            </a:pathLst>
          </a:custGeom>
          <a:solidFill>
            <a:srgbClr val="FFFFFF">
              <a:alpha val="0"/>
            </a:srgbClr>
          </a:solidFill>
          <a:ln/>
        </p:spPr>
      </p:sp>
      <p:sp>
        <p:nvSpPr>
          <p:cNvPr id="17" name="Text 13"/>
          <p:cNvSpPr/>
          <p:nvPr/>
        </p:nvSpPr>
        <p:spPr>
          <a:xfrm>
            <a:off x="661391" y="2684231"/>
            <a:ext cx="7779603" cy="2159198"/>
          </a:xfrm>
          <a:prstGeom prst="rect">
            <a:avLst/>
          </a:prstGeom>
          <a:noFill/>
          <a:ln/>
        </p:spPr>
        <p:txBody>
          <a:bodyPr wrap="square" rtlCol="0" anchor="t"/>
          <a:lstStyle/>
          <a:p>
            <a:pPr indent="0" marL="0">
              <a:spcBef>
                <a:spcPts val="375"/>
              </a:spcBef>
              <a:buNone/>
            </a:pPr>
            <a:endParaRPr lang="en-US" sz="1050" dirty="0"/>
          </a:p>
        </p:txBody>
      </p:sp>
      <p:sp>
        <p:nvSpPr>
          <p:cNvPr id="18" name="Shape 14"/>
          <p:cNvSpPr/>
          <p:nvPr/>
        </p:nvSpPr>
        <p:spPr>
          <a:xfrm>
            <a:off x="661391" y="2684231"/>
            <a:ext cx="7779603" cy="2159198"/>
          </a:xfrm>
          <a:custGeom>
            <a:avLst/>
            <a:gdLst/>
            <a:ahLst/>
            <a:cxnLst/>
            <a:rect l="l" t="t" r="r" b="b"/>
            <a:pathLst>
              <a:path w="7779603" h="2159198">
                <a:moveTo>
                  <a:pt x="0" y="0"/>
                </a:moveTo>
                <a:lnTo>
                  <a:pt x="7779603" y="0"/>
                </a:lnTo>
                <a:lnTo>
                  <a:pt x="7779603" y="2159198"/>
                </a:lnTo>
                <a:lnTo>
                  <a:pt x="0" y="2159198"/>
                </a:lnTo>
                <a:close/>
              </a:path>
            </a:pathLst>
          </a:custGeom>
          <a:solidFill>
            <a:srgbClr val="000000">
              <a:alpha val="0"/>
            </a:srgbClr>
          </a:solidFill>
          <a:ln/>
        </p:spPr>
      </p:sp>
      <p:sp>
        <p:nvSpPr>
          <p:cNvPr id="19" name="Text 15"/>
          <p:cNvSpPr/>
          <p:nvPr/>
        </p:nvSpPr>
        <p:spPr>
          <a:xfrm>
            <a:off x="661391" y="2684231"/>
            <a:ext cx="7779603" cy="2159198"/>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O'zbekiston armiyasi, mamlakat mudofaasini ta'minlash va hududiy yaxlitlikni saqlash maqsadida tashkil etilgan kuchlardir. U 1992-yilda tashkil topib, o'zining nafaqat harbiy, balki tinchlikni saqlovchi funksiyalari bilan ham ajralib turadi. Harbiy tayyorgarlik, zamonaviy qurollar bilan ta'minlash va xalqaro hamkorlik armiyaning muhim jihatlaridir. O'zbekiston armiyasi, o'z hududi ichida va chet elda ham tinchlikni saqlash jarayonlariga faol qatnashadi. Mamlakatda harbiy xizmat o'z vataniga sadoqat, shuningdek, vatandoshlar bilan birlikda yashash va ish olib borishni targ'ib qiladi. Kelajakda ham, O'zbekiston armiyasi xalqaro xavfsizlikni ta'minlashda o'z o'rnini saqlab qolishi muhimdir.</a:t>
            </a:r>
            <a:endParaRPr lang="en-US" sz="1050" dirty="0"/>
          </a:p>
          <a:p>
            <a:pPr algn="l" indent="0" marL="0">
              <a:spcBef>
                <a:spcPts val="375"/>
              </a:spcBef>
              <a:buNone/>
            </a:pPr>
            <a:r>
              <a:rPr lang="en-US" sz="1800" dirty="0">
                <a:solidFill>
                  <a:srgbClr val="333333"/>
                </a:solidFill>
                <a:latin typeface="Calibri" pitchFamily="34" charset="0"/>
                <a:ea typeface="Calibri" pitchFamily="34" charset="-122"/>
                <a:cs typeface="Calibri" pitchFamily="34" charset="-120"/>
              </a:rPr>
              <a:t> </a:t>
            </a:r>
            <a:endParaRPr lang="en-US" sz="1050" dirty="0"/>
          </a:p>
          <a:p>
            <a:pPr algn="l" indent="0" marL="0">
              <a:spcBef>
                <a:spcPts val="375"/>
              </a:spcBef>
              <a:buNone/>
            </a:pPr>
            <a:r>
              <a:rPr lang="en-US" sz="1800" dirty="0">
                <a:solidFill>
                  <a:srgbClr val="333333"/>
                </a:solidFill>
                <a:latin typeface="Calibri" pitchFamily="34" charset="0"/>
                <a:ea typeface="Calibri" pitchFamily="34" charset="-122"/>
                <a:cs typeface="Calibri" pitchFamily="34" charset="-120"/>
              </a:rPr>
              <a:t> </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1F1"/>
        </a:solidFill>
      </p:bgPr>
    </p:bg>
    <p:spTree>
      <p:nvGrpSpPr>
        <p:cNvPr id="1" name=""/>
        <p:cNvGrpSpPr/>
        <p:nvPr/>
      </p:nvGrpSpPr>
      <p:grpSpPr>
        <a:xfrm>
          <a:off x="0" y="0"/>
          <a:ext cx="0" cy="0"/>
          <a:chOff x="0" y="0"/>
          <a:chExt cx="0" cy="0"/>
        </a:xfrm>
      </p:grpSpPr>
      <p:pic>
        <p:nvPicPr>
          <p:cNvPr id="2" name="Image 0" descr="./images\slide8_img53.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images\slide8_img54.png">    </p:cNvPr>
          <p:cNvPicPr>
            <a:picLocks noChangeAspect="1"/>
          </p:cNvPicPr>
          <p:nvPr/>
        </p:nvPicPr>
        <p:blipFill>
          <a:blip r:embed="rId2"/>
          <a:stretch>
            <a:fillRect/>
          </a:stretch>
        </p:blipFill>
        <p:spPr>
          <a:xfrm>
            <a:off x="514350" y="469150"/>
            <a:ext cx="8115300" cy="4205201"/>
          </a:xfrm>
          <a:prstGeom prst="rect">
            <a:avLst/>
          </a:prstGeom>
        </p:spPr>
      </p:pic>
      <p:pic>
        <p:nvPicPr>
          <p:cNvPr id="4" name="Image 2" descr="./images\slide8_img55.png">    </p:cNvPr>
          <p:cNvPicPr>
            <a:picLocks noChangeAspect="1"/>
          </p:cNvPicPr>
          <p:nvPr/>
        </p:nvPicPr>
        <p:blipFill>
          <a:blip r:embed="rId3"/>
          <a:stretch>
            <a:fillRect/>
          </a:stretch>
        </p:blipFill>
        <p:spPr>
          <a:xfrm>
            <a:off x="3212221" y="3000774"/>
            <a:ext cx="2719558" cy="442634"/>
          </a:xfrm>
          <a:prstGeom prst="rect">
            <a:avLst/>
          </a:prstGeom>
        </p:spPr>
      </p:pic>
      <p:sp>
        <p:nvSpPr>
          <p:cNvPr id="5" name="Shape 0"/>
          <p:cNvSpPr/>
          <p:nvPr/>
        </p:nvSpPr>
        <p:spPr>
          <a:xfrm>
            <a:off x="3212221" y="3000774"/>
            <a:ext cx="2719558" cy="442634"/>
          </a:xfrm>
          <a:custGeom>
            <a:avLst/>
            <a:gdLst/>
            <a:ahLst/>
            <a:cxnLst/>
            <a:rect l="l" t="t" r="r" b="b"/>
            <a:pathLst>
              <a:path w="2719558" h="442634">
                <a:moveTo>
                  <a:pt x="0" y="0"/>
                </a:moveTo>
                <a:lnTo>
                  <a:pt x="2719558" y="0"/>
                </a:lnTo>
                <a:lnTo>
                  <a:pt x="2719558" y="442634"/>
                </a:lnTo>
                <a:lnTo>
                  <a:pt x="0" y="442634"/>
                </a:lnTo>
                <a:close/>
              </a:path>
            </a:pathLst>
          </a:custGeom>
          <a:solidFill>
            <a:srgbClr val="FFFFFF">
              <a:alpha val="0"/>
            </a:srgbClr>
          </a:solidFill>
          <a:ln/>
        </p:spPr>
      </p:sp>
      <p:sp>
        <p:nvSpPr>
          <p:cNvPr id="6" name="Text 1"/>
          <p:cNvSpPr/>
          <p:nvPr/>
        </p:nvSpPr>
        <p:spPr>
          <a:xfrm>
            <a:off x="3212221" y="3000774"/>
            <a:ext cx="2719558" cy="442634"/>
          </a:xfrm>
          <a:prstGeom prst="rect">
            <a:avLst/>
          </a:prstGeom>
          <a:noFill/>
          <a:ln/>
        </p:spPr>
        <p:txBody>
          <a:bodyPr wrap="square" rtlCol="0" anchor="t"/>
          <a:lstStyle/>
          <a:p>
            <a:pPr indent="0" marL="0">
              <a:spcBef>
                <a:spcPts val="375"/>
              </a:spcBef>
              <a:buNone/>
            </a:pPr>
            <a:endParaRPr lang="en-US" sz="1050" dirty="0"/>
          </a:p>
        </p:txBody>
      </p:sp>
      <p:sp>
        <p:nvSpPr>
          <p:cNvPr id="7" name="Shape 2"/>
          <p:cNvSpPr/>
          <p:nvPr/>
        </p:nvSpPr>
        <p:spPr>
          <a:xfrm>
            <a:off x="3212221" y="3000774"/>
            <a:ext cx="2719558" cy="442634"/>
          </a:xfrm>
          <a:custGeom>
            <a:avLst/>
            <a:gdLst/>
            <a:ahLst/>
            <a:cxnLst/>
            <a:rect l="l" t="t" r="r" b="b"/>
            <a:pathLst>
              <a:path w="2719558" h="442634">
                <a:moveTo>
                  <a:pt x="0" y="0"/>
                </a:moveTo>
                <a:lnTo>
                  <a:pt x="2719558" y="0"/>
                </a:lnTo>
                <a:lnTo>
                  <a:pt x="2719558" y="442634"/>
                </a:lnTo>
                <a:lnTo>
                  <a:pt x="0" y="442634"/>
                </a:lnTo>
                <a:close/>
              </a:path>
            </a:pathLst>
          </a:custGeom>
          <a:solidFill>
            <a:srgbClr val="000000">
              <a:alpha val="0"/>
            </a:srgbClr>
          </a:solidFill>
          <a:ln/>
        </p:spPr>
      </p:sp>
      <p:sp>
        <p:nvSpPr>
          <p:cNvPr id="8" name="Text 3"/>
          <p:cNvSpPr/>
          <p:nvPr/>
        </p:nvSpPr>
        <p:spPr>
          <a:xfrm>
            <a:off x="3212221" y="3000774"/>
            <a:ext cx="2719558" cy="442634"/>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9" name="Shape 4"/>
          <p:cNvSpPr/>
          <p:nvPr/>
        </p:nvSpPr>
        <p:spPr>
          <a:xfrm>
            <a:off x="3212221" y="3000774"/>
            <a:ext cx="2719558" cy="442634"/>
          </a:xfrm>
          <a:custGeom>
            <a:avLst/>
            <a:gdLst/>
            <a:ahLst/>
            <a:cxnLst/>
            <a:rect l="l" t="t" r="r" b="b"/>
            <a:pathLst>
              <a:path w="2719558" h="442634">
                <a:moveTo>
                  <a:pt x="0" y="0"/>
                </a:moveTo>
                <a:lnTo>
                  <a:pt x="2719558" y="0"/>
                </a:lnTo>
                <a:lnTo>
                  <a:pt x="2719558" y="442634"/>
                </a:lnTo>
                <a:lnTo>
                  <a:pt x="0" y="442634"/>
                </a:lnTo>
                <a:close/>
              </a:path>
            </a:pathLst>
          </a:custGeom>
          <a:solidFill>
            <a:srgbClr val="FFFFFF">
              <a:alpha val="0"/>
            </a:srgbClr>
          </a:solidFill>
          <a:ln/>
        </p:spPr>
      </p:sp>
      <p:sp>
        <p:nvSpPr>
          <p:cNvPr id="10" name="Text 5"/>
          <p:cNvSpPr/>
          <p:nvPr/>
        </p:nvSpPr>
        <p:spPr>
          <a:xfrm>
            <a:off x="3212221" y="3000774"/>
            <a:ext cx="2719558" cy="442634"/>
          </a:xfrm>
          <a:prstGeom prst="rect">
            <a:avLst/>
          </a:prstGeom>
          <a:noFill/>
          <a:ln/>
        </p:spPr>
        <p:txBody>
          <a:bodyPr wrap="square" rtlCol="0" anchor="t"/>
          <a:lstStyle/>
          <a:p>
            <a:pPr indent="0" marL="0">
              <a:spcBef>
                <a:spcPts val="375"/>
              </a:spcBef>
              <a:buNone/>
            </a:pPr>
            <a:endParaRPr lang="en-US" sz="1050" dirty="0"/>
          </a:p>
        </p:txBody>
      </p:sp>
      <p:sp>
        <p:nvSpPr>
          <p:cNvPr id="11" name="Shape 6"/>
          <p:cNvSpPr/>
          <p:nvPr/>
        </p:nvSpPr>
        <p:spPr>
          <a:xfrm>
            <a:off x="3212221" y="3000774"/>
            <a:ext cx="2719558" cy="442634"/>
          </a:xfrm>
          <a:custGeom>
            <a:avLst/>
            <a:gdLst/>
            <a:ahLst/>
            <a:cxnLst/>
            <a:rect l="l" t="t" r="r" b="b"/>
            <a:pathLst>
              <a:path w="2719558" h="442634">
                <a:moveTo>
                  <a:pt x="0" y="0"/>
                </a:moveTo>
                <a:lnTo>
                  <a:pt x="2719558" y="0"/>
                </a:lnTo>
                <a:lnTo>
                  <a:pt x="2719558" y="442634"/>
                </a:lnTo>
                <a:lnTo>
                  <a:pt x="0" y="442634"/>
                </a:lnTo>
                <a:close/>
              </a:path>
            </a:pathLst>
          </a:custGeom>
          <a:solidFill>
            <a:srgbClr val="000000">
              <a:alpha val="0"/>
            </a:srgbClr>
          </a:solidFill>
          <a:ln/>
        </p:spPr>
      </p:sp>
      <p:sp>
        <p:nvSpPr>
          <p:cNvPr id="12" name="Text 7"/>
          <p:cNvSpPr/>
          <p:nvPr/>
        </p:nvSpPr>
        <p:spPr>
          <a:xfrm>
            <a:off x="3212221" y="3000774"/>
            <a:ext cx="2719558" cy="442634"/>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pic>
        <p:nvPicPr>
          <p:cNvPr id="13" name="Image 3" descr="./images\slide8_img56.png">    </p:cNvPr>
          <p:cNvPicPr>
            <a:picLocks noChangeAspect="1"/>
          </p:cNvPicPr>
          <p:nvPr/>
        </p:nvPicPr>
        <p:blipFill>
          <a:blip r:embed="rId4"/>
          <a:stretch>
            <a:fillRect/>
          </a:stretch>
        </p:blipFill>
        <p:spPr>
          <a:xfrm>
            <a:off x="3212221" y="3000774"/>
            <a:ext cx="2719558" cy="442634"/>
          </a:xfrm>
          <a:prstGeom prst="rect">
            <a:avLst/>
          </a:prstGeom>
        </p:spPr>
      </p:pic>
      <p:sp>
        <p:nvSpPr>
          <p:cNvPr id="14" name="Shape 8"/>
          <p:cNvSpPr/>
          <p:nvPr/>
        </p:nvSpPr>
        <p:spPr>
          <a:xfrm>
            <a:off x="561975" y="783461"/>
            <a:ext cx="8115300" cy="476250"/>
          </a:xfrm>
          <a:custGeom>
            <a:avLst/>
            <a:gdLst/>
            <a:ahLst/>
            <a:cxnLst/>
            <a:rect l="l" t="t" r="r" b="b"/>
            <a:pathLst>
              <a:path w="8115300" h="476250">
                <a:moveTo>
                  <a:pt x="0" y="0"/>
                </a:moveTo>
                <a:lnTo>
                  <a:pt x="8115300" y="0"/>
                </a:lnTo>
                <a:lnTo>
                  <a:pt x="8115300" y="476250"/>
                </a:lnTo>
                <a:lnTo>
                  <a:pt x="0" y="476250"/>
                </a:lnTo>
                <a:close/>
              </a:path>
            </a:pathLst>
          </a:custGeom>
          <a:solidFill>
            <a:srgbClr val="FFFFFF">
              <a:alpha val="0"/>
            </a:srgbClr>
          </a:solidFill>
          <a:ln/>
        </p:spPr>
      </p:sp>
      <p:sp>
        <p:nvSpPr>
          <p:cNvPr id="15" name="Text 9"/>
          <p:cNvSpPr/>
          <p:nvPr/>
        </p:nvSpPr>
        <p:spPr>
          <a:xfrm>
            <a:off x="561975" y="783461"/>
            <a:ext cx="8115300" cy="476250"/>
          </a:xfrm>
          <a:prstGeom prst="rect">
            <a:avLst/>
          </a:prstGeom>
          <a:noFill/>
          <a:ln/>
        </p:spPr>
        <p:txBody>
          <a:bodyPr wrap="square" rtlCol="0" anchor="t"/>
          <a:lstStyle/>
          <a:p>
            <a:pPr indent="0" marL="0">
              <a:spcBef>
                <a:spcPts val="375"/>
              </a:spcBef>
              <a:buNone/>
            </a:pPr>
            <a:endParaRPr lang="en-US" sz="1050" dirty="0"/>
          </a:p>
        </p:txBody>
      </p:sp>
      <p:sp>
        <p:nvSpPr>
          <p:cNvPr id="16" name="Shape 10"/>
          <p:cNvSpPr/>
          <p:nvPr/>
        </p:nvSpPr>
        <p:spPr>
          <a:xfrm>
            <a:off x="561975" y="783461"/>
            <a:ext cx="8115300" cy="476250"/>
          </a:xfrm>
          <a:custGeom>
            <a:avLst/>
            <a:gdLst/>
            <a:ahLst/>
            <a:cxnLst/>
            <a:rect l="l" t="t" r="r" b="b"/>
            <a:pathLst>
              <a:path w="8115300" h="476250">
                <a:moveTo>
                  <a:pt x="0" y="0"/>
                </a:moveTo>
                <a:lnTo>
                  <a:pt x="8115300" y="0"/>
                </a:lnTo>
                <a:lnTo>
                  <a:pt x="8115300" y="476250"/>
                </a:lnTo>
                <a:lnTo>
                  <a:pt x="0" y="476250"/>
                </a:lnTo>
                <a:close/>
              </a:path>
            </a:pathLst>
          </a:custGeom>
          <a:solidFill>
            <a:srgbClr val="000000">
              <a:alpha val="0"/>
            </a:srgbClr>
          </a:solidFill>
          <a:ln/>
        </p:spPr>
      </p:sp>
      <p:sp>
        <p:nvSpPr>
          <p:cNvPr id="17" name="Text 11"/>
          <p:cNvSpPr/>
          <p:nvPr/>
        </p:nvSpPr>
        <p:spPr>
          <a:xfrm>
            <a:off x="561975" y="783461"/>
            <a:ext cx="8115300" cy="4762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18" name="Shape 12"/>
          <p:cNvSpPr/>
          <p:nvPr/>
        </p:nvSpPr>
        <p:spPr>
          <a:xfrm>
            <a:off x="561975" y="783461"/>
            <a:ext cx="8115300" cy="476250"/>
          </a:xfrm>
          <a:custGeom>
            <a:avLst/>
            <a:gdLst/>
            <a:ahLst/>
            <a:cxnLst/>
            <a:rect l="l" t="t" r="r" b="b"/>
            <a:pathLst>
              <a:path w="8115300" h="476250">
                <a:moveTo>
                  <a:pt x="0" y="0"/>
                </a:moveTo>
                <a:lnTo>
                  <a:pt x="8115300" y="0"/>
                </a:lnTo>
                <a:lnTo>
                  <a:pt x="8115300" y="476250"/>
                </a:lnTo>
                <a:lnTo>
                  <a:pt x="0" y="476250"/>
                </a:lnTo>
                <a:close/>
              </a:path>
            </a:pathLst>
          </a:custGeom>
          <a:solidFill>
            <a:srgbClr val="FFFFFF">
              <a:alpha val="0"/>
            </a:srgbClr>
          </a:solidFill>
          <a:ln/>
        </p:spPr>
      </p:sp>
      <p:sp>
        <p:nvSpPr>
          <p:cNvPr id="19" name="Text 13"/>
          <p:cNvSpPr/>
          <p:nvPr/>
        </p:nvSpPr>
        <p:spPr>
          <a:xfrm>
            <a:off x="561975" y="783461"/>
            <a:ext cx="8115300" cy="476250"/>
          </a:xfrm>
          <a:prstGeom prst="rect">
            <a:avLst/>
          </a:prstGeom>
          <a:noFill/>
          <a:ln/>
        </p:spPr>
        <p:txBody>
          <a:bodyPr wrap="square" rtlCol="0" anchor="t"/>
          <a:lstStyle/>
          <a:p>
            <a:pPr indent="0" marL="0">
              <a:spcBef>
                <a:spcPts val="375"/>
              </a:spcBef>
              <a:buNone/>
            </a:pPr>
            <a:endParaRPr lang="en-US" sz="1050" dirty="0"/>
          </a:p>
        </p:txBody>
      </p:sp>
      <p:sp>
        <p:nvSpPr>
          <p:cNvPr id="20" name="Shape 14"/>
          <p:cNvSpPr/>
          <p:nvPr/>
        </p:nvSpPr>
        <p:spPr>
          <a:xfrm>
            <a:off x="561975" y="783461"/>
            <a:ext cx="8115300" cy="476250"/>
          </a:xfrm>
          <a:custGeom>
            <a:avLst/>
            <a:gdLst/>
            <a:ahLst/>
            <a:cxnLst/>
            <a:rect l="l" t="t" r="r" b="b"/>
            <a:pathLst>
              <a:path w="8115300" h="476250">
                <a:moveTo>
                  <a:pt x="0" y="0"/>
                </a:moveTo>
                <a:lnTo>
                  <a:pt x="8115300" y="0"/>
                </a:lnTo>
                <a:lnTo>
                  <a:pt x="8115300" y="476250"/>
                </a:lnTo>
                <a:lnTo>
                  <a:pt x="0" y="476250"/>
                </a:lnTo>
                <a:close/>
              </a:path>
            </a:pathLst>
          </a:custGeom>
          <a:solidFill>
            <a:srgbClr val="000000">
              <a:alpha val="0"/>
            </a:srgbClr>
          </a:solidFill>
          <a:ln/>
        </p:spPr>
      </p:sp>
      <p:sp>
        <p:nvSpPr>
          <p:cNvPr id="21" name="Text 15"/>
          <p:cNvSpPr/>
          <p:nvPr/>
        </p:nvSpPr>
        <p:spPr>
          <a:xfrm>
            <a:off x="561975" y="783461"/>
            <a:ext cx="8115300" cy="476250"/>
          </a:xfrm>
          <a:prstGeom prst="rect">
            <a:avLst/>
          </a:prstGeom>
          <a:noFill/>
          <a:ln/>
        </p:spPr>
        <p:txBody>
          <a:bodyPr wrap="square" rtlCol="0" anchor="t"/>
          <a:lstStyle/>
          <a:p>
            <a:pPr algn="ctr" indent="0" marL="0">
              <a:spcBef>
                <a:spcPts val="375"/>
              </a:spcBef>
              <a:buNone/>
            </a:pPr>
            <a:r>
              <a:rPr lang="en-US" sz="1800" dirty="0">
                <a:solidFill>
                  <a:srgbClr val="333333"/>
                </a:solidFill>
                <a:latin typeface="微软雅黑" pitchFamily="34" charset="0"/>
                <a:ea typeface="微软雅黑" pitchFamily="34" charset="-122"/>
                <a:cs typeface="微软雅黑" pitchFamily="34" charset="-120"/>
              </a:rPr>
              <a:t>Adabiyotlar ro'yxati</a:t>
            </a:r>
            <a:endParaRPr lang="en-US" sz="1050" dirty="0"/>
          </a:p>
        </p:txBody>
      </p:sp>
      <p:sp>
        <p:nvSpPr>
          <p:cNvPr id="22" name="Shape 16"/>
          <p:cNvSpPr/>
          <p:nvPr/>
        </p:nvSpPr>
        <p:spPr>
          <a:xfrm>
            <a:off x="561975" y="1307657"/>
            <a:ext cx="8115300" cy="2883502"/>
          </a:xfrm>
          <a:custGeom>
            <a:avLst/>
            <a:gdLst/>
            <a:ahLst/>
            <a:cxnLst/>
            <a:rect l="l" t="t" r="r" b="b"/>
            <a:pathLst>
              <a:path w="8115300" h="2883502">
                <a:moveTo>
                  <a:pt x="0" y="0"/>
                </a:moveTo>
                <a:lnTo>
                  <a:pt x="8115300" y="0"/>
                </a:lnTo>
                <a:lnTo>
                  <a:pt x="8115300" y="2883502"/>
                </a:lnTo>
                <a:lnTo>
                  <a:pt x="0" y="2883502"/>
                </a:lnTo>
                <a:close/>
              </a:path>
            </a:pathLst>
          </a:custGeom>
          <a:solidFill>
            <a:srgbClr val="FFFFFF">
              <a:alpha val="0"/>
            </a:srgbClr>
          </a:solidFill>
          <a:ln/>
        </p:spPr>
      </p:sp>
      <p:sp>
        <p:nvSpPr>
          <p:cNvPr id="23" name="Text 17"/>
          <p:cNvSpPr/>
          <p:nvPr/>
        </p:nvSpPr>
        <p:spPr>
          <a:xfrm>
            <a:off x="561975" y="1307657"/>
            <a:ext cx="8115300" cy="2883502"/>
          </a:xfrm>
          <a:prstGeom prst="rect">
            <a:avLst/>
          </a:prstGeom>
          <a:noFill/>
          <a:ln/>
        </p:spPr>
        <p:txBody>
          <a:bodyPr wrap="square" rtlCol="0" anchor="t"/>
          <a:lstStyle/>
          <a:p>
            <a:pPr indent="0" marL="0">
              <a:spcBef>
                <a:spcPts val="375"/>
              </a:spcBef>
              <a:buNone/>
            </a:pPr>
            <a:endParaRPr lang="en-US" sz="1050" dirty="0"/>
          </a:p>
        </p:txBody>
      </p:sp>
      <p:sp>
        <p:nvSpPr>
          <p:cNvPr id="24" name="Shape 18"/>
          <p:cNvSpPr/>
          <p:nvPr/>
        </p:nvSpPr>
        <p:spPr>
          <a:xfrm>
            <a:off x="561975" y="1307657"/>
            <a:ext cx="8115300" cy="2883502"/>
          </a:xfrm>
          <a:custGeom>
            <a:avLst/>
            <a:gdLst/>
            <a:ahLst/>
            <a:cxnLst/>
            <a:rect l="l" t="t" r="r" b="b"/>
            <a:pathLst>
              <a:path w="8115300" h="2883502">
                <a:moveTo>
                  <a:pt x="0" y="0"/>
                </a:moveTo>
                <a:lnTo>
                  <a:pt x="8115300" y="0"/>
                </a:lnTo>
                <a:lnTo>
                  <a:pt x="8115300" y="2883502"/>
                </a:lnTo>
                <a:lnTo>
                  <a:pt x="0" y="2883502"/>
                </a:lnTo>
                <a:close/>
              </a:path>
            </a:pathLst>
          </a:custGeom>
          <a:solidFill>
            <a:srgbClr val="000000">
              <a:alpha val="0"/>
            </a:srgbClr>
          </a:solidFill>
          <a:ln/>
        </p:spPr>
      </p:sp>
      <p:sp>
        <p:nvSpPr>
          <p:cNvPr id="25" name="Text 19"/>
          <p:cNvSpPr/>
          <p:nvPr/>
        </p:nvSpPr>
        <p:spPr>
          <a:xfrm>
            <a:off x="561975" y="1307657"/>
            <a:ext cx="8115300" cy="2883502"/>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26" name="Shape 20"/>
          <p:cNvSpPr/>
          <p:nvPr/>
        </p:nvSpPr>
        <p:spPr>
          <a:xfrm>
            <a:off x="561975" y="1307657"/>
            <a:ext cx="8115300" cy="2883502"/>
          </a:xfrm>
          <a:custGeom>
            <a:avLst/>
            <a:gdLst/>
            <a:ahLst/>
            <a:cxnLst/>
            <a:rect l="l" t="t" r="r" b="b"/>
            <a:pathLst>
              <a:path w="8115300" h="2883502">
                <a:moveTo>
                  <a:pt x="0" y="0"/>
                </a:moveTo>
                <a:lnTo>
                  <a:pt x="8115300" y="0"/>
                </a:lnTo>
                <a:lnTo>
                  <a:pt x="8115300" y="2883502"/>
                </a:lnTo>
                <a:lnTo>
                  <a:pt x="0" y="2883502"/>
                </a:lnTo>
                <a:close/>
              </a:path>
            </a:pathLst>
          </a:custGeom>
          <a:solidFill>
            <a:srgbClr val="FFFFFF">
              <a:alpha val="0"/>
            </a:srgbClr>
          </a:solidFill>
          <a:ln/>
        </p:spPr>
      </p:sp>
      <p:sp>
        <p:nvSpPr>
          <p:cNvPr id="27" name="Text 21"/>
          <p:cNvSpPr/>
          <p:nvPr/>
        </p:nvSpPr>
        <p:spPr>
          <a:xfrm>
            <a:off x="561975" y="1307657"/>
            <a:ext cx="8115300" cy="2883502"/>
          </a:xfrm>
          <a:prstGeom prst="rect">
            <a:avLst/>
          </a:prstGeom>
          <a:noFill/>
          <a:ln/>
        </p:spPr>
        <p:txBody>
          <a:bodyPr wrap="square" rtlCol="0" anchor="t"/>
          <a:lstStyle/>
          <a:p>
            <a:pPr indent="0" marL="0">
              <a:spcBef>
                <a:spcPts val="375"/>
              </a:spcBef>
              <a:buNone/>
            </a:pPr>
            <a:endParaRPr lang="en-US" sz="1050" dirty="0"/>
          </a:p>
        </p:txBody>
      </p:sp>
      <p:sp>
        <p:nvSpPr>
          <p:cNvPr id="28" name="Shape 22"/>
          <p:cNvSpPr/>
          <p:nvPr/>
        </p:nvSpPr>
        <p:spPr>
          <a:xfrm>
            <a:off x="561975" y="1307657"/>
            <a:ext cx="8115300" cy="2883502"/>
          </a:xfrm>
          <a:custGeom>
            <a:avLst/>
            <a:gdLst/>
            <a:ahLst/>
            <a:cxnLst/>
            <a:rect l="l" t="t" r="r" b="b"/>
            <a:pathLst>
              <a:path w="8115300" h="2883502">
                <a:moveTo>
                  <a:pt x="0" y="0"/>
                </a:moveTo>
                <a:lnTo>
                  <a:pt x="8115300" y="0"/>
                </a:lnTo>
                <a:lnTo>
                  <a:pt x="8115300" y="2883502"/>
                </a:lnTo>
                <a:lnTo>
                  <a:pt x="0" y="2883502"/>
                </a:lnTo>
                <a:close/>
              </a:path>
            </a:pathLst>
          </a:custGeom>
          <a:solidFill>
            <a:srgbClr val="000000">
              <a:alpha val="0"/>
            </a:srgbClr>
          </a:solidFill>
          <a:ln/>
        </p:spPr>
      </p:sp>
      <p:sp>
        <p:nvSpPr>
          <p:cNvPr id="29" name="Text 23"/>
          <p:cNvSpPr/>
          <p:nvPr/>
        </p:nvSpPr>
        <p:spPr>
          <a:xfrm>
            <a:off x="561975" y="1307657"/>
            <a:ext cx="8115300" cy="2883502"/>
          </a:xfrm>
          <a:prstGeom prst="rect">
            <a:avLst/>
          </a:prstGeom>
          <a:noFill/>
          <a:ln/>
        </p:spPr>
        <p:txBody>
          <a:bodyPr wrap="square" rtlCol="0" anchor="t"/>
          <a:lstStyle/>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1. Azizov D., Sharipov Z. "O'zbekiston armiyasidagi harbiy o'quv muassasalari tarixi va rivoji". 2020, Harbiy nashr. 2. Baxtiyorov M., "Milliy armiyaning tashkil etilishi va rivojlanishining asosiy bosqichlari". 2019, O'zbekiston Qarorlar nashri. 3. Karimov T., "O'zbekiston qurolli kuchlari: muammo va yechimlar". 2021, O'zbekiston Ijtimoiy Fanlar jurnali. 4. Mahmudov A., "O'zbekiston armiyasi va xalqaro tajribalar". 2022, Harbiy tadqiqotlar jurnali. 5. Yusupov R., "Harbiy mintaqalar va strategik rivojlanish". 2018, Harbiy muhandislik nashri.</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1F1"/>
        </a:solidFill>
      </p:bgPr>
    </p:bg>
    <p:spTree>
      <p:nvGrpSpPr>
        <p:cNvPr id="1" name=""/>
        <p:cNvGrpSpPr/>
        <p:nvPr/>
      </p:nvGrpSpPr>
      <p:grpSpPr>
        <a:xfrm>
          <a:off x="0" y="0"/>
          <a:ext cx="0" cy="0"/>
          <a:chOff x="0" y="0"/>
          <a:chExt cx="0" cy="0"/>
        </a:xfrm>
      </p:grpSpPr>
      <p:pic>
        <p:nvPicPr>
          <p:cNvPr id="2" name="Image 0" descr="./images\slide9_img57.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43466" y="2047554"/>
            <a:ext cx="8115300" cy="666750"/>
          </a:xfrm>
          <a:custGeom>
            <a:avLst/>
            <a:gdLst/>
            <a:ahLst/>
            <a:cxnLst/>
            <a:rect l="l" t="t" r="r" b="b"/>
            <a:pathLst>
              <a:path w="8115300" h="666750">
                <a:moveTo>
                  <a:pt x="0" y="0"/>
                </a:moveTo>
                <a:lnTo>
                  <a:pt x="8115300" y="0"/>
                </a:lnTo>
                <a:lnTo>
                  <a:pt x="8115300" y="666750"/>
                </a:lnTo>
                <a:lnTo>
                  <a:pt x="0" y="666750"/>
                </a:lnTo>
                <a:close/>
              </a:path>
            </a:pathLst>
          </a:custGeom>
          <a:solidFill>
            <a:srgbClr val="FFFFFF">
              <a:alpha val="0"/>
            </a:srgbClr>
          </a:solidFill>
          <a:ln/>
        </p:spPr>
      </p:sp>
      <p:sp>
        <p:nvSpPr>
          <p:cNvPr id="4" name="Text 1"/>
          <p:cNvSpPr/>
          <p:nvPr/>
        </p:nvSpPr>
        <p:spPr>
          <a:xfrm>
            <a:off x="443466" y="2047554"/>
            <a:ext cx="8115300" cy="666750"/>
          </a:xfrm>
          <a:prstGeom prst="rect">
            <a:avLst/>
          </a:prstGeom>
          <a:noFill/>
          <a:ln/>
        </p:spPr>
        <p:txBody>
          <a:bodyPr wrap="square" rtlCol="0" anchor="t"/>
          <a:lstStyle/>
          <a:p>
            <a:pPr indent="0" marL="0">
              <a:spcBef>
                <a:spcPts val="375"/>
              </a:spcBef>
              <a:buNone/>
            </a:pPr>
            <a:endParaRPr lang="en-US" sz="1050" dirty="0"/>
          </a:p>
        </p:txBody>
      </p:sp>
      <p:sp>
        <p:nvSpPr>
          <p:cNvPr id="5" name="Shape 2"/>
          <p:cNvSpPr/>
          <p:nvPr/>
        </p:nvSpPr>
        <p:spPr>
          <a:xfrm>
            <a:off x="443466" y="2047554"/>
            <a:ext cx="8115300" cy="666750"/>
          </a:xfrm>
          <a:custGeom>
            <a:avLst/>
            <a:gdLst/>
            <a:ahLst/>
            <a:cxnLst/>
            <a:rect l="l" t="t" r="r" b="b"/>
            <a:pathLst>
              <a:path w="8115300" h="666750">
                <a:moveTo>
                  <a:pt x="0" y="0"/>
                </a:moveTo>
                <a:lnTo>
                  <a:pt x="8115300" y="0"/>
                </a:lnTo>
                <a:lnTo>
                  <a:pt x="8115300" y="666750"/>
                </a:lnTo>
                <a:lnTo>
                  <a:pt x="0" y="666750"/>
                </a:lnTo>
                <a:close/>
              </a:path>
            </a:pathLst>
          </a:custGeom>
          <a:solidFill>
            <a:srgbClr val="000000">
              <a:alpha val="0"/>
            </a:srgbClr>
          </a:solidFill>
          <a:ln/>
        </p:spPr>
      </p:sp>
      <p:sp>
        <p:nvSpPr>
          <p:cNvPr id="6" name="Text 3"/>
          <p:cNvSpPr/>
          <p:nvPr/>
        </p:nvSpPr>
        <p:spPr>
          <a:xfrm>
            <a:off x="443466" y="2047554"/>
            <a:ext cx="8115300" cy="666750"/>
          </a:xfrm>
          <a:prstGeom prst="rect">
            <a:avLst/>
          </a:prstGeom>
          <a:noFill/>
          <a:ln/>
        </p:spPr>
        <p:txBody>
          <a:bodyPr wrap="square" rtlCol="0" anchor="t"/>
          <a:lstStyle/>
          <a:p>
            <a:pPr algn="l" indent="0" marL="0">
              <a:spcBef>
                <a:spcPts val="375"/>
              </a:spcBef>
              <a:buNone/>
            </a:pPr>
            <a:r>
              <a:rPr lang="en-US" sz="1800" dirty="0">
                <a:solidFill>
                  <a:srgbClr val="000000"/>
                </a:solidFill>
                <a:latin typeface="Calibri" pitchFamily="34" charset="0"/>
                <a:ea typeface="Calibri" pitchFamily="34" charset="-122"/>
                <a:cs typeface="Calibri" pitchFamily="34" charset="-120"/>
              </a:rPr>
              <a:t> </a:t>
            </a:r>
            <a:endParaRPr lang="en-US" sz="1050" dirty="0"/>
          </a:p>
        </p:txBody>
      </p:sp>
      <p:sp>
        <p:nvSpPr>
          <p:cNvPr id="7" name="Shape 4"/>
          <p:cNvSpPr/>
          <p:nvPr/>
        </p:nvSpPr>
        <p:spPr>
          <a:xfrm>
            <a:off x="443466" y="2047554"/>
            <a:ext cx="8115300" cy="666750"/>
          </a:xfrm>
          <a:custGeom>
            <a:avLst/>
            <a:gdLst/>
            <a:ahLst/>
            <a:cxnLst/>
            <a:rect l="l" t="t" r="r" b="b"/>
            <a:pathLst>
              <a:path w="8115300" h="666750">
                <a:moveTo>
                  <a:pt x="0" y="0"/>
                </a:moveTo>
                <a:lnTo>
                  <a:pt x="8115300" y="0"/>
                </a:lnTo>
                <a:lnTo>
                  <a:pt x="8115300" y="666750"/>
                </a:lnTo>
                <a:lnTo>
                  <a:pt x="0" y="666750"/>
                </a:lnTo>
                <a:close/>
              </a:path>
            </a:pathLst>
          </a:custGeom>
          <a:solidFill>
            <a:srgbClr val="FFFFFF">
              <a:alpha val="0"/>
            </a:srgbClr>
          </a:solidFill>
          <a:ln/>
        </p:spPr>
      </p:sp>
      <p:sp>
        <p:nvSpPr>
          <p:cNvPr id="8" name="Text 5"/>
          <p:cNvSpPr/>
          <p:nvPr/>
        </p:nvSpPr>
        <p:spPr>
          <a:xfrm>
            <a:off x="443466" y="2047554"/>
            <a:ext cx="8115300" cy="666750"/>
          </a:xfrm>
          <a:prstGeom prst="rect">
            <a:avLst/>
          </a:prstGeom>
          <a:noFill/>
          <a:ln/>
        </p:spPr>
        <p:txBody>
          <a:bodyPr wrap="square" rtlCol="0" anchor="t"/>
          <a:lstStyle/>
          <a:p>
            <a:pPr indent="0" marL="0">
              <a:spcBef>
                <a:spcPts val="375"/>
              </a:spcBef>
              <a:buNone/>
            </a:pPr>
            <a:endParaRPr lang="en-US" sz="1050" dirty="0"/>
          </a:p>
        </p:txBody>
      </p:sp>
      <p:sp>
        <p:nvSpPr>
          <p:cNvPr id="9" name="Shape 6"/>
          <p:cNvSpPr/>
          <p:nvPr/>
        </p:nvSpPr>
        <p:spPr>
          <a:xfrm>
            <a:off x="443466" y="2047554"/>
            <a:ext cx="8115300" cy="666750"/>
          </a:xfrm>
          <a:custGeom>
            <a:avLst/>
            <a:gdLst/>
            <a:ahLst/>
            <a:cxnLst/>
            <a:rect l="l" t="t" r="r" b="b"/>
            <a:pathLst>
              <a:path w="8115300" h="666750">
                <a:moveTo>
                  <a:pt x="0" y="0"/>
                </a:moveTo>
                <a:lnTo>
                  <a:pt x="8115300" y="0"/>
                </a:lnTo>
                <a:lnTo>
                  <a:pt x="8115300" y="666750"/>
                </a:lnTo>
                <a:lnTo>
                  <a:pt x="0" y="666750"/>
                </a:lnTo>
                <a:close/>
              </a:path>
            </a:pathLst>
          </a:custGeom>
          <a:solidFill>
            <a:srgbClr val="000000">
              <a:alpha val="0"/>
            </a:srgbClr>
          </a:solidFill>
          <a:ln/>
        </p:spPr>
      </p:sp>
      <p:sp>
        <p:nvSpPr>
          <p:cNvPr id="10" name="Text 7"/>
          <p:cNvSpPr/>
          <p:nvPr/>
        </p:nvSpPr>
        <p:spPr>
          <a:xfrm>
            <a:off x="443466" y="2047554"/>
            <a:ext cx="8115300" cy="666750"/>
          </a:xfrm>
          <a:prstGeom prst="rect">
            <a:avLst/>
          </a:prstGeom>
          <a:noFill/>
          <a:ln/>
        </p:spPr>
        <p:txBody>
          <a:bodyPr wrap="square" rtlCol="0" anchor="t"/>
          <a:lstStyle/>
          <a:p>
            <a:pPr algn="l" indent="0" marL="0">
              <a:spcBef>
                <a:spcPts val="375"/>
              </a:spcBef>
              <a:buNone/>
            </a:pPr>
            <a:r>
              <a:rPr lang="en-US" sz="4500" dirty="0">
                <a:solidFill>
                  <a:srgbClr val="333333"/>
                </a:solidFill>
                <a:latin typeface="微软雅黑" pitchFamily="34" charset="0"/>
                <a:ea typeface="微软雅黑" pitchFamily="34" charset="-122"/>
                <a:cs typeface="微软雅黑" pitchFamily="34" charset="-120"/>
              </a:rPr>
              <a:t>Etiboringiz uchun rahmat!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2025-10-04T09:37:48Z</dcterms:created>
  <dcterms:modified xsi:type="dcterms:W3CDTF">2025-10-04T09:37:48Z</dcterms:modified>
</cp:coreProperties>
</file>