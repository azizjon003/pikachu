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20" r:id="rId2"/>
    <p:sldId id="318" r:id="rId3"/>
    <p:sldId id="296" r:id="rId4"/>
    <p:sldId id="319" r:id="rId5"/>
    <p:sldId id="297" r:id="rId6"/>
    <p:sldId id="310" r:id="rId7"/>
    <p:sldId id="311" r:id="rId8"/>
    <p:sldId id="312" r:id="rId9"/>
    <p:sldId id="313" r:id="rId10"/>
    <p:sldId id="314" r:id="rId11"/>
    <p:sldId id="315" r:id="rId12"/>
    <p:sldId id="317" r:id="rId13"/>
    <p:sldId id="307" r:id="rId14"/>
    <p:sldId id="284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A" lastIdx="1" clrIdx="0">
    <p:extLst>
      <p:ext uri="{19B8F6BF-5375-455C-9EA6-DF929625EA0E}">
        <p15:presenceInfo xmlns:p15="http://schemas.microsoft.com/office/powerpoint/2012/main" userId="Asu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7475"/>
    <a:srgbClr val="02A4AB"/>
    <a:srgbClr val="0FA3B1"/>
    <a:srgbClr val="16514A"/>
    <a:srgbClr val="006465"/>
    <a:srgbClr val="FDD778"/>
    <a:srgbClr val="006263"/>
    <a:srgbClr val="214C7A"/>
    <a:srgbClr val="1E4A7B"/>
    <a:srgbClr val="0D00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63" autoAdjust="0"/>
    <p:restoredTop sz="94660"/>
  </p:normalViewPr>
  <p:slideViewPr>
    <p:cSldViewPr snapToGrid="0">
      <p:cViewPr>
        <p:scale>
          <a:sx n="50" d="100"/>
          <a:sy n="50" d="100"/>
        </p:scale>
        <p:origin x="850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B8D98-1835-493F-8705-0308B4C5A34F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DC39E-4CE9-41EE-84B4-A015444D7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23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DC39E-4CE9-41EE-84B4-A015444D755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24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CE5CC-1586-7F5B-1048-574778171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228AEC-E640-78F1-C634-0FFA395AA4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A435E-4317-B6C8-8C93-1345068F7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918B6-3D8F-4623-9EF0-3983108CD83B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2DB48-5BEE-C1CB-AB46-4EC9E7DCC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1CACF-E047-9CC0-7D94-1B2A65DC1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8C4B5-0178-42C6-96D7-4C9FB3330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5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6525B-4FAC-5D87-E491-617280537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755D2-2EDE-703B-984C-A4B916E91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2F1A9-9863-8293-E0A4-B0E933112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918B6-3D8F-4623-9EF0-3983108CD83B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DCCE2-00FF-4C80-4B7D-80C3749C4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396D8-4EC3-C897-8140-AEEEEF2AC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8C4B5-0178-42C6-96D7-4C9FB3330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02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DCCC9-36E8-3DF7-78B3-39422934E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92FCF-9BD2-D608-EFB9-47183AD2A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CA29A-543F-65ED-49A0-571F27AD2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918B6-3D8F-4623-9EF0-3983108CD83B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26B89-056E-67BD-2C25-5D69A4400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A0348-AC58-49B1-4CA9-46B60239F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8C4B5-0178-42C6-96D7-4C9FB3330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55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529AB-AD91-4CA9-C0E0-0D70712DC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2E116-6359-3F1D-4CD4-56F19F171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407876-ADAF-FA9E-F162-BE7F15084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FD56B-90BA-9EE4-80CC-F25AC36D7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918B6-3D8F-4623-9EF0-3983108CD83B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C20EF-DDFF-8488-9CC0-1C578E5D0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401CA-C330-14B5-9CA1-A3CE7D29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8C4B5-0178-42C6-96D7-4C9FB3330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75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E21F0-78F3-C0BC-A25A-96BB5022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5FCB6-9334-AFF0-75A6-FD5862C66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0D8E8F-776B-EA7E-A1DB-4EB7DD33E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172D0F-0DC1-2682-3924-BD209990D8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7FCCD2-3760-6C57-7487-DAF8A5C9C4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CABC3F-C303-66EB-1A77-2B3C7B871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918B6-3D8F-4623-9EF0-3983108CD83B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2C6A31-DE4C-C4CA-4BCD-866D67B15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D8BAB0-E99B-6519-A960-18A70FDED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8C4B5-0178-42C6-96D7-4C9FB3330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021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E8909-ED62-75EA-2457-ED73BAEE9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A7432B-F0D7-1D78-299A-32153B05A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918B6-3D8F-4623-9EF0-3983108CD83B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80F9E-340A-0C07-651F-1F3909041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F877D7-7C26-F538-413A-B28CE5F32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8C4B5-0178-42C6-96D7-4C9FB3330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944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00B92A-3516-A174-921C-2751FABD1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918B6-3D8F-4623-9EF0-3983108CD83B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9BE6D2-CD95-CD8D-3CF6-F20112D5E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3FD04-413B-37FB-6EF5-8AF66DAD9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8C4B5-0178-42C6-96D7-4C9FB3330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40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5905E-95EE-0E43-39A2-93305D48B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636CA-75B2-E60C-D137-E5F5EFE76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8C2C8-8FEE-EC99-10F7-0ACA7EA1C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65057-4539-F410-F869-266FA238C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918B6-3D8F-4623-9EF0-3983108CD83B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EEAB8-8A61-BF12-ABAA-89CE23519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F42EF-2070-350B-9476-0FFCD9DA2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8C4B5-0178-42C6-96D7-4C9FB3330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15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26E6A-E34C-4F0A-AA2B-DE4F56F6B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829646-A7E9-F3BB-80EF-D990B609B1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FEA46-68AF-3D4B-8089-71C8F2630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AEBBA9-A1D7-248B-966F-D8381CE82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918B6-3D8F-4623-9EF0-3983108CD83B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822CEA-CEAD-61B7-4F3C-33AFEE6F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AB09A1-222E-FBAD-2158-967B5F07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8C4B5-0178-42C6-96D7-4C9FB3330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29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86320-3444-539D-34C7-158F292E7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A125D6-E5F0-9F3B-2FBA-72CDA98FB6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44912-48FE-0A6E-8D8F-A7DA1A37B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918B6-3D8F-4623-9EF0-3983108CD83B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9AABB-9086-C1E5-EAB5-DA87D2DCA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FBF92-715A-099C-EA25-4B6312DDC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8C4B5-0178-42C6-96D7-4C9FB3330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88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58764F-6A68-AE99-1500-AEFBCF115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341C91-6402-08EC-6943-E4E47D931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A5AE2-AE30-0037-CE22-B4C6D49FC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918B6-3D8F-4623-9EF0-3983108CD83B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852CC-CCDE-926F-3F20-7087B5FA4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9A206-52EE-083D-44AF-6D481AE14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8C4B5-0178-42C6-96D7-4C9FB3330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752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A1450D-E55D-3625-B0EF-E97838051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DECF1-EE47-9D94-3687-14B807322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8D2F2-2662-3834-7DB4-17B67A1EF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918B6-3D8F-4623-9EF0-3983108CD83B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97673-A441-9264-BD7E-B190A1ADC2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714AD-A1E2-DCD9-4163-EE9054FEEA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B8C4B5-0178-42C6-96D7-4C9FB3330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61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9DB6639B-55AB-43B0-90B0-461227111AE7}"/>
              </a:ext>
            </a:extLst>
          </p:cNvPr>
          <p:cNvSpPr/>
          <p:nvPr/>
        </p:nvSpPr>
        <p:spPr>
          <a:xfrm rot="19059984">
            <a:off x="8854221" y="4948333"/>
            <a:ext cx="4754771" cy="2367095"/>
          </a:xfrm>
          <a:custGeom>
            <a:avLst/>
            <a:gdLst>
              <a:gd name="connsiteX0" fmla="*/ 4754771 w 4754771"/>
              <a:gd name="connsiteY0" fmla="*/ 0 h 2367095"/>
              <a:gd name="connsiteX1" fmla="*/ 2598341 w 4754771"/>
              <a:gd name="connsiteY1" fmla="*/ 2367095 h 2367095"/>
              <a:gd name="connsiteX2" fmla="*/ 0 w 4754771"/>
              <a:gd name="connsiteY2" fmla="*/ 0 h 2367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54771" h="2367095">
                <a:moveTo>
                  <a:pt x="4754771" y="0"/>
                </a:moveTo>
                <a:lnTo>
                  <a:pt x="2598341" y="2367095"/>
                </a:lnTo>
                <a:lnTo>
                  <a:pt x="0" y="0"/>
                </a:lnTo>
                <a:close/>
              </a:path>
            </a:pathLst>
          </a:custGeom>
          <a:solidFill>
            <a:srgbClr val="127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Полилиния: фигура 27">
            <a:extLst>
              <a:ext uri="{FF2B5EF4-FFF2-40B4-BE49-F238E27FC236}">
                <a16:creationId xmlns:a16="http://schemas.microsoft.com/office/drawing/2014/main" id="{DB1BEF89-D93E-4014-B932-4BD637F2829B}"/>
              </a:ext>
            </a:extLst>
          </p:cNvPr>
          <p:cNvSpPr/>
          <p:nvPr/>
        </p:nvSpPr>
        <p:spPr>
          <a:xfrm rot="13669166">
            <a:off x="7517668" y="3874076"/>
            <a:ext cx="1442608" cy="4209989"/>
          </a:xfrm>
          <a:custGeom>
            <a:avLst/>
            <a:gdLst>
              <a:gd name="connsiteX0" fmla="*/ 1231342 w 1442608"/>
              <a:gd name="connsiteY0" fmla="*/ 3998724 h 4209989"/>
              <a:gd name="connsiteX1" fmla="*/ 721303 w 1442608"/>
              <a:gd name="connsiteY1" fmla="*/ 4209989 h 4209989"/>
              <a:gd name="connsiteX2" fmla="*/ 721304 w 1442608"/>
              <a:gd name="connsiteY2" fmla="*/ 4209988 h 4209989"/>
              <a:gd name="connsiteX3" fmla="*/ 0 w 1442608"/>
              <a:gd name="connsiteY3" fmla="*/ 3488684 h 4209989"/>
              <a:gd name="connsiteX4" fmla="*/ 0 w 1442608"/>
              <a:gd name="connsiteY4" fmla="*/ 1592060 h 4209989"/>
              <a:gd name="connsiteX5" fmla="*/ 1442608 w 1442608"/>
              <a:gd name="connsiteY5" fmla="*/ 0 h 4209989"/>
              <a:gd name="connsiteX6" fmla="*/ 1442607 w 1442608"/>
              <a:gd name="connsiteY6" fmla="*/ 3488685 h 4209989"/>
              <a:gd name="connsiteX7" fmla="*/ 1231342 w 1442608"/>
              <a:gd name="connsiteY7" fmla="*/ 3998724 h 4209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2608" h="4209989">
                <a:moveTo>
                  <a:pt x="1231342" y="3998724"/>
                </a:moveTo>
                <a:cubicBezTo>
                  <a:pt x="1100811" y="4129254"/>
                  <a:pt x="920485" y="4209989"/>
                  <a:pt x="721303" y="4209989"/>
                </a:cubicBezTo>
                <a:lnTo>
                  <a:pt x="721304" y="4209988"/>
                </a:lnTo>
                <a:cubicBezTo>
                  <a:pt x="322939" y="4209988"/>
                  <a:pt x="0" y="3887049"/>
                  <a:pt x="0" y="3488684"/>
                </a:cubicBezTo>
                <a:lnTo>
                  <a:pt x="0" y="1592060"/>
                </a:lnTo>
                <a:lnTo>
                  <a:pt x="1442608" y="0"/>
                </a:lnTo>
                <a:lnTo>
                  <a:pt x="1442607" y="3488685"/>
                </a:lnTo>
                <a:cubicBezTo>
                  <a:pt x="1442607" y="3687868"/>
                  <a:pt x="1361872" y="3868194"/>
                  <a:pt x="1231342" y="3998724"/>
                </a:cubicBezTo>
                <a:close/>
              </a:path>
            </a:pathLst>
          </a:custGeom>
          <a:gradFill flip="none" rotWithShape="1">
            <a:gsLst>
              <a:gs pos="100000">
                <a:srgbClr val="0FA3B1"/>
              </a:gs>
              <a:gs pos="0">
                <a:srgbClr val="00626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Полилиния: фигура 25">
            <a:extLst>
              <a:ext uri="{FF2B5EF4-FFF2-40B4-BE49-F238E27FC236}">
                <a16:creationId xmlns:a16="http://schemas.microsoft.com/office/drawing/2014/main" id="{75B8B8F3-24CE-4BBE-B80C-C7591C2A6C52}"/>
              </a:ext>
            </a:extLst>
          </p:cNvPr>
          <p:cNvSpPr/>
          <p:nvPr/>
        </p:nvSpPr>
        <p:spPr>
          <a:xfrm rot="13789390">
            <a:off x="7370455" y="-817298"/>
            <a:ext cx="902270" cy="2663687"/>
          </a:xfrm>
          <a:custGeom>
            <a:avLst/>
            <a:gdLst>
              <a:gd name="connsiteX0" fmla="*/ 902270 w 902270"/>
              <a:gd name="connsiteY0" fmla="*/ 1595120 h 2663687"/>
              <a:gd name="connsiteX1" fmla="*/ 0 w 902270"/>
              <a:gd name="connsiteY1" fmla="*/ 2663687 h 2663687"/>
              <a:gd name="connsiteX2" fmla="*/ 0 w 902270"/>
              <a:gd name="connsiteY2" fmla="*/ 413537 h 2663687"/>
              <a:gd name="connsiteX3" fmla="*/ 413537 w 902270"/>
              <a:gd name="connsiteY3" fmla="*/ 0 h 2663687"/>
              <a:gd name="connsiteX4" fmla="*/ 488733 w 902270"/>
              <a:gd name="connsiteY4" fmla="*/ 0 h 2663687"/>
              <a:gd name="connsiteX5" fmla="*/ 902270 w 902270"/>
              <a:gd name="connsiteY5" fmla="*/ 413537 h 266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2270" h="2663687">
                <a:moveTo>
                  <a:pt x="902270" y="1595120"/>
                </a:moveTo>
                <a:lnTo>
                  <a:pt x="0" y="2663687"/>
                </a:lnTo>
                <a:lnTo>
                  <a:pt x="0" y="413537"/>
                </a:lnTo>
                <a:cubicBezTo>
                  <a:pt x="0" y="185147"/>
                  <a:pt x="185147" y="0"/>
                  <a:pt x="413537" y="0"/>
                </a:cubicBezTo>
                <a:lnTo>
                  <a:pt x="488733" y="0"/>
                </a:lnTo>
                <a:cubicBezTo>
                  <a:pt x="717123" y="0"/>
                  <a:pt x="902270" y="185147"/>
                  <a:pt x="902270" y="413537"/>
                </a:cubicBezTo>
                <a:close/>
              </a:path>
            </a:pathLst>
          </a:custGeom>
          <a:gradFill flip="none" rotWithShape="1">
            <a:gsLst>
              <a:gs pos="100000">
                <a:srgbClr val="0FA3B1"/>
              </a:gs>
              <a:gs pos="0">
                <a:srgbClr val="00626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Полилиния: фигура 23">
            <a:extLst>
              <a:ext uri="{FF2B5EF4-FFF2-40B4-BE49-F238E27FC236}">
                <a16:creationId xmlns:a16="http://schemas.microsoft.com/office/drawing/2014/main" id="{6C6CC275-326D-42E8-92E5-F870CA95C1BB}"/>
              </a:ext>
            </a:extLst>
          </p:cNvPr>
          <p:cNvSpPr/>
          <p:nvPr/>
        </p:nvSpPr>
        <p:spPr>
          <a:xfrm rot="13789390">
            <a:off x="8075910" y="-1099524"/>
            <a:ext cx="3472770" cy="6249798"/>
          </a:xfrm>
          <a:custGeom>
            <a:avLst/>
            <a:gdLst>
              <a:gd name="connsiteX0" fmla="*/ 3472770 w 3472770"/>
              <a:gd name="connsiteY0" fmla="*/ 4207872 h 6249798"/>
              <a:gd name="connsiteX1" fmla="*/ 1748623 w 3472770"/>
              <a:gd name="connsiteY1" fmla="*/ 6249798 h 6249798"/>
              <a:gd name="connsiteX2" fmla="*/ 0 w 3472770"/>
              <a:gd name="connsiteY2" fmla="*/ 4773308 h 6249798"/>
              <a:gd name="connsiteX3" fmla="*/ 0 w 3472770"/>
              <a:gd name="connsiteY3" fmla="*/ 1736385 h 6249798"/>
              <a:gd name="connsiteX4" fmla="*/ 1736385 w 3472770"/>
              <a:gd name="connsiteY4" fmla="*/ 0 h 6249798"/>
              <a:gd name="connsiteX5" fmla="*/ 3472770 w 3472770"/>
              <a:gd name="connsiteY5" fmla="*/ 1736385 h 6249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72770" h="6249798">
                <a:moveTo>
                  <a:pt x="3472770" y="4207872"/>
                </a:moveTo>
                <a:lnTo>
                  <a:pt x="1748623" y="6249798"/>
                </a:lnTo>
                <a:lnTo>
                  <a:pt x="0" y="4773308"/>
                </a:lnTo>
                <a:lnTo>
                  <a:pt x="0" y="1736385"/>
                </a:lnTo>
                <a:cubicBezTo>
                  <a:pt x="0" y="777406"/>
                  <a:pt x="777406" y="0"/>
                  <a:pt x="1736385" y="0"/>
                </a:cubicBezTo>
                <a:cubicBezTo>
                  <a:pt x="2695364" y="0"/>
                  <a:pt x="3472770" y="777406"/>
                  <a:pt x="3472770" y="1736385"/>
                </a:cubicBezTo>
                <a:close/>
              </a:path>
            </a:pathLst>
          </a:custGeom>
          <a:gradFill flip="none" rotWithShape="1">
            <a:gsLst>
              <a:gs pos="100000">
                <a:srgbClr val="0FA3B1"/>
              </a:gs>
              <a:gs pos="0">
                <a:srgbClr val="00626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6A41B7C4-9C13-4723-8955-006EDD96E3D5}"/>
              </a:ext>
            </a:extLst>
          </p:cNvPr>
          <p:cNvSpPr/>
          <p:nvPr/>
        </p:nvSpPr>
        <p:spPr>
          <a:xfrm>
            <a:off x="6096000" y="1204672"/>
            <a:ext cx="5040000" cy="5040000"/>
          </a:xfrm>
          <a:prstGeom prst="ellipse">
            <a:avLst/>
          </a:prstGeom>
          <a:gradFill flip="none" rotWithShape="1">
            <a:gsLst>
              <a:gs pos="100000">
                <a:srgbClr val="0FA3B1"/>
              </a:gs>
              <a:gs pos="0">
                <a:srgbClr val="00626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BD418CDA-1590-41CC-A85E-8AC1729F2DAF}"/>
              </a:ext>
            </a:extLst>
          </p:cNvPr>
          <p:cNvSpPr/>
          <p:nvPr/>
        </p:nvSpPr>
        <p:spPr>
          <a:xfrm>
            <a:off x="6289846" y="1398518"/>
            <a:ext cx="4652308" cy="4652308"/>
          </a:xfrm>
          <a:prstGeom prst="ellipse">
            <a:avLst/>
          </a:prstGeom>
          <a:noFill/>
          <a:ln w="1016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9F1EBCA0-C09D-43F3-B92E-78A034F6C351}"/>
              </a:ext>
            </a:extLst>
          </p:cNvPr>
          <p:cNvSpPr/>
          <p:nvPr/>
        </p:nvSpPr>
        <p:spPr>
          <a:xfrm>
            <a:off x="6677538" y="1796806"/>
            <a:ext cx="3876923" cy="3876923"/>
          </a:xfrm>
          <a:prstGeom prst="ellipse">
            <a:avLst/>
          </a:prstGeom>
          <a:blipFill dpi="0" rotWithShape="1">
            <a:blip r:embed="rId2"/>
            <a:srcRect/>
            <a:stretch>
              <a:fillRect l="-10000"/>
            </a:stretch>
          </a:blipFill>
          <a:ln w="8572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Полилиния: фигура 45">
            <a:extLst>
              <a:ext uri="{FF2B5EF4-FFF2-40B4-BE49-F238E27FC236}">
                <a16:creationId xmlns:a16="http://schemas.microsoft.com/office/drawing/2014/main" id="{21CD65DE-B73A-49AC-8348-9CAB9F4124B0}"/>
              </a:ext>
            </a:extLst>
          </p:cNvPr>
          <p:cNvSpPr/>
          <p:nvPr/>
        </p:nvSpPr>
        <p:spPr>
          <a:xfrm>
            <a:off x="1" y="291698"/>
            <a:ext cx="3237477" cy="820622"/>
          </a:xfrm>
          <a:custGeom>
            <a:avLst/>
            <a:gdLst>
              <a:gd name="connsiteX0" fmla="*/ 0 w 3237477"/>
              <a:gd name="connsiteY0" fmla="*/ 0 h 820622"/>
              <a:gd name="connsiteX1" fmla="*/ 2827166 w 3237477"/>
              <a:gd name="connsiteY1" fmla="*/ 0 h 820622"/>
              <a:gd name="connsiteX2" fmla="*/ 3237477 w 3237477"/>
              <a:gd name="connsiteY2" fmla="*/ 410311 h 820622"/>
              <a:gd name="connsiteX3" fmla="*/ 2827166 w 3237477"/>
              <a:gd name="connsiteY3" fmla="*/ 820622 h 820622"/>
              <a:gd name="connsiteX4" fmla="*/ 0 w 3237477"/>
              <a:gd name="connsiteY4" fmla="*/ 820622 h 820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7477" h="820622">
                <a:moveTo>
                  <a:pt x="0" y="0"/>
                </a:moveTo>
                <a:lnTo>
                  <a:pt x="2827166" y="0"/>
                </a:lnTo>
                <a:cubicBezTo>
                  <a:pt x="3053775" y="0"/>
                  <a:pt x="3237477" y="183702"/>
                  <a:pt x="3237477" y="410311"/>
                </a:cubicBezTo>
                <a:cubicBezTo>
                  <a:pt x="3237477" y="636920"/>
                  <a:pt x="3053775" y="820622"/>
                  <a:pt x="2827166" y="820622"/>
                </a:cubicBezTo>
                <a:lnTo>
                  <a:pt x="0" y="820622"/>
                </a:lnTo>
                <a:close/>
              </a:path>
            </a:pathLst>
          </a:custGeom>
          <a:gradFill flip="none" rotWithShape="1">
            <a:gsLst>
              <a:gs pos="100000">
                <a:srgbClr val="0FA3B1"/>
              </a:gs>
              <a:gs pos="0">
                <a:srgbClr val="00626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2637B9-5ABD-4C19-98D1-DE55A13B4450}"/>
              </a:ext>
            </a:extLst>
          </p:cNvPr>
          <p:cNvSpPr txBox="1"/>
          <p:nvPr/>
        </p:nvSpPr>
        <p:spPr>
          <a:xfrm>
            <a:off x="615180" y="291698"/>
            <a:ext cx="22769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SQL INJECTION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543EE5-BC54-4E68-BFBD-8B4C8BD2CF20}"/>
              </a:ext>
            </a:extLst>
          </p:cNvPr>
          <p:cNvSpPr txBox="1"/>
          <p:nvPr/>
        </p:nvSpPr>
        <p:spPr>
          <a:xfrm>
            <a:off x="216754" y="1459319"/>
            <a:ext cx="816712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 Black" panose="020B0A04020102020204" pitchFamily="34" charset="0"/>
              </a:rPr>
              <a:t>Web </a:t>
            </a:r>
            <a:r>
              <a:rPr lang="en-US" sz="4000" dirty="0" err="1">
                <a:latin typeface="Arial Black" panose="020B0A04020102020204" pitchFamily="34" charset="0"/>
              </a:rPr>
              <a:t>ilovalarda</a:t>
            </a:r>
            <a:r>
              <a:rPr lang="en-US" sz="4000" dirty="0">
                <a:latin typeface="Arial Black" panose="020B0A04020102020204" pitchFamily="34" charset="0"/>
              </a:rPr>
              <a:t> SQL Injection </a:t>
            </a:r>
            <a:r>
              <a:rPr lang="en-US" sz="4000" dirty="0" err="1">
                <a:latin typeface="Arial Black" panose="020B0A04020102020204" pitchFamily="34" charset="0"/>
              </a:rPr>
              <a:t>va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 err="1">
                <a:latin typeface="Arial Black" panose="020B0A04020102020204" pitchFamily="34" charset="0"/>
              </a:rPr>
              <a:t>boshqa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 err="1">
                <a:solidFill>
                  <a:srgbClr val="02A4AB"/>
                </a:solidFill>
                <a:latin typeface="Arial Black" panose="020B0A04020102020204" pitchFamily="34" charset="0"/>
              </a:rPr>
              <a:t>hujumlarga</a:t>
            </a:r>
            <a:r>
              <a:rPr lang="en-US" sz="4000" dirty="0">
                <a:solidFill>
                  <a:srgbClr val="02A4AB"/>
                </a:solidFill>
                <a:latin typeface="Arial Black" panose="020B0A04020102020204" pitchFamily="34" charset="0"/>
              </a:rPr>
              <a:t> </a:t>
            </a:r>
            <a:r>
              <a:rPr lang="en-US" sz="4000" dirty="0" err="1">
                <a:solidFill>
                  <a:srgbClr val="02A4AB"/>
                </a:solidFill>
                <a:latin typeface="Arial Black" panose="020B0A04020102020204" pitchFamily="34" charset="0"/>
              </a:rPr>
              <a:t>qarshi</a:t>
            </a:r>
            <a:endParaRPr lang="en-US" sz="4000" dirty="0">
              <a:solidFill>
                <a:srgbClr val="02A4AB"/>
              </a:solidFill>
              <a:latin typeface="Arial Black" panose="020B0A04020102020204" pitchFamily="34" charset="0"/>
            </a:endParaRPr>
          </a:p>
          <a:p>
            <a:r>
              <a:rPr lang="en-US" sz="4000" dirty="0" err="1">
                <a:solidFill>
                  <a:srgbClr val="02A4AB"/>
                </a:solidFill>
                <a:latin typeface="Arial Black" panose="020B0A04020102020204" pitchFamily="34" charset="0"/>
              </a:rPr>
              <a:t>himoya</a:t>
            </a:r>
            <a:endParaRPr lang="en-US" sz="4000" dirty="0">
              <a:solidFill>
                <a:srgbClr val="02A4AB"/>
              </a:solidFill>
              <a:latin typeface="Arial Black" panose="020B0A04020102020204" pitchFamily="34" charset="0"/>
            </a:endParaRP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DB886E0D-AF93-42EF-9D4E-28E63E67BE74}"/>
              </a:ext>
            </a:extLst>
          </p:cNvPr>
          <p:cNvSpPr/>
          <p:nvPr/>
        </p:nvSpPr>
        <p:spPr>
          <a:xfrm>
            <a:off x="497167" y="336080"/>
            <a:ext cx="65689" cy="7255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1" name="Группа 130">
            <a:extLst>
              <a:ext uri="{FF2B5EF4-FFF2-40B4-BE49-F238E27FC236}">
                <a16:creationId xmlns:a16="http://schemas.microsoft.com/office/drawing/2014/main" id="{3412CF9E-548E-4CAE-AC9D-E0FB54EFB938}"/>
              </a:ext>
            </a:extLst>
          </p:cNvPr>
          <p:cNvGrpSpPr/>
          <p:nvPr/>
        </p:nvGrpSpPr>
        <p:grpSpPr>
          <a:xfrm>
            <a:off x="2644" y="4219544"/>
            <a:ext cx="5560848" cy="644944"/>
            <a:chOff x="2644" y="4219544"/>
            <a:chExt cx="5560848" cy="644944"/>
          </a:xfrm>
        </p:grpSpPr>
        <p:sp>
          <p:nvSpPr>
            <p:cNvPr id="125" name="Полилиния: фигура 124">
              <a:extLst>
                <a:ext uri="{FF2B5EF4-FFF2-40B4-BE49-F238E27FC236}">
                  <a16:creationId xmlns:a16="http://schemas.microsoft.com/office/drawing/2014/main" id="{848D11E2-2938-45F0-881D-028407501954}"/>
                </a:ext>
              </a:extLst>
            </p:cNvPr>
            <p:cNvSpPr/>
            <p:nvPr/>
          </p:nvSpPr>
          <p:spPr>
            <a:xfrm>
              <a:off x="2644" y="4219544"/>
              <a:ext cx="5277382" cy="644944"/>
            </a:xfrm>
            <a:custGeom>
              <a:avLst/>
              <a:gdLst>
                <a:gd name="connsiteX0" fmla="*/ 0 w 5277382"/>
                <a:gd name="connsiteY0" fmla="*/ 0 h 644944"/>
                <a:gd name="connsiteX1" fmla="*/ 4954910 w 5277382"/>
                <a:gd name="connsiteY1" fmla="*/ 0 h 644944"/>
                <a:gd name="connsiteX2" fmla="*/ 5277382 w 5277382"/>
                <a:gd name="connsiteY2" fmla="*/ 322472 h 644944"/>
                <a:gd name="connsiteX3" fmla="*/ 5277381 w 5277382"/>
                <a:gd name="connsiteY3" fmla="*/ 322472 h 644944"/>
                <a:gd name="connsiteX4" fmla="*/ 4954909 w 5277382"/>
                <a:gd name="connsiteY4" fmla="*/ 644944 h 644944"/>
                <a:gd name="connsiteX5" fmla="*/ 0 w 5277382"/>
                <a:gd name="connsiteY5" fmla="*/ 644943 h 64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77382" h="644944">
                  <a:moveTo>
                    <a:pt x="0" y="0"/>
                  </a:moveTo>
                  <a:lnTo>
                    <a:pt x="4954910" y="0"/>
                  </a:lnTo>
                  <a:cubicBezTo>
                    <a:pt x="5133006" y="0"/>
                    <a:pt x="5277382" y="144376"/>
                    <a:pt x="5277382" y="322472"/>
                  </a:cubicBezTo>
                  <a:lnTo>
                    <a:pt x="5277381" y="322472"/>
                  </a:lnTo>
                  <a:cubicBezTo>
                    <a:pt x="5277381" y="500568"/>
                    <a:pt x="5133005" y="644944"/>
                    <a:pt x="4954909" y="644944"/>
                  </a:cubicBezTo>
                  <a:lnTo>
                    <a:pt x="0" y="644943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0FA3B1"/>
                </a:gs>
                <a:gs pos="0">
                  <a:srgbClr val="00626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45" name="Группа 44">
              <a:extLst>
                <a:ext uri="{FF2B5EF4-FFF2-40B4-BE49-F238E27FC236}">
                  <a16:creationId xmlns:a16="http://schemas.microsoft.com/office/drawing/2014/main" id="{E311322A-6C38-410B-8822-5C61DDEAC4EE}"/>
                </a:ext>
              </a:extLst>
            </p:cNvPr>
            <p:cNvGrpSpPr/>
            <p:nvPr/>
          </p:nvGrpSpPr>
          <p:grpSpPr>
            <a:xfrm>
              <a:off x="197624" y="4288696"/>
              <a:ext cx="507607" cy="506640"/>
              <a:chOff x="354621" y="4412764"/>
              <a:chExt cx="507607" cy="506640"/>
            </a:xfrm>
          </p:grpSpPr>
          <p:sp>
            <p:nvSpPr>
              <p:cNvPr id="51" name="Freeform: Shape 3475">
                <a:extLst>
                  <a:ext uri="{FF2B5EF4-FFF2-40B4-BE49-F238E27FC236}">
                    <a16:creationId xmlns:a16="http://schemas.microsoft.com/office/drawing/2014/main" id="{16C0F20D-ACC2-4B0A-9C41-7F075530ED9B}"/>
                  </a:ext>
                </a:extLst>
              </p:cNvPr>
              <p:cNvSpPr/>
              <p:nvPr/>
            </p:nvSpPr>
            <p:spPr>
              <a:xfrm>
                <a:off x="388524" y="4446612"/>
                <a:ext cx="434913" cy="434084"/>
              </a:xfrm>
              <a:custGeom>
                <a:avLst/>
                <a:gdLst>
                  <a:gd name="connsiteX0" fmla="*/ 434085 w 434084"/>
                  <a:gd name="connsiteY0" fmla="*/ 217042 h 434084"/>
                  <a:gd name="connsiteX1" fmla="*/ 217042 w 434084"/>
                  <a:gd name="connsiteY1" fmla="*/ 434085 h 434084"/>
                  <a:gd name="connsiteX2" fmla="*/ 0 w 434084"/>
                  <a:gd name="connsiteY2" fmla="*/ 217042 h 434084"/>
                  <a:gd name="connsiteX3" fmla="*/ 217042 w 434084"/>
                  <a:gd name="connsiteY3" fmla="*/ 0 h 434084"/>
                  <a:gd name="connsiteX4" fmla="*/ 434085 w 434084"/>
                  <a:gd name="connsiteY4" fmla="*/ 217042 h 43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4084" h="434084">
                    <a:moveTo>
                      <a:pt x="434085" y="217042"/>
                    </a:moveTo>
                    <a:cubicBezTo>
                      <a:pt x="434085" y="336911"/>
                      <a:pt x="336915" y="434085"/>
                      <a:pt x="217042" y="434085"/>
                    </a:cubicBezTo>
                    <a:cubicBezTo>
                      <a:pt x="97170" y="434085"/>
                      <a:pt x="0" y="336915"/>
                      <a:pt x="0" y="217042"/>
                    </a:cubicBezTo>
                    <a:cubicBezTo>
                      <a:pt x="0" y="97170"/>
                      <a:pt x="97170" y="0"/>
                      <a:pt x="217042" y="0"/>
                    </a:cubicBezTo>
                    <a:cubicBezTo>
                      <a:pt x="336915" y="0"/>
                      <a:pt x="434085" y="97170"/>
                      <a:pt x="434085" y="217042"/>
                    </a:cubicBezTo>
                  </a:path>
                </a:pathLst>
              </a:custGeom>
              <a:solidFill>
                <a:srgbClr val="127475"/>
              </a:solidFill>
              <a:ln w="9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3476">
                <a:extLst>
                  <a:ext uri="{FF2B5EF4-FFF2-40B4-BE49-F238E27FC236}">
                    <a16:creationId xmlns:a16="http://schemas.microsoft.com/office/drawing/2014/main" id="{5006667E-1B1C-4BA6-B13B-0D79C7F00D0F}"/>
                  </a:ext>
                </a:extLst>
              </p:cNvPr>
              <p:cNvSpPr/>
              <p:nvPr/>
            </p:nvSpPr>
            <p:spPr>
              <a:xfrm>
                <a:off x="355614" y="4413755"/>
                <a:ext cx="506614" cy="505649"/>
              </a:xfrm>
              <a:custGeom>
                <a:avLst/>
                <a:gdLst>
                  <a:gd name="connsiteX0" fmla="*/ 252825 w 505649"/>
                  <a:gd name="connsiteY0" fmla="*/ 0 h 505649"/>
                  <a:gd name="connsiteX1" fmla="*/ 0 w 505649"/>
                  <a:gd name="connsiteY1" fmla="*/ 252825 h 505649"/>
                  <a:gd name="connsiteX2" fmla="*/ 252825 w 505649"/>
                  <a:gd name="connsiteY2" fmla="*/ 505649 h 505649"/>
                  <a:gd name="connsiteX3" fmla="*/ 505649 w 505649"/>
                  <a:gd name="connsiteY3" fmla="*/ 252825 h 505649"/>
                  <a:gd name="connsiteX4" fmla="*/ 252825 w 505649"/>
                  <a:gd name="connsiteY4" fmla="*/ 0 h 505649"/>
                  <a:gd name="connsiteX5" fmla="*/ 261576 w 505649"/>
                  <a:gd name="connsiteY5" fmla="*/ 44548 h 505649"/>
                  <a:gd name="connsiteX6" fmla="*/ 478609 w 505649"/>
                  <a:gd name="connsiteY6" fmla="*/ 261580 h 505649"/>
                  <a:gd name="connsiteX7" fmla="*/ 261576 w 505649"/>
                  <a:gd name="connsiteY7" fmla="*/ 478613 h 505649"/>
                  <a:gd name="connsiteX8" fmla="*/ 44514 w 505649"/>
                  <a:gd name="connsiteY8" fmla="*/ 261580 h 505649"/>
                  <a:gd name="connsiteX9" fmla="*/ 261576 w 505649"/>
                  <a:gd name="connsiteY9" fmla="*/ 44548 h 505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05649" h="505649">
                    <a:moveTo>
                      <a:pt x="252825" y="0"/>
                    </a:moveTo>
                    <a:cubicBezTo>
                      <a:pt x="113196" y="0"/>
                      <a:pt x="0" y="113196"/>
                      <a:pt x="0" y="252825"/>
                    </a:cubicBezTo>
                    <a:cubicBezTo>
                      <a:pt x="0" y="392453"/>
                      <a:pt x="113196" y="505649"/>
                      <a:pt x="252825" y="505649"/>
                    </a:cubicBezTo>
                    <a:cubicBezTo>
                      <a:pt x="392453" y="505649"/>
                      <a:pt x="505649" y="392453"/>
                      <a:pt x="505649" y="252825"/>
                    </a:cubicBezTo>
                    <a:cubicBezTo>
                      <a:pt x="505649" y="113196"/>
                      <a:pt x="392453" y="0"/>
                      <a:pt x="252825" y="0"/>
                    </a:cubicBezTo>
                    <a:moveTo>
                      <a:pt x="261576" y="44548"/>
                    </a:moveTo>
                    <a:cubicBezTo>
                      <a:pt x="381445" y="44548"/>
                      <a:pt x="478609" y="141712"/>
                      <a:pt x="478609" y="261580"/>
                    </a:cubicBezTo>
                    <a:cubicBezTo>
                      <a:pt x="478609" y="381449"/>
                      <a:pt x="381445" y="478613"/>
                      <a:pt x="261576" y="478613"/>
                    </a:cubicBezTo>
                    <a:cubicBezTo>
                      <a:pt x="141708" y="478613"/>
                      <a:pt x="44514" y="381449"/>
                      <a:pt x="44514" y="261580"/>
                    </a:cubicBezTo>
                    <a:cubicBezTo>
                      <a:pt x="44514" y="141712"/>
                      <a:pt x="141708" y="44548"/>
                      <a:pt x="261576" y="44548"/>
                    </a:cubicBezTo>
                  </a:path>
                </a:pathLst>
              </a:custGeom>
              <a:solidFill>
                <a:srgbClr val="000000">
                  <a:alpha val="7000"/>
                </a:srgbClr>
              </a:solidFill>
              <a:ln w="9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3477">
                <a:extLst>
                  <a:ext uri="{FF2B5EF4-FFF2-40B4-BE49-F238E27FC236}">
                    <a16:creationId xmlns:a16="http://schemas.microsoft.com/office/drawing/2014/main" id="{FF65D061-3533-4451-BF15-A6C9747075FB}"/>
                  </a:ext>
                </a:extLst>
              </p:cNvPr>
              <p:cNvSpPr/>
              <p:nvPr/>
            </p:nvSpPr>
            <p:spPr>
              <a:xfrm>
                <a:off x="359021" y="4417156"/>
                <a:ext cx="499799" cy="498847"/>
              </a:xfrm>
              <a:custGeom>
                <a:avLst/>
                <a:gdLst>
                  <a:gd name="connsiteX0" fmla="*/ 249424 w 498847"/>
                  <a:gd name="connsiteY0" fmla="*/ 0 h 498847"/>
                  <a:gd name="connsiteX1" fmla="*/ 0 w 498847"/>
                  <a:gd name="connsiteY1" fmla="*/ 249424 h 498847"/>
                  <a:gd name="connsiteX2" fmla="*/ 249424 w 498847"/>
                  <a:gd name="connsiteY2" fmla="*/ 498848 h 498847"/>
                  <a:gd name="connsiteX3" fmla="*/ 498848 w 498847"/>
                  <a:gd name="connsiteY3" fmla="*/ 249424 h 498847"/>
                  <a:gd name="connsiteX4" fmla="*/ 249424 w 498847"/>
                  <a:gd name="connsiteY4" fmla="*/ 0 h 498847"/>
                  <a:gd name="connsiteX5" fmla="*/ 255259 w 498847"/>
                  <a:gd name="connsiteY5" fmla="*/ 38227 h 498847"/>
                  <a:gd name="connsiteX6" fmla="*/ 472291 w 498847"/>
                  <a:gd name="connsiteY6" fmla="*/ 255260 h 498847"/>
                  <a:gd name="connsiteX7" fmla="*/ 255259 w 498847"/>
                  <a:gd name="connsiteY7" fmla="*/ 472292 h 498847"/>
                  <a:gd name="connsiteX8" fmla="*/ 38196 w 498847"/>
                  <a:gd name="connsiteY8" fmla="*/ 255260 h 498847"/>
                  <a:gd name="connsiteX9" fmla="*/ 255259 w 498847"/>
                  <a:gd name="connsiteY9" fmla="*/ 38227 h 49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8847" h="498847">
                    <a:moveTo>
                      <a:pt x="249424" y="0"/>
                    </a:moveTo>
                    <a:cubicBezTo>
                      <a:pt x="111669" y="0"/>
                      <a:pt x="0" y="111669"/>
                      <a:pt x="0" y="249424"/>
                    </a:cubicBezTo>
                    <a:cubicBezTo>
                      <a:pt x="0" y="387178"/>
                      <a:pt x="111669" y="498848"/>
                      <a:pt x="249424" y="498848"/>
                    </a:cubicBezTo>
                    <a:cubicBezTo>
                      <a:pt x="387178" y="498848"/>
                      <a:pt x="498848" y="387178"/>
                      <a:pt x="498848" y="249424"/>
                    </a:cubicBezTo>
                    <a:cubicBezTo>
                      <a:pt x="498848" y="111669"/>
                      <a:pt x="387178" y="0"/>
                      <a:pt x="249424" y="0"/>
                    </a:cubicBezTo>
                    <a:moveTo>
                      <a:pt x="255259" y="38227"/>
                    </a:moveTo>
                    <a:cubicBezTo>
                      <a:pt x="375127" y="38227"/>
                      <a:pt x="472291" y="135391"/>
                      <a:pt x="472291" y="255260"/>
                    </a:cubicBezTo>
                    <a:cubicBezTo>
                      <a:pt x="472291" y="375128"/>
                      <a:pt x="375127" y="472292"/>
                      <a:pt x="255259" y="472292"/>
                    </a:cubicBezTo>
                    <a:cubicBezTo>
                      <a:pt x="135390" y="472292"/>
                      <a:pt x="38196" y="375128"/>
                      <a:pt x="38196" y="255260"/>
                    </a:cubicBezTo>
                    <a:cubicBezTo>
                      <a:pt x="38196" y="135391"/>
                      <a:pt x="135390" y="38227"/>
                      <a:pt x="255259" y="38227"/>
                    </a:cubicBezTo>
                  </a:path>
                </a:pathLst>
              </a:custGeom>
              <a:solidFill>
                <a:srgbClr val="000000">
                  <a:alpha val="13000"/>
                </a:srgbClr>
              </a:solidFill>
              <a:ln w="9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3478">
                <a:extLst>
                  <a:ext uri="{FF2B5EF4-FFF2-40B4-BE49-F238E27FC236}">
                    <a16:creationId xmlns:a16="http://schemas.microsoft.com/office/drawing/2014/main" id="{5304162C-4037-43B1-B270-4A4593C6B325}"/>
                  </a:ext>
                </a:extLst>
              </p:cNvPr>
              <p:cNvSpPr/>
              <p:nvPr/>
            </p:nvSpPr>
            <p:spPr>
              <a:xfrm>
                <a:off x="362925" y="4421052"/>
                <a:ext cx="491991" cy="491054"/>
              </a:xfrm>
              <a:custGeom>
                <a:avLst/>
                <a:gdLst>
                  <a:gd name="connsiteX0" fmla="*/ 245527 w 491054"/>
                  <a:gd name="connsiteY0" fmla="*/ 0 h 491054"/>
                  <a:gd name="connsiteX1" fmla="*/ 0 w 491054"/>
                  <a:gd name="connsiteY1" fmla="*/ 245527 h 491054"/>
                  <a:gd name="connsiteX2" fmla="*/ 245527 w 491054"/>
                  <a:gd name="connsiteY2" fmla="*/ 491055 h 491054"/>
                  <a:gd name="connsiteX3" fmla="*/ 491055 w 491054"/>
                  <a:gd name="connsiteY3" fmla="*/ 245527 h 491054"/>
                  <a:gd name="connsiteX4" fmla="*/ 245527 w 491054"/>
                  <a:gd name="connsiteY4" fmla="*/ 0 h 491054"/>
                  <a:gd name="connsiteX5" fmla="*/ 248444 w 491054"/>
                  <a:gd name="connsiteY5" fmla="*/ 31421 h 491054"/>
                  <a:gd name="connsiteX6" fmla="*/ 465477 w 491054"/>
                  <a:gd name="connsiteY6" fmla="*/ 248453 h 491054"/>
                  <a:gd name="connsiteX7" fmla="*/ 248444 w 491054"/>
                  <a:gd name="connsiteY7" fmla="*/ 465486 h 491054"/>
                  <a:gd name="connsiteX8" fmla="*/ 31382 w 491054"/>
                  <a:gd name="connsiteY8" fmla="*/ 248453 h 491054"/>
                  <a:gd name="connsiteX9" fmla="*/ 248444 w 491054"/>
                  <a:gd name="connsiteY9" fmla="*/ 31421 h 491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1054" h="491054">
                    <a:moveTo>
                      <a:pt x="245527" y="0"/>
                    </a:moveTo>
                    <a:cubicBezTo>
                      <a:pt x="109924" y="0"/>
                      <a:pt x="0" y="109924"/>
                      <a:pt x="0" y="245527"/>
                    </a:cubicBezTo>
                    <a:cubicBezTo>
                      <a:pt x="0" y="381131"/>
                      <a:pt x="109924" y="491055"/>
                      <a:pt x="245527" y="491055"/>
                    </a:cubicBezTo>
                    <a:cubicBezTo>
                      <a:pt x="381131" y="491055"/>
                      <a:pt x="491055" y="381131"/>
                      <a:pt x="491055" y="245527"/>
                    </a:cubicBezTo>
                    <a:cubicBezTo>
                      <a:pt x="491055" y="109924"/>
                      <a:pt x="381131" y="0"/>
                      <a:pt x="245527" y="0"/>
                    </a:cubicBezTo>
                    <a:moveTo>
                      <a:pt x="248444" y="31421"/>
                    </a:moveTo>
                    <a:cubicBezTo>
                      <a:pt x="368313" y="31421"/>
                      <a:pt x="465477" y="128585"/>
                      <a:pt x="465477" y="248453"/>
                    </a:cubicBezTo>
                    <a:cubicBezTo>
                      <a:pt x="465477" y="368322"/>
                      <a:pt x="368313" y="465486"/>
                      <a:pt x="248444" y="465486"/>
                    </a:cubicBezTo>
                    <a:cubicBezTo>
                      <a:pt x="128576" y="465486"/>
                      <a:pt x="31382" y="368322"/>
                      <a:pt x="31382" y="248453"/>
                    </a:cubicBezTo>
                    <a:cubicBezTo>
                      <a:pt x="31382" y="128585"/>
                      <a:pt x="128576" y="31421"/>
                      <a:pt x="248444" y="31421"/>
                    </a:cubicBezTo>
                  </a:path>
                </a:pathLst>
              </a:custGeom>
              <a:solidFill>
                <a:srgbClr val="000000">
                  <a:alpha val="13000"/>
                </a:srgbClr>
              </a:solidFill>
              <a:ln w="9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3479">
                <a:extLst>
                  <a:ext uri="{FF2B5EF4-FFF2-40B4-BE49-F238E27FC236}">
                    <a16:creationId xmlns:a16="http://schemas.microsoft.com/office/drawing/2014/main" id="{B1F113F7-D091-448F-BD60-352592C4155D}"/>
                  </a:ext>
                </a:extLst>
              </p:cNvPr>
              <p:cNvSpPr/>
              <p:nvPr/>
            </p:nvSpPr>
            <p:spPr>
              <a:xfrm>
                <a:off x="362419" y="4420556"/>
                <a:ext cx="487124" cy="486196"/>
              </a:xfrm>
              <a:custGeom>
                <a:avLst/>
                <a:gdLst>
                  <a:gd name="connsiteX0" fmla="*/ 243098 w 486196"/>
                  <a:gd name="connsiteY0" fmla="*/ 0 h 486196"/>
                  <a:gd name="connsiteX1" fmla="*/ 0 w 486196"/>
                  <a:gd name="connsiteY1" fmla="*/ 243098 h 486196"/>
                  <a:gd name="connsiteX2" fmla="*/ 243098 w 486196"/>
                  <a:gd name="connsiteY2" fmla="*/ 486196 h 486196"/>
                  <a:gd name="connsiteX3" fmla="*/ 486196 w 486196"/>
                  <a:gd name="connsiteY3" fmla="*/ 243098 h 486196"/>
                  <a:gd name="connsiteX4" fmla="*/ 243098 w 486196"/>
                  <a:gd name="connsiteY4" fmla="*/ 0 h 486196"/>
                  <a:gd name="connsiteX5" fmla="*/ 243098 w 486196"/>
                  <a:gd name="connsiteY5" fmla="*/ 26073 h 486196"/>
                  <a:gd name="connsiteX6" fmla="*/ 460131 w 486196"/>
                  <a:gd name="connsiteY6" fmla="*/ 243105 h 486196"/>
                  <a:gd name="connsiteX7" fmla="*/ 243098 w 486196"/>
                  <a:gd name="connsiteY7" fmla="*/ 460138 h 486196"/>
                  <a:gd name="connsiteX8" fmla="*/ 26036 w 486196"/>
                  <a:gd name="connsiteY8" fmla="*/ 243105 h 486196"/>
                  <a:gd name="connsiteX9" fmla="*/ 243098 w 486196"/>
                  <a:gd name="connsiteY9" fmla="*/ 26073 h 486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86196" h="486196">
                    <a:moveTo>
                      <a:pt x="243098" y="0"/>
                    </a:moveTo>
                    <a:cubicBezTo>
                      <a:pt x="108834" y="0"/>
                      <a:pt x="0" y="108843"/>
                      <a:pt x="0" y="243098"/>
                    </a:cubicBezTo>
                    <a:cubicBezTo>
                      <a:pt x="0" y="377363"/>
                      <a:pt x="108843" y="486196"/>
                      <a:pt x="243098" y="486196"/>
                    </a:cubicBezTo>
                    <a:cubicBezTo>
                      <a:pt x="377363" y="486196"/>
                      <a:pt x="486196" y="377353"/>
                      <a:pt x="486196" y="243098"/>
                    </a:cubicBezTo>
                    <a:cubicBezTo>
                      <a:pt x="486196" y="108834"/>
                      <a:pt x="377353" y="0"/>
                      <a:pt x="243098" y="0"/>
                    </a:cubicBezTo>
                    <a:close/>
                    <a:moveTo>
                      <a:pt x="243098" y="26073"/>
                    </a:moveTo>
                    <a:cubicBezTo>
                      <a:pt x="362967" y="26073"/>
                      <a:pt x="460131" y="123237"/>
                      <a:pt x="460131" y="243105"/>
                    </a:cubicBezTo>
                    <a:cubicBezTo>
                      <a:pt x="460131" y="362974"/>
                      <a:pt x="362967" y="460138"/>
                      <a:pt x="243098" y="460138"/>
                    </a:cubicBezTo>
                    <a:cubicBezTo>
                      <a:pt x="123230" y="460138"/>
                      <a:pt x="26036" y="362974"/>
                      <a:pt x="26036" y="243105"/>
                    </a:cubicBezTo>
                    <a:cubicBezTo>
                      <a:pt x="26036" y="123237"/>
                      <a:pt x="123230" y="26073"/>
                      <a:pt x="243098" y="260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4835" cap="flat">
                <a:solidFill>
                  <a:srgbClr val="000000">
                    <a:alpha val="31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6" name="Graphic 3457">
                <a:extLst>
                  <a:ext uri="{FF2B5EF4-FFF2-40B4-BE49-F238E27FC236}">
                    <a16:creationId xmlns:a16="http://schemas.microsoft.com/office/drawing/2014/main" id="{984B6294-3603-4656-BD21-680967FA18FE}"/>
                  </a:ext>
                </a:extLst>
              </p:cNvPr>
              <p:cNvGrpSpPr/>
              <p:nvPr/>
            </p:nvGrpSpPr>
            <p:grpSpPr>
              <a:xfrm>
                <a:off x="354621" y="4412764"/>
                <a:ext cx="993" cy="991"/>
                <a:chOff x="61987" y="4043056"/>
                <a:chExt cx="991" cy="991"/>
              </a:xfrm>
            </p:grpSpPr>
          </p:grpSp>
          <p:sp>
            <p:nvSpPr>
              <p:cNvPr id="57" name="Freeform: Shape 3488">
                <a:extLst>
                  <a:ext uri="{FF2B5EF4-FFF2-40B4-BE49-F238E27FC236}">
                    <a16:creationId xmlns:a16="http://schemas.microsoft.com/office/drawing/2014/main" id="{E61CA93C-5F58-4519-9322-789C53C62D49}"/>
                  </a:ext>
                </a:extLst>
              </p:cNvPr>
              <p:cNvSpPr/>
              <p:nvPr/>
            </p:nvSpPr>
            <p:spPr>
              <a:xfrm>
                <a:off x="477301" y="4523630"/>
                <a:ext cx="342650" cy="357067"/>
              </a:xfrm>
              <a:custGeom>
                <a:avLst/>
                <a:gdLst>
                  <a:gd name="connsiteX0" fmla="*/ 131181 w 341997"/>
                  <a:gd name="connsiteY0" fmla="*/ 0 h 357067"/>
                  <a:gd name="connsiteX1" fmla="*/ 51894 w 341997"/>
                  <a:gd name="connsiteY1" fmla="*/ 82758 h 357067"/>
                  <a:gd name="connsiteX2" fmla="*/ 76532 w 341997"/>
                  <a:gd name="connsiteY2" fmla="*/ 142990 h 357067"/>
                  <a:gd name="connsiteX3" fmla="*/ 145548 w 341997"/>
                  <a:gd name="connsiteY3" fmla="*/ 212016 h 357067"/>
                  <a:gd name="connsiteX4" fmla="*/ 131181 w 341997"/>
                  <a:gd name="connsiteY4" fmla="*/ 212888 h 357067"/>
                  <a:gd name="connsiteX5" fmla="*/ 57258 w 341997"/>
                  <a:gd name="connsiteY5" fmla="*/ 187209 h 357067"/>
                  <a:gd name="connsiteX6" fmla="*/ 40 w 341997"/>
                  <a:gd name="connsiteY6" fmla="*/ 285900 h 357067"/>
                  <a:gd name="connsiteX7" fmla="*/ 60272 w 341997"/>
                  <a:gd name="connsiteY7" fmla="*/ 346132 h 357067"/>
                  <a:gd name="connsiteX8" fmla="*/ 128435 w 341997"/>
                  <a:gd name="connsiteY8" fmla="*/ 357068 h 357067"/>
                  <a:gd name="connsiteX9" fmla="*/ 341997 w 341997"/>
                  <a:gd name="connsiteY9" fmla="*/ 178920 h 357067"/>
                  <a:gd name="connsiteX10" fmla="*/ 186069 w 341997"/>
                  <a:gd name="connsiteY10" fmla="*/ 22992 h 357067"/>
                  <a:gd name="connsiteX11" fmla="*/ 131181 w 341997"/>
                  <a:gd name="connsiteY11" fmla="*/ 0 h 357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97" h="357067">
                    <a:moveTo>
                      <a:pt x="131181" y="0"/>
                    </a:moveTo>
                    <a:cubicBezTo>
                      <a:pt x="87458" y="0"/>
                      <a:pt x="51894" y="36873"/>
                      <a:pt x="51894" y="82758"/>
                    </a:cubicBezTo>
                    <a:cubicBezTo>
                      <a:pt x="51894" y="106424"/>
                      <a:pt x="61362" y="127820"/>
                      <a:pt x="76532" y="142990"/>
                    </a:cubicBezTo>
                    <a:lnTo>
                      <a:pt x="145548" y="212016"/>
                    </a:lnTo>
                    <a:cubicBezTo>
                      <a:pt x="140838" y="212591"/>
                      <a:pt x="136050" y="212888"/>
                      <a:pt x="131181" y="212888"/>
                    </a:cubicBezTo>
                    <a:cubicBezTo>
                      <a:pt x="103510" y="212888"/>
                      <a:pt x="77920" y="203340"/>
                      <a:pt x="57258" y="187209"/>
                    </a:cubicBezTo>
                    <a:cubicBezTo>
                      <a:pt x="25312" y="195171"/>
                      <a:pt x="-1170" y="235920"/>
                      <a:pt x="40" y="285900"/>
                    </a:cubicBezTo>
                    <a:lnTo>
                      <a:pt x="60272" y="346132"/>
                    </a:lnTo>
                    <a:cubicBezTo>
                      <a:pt x="81707" y="353221"/>
                      <a:pt x="104620" y="357068"/>
                      <a:pt x="128435" y="357068"/>
                    </a:cubicBezTo>
                    <a:cubicBezTo>
                      <a:pt x="235028" y="357068"/>
                      <a:pt x="323665" y="280219"/>
                      <a:pt x="341997" y="178920"/>
                    </a:cubicBezTo>
                    <a:lnTo>
                      <a:pt x="186069" y="22992"/>
                    </a:lnTo>
                    <a:cubicBezTo>
                      <a:pt x="171812" y="8735"/>
                      <a:pt x="152468" y="0"/>
                      <a:pt x="131181" y="0"/>
                    </a:cubicBezTo>
                    <a:close/>
                  </a:path>
                </a:pathLst>
              </a:custGeom>
              <a:solidFill>
                <a:srgbClr val="000000">
                  <a:alpha val="25000"/>
                </a:srgbClr>
              </a:solidFill>
              <a:ln w="9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3489">
                <a:extLst>
                  <a:ext uri="{FF2B5EF4-FFF2-40B4-BE49-F238E27FC236}">
                    <a16:creationId xmlns:a16="http://schemas.microsoft.com/office/drawing/2014/main" id="{59A668AD-CD24-4868-91FD-387B0D1E935C}"/>
                  </a:ext>
                </a:extLst>
              </p:cNvPr>
              <p:cNvSpPr/>
              <p:nvPr/>
            </p:nvSpPr>
            <p:spPr>
              <a:xfrm>
                <a:off x="477294" y="4523630"/>
                <a:ext cx="263246" cy="285902"/>
              </a:xfrm>
              <a:custGeom>
                <a:avLst/>
                <a:gdLst>
                  <a:gd name="connsiteX0" fmla="*/ 131188 w 262745"/>
                  <a:gd name="connsiteY0" fmla="*/ 0 h 285902"/>
                  <a:gd name="connsiteX1" fmla="*/ 51902 w 262745"/>
                  <a:gd name="connsiteY1" fmla="*/ 82757 h 285902"/>
                  <a:gd name="connsiteX2" fmla="*/ 131188 w 262745"/>
                  <a:gd name="connsiteY2" fmla="*/ 165971 h 285902"/>
                  <a:gd name="connsiteX3" fmla="*/ 210475 w 262745"/>
                  <a:gd name="connsiteY3" fmla="*/ 82757 h 285902"/>
                  <a:gd name="connsiteX4" fmla="*/ 131188 w 262745"/>
                  <a:gd name="connsiteY4" fmla="*/ 0 h 285902"/>
                  <a:gd name="connsiteX5" fmla="*/ 57261 w 262745"/>
                  <a:gd name="connsiteY5" fmla="*/ 187209 h 285902"/>
                  <a:gd name="connsiteX6" fmla="*/ 40 w 262745"/>
                  <a:gd name="connsiteY6" fmla="*/ 285903 h 285902"/>
                  <a:gd name="connsiteX7" fmla="*/ 262710 w 262745"/>
                  <a:gd name="connsiteY7" fmla="*/ 285903 h 285902"/>
                  <a:gd name="connsiteX8" fmla="*/ 205114 w 262745"/>
                  <a:gd name="connsiteY8" fmla="*/ 187209 h 285902"/>
                  <a:gd name="connsiteX9" fmla="*/ 131187 w 262745"/>
                  <a:gd name="connsiteY9" fmla="*/ 212890 h 285902"/>
                  <a:gd name="connsiteX10" fmla="*/ 57260 w 262745"/>
                  <a:gd name="connsiteY10" fmla="*/ 187209 h 285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2745" h="285902">
                    <a:moveTo>
                      <a:pt x="131188" y="0"/>
                    </a:moveTo>
                    <a:cubicBezTo>
                      <a:pt x="87461" y="0"/>
                      <a:pt x="51902" y="36870"/>
                      <a:pt x="51902" y="82757"/>
                    </a:cubicBezTo>
                    <a:cubicBezTo>
                      <a:pt x="51902" y="128643"/>
                      <a:pt x="87461" y="165971"/>
                      <a:pt x="131188" y="165971"/>
                    </a:cubicBezTo>
                    <a:cubicBezTo>
                      <a:pt x="174916" y="165971"/>
                      <a:pt x="210475" y="128643"/>
                      <a:pt x="210475" y="82757"/>
                    </a:cubicBezTo>
                    <a:cubicBezTo>
                      <a:pt x="210475" y="36871"/>
                      <a:pt x="174916" y="0"/>
                      <a:pt x="131188" y="0"/>
                    </a:cubicBezTo>
                    <a:close/>
                    <a:moveTo>
                      <a:pt x="57261" y="187209"/>
                    </a:moveTo>
                    <a:cubicBezTo>
                      <a:pt x="25316" y="195169"/>
                      <a:pt x="-1170" y="235925"/>
                      <a:pt x="40" y="285903"/>
                    </a:cubicBezTo>
                    <a:lnTo>
                      <a:pt x="262710" y="285903"/>
                    </a:lnTo>
                    <a:cubicBezTo>
                      <a:pt x="263854" y="235915"/>
                      <a:pt x="237129" y="195146"/>
                      <a:pt x="205114" y="187209"/>
                    </a:cubicBezTo>
                    <a:cubicBezTo>
                      <a:pt x="184452" y="203339"/>
                      <a:pt x="158865" y="212890"/>
                      <a:pt x="131187" y="212890"/>
                    </a:cubicBezTo>
                    <a:cubicBezTo>
                      <a:pt x="103510" y="212890"/>
                      <a:pt x="77923" y="203339"/>
                      <a:pt x="57260" y="18720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E8AB1FD-1A3E-42A3-BFE6-D167BEAC801D}"/>
                </a:ext>
              </a:extLst>
            </p:cNvPr>
            <p:cNvSpPr txBox="1"/>
            <p:nvPr/>
          </p:nvSpPr>
          <p:spPr>
            <a:xfrm>
              <a:off x="771572" y="4302557"/>
              <a:ext cx="47919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3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Raxmiddinov Javohir</a:t>
              </a:r>
            </a:p>
          </p:txBody>
        </p:sp>
      </p:grpSp>
      <p:grpSp>
        <p:nvGrpSpPr>
          <p:cNvPr id="130" name="Группа 129">
            <a:extLst>
              <a:ext uri="{FF2B5EF4-FFF2-40B4-BE49-F238E27FC236}">
                <a16:creationId xmlns:a16="http://schemas.microsoft.com/office/drawing/2014/main" id="{5C129F3B-0E83-499A-B85E-AD80F4A8F1E1}"/>
              </a:ext>
            </a:extLst>
          </p:cNvPr>
          <p:cNvGrpSpPr/>
          <p:nvPr/>
        </p:nvGrpSpPr>
        <p:grpSpPr>
          <a:xfrm>
            <a:off x="-6633" y="5019721"/>
            <a:ext cx="5570160" cy="644944"/>
            <a:chOff x="-6633" y="5019721"/>
            <a:chExt cx="5570160" cy="644944"/>
          </a:xfrm>
        </p:grpSpPr>
        <p:sp>
          <p:nvSpPr>
            <p:cNvPr id="127" name="Полилиния: фигура 126">
              <a:extLst>
                <a:ext uri="{FF2B5EF4-FFF2-40B4-BE49-F238E27FC236}">
                  <a16:creationId xmlns:a16="http://schemas.microsoft.com/office/drawing/2014/main" id="{68A69E5C-0168-4005-9891-9CB8F9E78F67}"/>
                </a:ext>
              </a:extLst>
            </p:cNvPr>
            <p:cNvSpPr/>
            <p:nvPr/>
          </p:nvSpPr>
          <p:spPr>
            <a:xfrm>
              <a:off x="-6633" y="5019721"/>
              <a:ext cx="5286694" cy="644944"/>
            </a:xfrm>
            <a:custGeom>
              <a:avLst/>
              <a:gdLst>
                <a:gd name="connsiteX0" fmla="*/ 0 w 5286694"/>
                <a:gd name="connsiteY0" fmla="*/ 0 h 644944"/>
                <a:gd name="connsiteX1" fmla="*/ 4964222 w 5286694"/>
                <a:gd name="connsiteY1" fmla="*/ 0 h 644944"/>
                <a:gd name="connsiteX2" fmla="*/ 5286694 w 5286694"/>
                <a:gd name="connsiteY2" fmla="*/ 322472 h 644944"/>
                <a:gd name="connsiteX3" fmla="*/ 5286693 w 5286694"/>
                <a:gd name="connsiteY3" fmla="*/ 322472 h 644944"/>
                <a:gd name="connsiteX4" fmla="*/ 4964221 w 5286694"/>
                <a:gd name="connsiteY4" fmla="*/ 644944 h 644944"/>
                <a:gd name="connsiteX5" fmla="*/ 0 w 5286694"/>
                <a:gd name="connsiteY5" fmla="*/ 644943 h 64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86694" h="644944">
                  <a:moveTo>
                    <a:pt x="0" y="0"/>
                  </a:moveTo>
                  <a:lnTo>
                    <a:pt x="4964222" y="0"/>
                  </a:lnTo>
                  <a:cubicBezTo>
                    <a:pt x="5142318" y="0"/>
                    <a:pt x="5286694" y="144376"/>
                    <a:pt x="5286694" y="322472"/>
                  </a:cubicBezTo>
                  <a:lnTo>
                    <a:pt x="5286693" y="322472"/>
                  </a:lnTo>
                  <a:cubicBezTo>
                    <a:pt x="5286693" y="500568"/>
                    <a:pt x="5142317" y="644944"/>
                    <a:pt x="4964221" y="644944"/>
                  </a:cubicBezTo>
                  <a:lnTo>
                    <a:pt x="0" y="644943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0FA3B1"/>
                </a:gs>
                <a:gs pos="0">
                  <a:srgbClr val="00626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87" name="Группа 86">
              <a:extLst>
                <a:ext uri="{FF2B5EF4-FFF2-40B4-BE49-F238E27FC236}">
                  <a16:creationId xmlns:a16="http://schemas.microsoft.com/office/drawing/2014/main" id="{16143F55-6A9A-46F1-B221-C9585A91FEC1}"/>
                </a:ext>
              </a:extLst>
            </p:cNvPr>
            <p:cNvGrpSpPr/>
            <p:nvPr/>
          </p:nvGrpSpPr>
          <p:grpSpPr>
            <a:xfrm>
              <a:off x="197659" y="5088873"/>
              <a:ext cx="507607" cy="506640"/>
              <a:chOff x="354621" y="4412764"/>
              <a:chExt cx="507607" cy="506640"/>
            </a:xfrm>
          </p:grpSpPr>
          <p:sp>
            <p:nvSpPr>
              <p:cNvPr id="89" name="Freeform: Shape 3475">
                <a:extLst>
                  <a:ext uri="{FF2B5EF4-FFF2-40B4-BE49-F238E27FC236}">
                    <a16:creationId xmlns:a16="http://schemas.microsoft.com/office/drawing/2014/main" id="{4975616F-6945-4B9E-9167-E59EDDA68891}"/>
                  </a:ext>
                </a:extLst>
              </p:cNvPr>
              <p:cNvSpPr/>
              <p:nvPr/>
            </p:nvSpPr>
            <p:spPr>
              <a:xfrm>
                <a:off x="388524" y="4446612"/>
                <a:ext cx="434913" cy="434084"/>
              </a:xfrm>
              <a:custGeom>
                <a:avLst/>
                <a:gdLst>
                  <a:gd name="connsiteX0" fmla="*/ 434085 w 434084"/>
                  <a:gd name="connsiteY0" fmla="*/ 217042 h 434084"/>
                  <a:gd name="connsiteX1" fmla="*/ 217042 w 434084"/>
                  <a:gd name="connsiteY1" fmla="*/ 434085 h 434084"/>
                  <a:gd name="connsiteX2" fmla="*/ 0 w 434084"/>
                  <a:gd name="connsiteY2" fmla="*/ 217042 h 434084"/>
                  <a:gd name="connsiteX3" fmla="*/ 217042 w 434084"/>
                  <a:gd name="connsiteY3" fmla="*/ 0 h 434084"/>
                  <a:gd name="connsiteX4" fmla="*/ 434085 w 434084"/>
                  <a:gd name="connsiteY4" fmla="*/ 217042 h 43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4084" h="434084">
                    <a:moveTo>
                      <a:pt x="434085" y="217042"/>
                    </a:moveTo>
                    <a:cubicBezTo>
                      <a:pt x="434085" y="336911"/>
                      <a:pt x="336915" y="434085"/>
                      <a:pt x="217042" y="434085"/>
                    </a:cubicBezTo>
                    <a:cubicBezTo>
                      <a:pt x="97170" y="434085"/>
                      <a:pt x="0" y="336915"/>
                      <a:pt x="0" y="217042"/>
                    </a:cubicBezTo>
                    <a:cubicBezTo>
                      <a:pt x="0" y="97170"/>
                      <a:pt x="97170" y="0"/>
                      <a:pt x="217042" y="0"/>
                    </a:cubicBezTo>
                    <a:cubicBezTo>
                      <a:pt x="336915" y="0"/>
                      <a:pt x="434085" y="97170"/>
                      <a:pt x="434085" y="217042"/>
                    </a:cubicBezTo>
                  </a:path>
                </a:pathLst>
              </a:custGeom>
              <a:solidFill>
                <a:srgbClr val="127475"/>
              </a:solidFill>
              <a:ln w="9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3476">
                <a:extLst>
                  <a:ext uri="{FF2B5EF4-FFF2-40B4-BE49-F238E27FC236}">
                    <a16:creationId xmlns:a16="http://schemas.microsoft.com/office/drawing/2014/main" id="{9FEECDD6-871E-40F5-A1B6-B2F6CF58232A}"/>
                  </a:ext>
                </a:extLst>
              </p:cNvPr>
              <p:cNvSpPr/>
              <p:nvPr/>
            </p:nvSpPr>
            <p:spPr>
              <a:xfrm>
                <a:off x="355614" y="4413755"/>
                <a:ext cx="506614" cy="505649"/>
              </a:xfrm>
              <a:custGeom>
                <a:avLst/>
                <a:gdLst>
                  <a:gd name="connsiteX0" fmla="*/ 252825 w 505649"/>
                  <a:gd name="connsiteY0" fmla="*/ 0 h 505649"/>
                  <a:gd name="connsiteX1" fmla="*/ 0 w 505649"/>
                  <a:gd name="connsiteY1" fmla="*/ 252825 h 505649"/>
                  <a:gd name="connsiteX2" fmla="*/ 252825 w 505649"/>
                  <a:gd name="connsiteY2" fmla="*/ 505649 h 505649"/>
                  <a:gd name="connsiteX3" fmla="*/ 505649 w 505649"/>
                  <a:gd name="connsiteY3" fmla="*/ 252825 h 505649"/>
                  <a:gd name="connsiteX4" fmla="*/ 252825 w 505649"/>
                  <a:gd name="connsiteY4" fmla="*/ 0 h 505649"/>
                  <a:gd name="connsiteX5" fmla="*/ 261576 w 505649"/>
                  <a:gd name="connsiteY5" fmla="*/ 44548 h 505649"/>
                  <a:gd name="connsiteX6" fmla="*/ 478609 w 505649"/>
                  <a:gd name="connsiteY6" fmla="*/ 261580 h 505649"/>
                  <a:gd name="connsiteX7" fmla="*/ 261576 w 505649"/>
                  <a:gd name="connsiteY7" fmla="*/ 478613 h 505649"/>
                  <a:gd name="connsiteX8" fmla="*/ 44514 w 505649"/>
                  <a:gd name="connsiteY8" fmla="*/ 261580 h 505649"/>
                  <a:gd name="connsiteX9" fmla="*/ 261576 w 505649"/>
                  <a:gd name="connsiteY9" fmla="*/ 44548 h 505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05649" h="505649">
                    <a:moveTo>
                      <a:pt x="252825" y="0"/>
                    </a:moveTo>
                    <a:cubicBezTo>
                      <a:pt x="113196" y="0"/>
                      <a:pt x="0" y="113196"/>
                      <a:pt x="0" y="252825"/>
                    </a:cubicBezTo>
                    <a:cubicBezTo>
                      <a:pt x="0" y="392453"/>
                      <a:pt x="113196" y="505649"/>
                      <a:pt x="252825" y="505649"/>
                    </a:cubicBezTo>
                    <a:cubicBezTo>
                      <a:pt x="392453" y="505649"/>
                      <a:pt x="505649" y="392453"/>
                      <a:pt x="505649" y="252825"/>
                    </a:cubicBezTo>
                    <a:cubicBezTo>
                      <a:pt x="505649" y="113196"/>
                      <a:pt x="392453" y="0"/>
                      <a:pt x="252825" y="0"/>
                    </a:cubicBezTo>
                    <a:moveTo>
                      <a:pt x="261576" y="44548"/>
                    </a:moveTo>
                    <a:cubicBezTo>
                      <a:pt x="381445" y="44548"/>
                      <a:pt x="478609" y="141712"/>
                      <a:pt x="478609" y="261580"/>
                    </a:cubicBezTo>
                    <a:cubicBezTo>
                      <a:pt x="478609" y="381449"/>
                      <a:pt x="381445" y="478613"/>
                      <a:pt x="261576" y="478613"/>
                    </a:cubicBezTo>
                    <a:cubicBezTo>
                      <a:pt x="141708" y="478613"/>
                      <a:pt x="44514" y="381449"/>
                      <a:pt x="44514" y="261580"/>
                    </a:cubicBezTo>
                    <a:cubicBezTo>
                      <a:pt x="44514" y="141712"/>
                      <a:pt x="141708" y="44548"/>
                      <a:pt x="261576" y="44548"/>
                    </a:cubicBezTo>
                  </a:path>
                </a:pathLst>
              </a:custGeom>
              <a:solidFill>
                <a:srgbClr val="000000">
                  <a:alpha val="7000"/>
                </a:srgbClr>
              </a:solidFill>
              <a:ln w="9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3477">
                <a:extLst>
                  <a:ext uri="{FF2B5EF4-FFF2-40B4-BE49-F238E27FC236}">
                    <a16:creationId xmlns:a16="http://schemas.microsoft.com/office/drawing/2014/main" id="{1DFE3187-772C-428C-A885-D5F532B4C37A}"/>
                  </a:ext>
                </a:extLst>
              </p:cNvPr>
              <p:cNvSpPr/>
              <p:nvPr/>
            </p:nvSpPr>
            <p:spPr>
              <a:xfrm>
                <a:off x="359021" y="4417156"/>
                <a:ext cx="499799" cy="498847"/>
              </a:xfrm>
              <a:custGeom>
                <a:avLst/>
                <a:gdLst>
                  <a:gd name="connsiteX0" fmla="*/ 249424 w 498847"/>
                  <a:gd name="connsiteY0" fmla="*/ 0 h 498847"/>
                  <a:gd name="connsiteX1" fmla="*/ 0 w 498847"/>
                  <a:gd name="connsiteY1" fmla="*/ 249424 h 498847"/>
                  <a:gd name="connsiteX2" fmla="*/ 249424 w 498847"/>
                  <a:gd name="connsiteY2" fmla="*/ 498848 h 498847"/>
                  <a:gd name="connsiteX3" fmla="*/ 498848 w 498847"/>
                  <a:gd name="connsiteY3" fmla="*/ 249424 h 498847"/>
                  <a:gd name="connsiteX4" fmla="*/ 249424 w 498847"/>
                  <a:gd name="connsiteY4" fmla="*/ 0 h 498847"/>
                  <a:gd name="connsiteX5" fmla="*/ 255259 w 498847"/>
                  <a:gd name="connsiteY5" fmla="*/ 38227 h 498847"/>
                  <a:gd name="connsiteX6" fmla="*/ 472291 w 498847"/>
                  <a:gd name="connsiteY6" fmla="*/ 255260 h 498847"/>
                  <a:gd name="connsiteX7" fmla="*/ 255259 w 498847"/>
                  <a:gd name="connsiteY7" fmla="*/ 472292 h 498847"/>
                  <a:gd name="connsiteX8" fmla="*/ 38196 w 498847"/>
                  <a:gd name="connsiteY8" fmla="*/ 255260 h 498847"/>
                  <a:gd name="connsiteX9" fmla="*/ 255259 w 498847"/>
                  <a:gd name="connsiteY9" fmla="*/ 38227 h 49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8847" h="498847">
                    <a:moveTo>
                      <a:pt x="249424" y="0"/>
                    </a:moveTo>
                    <a:cubicBezTo>
                      <a:pt x="111669" y="0"/>
                      <a:pt x="0" y="111669"/>
                      <a:pt x="0" y="249424"/>
                    </a:cubicBezTo>
                    <a:cubicBezTo>
                      <a:pt x="0" y="387178"/>
                      <a:pt x="111669" y="498848"/>
                      <a:pt x="249424" y="498848"/>
                    </a:cubicBezTo>
                    <a:cubicBezTo>
                      <a:pt x="387178" y="498848"/>
                      <a:pt x="498848" y="387178"/>
                      <a:pt x="498848" y="249424"/>
                    </a:cubicBezTo>
                    <a:cubicBezTo>
                      <a:pt x="498848" y="111669"/>
                      <a:pt x="387178" y="0"/>
                      <a:pt x="249424" y="0"/>
                    </a:cubicBezTo>
                    <a:moveTo>
                      <a:pt x="255259" y="38227"/>
                    </a:moveTo>
                    <a:cubicBezTo>
                      <a:pt x="375127" y="38227"/>
                      <a:pt x="472291" y="135391"/>
                      <a:pt x="472291" y="255260"/>
                    </a:cubicBezTo>
                    <a:cubicBezTo>
                      <a:pt x="472291" y="375128"/>
                      <a:pt x="375127" y="472292"/>
                      <a:pt x="255259" y="472292"/>
                    </a:cubicBezTo>
                    <a:cubicBezTo>
                      <a:pt x="135390" y="472292"/>
                      <a:pt x="38196" y="375128"/>
                      <a:pt x="38196" y="255260"/>
                    </a:cubicBezTo>
                    <a:cubicBezTo>
                      <a:pt x="38196" y="135391"/>
                      <a:pt x="135390" y="38227"/>
                      <a:pt x="255259" y="38227"/>
                    </a:cubicBezTo>
                  </a:path>
                </a:pathLst>
              </a:custGeom>
              <a:solidFill>
                <a:srgbClr val="000000">
                  <a:alpha val="13000"/>
                </a:srgbClr>
              </a:solidFill>
              <a:ln w="9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3478">
                <a:extLst>
                  <a:ext uri="{FF2B5EF4-FFF2-40B4-BE49-F238E27FC236}">
                    <a16:creationId xmlns:a16="http://schemas.microsoft.com/office/drawing/2014/main" id="{DBE9B8CD-A087-4D7C-AD7D-3AE8857D3829}"/>
                  </a:ext>
                </a:extLst>
              </p:cNvPr>
              <p:cNvSpPr/>
              <p:nvPr/>
            </p:nvSpPr>
            <p:spPr>
              <a:xfrm>
                <a:off x="362925" y="4421052"/>
                <a:ext cx="491991" cy="491054"/>
              </a:xfrm>
              <a:custGeom>
                <a:avLst/>
                <a:gdLst>
                  <a:gd name="connsiteX0" fmla="*/ 245527 w 491054"/>
                  <a:gd name="connsiteY0" fmla="*/ 0 h 491054"/>
                  <a:gd name="connsiteX1" fmla="*/ 0 w 491054"/>
                  <a:gd name="connsiteY1" fmla="*/ 245527 h 491054"/>
                  <a:gd name="connsiteX2" fmla="*/ 245527 w 491054"/>
                  <a:gd name="connsiteY2" fmla="*/ 491055 h 491054"/>
                  <a:gd name="connsiteX3" fmla="*/ 491055 w 491054"/>
                  <a:gd name="connsiteY3" fmla="*/ 245527 h 491054"/>
                  <a:gd name="connsiteX4" fmla="*/ 245527 w 491054"/>
                  <a:gd name="connsiteY4" fmla="*/ 0 h 491054"/>
                  <a:gd name="connsiteX5" fmla="*/ 248444 w 491054"/>
                  <a:gd name="connsiteY5" fmla="*/ 31421 h 491054"/>
                  <a:gd name="connsiteX6" fmla="*/ 465477 w 491054"/>
                  <a:gd name="connsiteY6" fmla="*/ 248453 h 491054"/>
                  <a:gd name="connsiteX7" fmla="*/ 248444 w 491054"/>
                  <a:gd name="connsiteY7" fmla="*/ 465486 h 491054"/>
                  <a:gd name="connsiteX8" fmla="*/ 31382 w 491054"/>
                  <a:gd name="connsiteY8" fmla="*/ 248453 h 491054"/>
                  <a:gd name="connsiteX9" fmla="*/ 248444 w 491054"/>
                  <a:gd name="connsiteY9" fmla="*/ 31421 h 491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1054" h="491054">
                    <a:moveTo>
                      <a:pt x="245527" y="0"/>
                    </a:moveTo>
                    <a:cubicBezTo>
                      <a:pt x="109924" y="0"/>
                      <a:pt x="0" y="109924"/>
                      <a:pt x="0" y="245527"/>
                    </a:cubicBezTo>
                    <a:cubicBezTo>
                      <a:pt x="0" y="381131"/>
                      <a:pt x="109924" y="491055"/>
                      <a:pt x="245527" y="491055"/>
                    </a:cubicBezTo>
                    <a:cubicBezTo>
                      <a:pt x="381131" y="491055"/>
                      <a:pt x="491055" y="381131"/>
                      <a:pt x="491055" y="245527"/>
                    </a:cubicBezTo>
                    <a:cubicBezTo>
                      <a:pt x="491055" y="109924"/>
                      <a:pt x="381131" y="0"/>
                      <a:pt x="245527" y="0"/>
                    </a:cubicBezTo>
                    <a:moveTo>
                      <a:pt x="248444" y="31421"/>
                    </a:moveTo>
                    <a:cubicBezTo>
                      <a:pt x="368313" y="31421"/>
                      <a:pt x="465477" y="128585"/>
                      <a:pt x="465477" y="248453"/>
                    </a:cubicBezTo>
                    <a:cubicBezTo>
                      <a:pt x="465477" y="368322"/>
                      <a:pt x="368313" y="465486"/>
                      <a:pt x="248444" y="465486"/>
                    </a:cubicBezTo>
                    <a:cubicBezTo>
                      <a:pt x="128576" y="465486"/>
                      <a:pt x="31382" y="368322"/>
                      <a:pt x="31382" y="248453"/>
                    </a:cubicBezTo>
                    <a:cubicBezTo>
                      <a:pt x="31382" y="128585"/>
                      <a:pt x="128576" y="31421"/>
                      <a:pt x="248444" y="31421"/>
                    </a:cubicBezTo>
                  </a:path>
                </a:pathLst>
              </a:custGeom>
              <a:solidFill>
                <a:srgbClr val="000000">
                  <a:alpha val="13000"/>
                </a:srgbClr>
              </a:solidFill>
              <a:ln w="9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3479">
                <a:extLst>
                  <a:ext uri="{FF2B5EF4-FFF2-40B4-BE49-F238E27FC236}">
                    <a16:creationId xmlns:a16="http://schemas.microsoft.com/office/drawing/2014/main" id="{7F270EFC-FC41-4EB4-BCF6-10D75DA571C1}"/>
                  </a:ext>
                </a:extLst>
              </p:cNvPr>
              <p:cNvSpPr/>
              <p:nvPr/>
            </p:nvSpPr>
            <p:spPr>
              <a:xfrm>
                <a:off x="362419" y="4420556"/>
                <a:ext cx="487124" cy="486196"/>
              </a:xfrm>
              <a:custGeom>
                <a:avLst/>
                <a:gdLst>
                  <a:gd name="connsiteX0" fmla="*/ 243098 w 486196"/>
                  <a:gd name="connsiteY0" fmla="*/ 0 h 486196"/>
                  <a:gd name="connsiteX1" fmla="*/ 0 w 486196"/>
                  <a:gd name="connsiteY1" fmla="*/ 243098 h 486196"/>
                  <a:gd name="connsiteX2" fmla="*/ 243098 w 486196"/>
                  <a:gd name="connsiteY2" fmla="*/ 486196 h 486196"/>
                  <a:gd name="connsiteX3" fmla="*/ 486196 w 486196"/>
                  <a:gd name="connsiteY3" fmla="*/ 243098 h 486196"/>
                  <a:gd name="connsiteX4" fmla="*/ 243098 w 486196"/>
                  <a:gd name="connsiteY4" fmla="*/ 0 h 486196"/>
                  <a:gd name="connsiteX5" fmla="*/ 243098 w 486196"/>
                  <a:gd name="connsiteY5" fmla="*/ 26073 h 486196"/>
                  <a:gd name="connsiteX6" fmla="*/ 460131 w 486196"/>
                  <a:gd name="connsiteY6" fmla="*/ 243105 h 486196"/>
                  <a:gd name="connsiteX7" fmla="*/ 243098 w 486196"/>
                  <a:gd name="connsiteY7" fmla="*/ 460138 h 486196"/>
                  <a:gd name="connsiteX8" fmla="*/ 26036 w 486196"/>
                  <a:gd name="connsiteY8" fmla="*/ 243105 h 486196"/>
                  <a:gd name="connsiteX9" fmla="*/ 243098 w 486196"/>
                  <a:gd name="connsiteY9" fmla="*/ 26073 h 486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86196" h="486196">
                    <a:moveTo>
                      <a:pt x="243098" y="0"/>
                    </a:moveTo>
                    <a:cubicBezTo>
                      <a:pt x="108834" y="0"/>
                      <a:pt x="0" y="108843"/>
                      <a:pt x="0" y="243098"/>
                    </a:cubicBezTo>
                    <a:cubicBezTo>
                      <a:pt x="0" y="377363"/>
                      <a:pt x="108843" y="486196"/>
                      <a:pt x="243098" y="486196"/>
                    </a:cubicBezTo>
                    <a:cubicBezTo>
                      <a:pt x="377363" y="486196"/>
                      <a:pt x="486196" y="377353"/>
                      <a:pt x="486196" y="243098"/>
                    </a:cubicBezTo>
                    <a:cubicBezTo>
                      <a:pt x="486196" y="108834"/>
                      <a:pt x="377353" y="0"/>
                      <a:pt x="243098" y="0"/>
                    </a:cubicBezTo>
                    <a:close/>
                    <a:moveTo>
                      <a:pt x="243098" y="26073"/>
                    </a:moveTo>
                    <a:cubicBezTo>
                      <a:pt x="362967" y="26073"/>
                      <a:pt x="460131" y="123237"/>
                      <a:pt x="460131" y="243105"/>
                    </a:cubicBezTo>
                    <a:cubicBezTo>
                      <a:pt x="460131" y="362974"/>
                      <a:pt x="362967" y="460138"/>
                      <a:pt x="243098" y="460138"/>
                    </a:cubicBezTo>
                    <a:cubicBezTo>
                      <a:pt x="123230" y="460138"/>
                      <a:pt x="26036" y="362974"/>
                      <a:pt x="26036" y="243105"/>
                    </a:cubicBezTo>
                    <a:cubicBezTo>
                      <a:pt x="26036" y="123237"/>
                      <a:pt x="123230" y="26073"/>
                      <a:pt x="243098" y="260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4835" cap="flat">
                <a:solidFill>
                  <a:srgbClr val="000000">
                    <a:alpha val="31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94" name="Graphic 3457">
                <a:extLst>
                  <a:ext uri="{FF2B5EF4-FFF2-40B4-BE49-F238E27FC236}">
                    <a16:creationId xmlns:a16="http://schemas.microsoft.com/office/drawing/2014/main" id="{E3BD06FC-9491-4746-9C02-EB740AA30229}"/>
                  </a:ext>
                </a:extLst>
              </p:cNvPr>
              <p:cNvGrpSpPr/>
              <p:nvPr/>
            </p:nvGrpSpPr>
            <p:grpSpPr>
              <a:xfrm>
                <a:off x="354621" y="4412764"/>
                <a:ext cx="993" cy="991"/>
                <a:chOff x="61987" y="4043056"/>
                <a:chExt cx="991" cy="991"/>
              </a:xfrm>
            </p:grpSpPr>
          </p:grpSp>
          <p:sp>
            <p:nvSpPr>
              <p:cNvPr id="95" name="Freeform: Shape 3488">
                <a:extLst>
                  <a:ext uri="{FF2B5EF4-FFF2-40B4-BE49-F238E27FC236}">
                    <a16:creationId xmlns:a16="http://schemas.microsoft.com/office/drawing/2014/main" id="{9D140CD3-B386-4390-AB36-C6485B3AF3C0}"/>
                  </a:ext>
                </a:extLst>
              </p:cNvPr>
              <p:cNvSpPr/>
              <p:nvPr/>
            </p:nvSpPr>
            <p:spPr>
              <a:xfrm>
                <a:off x="477301" y="4523630"/>
                <a:ext cx="342650" cy="357067"/>
              </a:xfrm>
              <a:custGeom>
                <a:avLst/>
                <a:gdLst>
                  <a:gd name="connsiteX0" fmla="*/ 131181 w 341997"/>
                  <a:gd name="connsiteY0" fmla="*/ 0 h 357067"/>
                  <a:gd name="connsiteX1" fmla="*/ 51894 w 341997"/>
                  <a:gd name="connsiteY1" fmla="*/ 82758 h 357067"/>
                  <a:gd name="connsiteX2" fmla="*/ 76532 w 341997"/>
                  <a:gd name="connsiteY2" fmla="*/ 142990 h 357067"/>
                  <a:gd name="connsiteX3" fmla="*/ 145548 w 341997"/>
                  <a:gd name="connsiteY3" fmla="*/ 212016 h 357067"/>
                  <a:gd name="connsiteX4" fmla="*/ 131181 w 341997"/>
                  <a:gd name="connsiteY4" fmla="*/ 212888 h 357067"/>
                  <a:gd name="connsiteX5" fmla="*/ 57258 w 341997"/>
                  <a:gd name="connsiteY5" fmla="*/ 187209 h 357067"/>
                  <a:gd name="connsiteX6" fmla="*/ 40 w 341997"/>
                  <a:gd name="connsiteY6" fmla="*/ 285900 h 357067"/>
                  <a:gd name="connsiteX7" fmla="*/ 60272 w 341997"/>
                  <a:gd name="connsiteY7" fmla="*/ 346132 h 357067"/>
                  <a:gd name="connsiteX8" fmla="*/ 128435 w 341997"/>
                  <a:gd name="connsiteY8" fmla="*/ 357068 h 357067"/>
                  <a:gd name="connsiteX9" fmla="*/ 341997 w 341997"/>
                  <a:gd name="connsiteY9" fmla="*/ 178920 h 357067"/>
                  <a:gd name="connsiteX10" fmla="*/ 186069 w 341997"/>
                  <a:gd name="connsiteY10" fmla="*/ 22992 h 357067"/>
                  <a:gd name="connsiteX11" fmla="*/ 131181 w 341997"/>
                  <a:gd name="connsiteY11" fmla="*/ 0 h 357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97" h="357067">
                    <a:moveTo>
                      <a:pt x="131181" y="0"/>
                    </a:moveTo>
                    <a:cubicBezTo>
                      <a:pt x="87458" y="0"/>
                      <a:pt x="51894" y="36873"/>
                      <a:pt x="51894" y="82758"/>
                    </a:cubicBezTo>
                    <a:cubicBezTo>
                      <a:pt x="51894" y="106424"/>
                      <a:pt x="61362" y="127820"/>
                      <a:pt x="76532" y="142990"/>
                    </a:cubicBezTo>
                    <a:lnTo>
                      <a:pt x="145548" y="212016"/>
                    </a:lnTo>
                    <a:cubicBezTo>
                      <a:pt x="140838" y="212591"/>
                      <a:pt x="136050" y="212888"/>
                      <a:pt x="131181" y="212888"/>
                    </a:cubicBezTo>
                    <a:cubicBezTo>
                      <a:pt x="103510" y="212888"/>
                      <a:pt x="77920" y="203340"/>
                      <a:pt x="57258" y="187209"/>
                    </a:cubicBezTo>
                    <a:cubicBezTo>
                      <a:pt x="25312" y="195171"/>
                      <a:pt x="-1170" y="235920"/>
                      <a:pt x="40" y="285900"/>
                    </a:cubicBezTo>
                    <a:lnTo>
                      <a:pt x="60272" y="346132"/>
                    </a:lnTo>
                    <a:cubicBezTo>
                      <a:pt x="81707" y="353221"/>
                      <a:pt x="104620" y="357068"/>
                      <a:pt x="128435" y="357068"/>
                    </a:cubicBezTo>
                    <a:cubicBezTo>
                      <a:pt x="235028" y="357068"/>
                      <a:pt x="323665" y="280219"/>
                      <a:pt x="341997" y="178920"/>
                    </a:cubicBezTo>
                    <a:lnTo>
                      <a:pt x="186069" y="22992"/>
                    </a:lnTo>
                    <a:cubicBezTo>
                      <a:pt x="171812" y="8735"/>
                      <a:pt x="152468" y="0"/>
                      <a:pt x="131181" y="0"/>
                    </a:cubicBezTo>
                    <a:close/>
                  </a:path>
                </a:pathLst>
              </a:custGeom>
              <a:solidFill>
                <a:srgbClr val="000000">
                  <a:alpha val="25000"/>
                </a:srgbClr>
              </a:solidFill>
              <a:ln w="9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3489">
                <a:extLst>
                  <a:ext uri="{FF2B5EF4-FFF2-40B4-BE49-F238E27FC236}">
                    <a16:creationId xmlns:a16="http://schemas.microsoft.com/office/drawing/2014/main" id="{AD456BED-D7B4-4E8E-8741-E5AD55674A5C}"/>
                  </a:ext>
                </a:extLst>
              </p:cNvPr>
              <p:cNvSpPr/>
              <p:nvPr/>
            </p:nvSpPr>
            <p:spPr>
              <a:xfrm>
                <a:off x="477294" y="4523630"/>
                <a:ext cx="263246" cy="285902"/>
              </a:xfrm>
              <a:custGeom>
                <a:avLst/>
                <a:gdLst>
                  <a:gd name="connsiteX0" fmla="*/ 131188 w 262745"/>
                  <a:gd name="connsiteY0" fmla="*/ 0 h 285902"/>
                  <a:gd name="connsiteX1" fmla="*/ 51902 w 262745"/>
                  <a:gd name="connsiteY1" fmla="*/ 82757 h 285902"/>
                  <a:gd name="connsiteX2" fmla="*/ 131188 w 262745"/>
                  <a:gd name="connsiteY2" fmla="*/ 165971 h 285902"/>
                  <a:gd name="connsiteX3" fmla="*/ 210475 w 262745"/>
                  <a:gd name="connsiteY3" fmla="*/ 82757 h 285902"/>
                  <a:gd name="connsiteX4" fmla="*/ 131188 w 262745"/>
                  <a:gd name="connsiteY4" fmla="*/ 0 h 285902"/>
                  <a:gd name="connsiteX5" fmla="*/ 57261 w 262745"/>
                  <a:gd name="connsiteY5" fmla="*/ 187209 h 285902"/>
                  <a:gd name="connsiteX6" fmla="*/ 40 w 262745"/>
                  <a:gd name="connsiteY6" fmla="*/ 285903 h 285902"/>
                  <a:gd name="connsiteX7" fmla="*/ 262710 w 262745"/>
                  <a:gd name="connsiteY7" fmla="*/ 285903 h 285902"/>
                  <a:gd name="connsiteX8" fmla="*/ 205114 w 262745"/>
                  <a:gd name="connsiteY8" fmla="*/ 187209 h 285902"/>
                  <a:gd name="connsiteX9" fmla="*/ 131187 w 262745"/>
                  <a:gd name="connsiteY9" fmla="*/ 212890 h 285902"/>
                  <a:gd name="connsiteX10" fmla="*/ 57260 w 262745"/>
                  <a:gd name="connsiteY10" fmla="*/ 187209 h 285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2745" h="285902">
                    <a:moveTo>
                      <a:pt x="131188" y="0"/>
                    </a:moveTo>
                    <a:cubicBezTo>
                      <a:pt x="87461" y="0"/>
                      <a:pt x="51902" y="36870"/>
                      <a:pt x="51902" y="82757"/>
                    </a:cubicBezTo>
                    <a:cubicBezTo>
                      <a:pt x="51902" y="128643"/>
                      <a:pt x="87461" y="165971"/>
                      <a:pt x="131188" y="165971"/>
                    </a:cubicBezTo>
                    <a:cubicBezTo>
                      <a:pt x="174916" y="165971"/>
                      <a:pt x="210475" y="128643"/>
                      <a:pt x="210475" y="82757"/>
                    </a:cubicBezTo>
                    <a:cubicBezTo>
                      <a:pt x="210475" y="36871"/>
                      <a:pt x="174916" y="0"/>
                      <a:pt x="131188" y="0"/>
                    </a:cubicBezTo>
                    <a:close/>
                    <a:moveTo>
                      <a:pt x="57261" y="187209"/>
                    </a:moveTo>
                    <a:cubicBezTo>
                      <a:pt x="25316" y="195169"/>
                      <a:pt x="-1170" y="235925"/>
                      <a:pt x="40" y="285903"/>
                    </a:cubicBezTo>
                    <a:lnTo>
                      <a:pt x="262710" y="285903"/>
                    </a:lnTo>
                    <a:cubicBezTo>
                      <a:pt x="263854" y="235915"/>
                      <a:pt x="237129" y="195146"/>
                      <a:pt x="205114" y="187209"/>
                    </a:cubicBezTo>
                    <a:cubicBezTo>
                      <a:pt x="184452" y="203339"/>
                      <a:pt x="158865" y="212890"/>
                      <a:pt x="131187" y="212890"/>
                    </a:cubicBezTo>
                    <a:cubicBezTo>
                      <a:pt x="103510" y="212890"/>
                      <a:pt x="77923" y="203339"/>
                      <a:pt x="57260" y="18720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D46658B-D28F-4033-901D-5E0AEB34F8EE}"/>
                </a:ext>
              </a:extLst>
            </p:cNvPr>
            <p:cNvSpPr txBox="1"/>
            <p:nvPr/>
          </p:nvSpPr>
          <p:spPr>
            <a:xfrm>
              <a:off x="771607" y="5102734"/>
              <a:ext cx="47919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300" b="1" dirty="0" err="1">
                  <a:solidFill>
                    <a:schemeClr val="bg1"/>
                  </a:solidFill>
                  <a:latin typeface="Bookman Old Style" panose="02050604050505020204" pitchFamily="18" charset="0"/>
                </a:rPr>
                <a:t>Hakimboyev</a:t>
              </a:r>
              <a:r>
                <a:rPr lang="en-US" sz="23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 </a:t>
              </a:r>
              <a:r>
                <a:rPr lang="en-US" sz="2300" b="1" dirty="0" err="1">
                  <a:solidFill>
                    <a:schemeClr val="bg1"/>
                  </a:solidFill>
                  <a:latin typeface="Bookman Old Style" panose="02050604050505020204" pitchFamily="18" charset="0"/>
                </a:rPr>
                <a:t>Dilxush</a:t>
              </a:r>
              <a:endParaRPr lang="en-US" sz="2300" b="1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128" name="Группа 127">
            <a:extLst>
              <a:ext uri="{FF2B5EF4-FFF2-40B4-BE49-F238E27FC236}">
                <a16:creationId xmlns:a16="http://schemas.microsoft.com/office/drawing/2014/main" id="{782F9A4A-B306-44F3-AFA6-A2185E813614}"/>
              </a:ext>
            </a:extLst>
          </p:cNvPr>
          <p:cNvGrpSpPr/>
          <p:nvPr/>
        </p:nvGrpSpPr>
        <p:grpSpPr>
          <a:xfrm>
            <a:off x="8214" y="5772524"/>
            <a:ext cx="5548550" cy="644944"/>
            <a:chOff x="8214" y="5772524"/>
            <a:chExt cx="5548550" cy="644944"/>
          </a:xfrm>
        </p:grpSpPr>
        <p:sp>
          <p:nvSpPr>
            <p:cNvPr id="129" name="Полилиния: фигура 128">
              <a:extLst>
                <a:ext uri="{FF2B5EF4-FFF2-40B4-BE49-F238E27FC236}">
                  <a16:creationId xmlns:a16="http://schemas.microsoft.com/office/drawing/2014/main" id="{DBE1F7C2-34B8-4C51-8DBC-B8DE710167C5}"/>
                </a:ext>
              </a:extLst>
            </p:cNvPr>
            <p:cNvSpPr/>
            <p:nvPr/>
          </p:nvSpPr>
          <p:spPr>
            <a:xfrm>
              <a:off x="8214" y="5772524"/>
              <a:ext cx="5265085" cy="644944"/>
            </a:xfrm>
            <a:custGeom>
              <a:avLst/>
              <a:gdLst>
                <a:gd name="connsiteX0" fmla="*/ 0 w 5265085"/>
                <a:gd name="connsiteY0" fmla="*/ 0 h 644944"/>
                <a:gd name="connsiteX1" fmla="*/ 4942613 w 5265085"/>
                <a:gd name="connsiteY1" fmla="*/ 0 h 644944"/>
                <a:gd name="connsiteX2" fmla="*/ 5265085 w 5265085"/>
                <a:gd name="connsiteY2" fmla="*/ 322472 h 644944"/>
                <a:gd name="connsiteX3" fmla="*/ 5265084 w 5265085"/>
                <a:gd name="connsiteY3" fmla="*/ 322472 h 644944"/>
                <a:gd name="connsiteX4" fmla="*/ 4942612 w 5265085"/>
                <a:gd name="connsiteY4" fmla="*/ 644944 h 644944"/>
                <a:gd name="connsiteX5" fmla="*/ 0 w 5265085"/>
                <a:gd name="connsiteY5" fmla="*/ 644943 h 64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65085" h="644944">
                  <a:moveTo>
                    <a:pt x="0" y="0"/>
                  </a:moveTo>
                  <a:lnTo>
                    <a:pt x="4942613" y="0"/>
                  </a:lnTo>
                  <a:cubicBezTo>
                    <a:pt x="5120709" y="0"/>
                    <a:pt x="5265085" y="144376"/>
                    <a:pt x="5265085" y="322472"/>
                  </a:cubicBezTo>
                  <a:lnTo>
                    <a:pt x="5265084" y="322472"/>
                  </a:lnTo>
                  <a:cubicBezTo>
                    <a:pt x="5265084" y="500568"/>
                    <a:pt x="5120708" y="644944"/>
                    <a:pt x="4942612" y="644944"/>
                  </a:cubicBezTo>
                  <a:lnTo>
                    <a:pt x="0" y="644943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0FA3B1"/>
                </a:gs>
                <a:gs pos="0">
                  <a:srgbClr val="00626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9" name="Группа 98">
              <a:extLst>
                <a:ext uri="{FF2B5EF4-FFF2-40B4-BE49-F238E27FC236}">
                  <a16:creationId xmlns:a16="http://schemas.microsoft.com/office/drawing/2014/main" id="{BEAC1C7B-FA42-41A1-8E18-389F7F24B37F}"/>
                </a:ext>
              </a:extLst>
            </p:cNvPr>
            <p:cNvGrpSpPr/>
            <p:nvPr/>
          </p:nvGrpSpPr>
          <p:grpSpPr>
            <a:xfrm>
              <a:off x="190896" y="5841676"/>
              <a:ext cx="507607" cy="506640"/>
              <a:chOff x="354621" y="4412764"/>
              <a:chExt cx="507607" cy="506640"/>
            </a:xfrm>
          </p:grpSpPr>
          <p:sp>
            <p:nvSpPr>
              <p:cNvPr id="101" name="Freeform: Shape 3475">
                <a:extLst>
                  <a:ext uri="{FF2B5EF4-FFF2-40B4-BE49-F238E27FC236}">
                    <a16:creationId xmlns:a16="http://schemas.microsoft.com/office/drawing/2014/main" id="{4AD1CC5A-C9C6-4CBE-83C8-2DB73D360609}"/>
                  </a:ext>
                </a:extLst>
              </p:cNvPr>
              <p:cNvSpPr/>
              <p:nvPr/>
            </p:nvSpPr>
            <p:spPr>
              <a:xfrm>
                <a:off x="388524" y="4446612"/>
                <a:ext cx="434913" cy="434084"/>
              </a:xfrm>
              <a:custGeom>
                <a:avLst/>
                <a:gdLst>
                  <a:gd name="connsiteX0" fmla="*/ 434085 w 434084"/>
                  <a:gd name="connsiteY0" fmla="*/ 217042 h 434084"/>
                  <a:gd name="connsiteX1" fmla="*/ 217042 w 434084"/>
                  <a:gd name="connsiteY1" fmla="*/ 434085 h 434084"/>
                  <a:gd name="connsiteX2" fmla="*/ 0 w 434084"/>
                  <a:gd name="connsiteY2" fmla="*/ 217042 h 434084"/>
                  <a:gd name="connsiteX3" fmla="*/ 217042 w 434084"/>
                  <a:gd name="connsiteY3" fmla="*/ 0 h 434084"/>
                  <a:gd name="connsiteX4" fmla="*/ 434085 w 434084"/>
                  <a:gd name="connsiteY4" fmla="*/ 217042 h 43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4084" h="434084">
                    <a:moveTo>
                      <a:pt x="434085" y="217042"/>
                    </a:moveTo>
                    <a:cubicBezTo>
                      <a:pt x="434085" y="336911"/>
                      <a:pt x="336915" y="434085"/>
                      <a:pt x="217042" y="434085"/>
                    </a:cubicBezTo>
                    <a:cubicBezTo>
                      <a:pt x="97170" y="434085"/>
                      <a:pt x="0" y="336915"/>
                      <a:pt x="0" y="217042"/>
                    </a:cubicBezTo>
                    <a:cubicBezTo>
                      <a:pt x="0" y="97170"/>
                      <a:pt x="97170" y="0"/>
                      <a:pt x="217042" y="0"/>
                    </a:cubicBezTo>
                    <a:cubicBezTo>
                      <a:pt x="336915" y="0"/>
                      <a:pt x="434085" y="97170"/>
                      <a:pt x="434085" y="217042"/>
                    </a:cubicBezTo>
                  </a:path>
                </a:pathLst>
              </a:custGeom>
              <a:solidFill>
                <a:srgbClr val="127475"/>
              </a:solidFill>
              <a:ln w="9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: Shape 3476">
                <a:extLst>
                  <a:ext uri="{FF2B5EF4-FFF2-40B4-BE49-F238E27FC236}">
                    <a16:creationId xmlns:a16="http://schemas.microsoft.com/office/drawing/2014/main" id="{1E501754-5C90-492B-BC37-013C43214622}"/>
                  </a:ext>
                </a:extLst>
              </p:cNvPr>
              <p:cNvSpPr/>
              <p:nvPr/>
            </p:nvSpPr>
            <p:spPr>
              <a:xfrm>
                <a:off x="355614" y="4413755"/>
                <a:ext cx="506614" cy="505649"/>
              </a:xfrm>
              <a:custGeom>
                <a:avLst/>
                <a:gdLst>
                  <a:gd name="connsiteX0" fmla="*/ 252825 w 505649"/>
                  <a:gd name="connsiteY0" fmla="*/ 0 h 505649"/>
                  <a:gd name="connsiteX1" fmla="*/ 0 w 505649"/>
                  <a:gd name="connsiteY1" fmla="*/ 252825 h 505649"/>
                  <a:gd name="connsiteX2" fmla="*/ 252825 w 505649"/>
                  <a:gd name="connsiteY2" fmla="*/ 505649 h 505649"/>
                  <a:gd name="connsiteX3" fmla="*/ 505649 w 505649"/>
                  <a:gd name="connsiteY3" fmla="*/ 252825 h 505649"/>
                  <a:gd name="connsiteX4" fmla="*/ 252825 w 505649"/>
                  <a:gd name="connsiteY4" fmla="*/ 0 h 505649"/>
                  <a:gd name="connsiteX5" fmla="*/ 261576 w 505649"/>
                  <a:gd name="connsiteY5" fmla="*/ 44548 h 505649"/>
                  <a:gd name="connsiteX6" fmla="*/ 478609 w 505649"/>
                  <a:gd name="connsiteY6" fmla="*/ 261580 h 505649"/>
                  <a:gd name="connsiteX7" fmla="*/ 261576 w 505649"/>
                  <a:gd name="connsiteY7" fmla="*/ 478613 h 505649"/>
                  <a:gd name="connsiteX8" fmla="*/ 44514 w 505649"/>
                  <a:gd name="connsiteY8" fmla="*/ 261580 h 505649"/>
                  <a:gd name="connsiteX9" fmla="*/ 261576 w 505649"/>
                  <a:gd name="connsiteY9" fmla="*/ 44548 h 505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05649" h="505649">
                    <a:moveTo>
                      <a:pt x="252825" y="0"/>
                    </a:moveTo>
                    <a:cubicBezTo>
                      <a:pt x="113196" y="0"/>
                      <a:pt x="0" y="113196"/>
                      <a:pt x="0" y="252825"/>
                    </a:cubicBezTo>
                    <a:cubicBezTo>
                      <a:pt x="0" y="392453"/>
                      <a:pt x="113196" y="505649"/>
                      <a:pt x="252825" y="505649"/>
                    </a:cubicBezTo>
                    <a:cubicBezTo>
                      <a:pt x="392453" y="505649"/>
                      <a:pt x="505649" y="392453"/>
                      <a:pt x="505649" y="252825"/>
                    </a:cubicBezTo>
                    <a:cubicBezTo>
                      <a:pt x="505649" y="113196"/>
                      <a:pt x="392453" y="0"/>
                      <a:pt x="252825" y="0"/>
                    </a:cubicBezTo>
                    <a:moveTo>
                      <a:pt x="261576" y="44548"/>
                    </a:moveTo>
                    <a:cubicBezTo>
                      <a:pt x="381445" y="44548"/>
                      <a:pt x="478609" y="141712"/>
                      <a:pt x="478609" y="261580"/>
                    </a:cubicBezTo>
                    <a:cubicBezTo>
                      <a:pt x="478609" y="381449"/>
                      <a:pt x="381445" y="478613"/>
                      <a:pt x="261576" y="478613"/>
                    </a:cubicBezTo>
                    <a:cubicBezTo>
                      <a:pt x="141708" y="478613"/>
                      <a:pt x="44514" y="381449"/>
                      <a:pt x="44514" y="261580"/>
                    </a:cubicBezTo>
                    <a:cubicBezTo>
                      <a:pt x="44514" y="141712"/>
                      <a:pt x="141708" y="44548"/>
                      <a:pt x="261576" y="44548"/>
                    </a:cubicBezTo>
                  </a:path>
                </a:pathLst>
              </a:custGeom>
              <a:solidFill>
                <a:srgbClr val="000000">
                  <a:alpha val="7000"/>
                </a:srgbClr>
              </a:solidFill>
              <a:ln w="9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: Shape 3477">
                <a:extLst>
                  <a:ext uri="{FF2B5EF4-FFF2-40B4-BE49-F238E27FC236}">
                    <a16:creationId xmlns:a16="http://schemas.microsoft.com/office/drawing/2014/main" id="{20A5D47B-4E1A-49B6-A587-F6E91570A611}"/>
                  </a:ext>
                </a:extLst>
              </p:cNvPr>
              <p:cNvSpPr/>
              <p:nvPr/>
            </p:nvSpPr>
            <p:spPr>
              <a:xfrm>
                <a:off x="359021" y="4417156"/>
                <a:ext cx="499799" cy="498847"/>
              </a:xfrm>
              <a:custGeom>
                <a:avLst/>
                <a:gdLst>
                  <a:gd name="connsiteX0" fmla="*/ 249424 w 498847"/>
                  <a:gd name="connsiteY0" fmla="*/ 0 h 498847"/>
                  <a:gd name="connsiteX1" fmla="*/ 0 w 498847"/>
                  <a:gd name="connsiteY1" fmla="*/ 249424 h 498847"/>
                  <a:gd name="connsiteX2" fmla="*/ 249424 w 498847"/>
                  <a:gd name="connsiteY2" fmla="*/ 498848 h 498847"/>
                  <a:gd name="connsiteX3" fmla="*/ 498848 w 498847"/>
                  <a:gd name="connsiteY3" fmla="*/ 249424 h 498847"/>
                  <a:gd name="connsiteX4" fmla="*/ 249424 w 498847"/>
                  <a:gd name="connsiteY4" fmla="*/ 0 h 498847"/>
                  <a:gd name="connsiteX5" fmla="*/ 255259 w 498847"/>
                  <a:gd name="connsiteY5" fmla="*/ 38227 h 498847"/>
                  <a:gd name="connsiteX6" fmla="*/ 472291 w 498847"/>
                  <a:gd name="connsiteY6" fmla="*/ 255260 h 498847"/>
                  <a:gd name="connsiteX7" fmla="*/ 255259 w 498847"/>
                  <a:gd name="connsiteY7" fmla="*/ 472292 h 498847"/>
                  <a:gd name="connsiteX8" fmla="*/ 38196 w 498847"/>
                  <a:gd name="connsiteY8" fmla="*/ 255260 h 498847"/>
                  <a:gd name="connsiteX9" fmla="*/ 255259 w 498847"/>
                  <a:gd name="connsiteY9" fmla="*/ 38227 h 49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8847" h="498847">
                    <a:moveTo>
                      <a:pt x="249424" y="0"/>
                    </a:moveTo>
                    <a:cubicBezTo>
                      <a:pt x="111669" y="0"/>
                      <a:pt x="0" y="111669"/>
                      <a:pt x="0" y="249424"/>
                    </a:cubicBezTo>
                    <a:cubicBezTo>
                      <a:pt x="0" y="387178"/>
                      <a:pt x="111669" y="498848"/>
                      <a:pt x="249424" y="498848"/>
                    </a:cubicBezTo>
                    <a:cubicBezTo>
                      <a:pt x="387178" y="498848"/>
                      <a:pt x="498848" y="387178"/>
                      <a:pt x="498848" y="249424"/>
                    </a:cubicBezTo>
                    <a:cubicBezTo>
                      <a:pt x="498848" y="111669"/>
                      <a:pt x="387178" y="0"/>
                      <a:pt x="249424" y="0"/>
                    </a:cubicBezTo>
                    <a:moveTo>
                      <a:pt x="255259" y="38227"/>
                    </a:moveTo>
                    <a:cubicBezTo>
                      <a:pt x="375127" y="38227"/>
                      <a:pt x="472291" y="135391"/>
                      <a:pt x="472291" y="255260"/>
                    </a:cubicBezTo>
                    <a:cubicBezTo>
                      <a:pt x="472291" y="375128"/>
                      <a:pt x="375127" y="472292"/>
                      <a:pt x="255259" y="472292"/>
                    </a:cubicBezTo>
                    <a:cubicBezTo>
                      <a:pt x="135390" y="472292"/>
                      <a:pt x="38196" y="375128"/>
                      <a:pt x="38196" y="255260"/>
                    </a:cubicBezTo>
                    <a:cubicBezTo>
                      <a:pt x="38196" y="135391"/>
                      <a:pt x="135390" y="38227"/>
                      <a:pt x="255259" y="38227"/>
                    </a:cubicBezTo>
                  </a:path>
                </a:pathLst>
              </a:custGeom>
              <a:solidFill>
                <a:srgbClr val="000000">
                  <a:alpha val="13000"/>
                </a:srgbClr>
              </a:solidFill>
              <a:ln w="9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3478">
                <a:extLst>
                  <a:ext uri="{FF2B5EF4-FFF2-40B4-BE49-F238E27FC236}">
                    <a16:creationId xmlns:a16="http://schemas.microsoft.com/office/drawing/2014/main" id="{D309EF97-005C-49B3-8B89-97FD2AB33516}"/>
                  </a:ext>
                </a:extLst>
              </p:cNvPr>
              <p:cNvSpPr/>
              <p:nvPr/>
            </p:nvSpPr>
            <p:spPr>
              <a:xfrm>
                <a:off x="362925" y="4421052"/>
                <a:ext cx="491991" cy="491054"/>
              </a:xfrm>
              <a:custGeom>
                <a:avLst/>
                <a:gdLst>
                  <a:gd name="connsiteX0" fmla="*/ 245527 w 491054"/>
                  <a:gd name="connsiteY0" fmla="*/ 0 h 491054"/>
                  <a:gd name="connsiteX1" fmla="*/ 0 w 491054"/>
                  <a:gd name="connsiteY1" fmla="*/ 245527 h 491054"/>
                  <a:gd name="connsiteX2" fmla="*/ 245527 w 491054"/>
                  <a:gd name="connsiteY2" fmla="*/ 491055 h 491054"/>
                  <a:gd name="connsiteX3" fmla="*/ 491055 w 491054"/>
                  <a:gd name="connsiteY3" fmla="*/ 245527 h 491054"/>
                  <a:gd name="connsiteX4" fmla="*/ 245527 w 491054"/>
                  <a:gd name="connsiteY4" fmla="*/ 0 h 491054"/>
                  <a:gd name="connsiteX5" fmla="*/ 248444 w 491054"/>
                  <a:gd name="connsiteY5" fmla="*/ 31421 h 491054"/>
                  <a:gd name="connsiteX6" fmla="*/ 465477 w 491054"/>
                  <a:gd name="connsiteY6" fmla="*/ 248453 h 491054"/>
                  <a:gd name="connsiteX7" fmla="*/ 248444 w 491054"/>
                  <a:gd name="connsiteY7" fmla="*/ 465486 h 491054"/>
                  <a:gd name="connsiteX8" fmla="*/ 31382 w 491054"/>
                  <a:gd name="connsiteY8" fmla="*/ 248453 h 491054"/>
                  <a:gd name="connsiteX9" fmla="*/ 248444 w 491054"/>
                  <a:gd name="connsiteY9" fmla="*/ 31421 h 491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1054" h="491054">
                    <a:moveTo>
                      <a:pt x="245527" y="0"/>
                    </a:moveTo>
                    <a:cubicBezTo>
                      <a:pt x="109924" y="0"/>
                      <a:pt x="0" y="109924"/>
                      <a:pt x="0" y="245527"/>
                    </a:cubicBezTo>
                    <a:cubicBezTo>
                      <a:pt x="0" y="381131"/>
                      <a:pt x="109924" y="491055"/>
                      <a:pt x="245527" y="491055"/>
                    </a:cubicBezTo>
                    <a:cubicBezTo>
                      <a:pt x="381131" y="491055"/>
                      <a:pt x="491055" y="381131"/>
                      <a:pt x="491055" y="245527"/>
                    </a:cubicBezTo>
                    <a:cubicBezTo>
                      <a:pt x="491055" y="109924"/>
                      <a:pt x="381131" y="0"/>
                      <a:pt x="245527" y="0"/>
                    </a:cubicBezTo>
                    <a:moveTo>
                      <a:pt x="248444" y="31421"/>
                    </a:moveTo>
                    <a:cubicBezTo>
                      <a:pt x="368313" y="31421"/>
                      <a:pt x="465477" y="128585"/>
                      <a:pt x="465477" y="248453"/>
                    </a:cubicBezTo>
                    <a:cubicBezTo>
                      <a:pt x="465477" y="368322"/>
                      <a:pt x="368313" y="465486"/>
                      <a:pt x="248444" y="465486"/>
                    </a:cubicBezTo>
                    <a:cubicBezTo>
                      <a:pt x="128576" y="465486"/>
                      <a:pt x="31382" y="368322"/>
                      <a:pt x="31382" y="248453"/>
                    </a:cubicBezTo>
                    <a:cubicBezTo>
                      <a:pt x="31382" y="128585"/>
                      <a:pt x="128576" y="31421"/>
                      <a:pt x="248444" y="31421"/>
                    </a:cubicBezTo>
                  </a:path>
                </a:pathLst>
              </a:custGeom>
              <a:solidFill>
                <a:srgbClr val="000000">
                  <a:alpha val="13000"/>
                </a:srgbClr>
              </a:solidFill>
              <a:ln w="9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3479">
                <a:extLst>
                  <a:ext uri="{FF2B5EF4-FFF2-40B4-BE49-F238E27FC236}">
                    <a16:creationId xmlns:a16="http://schemas.microsoft.com/office/drawing/2014/main" id="{0FA2B23C-2F0A-4CC7-B332-19B9C160E500}"/>
                  </a:ext>
                </a:extLst>
              </p:cNvPr>
              <p:cNvSpPr/>
              <p:nvPr/>
            </p:nvSpPr>
            <p:spPr>
              <a:xfrm>
                <a:off x="362419" y="4420556"/>
                <a:ext cx="487124" cy="486196"/>
              </a:xfrm>
              <a:custGeom>
                <a:avLst/>
                <a:gdLst>
                  <a:gd name="connsiteX0" fmla="*/ 243098 w 486196"/>
                  <a:gd name="connsiteY0" fmla="*/ 0 h 486196"/>
                  <a:gd name="connsiteX1" fmla="*/ 0 w 486196"/>
                  <a:gd name="connsiteY1" fmla="*/ 243098 h 486196"/>
                  <a:gd name="connsiteX2" fmla="*/ 243098 w 486196"/>
                  <a:gd name="connsiteY2" fmla="*/ 486196 h 486196"/>
                  <a:gd name="connsiteX3" fmla="*/ 486196 w 486196"/>
                  <a:gd name="connsiteY3" fmla="*/ 243098 h 486196"/>
                  <a:gd name="connsiteX4" fmla="*/ 243098 w 486196"/>
                  <a:gd name="connsiteY4" fmla="*/ 0 h 486196"/>
                  <a:gd name="connsiteX5" fmla="*/ 243098 w 486196"/>
                  <a:gd name="connsiteY5" fmla="*/ 26073 h 486196"/>
                  <a:gd name="connsiteX6" fmla="*/ 460131 w 486196"/>
                  <a:gd name="connsiteY6" fmla="*/ 243105 h 486196"/>
                  <a:gd name="connsiteX7" fmla="*/ 243098 w 486196"/>
                  <a:gd name="connsiteY7" fmla="*/ 460138 h 486196"/>
                  <a:gd name="connsiteX8" fmla="*/ 26036 w 486196"/>
                  <a:gd name="connsiteY8" fmla="*/ 243105 h 486196"/>
                  <a:gd name="connsiteX9" fmla="*/ 243098 w 486196"/>
                  <a:gd name="connsiteY9" fmla="*/ 26073 h 486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86196" h="486196">
                    <a:moveTo>
                      <a:pt x="243098" y="0"/>
                    </a:moveTo>
                    <a:cubicBezTo>
                      <a:pt x="108834" y="0"/>
                      <a:pt x="0" y="108843"/>
                      <a:pt x="0" y="243098"/>
                    </a:cubicBezTo>
                    <a:cubicBezTo>
                      <a:pt x="0" y="377363"/>
                      <a:pt x="108843" y="486196"/>
                      <a:pt x="243098" y="486196"/>
                    </a:cubicBezTo>
                    <a:cubicBezTo>
                      <a:pt x="377363" y="486196"/>
                      <a:pt x="486196" y="377353"/>
                      <a:pt x="486196" y="243098"/>
                    </a:cubicBezTo>
                    <a:cubicBezTo>
                      <a:pt x="486196" y="108834"/>
                      <a:pt x="377353" y="0"/>
                      <a:pt x="243098" y="0"/>
                    </a:cubicBezTo>
                    <a:close/>
                    <a:moveTo>
                      <a:pt x="243098" y="26073"/>
                    </a:moveTo>
                    <a:cubicBezTo>
                      <a:pt x="362967" y="26073"/>
                      <a:pt x="460131" y="123237"/>
                      <a:pt x="460131" y="243105"/>
                    </a:cubicBezTo>
                    <a:cubicBezTo>
                      <a:pt x="460131" y="362974"/>
                      <a:pt x="362967" y="460138"/>
                      <a:pt x="243098" y="460138"/>
                    </a:cubicBezTo>
                    <a:cubicBezTo>
                      <a:pt x="123230" y="460138"/>
                      <a:pt x="26036" y="362974"/>
                      <a:pt x="26036" y="243105"/>
                    </a:cubicBezTo>
                    <a:cubicBezTo>
                      <a:pt x="26036" y="123237"/>
                      <a:pt x="123230" y="26073"/>
                      <a:pt x="243098" y="260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4835" cap="flat">
                <a:solidFill>
                  <a:srgbClr val="000000">
                    <a:alpha val="31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06" name="Graphic 3457">
                <a:extLst>
                  <a:ext uri="{FF2B5EF4-FFF2-40B4-BE49-F238E27FC236}">
                    <a16:creationId xmlns:a16="http://schemas.microsoft.com/office/drawing/2014/main" id="{D6735F3A-D248-47D3-8DA2-98C1A9B97E50}"/>
                  </a:ext>
                </a:extLst>
              </p:cNvPr>
              <p:cNvGrpSpPr/>
              <p:nvPr/>
            </p:nvGrpSpPr>
            <p:grpSpPr>
              <a:xfrm>
                <a:off x="354621" y="4412764"/>
                <a:ext cx="993" cy="991"/>
                <a:chOff x="61987" y="4043056"/>
                <a:chExt cx="991" cy="991"/>
              </a:xfrm>
            </p:grpSpPr>
          </p:grpSp>
          <p:sp>
            <p:nvSpPr>
              <p:cNvPr id="107" name="Freeform: Shape 3488">
                <a:extLst>
                  <a:ext uri="{FF2B5EF4-FFF2-40B4-BE49-F238E27FC236}">
                    <a16:creationId xmlns:a16="http://schemas.microsoft.com/office/drawing/2014/main" id="{071ACB17-2A0C-45E5-811F-22595A0AC750}"/>
                  </a:ext>
                </a:extLst>
              </p:cNvPr>
              <p:cNvSpPr/>
              <p:nvPr/>
            </p:nvSpPr>
            <p:spPr>
              <a:xfrm>
                <a:off x="477301" y="4523630"/>
                <a:ext cx="342650" cy="357067"/>
              </a:xfrm>
              <a:custGeom>
                <a:avLst/>
                <a:gdLst>
                  <a:gd name="connsiteX0" fmla="*/ 131181 w 341997"/>
                  <a:gd name="connsiteY0" fmla="*/ 0 h 357067"/>
                  <a:gd name="connsiteX1" fmla="*/ 51894 w 341997"/>
                  <a:gd name="connsiteY1" fmla="*/ 82758 h 357067"/>
                  <a:gd name="connsiteX2" fmla="*/ 76532 w 341997"/>
                  <a:gd name="connsiteY2" fmla="*/ 142990 h 357067"/>
                  <a:gd name="connsiteX3" fmla="*/ 145548 w 341997"/>
                  <a:gd name="connsiteY3" fmla="*/ 212016 h 357067"/>
                  <a:gd name="connsiteX4" fmla="*/ 131181 w 341997"/>
                  <a:gd name="connsiteY4" fmla="*/ 212888 h 357067"/>
                  <a:gd name="connsiteX5" fmla="*/ 57258 w 341997"/>
                  <a:gd name="connsiteY5" fmla="*/ 187209 h 357067"/>
                  <a:gd name="connsiteX6" fmla="*/ 40 w 341997"/>
                  <a:gd name="connsiteY6" fmla="*/ 285900 h 357067"/>
                  <a:gd name="connsiteX7" fmla="*/ 60272 w 341997"/>
                  <a:gd name="connsiteY7" fmla="*/ 346132 h 357067"/>
                  <a:gd name="connsiteX8" fmla="*/ 128435 w 341997"/>
                  <a:gd name="connsiteY8" fmla="*/ 357068 h 357067"/>
                  <a:gd name="connsiteX9" fmla="*/ 341997 w 341997"/>
                  <a:gd name="connsiteY9" fmla="*/ 178920 h 357067"/>
                  <a:gd name="connsiteX10" fmla="*/ 186069 w 341997"/>
                  <a:gd name="connsiteY10" fmla="*/ 22992 h 357067"/>
                  <a:gd name="connsiteX11" fmla="*/ 131181 w 341997"/>
                  <a:gd name="connsiteY11" fmla="*/ 0 h 357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97" h="357067">
                    <a:moveTo>
                      <a:pt x="131181" y="0"/>
                    </a:moveTo>
                    <a:cubicBezTo>
                      <a:pt x="87458" y="0"/>
                      <a:pt x="51894" y="36873"/>
                      <a:pt x="51894" y="82758"/>
                    </a:cubicBezTo>
                    <a:cubicBezTo>
                      <a:pt x="51894" y="106424"/>
                      <a:pt x="61362" y="127820"/>
                      <a:pt x="76532" y="142990"/>
                    </a:cubicBezTo>
                    <a:lnTo>
                      <a:pt x="145548" y="212016"/>
                    </a:lnTo>
                    <a:cubicBezTo>
                      <a:pt x="140838" y="212591"/>
                      <a:pt x="136050" y="212888"/>
                      <a:pt x="131181" y="212888"/>
                    </a:cubicBezTo>
                    <a:cubicBezTo>
                      <a:pt x="103510" y="212888"/>
                      <a:pt x="77920" y="203340"/>
                      <a:pt x="57258" y="187209"/>
                    </a:cubicBezTo>
                    <a:cubicBezTo>
                      <a:pt x="25312" y="195171"/>
                      <a:pt x="-1170" y="235920"/>
                      <a:pt x="40" y="285900"/>
                    </a:cubicBezTo>
                    <a:lnTo>
                      <a:pt x="60272" y="346132"/>
                    </a:lnTo>
                    <a:cubicBezTo>
                      <a:pt x="81707" y="353221"/>
                      <a:pt x="104620" y="357068"/>
                      <a:pt x="128435" y="357068"/>
                    </a:cubicBezTo>
                    <a:cubicBezTo>
                      <a:pt x="235028" y="357068"/>
                      <a:pt x="323665" y="280219"/>
                      <a:pt x="341997" y="178920"/>
                    </a:cubicBezTo>
                    <a:lnTo>
                      <a:pt x="186069" y="22992"/>
                    </a:lnTo>
                    <a:cubicBezTo>
                      <a:pt x="171812" y="8735"/>
                      <a:pt x="152468" y="0"/>
                      <a:pt x="131181" y="0"/>
                    </a:cubicBezTo>
                    <a:close/>
                  </a:path>
                </a:pathLst>
              </a:custGeom>
              <a:solidFill>
                <a:srgbClr val="000000">
                  <a:alpha val="25000"/>
                </a:srgbClr>
              </a:solidFill>
              <a:ln w="9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3489">
                <a:extLst>
                  <a:ext uri="{FF2B5EF4-FFF2-40B4-BE49-F238E27FC236}">
                    <a16:creationId xmlns:a16="http://schemas.microsoft.com/office/drawing/2014/main" id="{1FACB41E-EAFF-458D-9ABF-2F9BB78D2941}"/>
                  </a:ext>
                </a:extLst>
              </p:cNvPr>
              <p:cNvSpPr/>
              <p:nvPr/>
            </p:nvSpPr>
            <p:spPr>
              <a:xfrm>
                <a:off x="477294" y="4523630"/>
                <a:ext cx="263246" cy="285902"/>
              </a:xfrm>
              <a:custGeom>
                <a:avLst/>
                <a:gdLst>
                  <a:gd name="connsiteX0" fmla="*/ 131188 w 262745"/>
                  <a:gd name="connsiteY0" fmla="*/ 0 h 285902"/>
                  <a:gd name="connsiteX1" fmla="*/ 51902 w 262745"/>
                  <a:gd name="connsiteY1" fmla="*/ 82757 h 285902"/>
                  <a:gd name="connsiteX2" fmla="*/ 131188 w 262745"/>
                  <a:gd name="connsiteY2" fmla="*/ 165971 h 285902"/>
                  <a:gd name="connsiteX3" fmla="*/ 210475 w 262745"/>
                  <a:gd name="connsiteY3" fmla="*/ 82757 h 285902"/>
                  <a:gd name="connsiteX4" fmla="*/ 131188 w 262745"/>
                  <a:gd name="connsiteY4" fmla="*/ 0 h 285902"/>
                  <a:gd name="connsiteX5" fmla="*/ 57261 w 262745"/>
                  <a:gd name="connsiteY5" fmla="*/ 187209 h 285902"/>
                  <a:gd name="connsiteX6" fmla="*/ 40 w 262745"/>
                  <a:gd name="connsiteY6" fmla="*/ 285903 h 285902"/>
                  <a:gd name="connsiteX7" fmla="*/ 262710 w 262745"/>
                  <a:gd name="connsiteY7" fmla="*/ 285903 h 285902"/>
                  <a:gd name="connsiteX8" fmla="*/ 205114 w 262745"/>
                  <a:gd name="connsiteY8" fmla="*/ 187209 h 285902"/>
                  <a:gd name="connsiteX9" fmla="*/ 131187 w 262745"/>
                  <a:gd name="connsiteY9" fmla="*/ 212890 h 285902"/>
                  <a:gd name="connsiteX10" fmla="*/ 57260 w 262745"/>
                  <a:gd name="connsiteY10" fmla="*/ 187209 h 285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2745" h="285902">
                    <a:moveTo>
                      <a:pt x="131188" y="0"/>
                    </a:moveTo>
                    <a:cubicBezTo>
                      <a:pt x="87461" y="0"/>
                      <a:pt x="51902" y="36870"/>
                      <a:pt x="51902" y="82757"/>
                    </a:cubicBezTo>
                    <a:cubicBezTo>
                      <a:pt x="51902" y="128643"/>
                      <a:pt x="87461" y="165971"/>
                      <a:pt x="131188" y="165971"/>
                    </a:cubicBezTo>
                    <a:cubicBezTo>
                      <a:pt x="174916" y="165971"/>
                      <a:pt x="210475" y="128643"/>
                      <a:pt x="210475" y="82757"/>
                    </a:cubicBezTo>
                    <a:cubicBezTo>
                      <a:pt x="210475" y="36871"/>
                      <a:pt x="174916" y="0"/>
                      <a:pt x="131188" y="0"/>
                    </a:cubicBezTo>
                    <a:close/>
                    <a:moveTo>
                      <a:pt x="57261" y="187209"/>
                    </a:moveTo>
                    <a:cubicBezTo>
                      <a:pt x="25316" y="195169"/>
                      <a:pt x="-1170" y="235925"/>
                      <a:pt x="40" y="285903"/>
                    </a:cubicBezTo>
                    <a:lnTo>
                      <a:pt x="262710" y="285903"/>
                    </a:lnTo>
                    <a:cubicBezTo>
                      <a:pt x="263854" y="235915"/>
                      <a:pt x="237129" y="195146"/>
                      <a:pt x="205114" y="187209"/>
                    </a:cubicBezTo>
                    <a:cubicBezTo>
                      <a:pt x="184452" y="203339"/>
                      <a:pt x="158865" y="212890"/>
                      <a:pt x="131187" y="212890"/>
                    </a:cubicBezTo>
                    <a:cubicBezTo>
                      <a:pt x="103510" y="212890"/>
                      <a:pt x="77923" y="203339"/>
                      <a:pt x="57260" y="18720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14C2BC61-D524-444D-A6D4-075BEE68C5F6}"/>
                </a:ext>
              </a:extLst>
            </p:cNvPr>
            <p:cNvSpPr txBox="1"/>
            <p:nvPr/>
          </p:nvSpPr>
          <p:spPr>
            <a:xfrm>
              <a:off x="764844" y="5855537"/>
              <a:ext cx="47919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300" b="1" dirty="0" err="1">
                  <a:solidFill>
                    <a:schemeClr val="bg1"/>
                  </a:solidFill>
                  <a:latin typeface="Bookman Old Style" panose="02050604050505020204" pitchFamily="18" charset="0"/>
                </a:rPr>
                <a:t>Sag’dullayev</a:t>
              </a:r>
              <a:r>
                <a:rPr lang="en-US" sz="23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 </a:t>
              </a:r>
              <a:r>
                <a:rPr lang="en-US" sz="2300" b="1" dirty="0" err="1">
                  <a:solidFill>
                    <a:schemeClr val="bg1"/>
                  </a:solidFill>
                  <a:latin typeface="Bookman Old Style" panose="02050604050505020204" pitchFamily="18" charset="0"/>
                </a:rPr>
                <a:t>Alibek</a:t>
              </a:r>
              <a:endParaRPr lang="en-US" sz="2300" b="1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74720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p14:presetBounceEnd="72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3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3" grpId="0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5FDEFC0-1C43-4E2A-A7D7-E9A81ABE5A86}"/>
              </a:ext>
            </a:extLst>
          </p:cNvPr>
          <p:cNvSpPr/>
          <p:nvPr/>
        </p:nvSpPr>
        <p:spPr>
          <a:xfrm>
            <a:off x="-38510" y="-30480"/>
            <a:ext cx="2865120" cy="6888480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628E6886-663D-4BB8-A032-7DCA95BCCD14}"/>
              </a:ext>
            </a:extLst>
          </p:cNvPr>
          <p:cNvSpPr/>
          <p:nvPr/>
        </p:nvSpPr>
        <p:spPr>
          <a:xfrm>
            <a:off x="2106609" y="3145052"/>
            <a:ext cx="1440000" cy="1440000"/>
          </a:xfrm>
          <a:prstGeom prst="ellipse">
            <a:avLst/>
          </a:prstGeom>
          <a:solidFill>
            <a:srgbClr val="FFC000">
              <a:alpha val="80000"/>
            </a:srgbClr>
          </a:solidFill>
          <a:ln>
            <a:noFill/>
          </a:ln>
          <a:effectLst>
            <a:outerShdw blurRad="292100" dist="38100" dir="5400000" sx="107000" sy="107000" algn="t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Полилиния: фигура 14">
            <a:extLst>
              <a:ext uri="{FF2B5EF4-FFF2-40B4-BE49-F238E27FC236}">
                <a16:creationId xmlns:a16="http://schemas.microsoft.com/office/drawing/2014/main" id="{860198C9-1214-47AE-8742-526AE4035929}"/>
              </a:ext>
            </a:extLst>
          </p:cNvPr>
          <p:cNvSpPr/>
          <p:nvPr/>
        </p:nvSpPr>
        <p:spPr>
          <a:xfrm>
            <a:off x="1062609" y="1300918"/>
            <a:ext cx="3528000" cy="2564134"/>
          </a:xfrm>
          <a:custGeom>
            <a:avLst/>
            <a:gdLst>
              <a:gd name="connsiteX0" fmla="*/ 1584509 w 3528000"/>
              <a:gd name="connsiteY0" fmla="*/ 0 h 2564134"/>
              <a:gd name="connsiteX1" fmla="*/ 1963811 w 3528000"/>
              <a:gd name="connsiteY1" fmla="*/ 0 h 2564134"/>
              <a:gd name="connsiteX2" fmla="*/ 2058640 w 3528000"/>
              <a:gd name="connsiteY2" fmla="*/ 94829 h 2564134"/>
              <a:gd name="connsiteX3" fmla="*/ 2058640 w 3528000"/>
              <a:gd name="connsiteY3" fmla="*/ 685310 h 2564134"/>
              <a:gd name="connsiteX4" fmla="*/ 2119508 w 3528000"/>
              <a:gd name="connsiteY4" fmla="*/ 695355 h 2564134"/>
              <a:gd name="connsiteX5" fmla="*/ 3528000 w 3528000"/>
              <a:gd name="connsiteY5" fmla="*/ 2564134 h 2564134"/>
              <a:gd name="connsiteX6" fmla="*/ 0 w 3528000"/>
              <a:gd name="connsiteY6" fmla="*/ 2564134 h 2564134"/>
              <a:gd name="connsiteX7" fmla="*/ 1408492 w 3528000"/>
              <a:gd name="connsiteY7" fmla="*/ 695355 h 2564134"/>
              <a:gd name="connsiteX8" fmla="*/ 1489680 w 3528000"/>
              <a:gd name="connsiteY8" fmla="*/ 681957 h 2564134"/>
              <a:gd name="connsiteX9" fmla="*/ 1489680 w 3528000"/>
              <a:gd name="connsiteY9" fmla="*/ 94829 h 2564134"/>
              <a:gd name="connsiteX10" fmla="*/ 1584509 w 3528000"/>
              <a:gd name="connsiteY10" fmla="*/ 0 h 2564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28000" h="2564134">
                <a:moveTo>
                  <a:pt x="1584509" y="0"/>
                </a:moveTo>
                <a:lnTo>
                  <a:pt x="1963811" y="0"/>
                </a:lnTo>
                <a:cubicBezTo>
                  <a:pt x="2016184" y="0"/>
                  <a:pt x="2058640" y="42456"/>
                  <a:pt x="2058640" y="94829"/>
                </a:cubicBezTo>
                <a:lnTo>
                  <a:pt x="2058640" y="685310"/>
                </a:lnTo>
                <a:lnTo>
                  <a:pt x="2119508" y="695355"/>
                </a:lnTo>
                <a:cubicBezTo>
                  <a:pt x="2923332" y="873226"/>
                  <a:pt x="3528000" y="1642321"/>
                  <a:pt x="3528000" y="2564134"/>
                </a:cubicBezTo>
                <a:lnTo>
                  <a:pt x="0" y="2564134"/>
                </a:lnTo>
                <a:cubicBezTo>
                  <a:pt x="0" y="1642321"/>
                  <a:pt x="604668" y="873226"/>
                  <a:pt x="1408492" y="695355"/>
                </a:cubicBezTo>
                <a:lnTo>
                  <a:pt x="1489680" y="681957"/>
                </a:lnTo>
                <a:lnTo>
                  <a:pt x="1489680" y="94829"/>
                </a:lnTo>
                <a:cubicBezTo>
                  <a:pt x="1489680" y="42456"/>
                  <a:pt x="1532136" y="0"/>
                  <a:pt x="1584509" y="0"/>
                </a:cubicBezTo>
                <a:close/>
              </a:path>
            </a:pathLst>
          </a:custGeom>
          <a:solidFill>
            <a:srgbClr val="333F51"/>
          </a:solidFill>
          <a:ln>
            <a:noFill/>
          </a:ln>
          <a:effectLst>
            <a:outerShdw blurRad="190500" sx="110000" sy="110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103FB00-C33D-443A-8F51-284C798D3F4E}"/>
              </a:ext>
            </a:extLst>
          </p:cNvPr>
          <p:cNvSpPr/>
          <p:nvPr/>
        </p:nvSpPr>
        <p:spPr>
          <a:xfrm>
            <a:off x="2712436" y="4851400"/>
            <a:ext cx="228346" cy="497840"/>
          </a:xfrm>
          <a:prstGeom prst="roundRect">
            <a:avLst>
              <a:gd name="adj" fmla="val 50000"/>
            </a:avLst>
          </a:prstGeom>
          <a:solidFill>
            <a:srgbClr val="FFC000">
              <a:alpha val="80000"/>
            </a:srgbClr>
          </a:solidFill>
          <a:ln>
            <a:noFill/>
          </a:ln>
          <a:effectLst>
            <a:outerShdw blurRad="152400" dist="50800" dir="600000" sx="106000" sy="106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22B3F76A-E203-4321-95E8-35F18782E076}"/>
              </a:ext>
            </a:extLst>
          </p:cNvPr>
          <p:cNvSpPr/>
          <p:nvPr/>
        </p:nvSpPr>
        <p:spPr>
          <a:xfrm>
            <a:off x="5293587" y="927300"/>
            <a:ext cx="6746013" cy="900001"/>
          </a:xfrm>
          <a:prstGeom prst="roundRect">
            <a:avLst>
              <a:gd name="adj" fmla="val 50000"/>
            </a:avLst>
          </a:prstGeom>
          <a:solidFill>
            <a:srgbClr val="333F51"/>
          </a:solidFill>
          <a:ln>
            <a:noFill/>
          </a:ln>
          <a:effectLst>
            <a:outerShdw blurRad="190500" sx="102000" sy="102000" algn="ctr" rotWithShape="0">
              <a:prstClr val="black">
                <a:alpha val="4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E37652C-4BDF-4A68-AAD8-B8A14BCBC91A}"/>
              </a:ext>
            </a:extLst>
          </p:cNvPr>
          <p:cNvSpPr/>
          <p:nvPr/>
        </p:nvSpPr>
        <p:spPr>
          <a:xfrm rot="18633458">
            <a:off x="3645684" y="4464089"/>
            <a:ext cx="228346" cy="497840"/>
          </a:xfrm>
          <a:prstGeom prst="roundRect">
            <a:avLst>
              <a:gd name="adj" fmla="val 50000"/>
            </a:avLst>
          </a:prstGeom>
          <a:solidFill>
            <a:srgbClr val="FFC000">
              <a:alpha val="80000"/>
            </a:srgbClr>
          </a:solidFill>
          <a:ln>
            <a:noFill/>
          </a:ln>
          <a:effectLst>
            <a:outerShdw blurRad="152400" dist="50800" dir="600000" sx="106000" sy="106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A33E9646-6F22-46EE-92AB-CD5B870B55C8}"/>
              </a:ext>
            </a:extLst>
          </p:cNvPr>
          <p:cNvSpPr/>
          <p:nvPr/>
        </p:nvSpPr>
        <p:spPr>
          <a:xfrm rot="3112134">
            <a:off x="1776245" y="4469177"/>
            <a:ext cx="228346" cy="497840"/>
          </a:xfrm>
          <a:prstGeom prst="roundRect">
            <a:avLst>
              <a:gd name="adj" fmla="val 50000"/>
            </a:avLst>
          </a:prstGeom>
          <a:solidFill>
            <a:srgbClr val="FFC000">
              <a:alpha val="80000"/>
            </a:srgbClr>
          </a:solidFill>
          <a:ln>
            <a:noFill/>
          </a:ln>
          <a:effectLst>
            <a:outerShdw blurRad="152400" dist="50800" dir="600000" sx="106000" sy="106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FC7F1A63-A148-49B1-A5BD-595C0A6048FF}"/>
              </a:ext>
            </a:extLst>
          </p:cNvPr>
          <p:cNvSpPr/>
          <p:nvPr/>
        </p:nvSpPr>
        <p:spPr>
          <a:xfrm>
            <a:off x="4970585" y="851142"/>
            <a:ext cx="1080000" cy="1080000"/>
          </a:xfrm>
          <a:prstGeom prst="ellipse">
            <a:avLst/>
          </a:prstGeom>
          <a:solidFill>
            <a:srgbClr val="0D0072"/>
          </a:solidFill>
          <a:ln>
            <a:noFill/>
          </a:ln>
          <a:effectLst>
            <a:outerShdw blurRad="190500" sx="110000" sy="110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00E20FBF-C0CC-44D8-894B-6741B833B028}"/>
              </a:ext>
            </a:extLst>
          </p:cNvPr>
          <p:cNvSpPr/>
          <p:nvPr/>
        </p:nvSpPr>
        <p:spPr>
          <a:xfrm>
            <a:off x="5060585" y="941142"/>
            <a:ext cx="900000" cy="900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94718E-D96A-43B1-8EFF-DBAB8D4C3287}"/>
              </a:ext>
            </a:extLst>
          </p:cNvPr>
          <p:cNvSpPr txBox="1"/>
          <p:nvPr/>
        </p:nvSpPr>
        <p:spPr>
          <a:xfrm>
            <a:off x="5097828" y="761046"/>
            <a:ext cx="4097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lgerian" panose="04020705040A02060702" pitchFamily="82" charset="0"/>
              </a:rPr>
              <a:t>1</a:t>
            </a:r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51BAB98C-EC85-4BD0-8541-02EE072B5B5A}"/>
              </a:ext>
            </a:extLst>
          </p:cNvPr>
          <p:cNvSpPr/>
          <p:nvPr/>
        </p:nvSpPr>
        <p:spPr>
          <a:xfrm>
            <a:off x="4967551" y="2318767"/>
            <a:ext cx="1080000" cy="1080000"/>
          </a:xfrm>
          <a:prstGeom prst="ellipse">
            <a:avLst/>
          </a:prstGeom>
          <a:solidFill>
            <a:srgbClr val="0D0072"/>
          </a:solidFill>
          <a:ln>
            <a:noFill/>
          </a:ln>
          <a:effectLst>
            <a:outerShdw blurRad="190500" sx="110000" sy="110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C1A61C9C-ECF0-4928-BCAD-C2526D95EEBF}"/>
              </a:ext>
            </a:extLst>
          </p:cNvPr>
          <p:cNvSpPr/>
          <p:nvPr/>
        </p:nvSpPr>
        <p:spPr>
          <a:xfrm>
            <a:off x="5057551" y="2408767"/>
            <a:ext cx="900000" cy="900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F7056C-3F57-4622-8EF5-3246FCDDB845}"/>
              </a:ext>
            </a:extLst>
          </p:cNvPr>
          <p:cNvSpPr txBox="1"/>
          <p:nvPr/>
        </p:nvSpPr>
        <p:spPr>
          <a:xfrm>
            <a:off x="5094794" y="2228671"/>
            <a:ext cx="4097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lgerian" panose="04020705040A02060702" pitchFamily="82" charset="0"/>
              </a:rPr>
              <a:t>2</a:t>
            </a:r>
          </a:p>
        </p:txBody>
      </p:sp>
      <p:sp>
        <p:nvSpPr>
          <p:cNvPr id="47" name="Полилиния: фигура 46">
            <a:extLst>
              <a:ext uri="{FF2B5EF4-FFF2-40B4-BE49-F238E27FC236}">
                <a16:creationId xmlns:a16="http://schemas.microsoft.com/office/drawing/2014/main" id="{92A783D5-1587-47AF-9417-4D9A9033A3B2}"/>
              </a:ext>
            </a:extLst>
          </p:cNvPr>
          <p:cNvSpPr/>
          <p:nvPr/>
        </p:nvSpPr>
        <p:spPr>
          <a:xfrm>
            <a:off x="5910721" y="1031481"/>
            <a:ext cx="6037440" cy="703596"/>
          </a:xfrm>
          <a:custGeom>
            <a:avLst/>
            <a:gdLst>
              <a:gd name="connsiteX0" fmla="*/ 0 w 6037440"/>
              <a:gd name="connsiteY0" fmla="*/ 0 h 703596"/>
              <a:gd name="connsiteX1" fmla="*/ 5685642 w 6037440"/>
              <a:gd name="connsiteY1" fmla="*/ 0 h 703596"/>
              <a:gd name="connsiteX2" fmla="*/ 6037440 w 6037440"/>
              <a:gd name="connsiteY2" fmla="*/ 351798 h 703596"/>
              <a:gd name="connsiteX3" fmla="*/ 5685642 w 6037440"/>
              <a:gd name="connsiteY3" fmla="*/ 703596 h 703596"/>
              <a:gd name="connsiteX4" fmla="*/ 12975 w 6037440"/>
              <a:gd name="connsiteY4" fmla="*/ 703596 h 703596"/>
              <a:gd name="connsiteX5" fmla="*/ 47641 w 6037440"/>
              <a:gd name="connsiteY5" fmla="*/ 661580 h 703596"/>
              <a:gd name="connsiteX6" fmla="*/ 139864 w 6037440"/>
              <a:gd name="connsiteY6" fmla="*/ 359661 h 703596"/>
              <a:gd name="connsiteX7" fmla="*/ 47641 w 6037440"/>
              <a:gd name="connsiteY7" fmla="*/ 57742 h 703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37440" h="703596">
                <a:moveTo>
                  <a:pt x="0" y="0"/>
                </a:moveTo>
                <a:lnTo>
                  <a:pt x="5685642" y="0"/>
                </a:lnTo>
                <a:cubicBezTo>
                  <a:pt x="5879935" y="0"/>
                  <a:pt x="6037440" y="157505"/>
                  <a:pt x="6037440" y="351798"/>
                </a:cubicBezTo>
                <a:cubicBezTo>
                  <a:pt x="6037440" y="546091"/>
                  <a:pt x="5879935" y="703596"/>
                  <a:pt x="5685642" y="703596"/>
                </a:cubicBezTo>
                <a:lnTo>
                  <a:pt x="12975" y="703596"/>
                </a:lnTo>
                <a:lnTo>
                  <a:pt x="47641" y="661580"/>
                </a:lnTo>
                <a:cubicBezTo>
                  <a:pt x="105866" y="575396"/>
                  <a:pt x="139864" y="471499"/>
                  <a:pt x="139864" y="359661"/>
                </a:cubicBezTo>
                <a:cubicBezTo>
                  <a:pt x="139864" y="247823"/>
                  <a:pt x="105866" y="143926"/>
                  <a:pt x="47641" y="5774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innerShdw blurRad="1524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34CE413-E1DA-489B-849C-5668C64C7E4E}"/>
              </a:ext>
            </a:extLst>
          </p:cNvPr>
          <p:cNvSpPr txBox="1"/>
          <p:nvPr/>
        </p:nvSpPr>
        <p:spPr>
          <a:xfrm>
            <a:off x="6140585" y="976489"/>
            <a:ext cx="51373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2200" dirty="0">
                <a:solidFill>
                  <a:srgbClr val="0FA3B1"/>
                </a:solidFill>
                <a:latin typeface="Arial Black" panose="020B0A04020102020204" pitchFamily="34" charset="0"/>
              </a:rPr>
              <a:t>Web ilovalar va ulaga qaratilgan tahdidlar</a:t>
            </a:r>
            <a:endParaRPr lang="en-US" sz="2200" dirty="0">
              <a:solidFill>
                <a:srgbClr val="0FA3B1"/>
              </a:solidFill>
              <a:latin typeface="Arial Black" panose="020B0A04020102020204" pitchFamily="34" charset="0"/>
            </a:endParaRPr>
          </a:p>
        </p:txBody>
      </p:sp>
      <p:sp>
        <p:nvSpPr>
          <p:cNvPr id="53" name="Прямоугольник: скругленные углы 52">
            <a:extLst>
              <a:ext uri="{FF2B5EF4-FFF2-40B4-BE49-F238E27FC236}">
                <a16:creationId xmlns:a16="http://schemas.microsoft.com/office/drawing/2014/main" id="{F198A05D-DDA6-4205-8D7F-7AAC261DCD62}"/>
              </a:ext>
            </a:extLst>
          </p:cNvPr>
          <p:cNvSpPr/>
          <p:nvPr/>
        </p:nvSpPr>
        <p:spPr>
          <a:xfrm>
            <a:off x="5293587" y="2410042"/>
            <a:ext cx="6746013" cy="900001"/>
          </a:xfrm>
          <a:prstGeom prst="roundRect">
            <a:avLst>
              <a:gd name="adj" fmla="val 50000"/>
            </a:avLst>
          </a:prstGeom>
          <a:solidFill>
            <a:srgbClr val="333F51"/>
          </a:solidFill>
          <a:ln>
            <a:noFill/>
          </a:ln>
          <a:effectLst>
            <a:outerShdw blurRad="190500" sx="102000" sy="102000" algn="ctr" rotWithShape="0">
              <a:prstClr val="black">
                <a:alpha val="4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Овал 53">
            <a:extLst>
              <a:ext uri="{FF2B5EF4-FFF2-40B4-BE49-F238E27FC236}">
                <a16:creationId xmlns:a16="http://schemas.microsoft.com/office/drawing/2014/main" id="{94648CDD-3C5A-47F1-9C4D-862387B860A2}"/>
              </a:ext>
            </a:extLst>
          </p:cNvPr>
          <p:cNvSpPr/>
          <p:nvPr/>
        </p:nvSpPr>
        <p:spPr>
          <a:xfrm>
            <a:off x="4970585" y="2333884"/>
            <a:ext cx="1080000" cy="1080000"/>
          </a:xfrm>
          <a:prstGeom prst="ellipse">
            <a:avLst/>
          </a:prstGeom>
          <a:solidFill>
            <a:srgbClr val="0D0072"/>
          </a:solidFill>
          <a:ln>
            <a:noFill/>
          </a:ln>
          <a:effectLst>
            <a:outerShdw blurRad="190500" sx="110000" sy="110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Овал 54">
            <a:extLst>
              <a:ext uri="{FF2B5EF4-FFF2-40B4-BE49-F238E27FC236}">
                <a16:creationId xmlns:a16="http://schemas.microsoft.com/office/drawing/2014/main" id="{266C7C8B-DFFC-459E-A0B1-B9AF837FF45C}"/>
              </a:ext>
            </a:extLst>
          </p:cNvPr>
          <p:cNvSpPr/>
          <p:nvPr/>
        </p:nvSpPr>
        <p:spPr>
          <a:xfrm>
            <a:off x="5060585" y="2423884"/>
            <a:ext cx="900000" cy="900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C481FA4-E4BF-4DBC-8037-4854493D1DE4}"/>
              </a:ext>
            </a:extLst>
          </p:cNvPr>
          <p:cNvSpPr txBox="1"/>
          <p:nvPr/>
        </p:nvSpPr>
        <p:spPr>
          <a:xfrm>
            <a:off x="5097828" y="2243788"/>
            <a:ext cx="4097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lgerian" panose="04020705040A02060702" pitchFamily="82" charset="0"/>
              </a:rPr>
              <a:t>2</a:t>
            </a:r>
          </a:p>
        </p:txBody>
      </p:sp>
      <p:sp>
        <p:nvSpPr>
          <p:cNvPr id="57" name="Полилиния: фигура 56">
            <a:extLst>
              <a:ext uri="{FF2B5EF4-FFF2-40B4-BE49-F238E27FC236}">
                <a16:creationId xmlns:a16="http://schemas.microsoft.com/office/drawing/2014/main" id="{6614D966-980E-4F0A-B3F1-FF3846B07E48}"/>
              </a:ext>
            </a:extLst>
          </p:cNvPr>
          <p:cNvSpPr/>
          <p:nvPr/>
        </p:nvSpPr>
        <p:spPr>
          <a:xfrm>
            <a:off x="5910721" y="2514223"/>
            <a:ext cx="6037440" cy="703596"/>
          </a:xfrm>
          <a:custGeom>
            <a:avLst/>
            <a:gdLst>
              <a:gd name="connsiteX0" fmla="*/ 0 w 6037440"/>
              <a:gd name="connsiteY0" fmla="*/ 0 h 703596"/>
              <a:gd name="connsiteX1" fmla="*/ 5685642 w 6037440"/>
              <a:gd name="connsiteY1" fmla="*/ 0 h 703596"/>
              <a:gd name="connsiteX2" fmla="*/ 6037440 w 6037440"/>
              <a:gd name="connsiteY2" fmla="*/ 351798 h 703596"/>
              <a:gd name="connsiteX3" fmla="*/ 5685642 w 6037440"/>
              <a:gd name="connsiteY3" fmla="*/ 703596 h 703596"/>
              <a:gd name="connsiteX4" fmla="*/ 12975 w 6037440"/>
              <a:gd name="connsiteY4" fmla="*/ 703596 h 703596"/>
              <a:gd name="connsiteX5" fmla="*/ 47641 w 6037440"/>
              <a:gd name="connsiteY5" fmla="*/ 661580 h 703596"/>
              <a:gd name="connsiteX6" fmla="*/ 139864 w 6037440"/>
              <a:gd name="connsiteY6" fmla="*/ 359661 h 703596"/>
              <a:gd name="connsiteX7" fmla="*/ 47641 w 6037440"/>
              <a:gd name="connsiteY7" fmla="*/ 57742 h 703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37440" h="703596">
                <a:moveTo>
                  <a:pt x="0" y="0"/>
                </a:moveTo>
                <a:lnTo>
                  <a:pt x="5685642" y="0"/>
                </a:lnTo>
                <a:cubicBezTo>
                  <a:pt x="5879935" y="0"/>
                  <a:pt x="6037440" y="157505"/>
                  <a:pt x="6037440" y="351798"/>
                </a:cubicBezTo>
                <a:cubicBezTo>
                  <a:pt x="6037440" y="546091"/>
                  <a:pt x="5879935" y="703596"/>
                  <a:pt x="5685642" y="703596"/>
                </a:cubicBezTo>
                <a:lnTo>
                  <a:pt x="12975" y="703596"/>
                </a:lnTo>
                <a:lnTo>
                  <a:pt x="47641" y="661580"/>
                </a:lnTo>
                <a:cubicBezTo>
                  <a:pt x="105866" y="575396"/>
                  <a:pt x="139864" y="471499"/>
                  <a:pt x="139864" y="359661"/>
                </a:cubicBezTo>
                <a:cubicBezTo>
                  <a:pt x="139864" y="247823"/>
                  <a:pt x="105866" y="143926"/>
                  <a:pt x="47641" y="5774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innerShdw blurRad="1524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C147313-F3FF-4C83-BE74-A8AFB4812119}"/>
              </a:ext>
            </a:extLst>
          </p:cNvPr>
          <p:cNvSpPr txBox="1"/>
          <p:nvPr/>
        </p:nvSpPr>
        <p:spPr>
          <a:xfrm>
            <a:off x="6140585" y="2459231"/>
            <a:ext cx="51373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2200" dirty="0">
                <a:solidFill>
                  <a:srgbClr val="0FA3B1"/>
                </a:solidFill>
                <a:latin typeface="Arial Black" panose="020B0A04020102020204" pitchFamily="34" charset="0"/>
              </a:rPr>
              <a:t>Web ilovalar va ulaga qaratilgan tahdidlar</a:t>
            </a:r>
            <a:endParaRPr lang="en-US" sz="2200" dirty="0">
              <a:solidFill>
                <a:srgbClr val="0FA3B1"/>
              </a:solidFill>
              <a:latin typeface="Arial Black" panose="020B0A04020102020204" pitchFamily="34" charset="0"/>
            </a:endParaRPr>
          </a:p>
        </p:txBody>
      </p:sp>
      <p:sp>
        <p:nvSpPr>
          <p:cNvPr id="59" name="Прямоугольник: скругленные углы 58">
            <a:extLst>
              <a:ext uri="{FF2B5EF4-FFF2-40B4-BE49-F238E27FC236}">
                <a16:creationId xmlns:a16="http://schemas.microsoft.com/office/drawing/2014/main" id="{0101486F-95C0-4507-9C70-76D619954225}"/>
              </a:ext>
            </a:extLst>
          </p:cNvPr>
          <p:cNvSpPr/>
          <p:nvPr/>
        </p:nvSpPr>
        <p:spPr>
          <a:xfrm>
            <a:off x="5290553" y="3918589"/>
            <a:ext cx="6746013" cy="900001"/>
          </a:xfrm>
          <a:prstGeom prst="roundRect">
            <a:avLst>
              <a:gd name="adj" fmla="val 50000"/>
            </a:avLst>
          </a:prstGeom>
          <a:solidFill>
            <a:srgbClr val="333F51"/>
          </a:solidFill>
          <a:ln>
            <a:noFill/>
          </a:ln>
          <a:effectLst>
            <a:outerShdw blurRad="190500" sx="102000" sy="102000" algn="ctr" rotWithShape="0">
              <a:prstClr val="black">
                <a:alpha val="4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0" name="Овал 59">
            <a:extLst>
              <a:ext uri="{FF2B5EF4-FFF2-40B4-BE49-F238E27FC236}">
                <a16:creationId xmlns:a16="http://schemas.microsoft.com/office/drawing/2014/main" id="{050A1ADF-AC81-4B2A-BED9-1AF35D45FE03}"/>
              </a:ext>
            </a:extLst>
          </p:cNvPr>
          <p:cNvSpPr/>
          <p:nvPr/>
        </p:nvSpPr>
        <p:spPr>
          <a:xfrm>
            <a:off x="4967551" y="3842431"/>
            <a:ext cx="1080000" cy="1080000"/>
          </a:xfrm>
          <a:prstGeom prst="ellipse">
            <a:avLst/>
          </a:prstGeom>
          <a:solidFill>
            <a:srgbClr val="0D0072"/>
          </a:solidFill>
          <a:ln>
            <a:noFill/>
          </a:ln>
          <a:effectLst>
            <a:outerShdw blurRad="190500" sx="110000" sy="110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1" name="Овал 60">
            <a:extLst>
              <a:ext uri="{FF2B5EF4-FFF2-40B4-BE49-F238E27FC236}">
                <a16:creationId xmlns:a16="http://schemas.microsoft.com/office/drawing/2014/main" id="{3CD43AFA-A669-4E90-997D-40C9FB6A2BB8}"/>
              </a:ext>
            </a:extLst>
          </p:cNvPr>
          <p:cNvSpPr/>
          <p:nvPr/>
        </p:nvSpPr>
        <p:spPr>
          <a:xfrm>
            <a:off x="5057551" y="3932431"/>
            <a:ext cx="900000" cy="900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74892D7-F1FB-4CF3-BFF2-18F1890A2E79}"/>
              </a:ext>
            </a:extLst>
          </p:cNvPr>
          <p:cNvSpPr txBox="1"/>
          <p:nvPr/>
        </p:nvSpPr>
        <p:spPr>
          <a:xfrm>
            <a:off x="5094794" y="3752335"/>
            <a:ext cx="4097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lgerian" panose="04020705040A02060702" pitchFamily="82" charset="0"/>
              </a:rPr>
              <a:t>3</a:t>
            </a:r>
          </a:p>
        </p:txBody>
      </p:sp>
      <p:sp>
        <p:nvSpPr>
          <p:cNvPr id="63" name="Полилиния: фигура 62">
            <a:extLst>
              <a:ext uri="{FF2B5EF4-FFF2-40B4-BE49-F238E27FC236}">
                <a16:creationId xmlns:a16="http://schemas.microsoft.com/office/drawing/2014/main" id="{B5E7E558-55DB-4B80-A28C-2DA1BAEB63C8}"/>
              </a:ext>
            </a:extLst>
          </p:cNvPr>
          <p:cNvSpPr/>
          <p:nvPr/>
        </p:nvSpPr>
        <p:spPr>
          <a:xfrm>
            <a:off x="5907687" y="4022770"/>
            <a:ext cx="6037440" cy="703596"/>
          </a:xfrm>
          <a:custGeom>
            <a:avLst/>
            <a:gdLst>
              <a:gd name="connsiteX0" fmla="*/ 0 w 6037440"/>
              <a:gd name="connsiteY0" fmla="*/ 0 h 703596"/>
              <a:gd name="connsiteX1" fmla="*/ 5685642 w 6037440"/>
              <a:gd name="connsiteY1" fmla="*/ 0 h 703596"/>
              <a:gd name="connsiteX2" fmla="*/ 6037440 w 6037440"/>
              <a:gd name="connsiteY2" fmla="*/ 351798 h 703596"/>
              <a:gd name="connsiteX3" fmla="*/ 5685642 w 6037440"/>
              <a:gd name="connsiteY3" fmla="*/ 703596 h 703596"/>
              <a:gd name="connsiteX4" fmla="*/ 12975 w 6037440"/>
              <a:gd name="connsiteY4" fmla="*/ 703596 h 703596"/>
              <a:gd name="connsiteX5" fmla="*/ 47641 w 6037440"/>
              <a:gd name="connsiteY5" fmla="*/ 661580 h 703596"/>
              <a:gd name="connsiteX6" fmla="*/ 139864 w 6037440"/>
              <a:gd name="connsiteY6" fmla="*/ 359661 h 703596"/>
              <a:gd name="connsiteX7" fmla="*/ 47641 w 6037440"/>
              <a:gd name="connsiteY7" fmla="*/ 57742 h 703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37440" h="703596">
                <a:moveTo>
                  <a:pt x="0" y="0"/>
                </a:moveTo>
                <a:lnTo>
                  <a:pt x="5685642" y="0"/>
                </a:lnTo>
                <a:cubicBezTo>
                  <a:pt x="5879935" y="0"/>
                  <a:pt x="6037440" y="157505"/>
                  <a:pt x="6037440" y="351798"/>
                </a:cubicBezTo>
                <a:cubicBezTo>
                  <a:pt x="6037440" y="546091"/>
                  <a:pt x="5879935" y="703596"/>
                  <a:pt x="5685642" y="703596"/>
                </a:cubicBezTo>
                <a:lnTo>
                  <a:pt x="12975" y="703596"/>
                </a:lnTo>
                <a:lnTo>
                  <a:pt x="47641" y="661580"/>
                </a:lnTo>
                <a:cubicBezTo>
                  <a:pt x="105866" y="575396"/>
                  <a:pt x="139864" y="471499"/>
                  <a:pt x="139864" y="359661"/>
                </a:cubicBezTo>
                <a:cubicBezTo>
                  <a:pt x="139864" y="247823"/>
                  <a:pt x="105866" y="143926"/>
                  <a:pt x="47641" y="5774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innerShdw blurRad="1524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D74AD49-617E-44E5-B620-E51EB6D689A2}"/>
              </a:ext>
            </a:extLst>
          </p:cNvPr>
          <p:cNvSpPr txBox="1"/>
          <p:nvPr/>
        </p:nvSpPr>
        <p:spPr>
          <a:xfrm>
            <a:off x="6137551" y="3967778"/>
            <a:ext cx="51373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2200" dirty="0">
                <a:solidFill>
                  <a:srgbClr val="0FA3B1"/>
                </a:solidFill>
                <a:latin typeface="Arial Black" panose="020B0A04020102020204" pitchFamily="34" charset="0"/>
              </a:rPr>
              <a:t>Web ilovalar va ulaga qaratilgan tahdidlar</a:t>
            </a:r>
            <a:endParaRPr lang="en-US" sz="2200" dirty="0">
              <a:solidFill>
                <a:srgbClr val="0FA3B1"/>
              </a:solidFill>
              <a:latin typeface="Arial Black" panose="020B0A04020102020204" pitchFamily="34" charset="0"/>
            </a:endParaRPr>
          </a:p>
        </p:txBody>
      </p:sp>
      <p:sp>
        <p:nvSpPr>
          <p:cNvPr id="65" name="Прямоугольник: скругленные углы 64">
            <a:extLst>
              <a:ext uri="{FF2B5EF4-FFF2-40B4-BE49-F238E27FC236}">
                <a16:creationId xmlns:a16="http://schemas.microsoft.com/office/drawing/2014/main" id="{3C00A4CA-D328-445B-8FBB-8401C0C174E8}"/>
              </a:ext>
            </a:extLst>
          </p:cNvPr>
          <p:cNvSpPr/>
          <p:nvPr/>
        </p:nvSpPr>
        <p:spPr>
          <a:xfrm>
            <a:off x="5290553" y="5500089"/>
            <a:ext cx="6746013" cy="900001"/>
          </a:xfrm>
          <a:prstGeom prst="roundRect">
            <a:avLst>
              <a:gd name="adj" fmla="val 50000"/>
            </a:avLst>
          </a:prstGeom>
          <a:solidFill>
            <a:srgbClr val="333F51"/>
          </a:solidFill>
          <a:ln>
            <a:noFill/>
          </a:ln>
          <a:effectLst>
            <a:outerShdw blurRad="190500" sx="102000" sy="102000" algn="ctr" rotWithShape="0">
              <a:prstClr val="black">
                <a:alpha val="4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6" name="Овал 65">
            <a:extLst>
              <a:ext uri="{FF2B5EF4-FFF2-40B4-BE49-F238E27FC236}">
                <a16:creationId xmlns:a16="http://schemas.microsoft.com/office/drawing/2014/main" id="{2D871A37-7481-4F54-8CFF-A64A0959A4FD}"/>
              </a:ext>
            </a:extLst>
          </p:cNvPr>
          <p:cNvSpPr/>
          <p:nvPr/>
        </p:nvSpPr>
        <p:spPr>
          <a:xfrm>
            <a:off x="4967551" y="5423931"/>
            <a:ext cx="1080000" cy="1080000"/>
          </a:xfrm>
          <a:prstGeom prst="ellipse">
            <a:avLst/>
          </a:prstGeom>
          <a:solidFill>
            <a:srgbClr val="0D0072"/>
          </a:solidFill>
          <a:ln>
            <a:noFill/>
          </a:ln>
          <a:effectLst>
            <a:outerShdw blurRad="190500" sx="110000" sy="110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7" name="Овал 66">
            <a:extLst>
              <a:ext uri="{FF2B5EF4-FFF2-40B4-BE49-F238E27FC236}">
                <a16:creationId xmlns:a16="http://schemas.microsoft.com/office/drawing/2014/main" id="{C0726ECA-3067-4AC8-B1B3-CA69F59951D6}"/>
              </a:ext>
            </a:extLst>
          </p:cNvPr>
          <p:cNvSpPr/>
          <p:nvPr/>
        </p:nvSpPr>
        <p:spPr>
          <a:xfrm>
            <a:off x="5057551" y="5513931"/>
            <a:ext cx="900000" cy="900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8DC59B4-75F1-4A30-AA56-0DA97892A364}"/>
              </a:ext>
            </a:extLst>
          </p:cNvPr>
          <p:cNvSpPr txBox="1"/>
          <p:nvPr/>
        </p:nvSpPr>
        <p:spPr>
          <a:xfrm>
            <a:off x="5094794" y="5333835"/>
            <a:ext cx="4097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lgerian" panose="04020705040A02060702" pitchFamily="82" charset="0"/>
              </a:rPr>
              <a:t>4</a:t>
            </a:r>
          </a:p>
        </p:txBody>
      </p:sp>
      <p:sp>
        <p:nvSpPr>
          <p:cNvPr id="69" name="Полилиния: фигура 68">
            <a:extLst>
              <a:ext uri="{FF2B5EF4-FFF2-40B4-BE49-F238E27FC236}">
                <a16:creationId xmlns:a16="http://schemas.microsoft.com/office/drawing/2014/main" id="{083D0652-7CA2-4CDC-A0F0-4CE032556A31}"/>
              </a:ext>
            </a:extLst>
          </p:cNvPr>
          <p:cNvSpPr/>
          <p:nvPr/>
        </p:nvSpPr>
        <p:spPr>
          <a:xfrm>
            <a:off x="5907687" y="5604270"/>
            <a:ext cx="6037440" cy="703596"/>
          </a:xfrm>
          <a:custGeom>
            <a:avLst/>
            <a:gdLst>
              <a:gd name="connsiteX0" fmla="*/ 0 w 6037440"/>
              <a:gd name="connsiteY0" fmla="*/ 0 h 703596"/>
              <a:gd name="connsiteX1" fmla="*/ 5685642 w 6037440"/>
              <a:gd name="connsiteY1" fmla="*/ 0 h 703596"/>
              <a:gd name="connsiteX2" fmla="*/ 6037440 w 6037440"/>
              <a:gd name="connsiteY2" fmla="*/ 351798 h 703596"/>
              <a:gd name="connsiteX3" fmla="*/ 5685642 w 6037440"/>
              <a:gd name="connsiteY3" fmla="*/ 703596 h 703596"/>
              <a:gd name="connsiteX4" fmla="*/ 12975 w 6037440"/>
              <a:gd name="connsiteY4" fmla="*/ 703596 h 703596"/>
              <a:gd name="connsiteX5" fmla="*/ 47641 w 6037440"/>
              <a:gd name="connsiteY5" fmla="*/ 661580 h 703596"/>
              <a:gd name="connsiteX6" fmla="*/ 139864 w 6037440"/>
              <a:gd name="connsiteY6" fmla="*/ 359661 h 703596"/>
              <a:gd name="connsiteX7" fmla="*/ 47641 w 6037440"/>
              <a:gd name="connsiteY7" fmla="*/ 57742 h 703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37440" h="703596">
                <a:moveTo>
                  <a:pt x="0" y="0"/>
                </a:moveTo>
                <a:lnTo>
                  <a:pt x="5685642" y="0"/>
                </a:lnTo>
                <a:cubicBezTo>
                  <a:pt x="5879935" y="0"/>
                  <a:pt x="6037440" y="157505"/>
                  <a:pt x="6037440" y="351798"/>
                </a:cubicBezTo>
                <a:cubicBezTo>
                  <a:pt x="6037440" y="546091"/>
                  <a:pt x="5879935" y="703596"/>
                  <a:pt x="5685642" y="703596"/>
                </a:cubicBezTo>
                <a:lnTo>
                  <a:pt x="12975" y="703596"/>
                </a:lnTo>
                <a:lnTo>
                  <a:pt x="47641" y="661580"/>
                </a:lnTo>
                <a:cubicBezTo>
                  <a:pt x="105866" y="575396"/>
                  <a:pt x="139864" y="471499"/>
                  <a:pt x="139864" y="359661"/>
                </a:cubicBezTo>
                <a:cubicBezTo>
                  <a:pt x="139864" y="247823"/>
                  <a:pt x="105866" y="143926"/>
                  <a:pt x="47641" y="5774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innerShdw blurRad="1524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710724C-92DE-4C6D-852A-0CA3FFBA4BA4}"/>
              </a:ext>
            </a:extLst>
          </p:cNvPr>
          <p:cNvSpPr txBox="1"/>
          <p:nvPr/>
        </p:nvSpPr>
        <p:spPr>
          <a:xfrm>
            <a:off x="6137551" y="5549278"/>
            <a:ext cx="51373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2200" dirty="0">
                <a:solidFill>
                  <a:srgbClr val="0FA3B1"/>
                </a:solidFill>
                <a:latin typeface="Arial Black" panose="020B0A04020102020204" pitchFamily="34" charset="0"/>
              </a:rPr>
              <a:t>Web ilovalar va ulaga qaratilgan tahdidlar</a:t>
            </a:r>
            <a:endParaRPr lang="en-US" sz="2200" dirty="0">
              <a:solidFill>
                <a:srgbClr val="0FA3B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812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30">
            <a:extLst>
              <a:ext uri="{FF2B5EF4-FFF2-40B4-BE49-F238E27FC236}">
                <a16:creationId xmlns:a16="http://schemas.microsoft.com/office/drawing/2014/main" id="{10F72EF1-EB39-47B3-BE67-F1182883053B}"/>
              </a:ext>
            </a:extLst>
          </p:cNvPr>
          <p:cNvSpPr/>
          <p:nvPr/>
        </p:nvSpPr>
        <p:spPr>
          <a:xfrm>
            <a:off x="-21516" y="-10758"/>
            <a:ext cx="12213515" cy="812573"/>
          </a:xfrm>
          <a:custGeom>
            <a:avLst/>
            <a:gdLst>
              <a:gd name="connsiteX0" fmla="*/ 0 w 12192000"/>
              <a:gd name="connsiteY0" fmla="*/ 0 h 811210"/>
              <a:gd name="connsiteX1" fmla="*/ 12192000 w 12192000"/>
              <a:gd name="connsiteY1" fmla="*/ 0 h 811210"/>
              <a:gd name="connsiteX2" fmla="*/ 12192000 w 12192000"/>
              <a:gd name="connsiteY2" fmla="*/ 811210 h 811210"/>
              <a:gd name="connsiteX3" fmla="*/ 0 w 12192000"/>
              <a:gd name="connsiteY3" fmla="*/ 811210 h 811210"/>
              <a:gd name="connsiteX4" fmla="*/ 0 w 12192000"/>
              <a:gd name="connsiteY4" fmla="*/ 0 h 811210"/>
              <a:gd name="connsiteX0" fmla="*/ 21515 w 12213515"/>
              <a:gd name="connsiteY0" fmla="*/ 0 h 811210"/>
              <a:gd name="connsiteX1" fmla="*/ 12213515 w 12213515"/>
              <a:gd name="connsiteY1" fmla="*/ 0 h 811210"/>
              <a:gd name="connsiteX2" fmla="*/ 12213515 w 12213515"/>
              <a:gd name="connsiteY2" fmla="*/ 811210 h 811210"/>
              <a:gd name="connsiteX3" fmla="*/ 0 w 12213515"/>
              <a:gd name="connsiteY3" fmla="*/ 36659 h 811210"/>
              <a:gd name="connsiteX4" fmla="*/ 21515 w 12213515"/>
              <a:gd name="connsiteY4" fmla="*/ 0 h 811210"/>
              <a:gd name="connsiteX0" fmla="*/ 21515 w 12213515"/>
              <a:gd name="connsiteY0" fmla="*/ 0 h 811210"/>
              <a:gd name="connsiteX1" fmla="*/ 12213515 w 12213515"/>
              <a:gd name="connsiteY1" fmla="*/ 0 h 811210"/>
              <a:gd name="connsiteX2" fmla="*/ 12213515 w 12213515"/>
              <a:gd name="connsiteY2" fmla="*/ 811210 h 811210"/>
              <a:gd name="connsiteX3" fmla="*/ 0 w 12213515"/>
              <a:gd name="connsiteY3" fmla="*/ 36659 h 811210"/>
              <a:gd name="connsiteX4" fmla="*/ 21515 w 12213515"/>
              <a:gd name="connsiteY4" fmla="*/ 0 h 811210"/>
              <a:gd name="connsiteX0" fmla="*/ 21515 w 12213515"/>
              <a:gd name="connsiteY0" fmla="*/ 0 h 812573"/>
              <a:gd name="connsiteX1" fmla="*/ 12213515 w 12213515"/>
              <a:gd name="connsiteY1" fmla="*/ 0 h 812573"/>
              <a:gd name="connsiteX2" fmla="*/ 12213515 w 12213515"/>
              <a:gd name="connsiteY2" fmla="*/ 811210 h 812573"/>
              <a:gd name="connsiteX3" fmla="*/ 0 w 12213515"/>
              <a:gd name="connsiteY3" fmla="*/ 36659 h 812573"/>
              <a:gd name="connsiteX4" fmla="*/ 21515 w 12213515"/>
              <a:gd name="connsiteY4" fmla="*/ 0 h 812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3515" h="812573">
                <a:moveTo>
                  <a:pt x="21515" y="0"/>
                </a:moveTo>
                <a:lnTo>
                  <a:pt x="12213515" y="0"/>
                </a:lnTo>
                <a:lnTo>
                  <a:pt x="12213515" y="811210"/>
                </a:lnTo>
                <a:cubicBezTo>
                  <a:pt x="7927190" y="843483"/>
                  <a:pt x="4071172" y="294843"/>
                  <a:pt x="0" y="36659"/>
                </a:cubicBezTo>
                <a:lnTo>
                  <a:pt x="21515" y="0"/>
                </a:lnTo>
                <a:close/>
              </a:path>
            </a:pathLst>
          </a:custGeom>
          <a:solidFill>
            <a:srgbClr val="0FA3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6" descr="Page 2 | Server Svg Vectors &amp; Illustrations for Free Download | Freepik">
            <a:extLst>
              <a:ext uri="{FF2B5EF4-FFF2-40B4-BE49-F238E27FC236}">
                <a16:creationId xmlns:a16="http://schemas.microsoft.com/office/drawing/2014/main" id="{19EB3268-3B0B-455E-BC61-0067C89F31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679" b="99281" l="35304" r="95687">
                        <a14:foregroundMark x1="42971" y1="4556" x2="48562" y2="36691"/>
                        <a14:foregroundMark x1="48562" y1="36691" x2="41693" y2="73141"/>
                        <a14:foregroundMark x1="41693" y1="73141" x2="46805" y2="84412"/>
                        <a14:foregroundMark x1="46805" y1="84412" x2="54153" y2="89688"/>
                        <a14:foregroundMark x1="54153" y1="89688" x2="63259" y2="90647"/>
                        <a14:foregroundMark x1="63259" y1="90647" x2="74441" y2="87770"/>
                        <a14:foregroundMark x1="74441" y1="87770" x2="81789" y2="79856"/>
                        <a14:foregroundMark x1="81789" y1="79856" x2="89137" y2="69305"/>
                        <a14:foregroundMark x1="89137" y1="69305" x2="95367" y2="32374"/>
                        <a14:foregroundMark x1="95367" y1="32374" x2="89617" y2="15588"/>
                        <a14:foregroundMark x1="89617" y1="15588" x2="79393" y2="6954"/>
                        <a14:foregroundMark x1="79393" y1="6954" x2="70927" y2="29496"/>
                        <a14:foregroundMark x1="70927" y1="29496" x2="69968" y2="45084"/>
                        <a14:foregroundMark x1="69968" y1="45084" x2="71246" y2="23261"/>
                        <a14:foregroundMark x1="71246" y1="23261" x2="60383" y2="46043"/>
                        <a14:foregroundMark x1="60383" y1="46043" x2="63738" y2="70504"/>
                        <a14:foregroundMark x1="63738" y1="70504" x2="69649" y2="62590"/>
                        <a14:foregroundMark x1="69649" y1="62590" x2="77955" y2="49400"/>
                        <a14:foregroundMark x1="77955" y1="49400" x2="64058" y2="62590"/>
                        <a14:foregroundMark x1="64058" y1="62590" x2="77796" y2="50360"/>
                        <a14:foregroundMark x1="77796" y1="50360" x2="86581" y2="61631"/>
                        <a14:foregroundMark x1="86581" y1="61631" x2="81310" y2="45564"/>
                        <a14:foregroundMark x1="81310" y1="45564" x2="81949" y2="31655"/>
                        <a14:foregroundMark x1="81949" y1="31655" x2="77636" y2="21103"/>
                        <a14:foregroundMark x1="77636" y1="21103" x2="54313" y2="10072"/>
                        <a14:foregroundMark x1="54313" y1="10072" x2="84665" y2="5995"/>
                        <a14:foregroundMark x1="84665" y1="5995" x2="92971" y2="17746"/>
                        <a14:foregroundMark x1="92971" y1="17746" x2="90096" y2="21823"/>
                        <a14:foregroundMark x1="90096" y1="21823" x2="93770" y2="5755"/>
                        <a14:foregroundMark x1="93770" y1="5755" x2="81949" y2="4077"/>
                        <a14:foregroundMark x1="81949" y1="4077" x2="56070" y2="13669"/>
                        <a14:foregroundMark x1="56070" y1="13669" x2="47284" y2="9592"/>
                        <a14:foregroundMark x1="47284" y1="9592" x2="55112" y2="5755"/>
                        <a14:foregroundMark x1="55112" y1="5755" x2="46006" y2="4796"/>
                        <a14:foregroundMark x1="46006" y1="4796" x2="63738" y2="13429"/>
                        <a14:foregroundMark x1="63738" y1="13429" x2="66294" y2="1679"/>
                        <a14:foregroundMark x1="66294" y1="1679" x2="70607" y2="4317"/>
                        <a14:foregroundMark x1="40256" y1="3118" x2="48083" y2="36930"/>
                        <a14:foregroundMark x1="48083" y1="36930" x2="45527" y2="23501"/>
                        <a14:foregroundMark x1="45527" y1="23501" x2="47125" y2="41487"/>
                        <a14:foregroundMark x1="47125" y1="41487" x2="48882" y2="45803"/>
                        <a14:foregroundMark x1="48882" y1="45803" x2="42812" y2="64508"/>
                        <a14:foregroundMark x1="42812" y1="64508" x2="55272" y2="62830"/>
                        <a14:foregroundMark x1="55272" y1="62830" x2="48722" y2="74820"/>
                        <a14:foregroundMark x1="48722" y1="74820" x2="57029" y2="78417"/>
                        <a14:foregroundMark x1="57029" y1="78417" x2="54313" y2="85132"/>
                        <a14:foregroundMark x1="54313" y1="85132" x2="41214" y2="74341"/>
                        <a14:foregroundMark x1="41214" y1="74341" x2="40859" y2="53728"/>
                        <a14:foregroundMark x1="41621" y1="53865" x2="44409" y2="76978"/>
                        <a14:foregroundMark x1="41054" y1="64748" x2="49361" y2="77938"/>
                        <a14:foregroundMark x1="49361" y1="77938" x2="37700" y2="86091"/>
                        <a14:foregroundMark x1="37700" y1="86091" x2="45847" y2="90408"/>
                        <a14:foregroundMark x1="45847" y1="90408" x2="61981" y2="91367"/>
                        <a14:foregroundMark x1="61981" y1="91367" x2="63259" y2="92086"/>
                        <a14:foregroundMark x1="63259" y1="92086" x2="53195" y2="93765"/>
                        <a14:foregroundMark x1="53195" y1="93765" x2="53035" y2="93046"/>
                        <a14:foregroundMark x1="53035" y1="93046" x2="60543" y2="98321"/>
                        <a14:foregroundMark x1="60543" y1="98321" x2="65495" y2="90168"/>
                        <a14:foregroundMark x1="77316" y1="68106" x2="70927" y2="70743"/>
                        <a14:foregroundMark x1="70927" y1="70743" x2="73163" y2="58513"/>
                        <a14:foregroundMark x1="73163" y1="58513" x2="73163" y2="74820"/>
                        <a14:foregroundMark x1="73163" y1="74820" x2="72843" y2="73861"/>
                        <a14:foregroundMark x1="72843" y1="73861" x2="80032" y2="68345"/>
                        <a14:foregroundMark x1="80032" y1="68345" x2="80192" y2="68106"/>
                        <a14:foregroundMark x1="80192" y1="68106" x2="80192" y2="68106"/>
                        <a14:foregroundMark x1="93610" y1="2878" x2="96645" y2="46523"/>
                        <a14:foregroundMark x1="96645" y1="46523" x2="90575" y2="77218"/>
                        <a14:foregroundMark x1="90575" y1="77218" x2="70927" y2="99281"/>
                        <a14:foregroundMark x1="70927" y1="99281" x2="84185" y2="80096"/>
                        <a14:foregroundMark x1="84185" y1="80096" x2="92492" y2="73621"/>
                        <a14:foregroundMark x1="92492" y1="73621" x2="95687" y2="57314"/>
                        <a14:foregroundMark x1="95687" y1="57314" x2="93770" y2="3357"/>
                        <a14:foregroundMark x1="83706" y1="70983" x2="74281" y2="67386"/>
                        <a14:foregroundMark x1="74281" y1="67386" x2="82268" y2="66667"/>
                        <a14:foregroundMark x1="82268" y1="66667" x2="77476" y2="56835"/>
                        <a14:foregroundMark x1="77476" y1="56835" x2="76837" y2="66906"/>
                        <a14:backgroundMark x1="42812" y1="41487" x2="40735" y2="49161"/>
                        <a14:backgroundMark x1="40735" y1="49161" x2="44728" y2="49880"/>
                      </a14:backgroundRemoval>
                    </a14:imgEffect>
                    <a14:imgEffect>
                      <a14:sharpenSoften amount="24000"/>
                    </a14:imgEffect>
                    <a14:imgEffect>
                      <a14:saturation sat="400000"/>
                    </a14:imgEffect>
                    <a14:imgEffect>
                      <a14:brightnessContrast contrast="-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135" t="7179" r="2801" b="3037"/>
          <a:stretch/>
        </p:blipFill>
        <p:spPr bwMode="auto">
          <a:xfrm>
            <a:off x="6328324" y="797368"/>
            <a:ext cx="5863675" cy="5713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B333206-6025-43EF-B10A-98F22DD3E30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24" b="89888" l="9778" r="90000">
                        <a14:foregroundMark x1="33333" y1="39700" x2="27002" y2="44372"/>
                        <a14:foregroundMark x1="23798" y1="48129" x2="21889" y2="50811"/>
                        <a14:foregroundMark x1="21889" y1="50811" x2="21778" y2="51561"/>
                        <a14:foregroundMark x1="26779" y1="44152" x2="30444" y2="41074"/>
                        <a14:foregroundMark x1="19889" y1="49938" x2="22844" y2="47456"/>
                        <a14:foregroundMark x1="33889" y1="59675" x2="40222" y2="55805"/>
                        <a14:foregroundMark x1="40222" y1="55805" x2="44222" y2="50062"/>
                        <a14:foregroundMark x1="10556" y1="63670" x2="22889" y2="76904"/>
                        <a14:foregroundMark x1="10444" y1="62297" x2="9778" y2="64919"/>
                        <a14:foregroundMark x1="79197" y1="1270" x2="79444" y2="999"/>
                        <a14:foregroundMark x1="64444" y1="17478" x2="74058" y2="6916"/>
                        <a14:foregroundMark x1="79444" y1="999" x2="79444" y2="624"/>
                        <a14:foregroundMark x1="74001" y1="6853" x2="68889" y2="12360"/>
                        <a14:foregroundMark x1="79667" y1="749" x2="79190" y2="1263"/>
                        <a14:foregroundMark x1="68889" y1="12360" x2="70889" y2="10237"/>
                        <a14:foregroundMark x1="70889" y1="10237" x2="73111" y2="7865"/>
                        <a14:foregroundMark x1="73111" y1="7865" x2="73987" y2="6838"/>
                        <a14:foregroundMark x1="22667" y1="50062" x2="27111" y2="56055"/>
                        <a14:foregroundMark x1="24000" y1="78277" x2="24667" y2="79276"/>
                        <a14:foregroundMark x1="34556" y1="62921" x2="36556" y2="65918"/>
                        <a14:foregroundMark x1="36556" y1="65918" x2="36444" y2="67291"/>
                        <a14:foregroundMark x1="56111" y1="29463" x2="60000" y2="24969"/>
                        <a14:foregroundMark x1="78889" y1="1498" x2="73889" y2="6492"/>
                        <a14:foregroundMark x1="73889" y1="6492" x2="74000" y2="6617"/>
                        <a14:foregroundMark x1="28889" y1="53433" x2="22222" y2="49563"/>
                        <a14:foregroundMark x1="22222" y1="49563" x2="20444" y2="49438"/>
                        <a14:foregroundMark x1="21444" y1="49313" x2="20111" y2="49313"/>
                        <a14:foregroundMark x1="57333" y1="26342" x2="60333" y2="23845"/>
                        <a14:backgroundMark x1="26444" y1="65543" x2="32889" y2="79026"/>
                        <a14:backgroundMark x1="32889" y1="79026" x2="58778" y2="54307"/>
                        <a14:backgroundMark x1="75000" y1="10986" x2="80111" y2="5618"/>
                        <a14:backgroundMark x1="80111" y1="5618" x2="80444" y2="5618"/>
                        <a14:backgroundMark x1="69889" y1="6742" x2="76444" y2="250"/>
                        <a14:backgroundMark x1="78333" y1="375" x2="78002" y2="656"/>
                        <a14:backgroundMark x1="27222" y1="70537" x2="22556" y2="70037"/>
                        <a14:backgroundMark x1="26444" y1="43820" x2="23889" y2="46192"/>
                        <a14:backgroundMark x1="23889" y1="46192" x2="23000" y2="475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89" r="18751" b="17778"/>
          <a:stretch/>
        </p:blipFill>
        <p:spPr>
          <a:xfrm rot="851387">
            <a:off x="6763872" y="2619946"/>
            <a:ext cx="2726670" cy="2611738"/>
          </a:xfrm>
          <a:prstGeom prst="rect">
            <a:avLst/>
          </a:prstGeom>
        </p:spPr>
      </p:pic>
      <p:sp>
        <p:nvSpPr>
          <p:cNvPr id="7" name="Овал 6">
            <a:extLst>
              <a:ext uri="{FF2B5EF4-FFF2-40B4-BE49-F238E27FC236}">
                <a16:creationId xmlns:a16="http://schemas.microsoft.com/office/drawing/2014/main" id="{331528F9-EA81-40D3-A053-4B767E5F7D4B}"/>
              </a:ext>
            </a:extLst>
          </p:cNvPr>
          <p:cNvSpPr/>
          <p:nvPr/>
        </p:nvSpPr>
        <p:spPr>
          <a:xfrm>
            <a:off x="-438704" y="79825"/>
            <a:ext cx="1080000" cy="1080000"/>
          </a:xfrm>
          <a:prstGeom prst="ellipse">
            <a:avLst/>
          </a:prstGeom>
          <a:solidFill>
            <a:srgbClr val="0FA3B1"/>
          </a:solidFill>
          <a:ln>
            <a:noFill/>
          </a:ln>
          <a:effectLst>
            <a:outerShdw blurRad="304800" sx="102000" sy="102000" algn="ctr" rotWithShape="0">
              <a:prstClr val="black">
                <a:alpha val="6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EBCED998-815F-4D98-86AC-9F21BD65E460}"/>
              </a:ext>
            </a:extLst>
          </p:cNvPr>
          <p:cNvSpPr/>
          <p:nvPr/>
        </p:nvSpPr>
        <p:spPr>
          <a:xfrm>
            <a:off x="892776" y="183499"/>
            <a:ext cx="360000" cy="360000"/>
          </a:xfrm>
          <a:prstGeom prst="ellipse">
            <a:avLst/>
          </a:prstGeom>
          <a:solidFill>
            <a:srgbClr val="FF0A54"/>
          </a:solidFill>
          <a:ln>
            <a:noFill/>
          </a:ln>
          <a:effectLst>
            <a:outerShdw blurRad="304800" sx="102000" sy="102000" algn="ctr" rotWithShape="0">
              <a:prstClr val="black">
                <a:alpha val="6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A3DA4645-18E0-4568-AF55-A923FB78CDF2}"/>
              </a:ext>
            </a:extLst>
          </p:cNvPr>
          <p:cNvSpPr/>
          <p:nvPr/>
        </p:nvSpPr>
        <p:spPr>
          <a:xfrm>
            <a:off x="266697" y="1159825"/>
            <a:ext cx="288000" cy="288000"/>
          </a:xfrm>
          <a:prstGeom prst="ellipse">
            <a:avLst/>
          </a:prstGeom>
          <a:solidFill>
            <a:srgbClr val="FF0A54"/>
          </a:solidFill>
          <a:ln>
            <a:noFill/>
          </a:ln>
          <a:effectLst>
            <a:outerShdw blurRad="304800" sx="102000" sy="102000" algn="ctr" rotWithShape="0">
              <a:prstClr val="black">
                <a:alpha val="6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EB810216-4D53-4E6D-B279-DE994306CC98}"/>
              </a:ext>
            </a:extLst>
          </p:cNvPr>
          <p:cNvSpPr/>
          <p:nvPr/>
        </p:nvSpPr>
        <p:spPr>
          <a:xfrm>
            <a:off x="820776" y="655769"/>
            <a:ext cx="252000" cy="252000"/>
          </a:xfrm>
          <a:prstGeom prst="ellipse">
            <a:avLst/>
          </a:prstGeom>
          <a:solidFill>
            <a:srgbClr val="0D0072"/>
          </a:solidFill>
          <a:ln>
            <a:noFill/>
          </a:ln>
          <a:effectLst>
            <a:outerShdw blurRad="304800" sx="102000" sy="102000" algn="ctr" rotWithShape="0">
              <a:prstClr val="black">
                <a:alpha val="6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3DFD35-5DCB-49CA-AF74-7E8FA9D6BB1F}"/>
              </a:ext>
            </a:extLst>
          </p:cNvPr>
          <p:cNvSpPr txBox="1"/>
          <p:nvPr/>
        </p:nvSpPr>
        <p:spPr>
          <a:xfrm>
            <a:off x="755333" y="997075"/>
            <a:ext cx="69640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0FA3B1"/>
                </a:solidFill>
                <a:latin typeface="Arial Black" panose="020B0A04020102020204" pitchFamily="34" charset="0"/>
              </a:rPr>
              <a:t>SQL INJECTION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2CD16E-592C-4B93-92A8-BBA98CB81A8D}"/>
              </a:ext>
            </a:extLst>
          </p:cNvPr>
          <p:cNvSpPr txBox="1"/>
          <p:nvPr/>
        </p:nvSpPr>
        <p:spPr>
          <a:xfrm>
            <a:off x="641296" y="1837095"/>
            <a:ext cx="58636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Dastur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yoki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veb-ilovadagi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kamchiliklaridan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foydalanib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ma'lumotlar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bazasiga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ruxsatsiz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SQL-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so‘rovlarni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yuborish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orqali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amalga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oshiriladigan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hujum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turi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.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Hujumi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tajovuzkor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foydalanuvchi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kiritish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maydonlari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orqali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ilova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ma’lumotlar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bazasiga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zararli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kodni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kiritganda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amalga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oshiriladi</a:t>
            </a:r>
            <a:endParaRPr lang="en-US" sz="2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7AD28B8F-0B15-40E5-915B-6EBAF830427A}"/>
              </a:ext>
            </a:extLst>
          </p:cNvPr>
          <p:cNvSpPr/>
          <p:nvPr/>
        </p:nvSpPr>
        <p:spPr>
          <a:xfrm>
            <a:off x="885214" y="1675755"/>
            <a:ext cx="4368776" cy="63515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1E7A8F6-A08E-4D1C-8550-02BDECD05669}"/>
              </a:ext>
            </a:extLst>
          </p:cNvPr>
          <p:cNvSpPr/>
          <p:nvPr/>
        </p:nvSpPr>
        <p:spPr>
          <a:xfrm>
            <a:off x="1" y="4652154"/>
            <a:ext cx="6782765" cy="1707388"/>
          </a:xfrm>
          <a:custGeom>
            <a:avLst/>
            <a:gdLst>
              <a:gd name="connsiteX0" fmla="*/ 0 w 6782765"/>
              <a:gd name="connsiteY0" fmla="*/ 0 h 1707388"/>
              <a:gd name="connsiteX1" fmla="*/ 6205890 w 6782765"/>
              <a:gd name="connsiteY1" fmla="*/ 0 h 1707388"/>
              <a:gd name="connsiteX2" fmla="*/ 6782765 w 6782765"/>
              <a:gd name="connsiteY2" fmla="*/ 576875 h 1707388"/>
              <a:gd name="connsiteX3" fmla="*/ 6782765 w 6782765"/>
              <a:gd name="connsiteY3" fmla="*/ 1130513 h 1707388"/>
              <a:gd name="connsiteX4" fmla="*/ 6205890 w 6782765"/>
              <a:gd name="connsiteY4" fmla="*/ 1707388 h 1707388"/>
              <a:gd name="connsiteX5" fmla="*/ 0 w 6782765"/>
              <a:gd name="connsiteY5" fmla="*/ 1707388 h 1707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82765" h="1707388">
                <a:moveTo>
                  <a:pt x="0" y="0"/>
                </a:moveTo>
                <a:lnTo>
                  <a:pt x="6205890" y="0"/>
                </a:lnTo>
                <a:cubicBezTo>
                  <a:pt x="6524489" y="0"/>
                  <a:pt x="6782765" y="258276"/>
                  <a:pt x="6782765" y="576875"/>
                </a:cubicBezTo>
                <a:lnTo>
                  <a:pt x="6782765" y="1130513"/>
                </a:lnTo>
                <a:cubicBezTo>
                  <a:pt x="6782765" y="1449112"/>
                  <a:pt x="6524489" y="1707388"/>
                  <a:pt x="6205890" y="1707388"/>
                </a:cubicBezTo>
                <a:lnTo>
                  <a:pt x="0" y="1707388"/>
                </a:lnTo>
                <a:close/>
              </a:path>
            </a:pathLst>
          </a:custGeom>
          <a:solidFill>
            <a:srgbClr val="214C7A"/>
          </a:solidFill>
          <a:ln>
            <a:noFill/>
          </a:ln>
          <a:effectLst>
            <a:outerShdw blurRad="304800" sx="102000" sy="102000" algn="ctr" rotWithShape="0">
              <a:prstClr val="black">
                <a:alpha val="6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D3E4CC-FD07-4FEA-A4EA-98B4CDC09823}"/>
              </a:ext>
            </a:extLst>
          </p:cNvPr>
          <p:cNvSpPr txBox="1"/>
          <p:nvPr/>
        </p:nvSpPr>
        <p:spPr>
          <a:xfrm>
            <a:off x="118513" y="4721018"/>
            <a:ext cx="65600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Ushbu </a:t>
            </a:r>
            <a:r>
              <a:rPr lang="en-US" sz="2400" b="1" dirty="0" err="1">
                <a:solidFill>
                  <a:schemeClr val="bg1"/>
                </a:solidFill>
              </a:rPr>
              <a:t>hujumlar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odatda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dasturchilar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tomonidan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foydalanuvchi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tomonidan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yuborilgan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ma'lumotlarni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to'g'ridan-to'g'ri</a:t>
            </a:r>
            <a:r>
              <a:rPr lang="en-US" sz="2400" b="1" dirty="0">
                <a:solidFill>
                  <a:schemeClr val="bg1"/>
                </a:solidFill>
              </a:rPr>
              <a:t> SQL </a:t>
            </a:r>
            <a:r>
              <a:rPr lang="en-US" sz="2400" b="1" dirty="0" err="1">
                <a:solidFill>
                  <a:schemeClr val="bg1"/>
                </a:solidFill>
              </a:rPr>
              <a:t>so'rovlariga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qo'shib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yuborilishi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natijasida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sodir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bo‘ladi</a:t>
            </a:r>
            <a:r>
              <a:rPr lang="en-US" sz="2400" b="1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6319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12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12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p14:presetBounceEnd="6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1" dur="1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2" dur="1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p14:presetBounceEnd="8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15" dur="2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16" dur="2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p14:presetBounceEnd="6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9" dur="1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0" dur="1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4" grpId="0" animBg="1"/>
          <p:bldP spid="16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2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2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4" grpId="0" animBg="1"/>
          <p:bldP spid="16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CFCE63-2EA5-4C90-B939-B1F6E711C872}"/>
              </a:ext>
            </a:extLst>
          </p:cNvPr>
          <p:cNvSpPr txBox="1"/>
          <p:nvPr/>
        </p:nvSpPr>
        <p:spPr>
          <a:xfrm>
            <a:off x="269758" y="462434"/>
            <a:ext cx="70630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SQL Injection </a:t>
            </a:r>
            <a:r>
              <a:rPr lang="en-US" sz="4000" b="1" dirty="0" err="1">
                <a:latin typeface="Arial Black" panose="020B0A04020102020204" pitchFamily="34" charset="0"/>
              </a:rPr>
              <a:t>turlari</a:t>
            </a:r>
            <a:endParaRPr lang="en-US" sz="4000" b="1" dirty="0"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F81E35-850D-4AC1-88DE-939BB0D14166}"/>
              </a:ext>
            </a:extLst>
          </p:cNvPr>
          <p:cNvSpPr txBox="1"/>
          <p:nvPr/>
        </p:nvSpPr>
        <p:spPr>
          <a:xfrm>
            <a:off x="269759" y="1170320"/>
            <a:ext cx="6908282" cy="2031325"/>
          </a:xfrm>
          <a:prstGeom prst="rect">
            <a:avLst/>
          </a:prstGeom>
          <a:noFill/>
          <a:effectLst>
            <a:outerShdw blurRad="406400" sx="102000" sy="102000" algn="ctr" rotWithShape="0">
              <a:prstClr val="black">
                <a:alpha val="46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 Rounded MT Bold" panose="020F0704030504030204" pitchFamily="34" charset="0"/>
              </a:rPr>
              <a:t>Foydalanuvchi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kiritadigan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ma’lumotlar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dastur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tomonidan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hech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qanday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tekshiruvisiz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yoki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noto‘g‘ri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tekshirilib</a:t>
            </a:r>
            <a:r>
              <a:rPr lang="en-US" dirty="0">
                <a:latin typeface="Arial Rounded MT Bold" panose="020F0704030504030204" pitchFamily="34" charset="0"/>
              </a:rPr>
              <a:t>, </a:t>
            </a:r>
            <a:r>
              <a:rPr lang="en-US" dirty="0" err="1">
                <a:latin typeface="Arial Rounded MT Bold" panose="020F0704030504030204" pitchFamily="34" charset="0"/>
              </a:rPr>
              <a:t>to'g'ridan-to'g'ri</a:t>
            </a:r>
            <a:r>
              <a:rPr lang="en-US" dirty="0">
                <a:latin typeface="Arial Rounded MT Bold" panose="020F0704030504030204" pitchFamily="34" charset="0"/>
              </a:rPr>
              <a:t> SQL </a:t>
            </a:r>
            <a:r>
              <a:rPr lang="en-US" dirty="0" err="1">
                <a:latin typeface="Arial Rounded MT Bold" panose="020F0704030504030204" pitchFamily="34" charset="0"/>
              </a:rPr>
              <a:t>so'rovlariga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qo'shilsa</a:t>
            </a:r>
            <a:r>
              <a:rPr lang="en-US" dirty="0">
                <a:latin typeface="Arial Rounded MT Bold" panose="020F0704030504030204" pitchFamily="34" charset="0"/>
              </a:rPr>
              <a:t>, </a:t>
            </a:r>
            <a:r>
              <a:rPr lang="en-US" dirty="0" err="1">
                <a:latin typeface="Arial Rounded MT Bold" panose="020F0704030504030204" pitchFamily="34" charset="0"/>
              </a:rPr>
              <a:t>hujumchi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ushbu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kamchilikdan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foydalanib</a:t>
            </a:r>
            <a:r>
              <a:rPr lang="en-US" dirty="0">
                <a:latin typeface="Arial Rounded MT Bold" panose="020F0704030504030204" pitchFamily="34" charset="0"/>
              </a:rPr>
              <a:t>, </a:t>
            </a:r>
            <a:r>
              <a:rPr lang="en-US" dirty="0" err="1">
                <a:latin typeface="Arial Rounded MT Bold" panose="020F0704030504030204" pitchFamily="34" charset="0"/>
              </a:rPr>
              <a:t>zararli</a:t>
            </a:r>
            <a:r>
              <a:rPr lang="en-US" dirty="0">
                <a:latin typeface="Arial Rounded MT Bold" panose="020F0704030504030204" pitchFamily="34" charset="0"/>
              </a:rPr>
              <a:t> SQL </a:t>
            </a:r>
            <a:r>
              <a:rPr lang="en-US" dirty="0" err="1">
                <a:latin typeface="Arial Rounded MT Bold" panose="020F0704030504030204" pitchFamily="34" charset="0"/>
              </a:rPr>
              <a:t>kodlarini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kiritishi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mumkin</a:t>
            </a:r>
            <a:r>
              <a:rPr lang="en-US" dirty="0">
                <a:latin typeface="Arial Rounded MT Bold" panose="020F0704030504030204" pitchFamily="34" charset="0"/>
              </a:rPr>
              <a:t>. </a:t>
            </a:r>
            <a:r>
              <a:rPr lang="en-US" dirty="0" err="1">
                <a:latin typeface="Arial Rounded MT Bold" panose="020F0704030504030204" pitchFamily="34" charset="0"/>
              </a:rPr>
              <a:t>Natijada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ma’lumotlar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bazasidagi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maxfiy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ma’lumotlarga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ruxsatsiz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kirish</a:t>
            </a:r>
            <a:r>
              <a:rPr lang="en-US" dirty="0">
                <a:latin typeface="Arial Rounded MT Bold" panose="020F0704030504030204" pitchFamily="34" charset="0"/>
              </a:rPr>
              <a:t>, </a:t>
            </a:r>
            <a:r>
              <a:rPr lang="en-US" dirty="0" err="1">
                <a:latin typeface="Arial Rounded MT Bold" panose="020F0704030504030204" pitchFamily="34" charset="0"/>
              </a:rPr>
              <a:t>ma’lumotlarni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o'chirib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yuborish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yoki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o'zgartirish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kabi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salbiy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oqibatlar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yuzaga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keladi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42" name="Полилиния: фигура 41">
            <a:extLst>
              <a:ext uri="{FF2B5EF4-FFF2-40B4-BE49-F238E27FC236}">
                <a16:creationId xmlns:a16="http://schemas.microsoft.com/office/drawing/2014/main" id="{14F54EF4-FB3E-4447-9D66-11B046595D90}"/>
              </a:ext>
            </a:extLst>
          </p:cNvPr>
          <p:cNvSpPr/>
          <p:nvPr/>
        </p:nvSpPr>
        <p:spPr>
          <a:xfrm>
            <a:off x="0" y="3429000"/>
            <a:ext cx="7178041" cy="2691074"/>
          </a:xfrm>
          <a:custGeom>
            <a:avLst/>
            <a:gdLst>
              <a:gd name="connsiteX0" fmla="*/ 0 w 7178041"/>
              <a:gd name="connsiteY0" fmla="*/ 0 h 2691074"/>
              <a:gd name="connsiteX1" fmla="*/ 6902233 w 7178041"/>
              <a:gd name="connsiteY1" fmla="*/ 0 h 2691074"/>
              <a:gd name="connsiteX2" fmla="*/ 7178041 w 7178041"/>
              <a:gd name="connsiteY2" fmla="*/ 275808 h 2691074"/>
              <a:gd name="connsiteX3" fmla="*/ 7178041 w 7178041"/>
              <a:gd name="connsiteY3" fmla="*/ 2415266 h 2691074"/>
              <a:gd name="connsiteX4" fmla="*/ 6902233 w 7178041"/>
              <a:gd name="connsiteY4" fmla="*/ 2691074 h 2691074"/>
              <a:gd name="connsiteX5" fmla="*/ 0 w 7178041"/>
              <a:gd name="connsiteY5" fmla="*/ 2691074 h 269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78041" h="2691074">
                <a:moveTo>
                  <a:pt x="0" y="0"/>
                </a:moveTo>
                <a:lnTo>
                  <a:pt x="6902233" y="0"/>
                </a:lnTo>
                <a:cubicBezTo>
                  <a:pt x="7054558" y="0"/>
                  <a:pt x="7178041" y="123483"/>
                  <a:pt x="7178041" y="275808"/>
                </a:cubicBezTo>
                <a:lnTo>
                  <a:pt x="7178041" y="2415266"/>
                </a:lnTo>
                <a:cubicBezTo>
                  <a:pt x="7178041" y="2567591"/>
                  <a:pt x="7054558" y="2691074"/>
                  <a:pt x="6902233" y="2691074"/>
                </a:cubicBezTo>
                <a:lnTo>
                  <a:pt x="0" y="2691074"/>
                </a:lnTo>
                <a:close/>
              </a:path>
            </a:pathLst>
          </a:custGeom>
          <a:gradFill flip="none" rotWithShape="1">
            <a:gsLst>
              <a:gs pos="0">
                <a:srgbClr val="0FA3B1"/>
              </a:gs>
              <a:gs pos="100000">
                <a:srgbClr val="00626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Полилиния: фигура 17">
            <a:extLst>
              <a:ext uri="{FF2B5EF4-FFF2-40B4-BE49-F238E27FC236}">
                <a16:creationId xmlns:a16="http://schemas.microsoft.com/office/drawing/2014/main" id="{763E815E-8339-45BD-AE71-7CBBBDDABC28}"/>
              </a:ext>
            </a:extLst>
          </p:cNvPr>
          <p:cNvSpPr/>
          <p:nvPr/>
        </p:nvSpPr>
        <p:spPr>
          <a:xfrm rot="2620290">
            <a:off x="8706106" y="-1169077"/>
            <a:ext cx="2523650" cy="4988728"/>
          </a:xfrm>
          <a:custGeom>
            <a:avLst/>
            <a:gdLst>
              <a:gd name="connsiteX0" fmla="*/ 0 w 2523650"/>
              <a:gd name="connsiteY0" fmla="*/ 1866738 h 4988728"/>
              <a:gd name="connsiteX1" fmla="*/ 1955376 w 2523650"/>
              <a:gd name="connsiteY1" fmla="*/ 0 h 4988728"/>
              <a:gd name="connsiteX2" fmla="*/ 2523650 w 2523650"/>
              <a:gd name="connsiteY2" fmla="*/ 595258 h 4988728"/>
              <a:gd name="connsiteX3" fmla="*/ 2523649 w 2523650"/>
              <a:gd name="connsiteY3" fmla="*/ 3726903 h 4988728"/>
              <a:gd name="connsiteX4" fmla="*/ 1261824 w 2523650"/>
              <a:gd name="connsiteY4" fmla="*/ 4988728 h 4988728"/>
              <a:gd name="connsiteX5" fmla="*/ 1261825 w 2523650"/>
              <a:gd name="connsiteY5" fmla="*/ 4988727 h 4988728"/>
              <a:gd name="connsiteX6" fmla="*/ 0 w 2523650"/>
              <a:gd name="connsiteY6" fmla="*/ 3726902 h 4988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3650" h="4988728">
                <a:moveTo>
                  <a:pt x="0" y="1866738"/>
                </a:moveTo>
                <a:lnTo>
                  <a:pt x="1955376" y="0"/>
                </a:lnTo>
                <a:lnTo>
                  <a:pt x="2523650" y="595258"/>
                </a:lnTo>
                <a:lnTo>
                  <a:pt x="2523649" y="3726903"/>
                </a:lnTo>
                <a:cubicBezTo>
                  <a:pt x="2523649" y="4423790"/>
                  <a:pt x="1958711" y="4988728"/>
                  <a:pt x="1261824" y="4988728"/>
                </a:cubicBezTo>
                <a:lnTo>
                  <a:pt x="1261825" y="4988727"/>
                </a:lnTo>
                <a:cubicBezTo>
                  <a:pt x="564938" y="4988727"/>
                  <a:pt x="0" y="4423789"/>
                  <a:pt x="0" y="3726902"/>
                </a:cubicBezTo>
                <a:close/>
              </a:path>
            </a:pathLst>
          </a:custGeom>
          <a:gradFill flip="none" rotWithShape="1">
            <a:gsLst>
              <a:gs pos="0">
                <a:srgbClr val="0FA3B1"/>
              </a:gs>
              <a:gs pos="100000">
                <a:srgbClr val="00626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B83739D6-7F02-49C0-A3F0-C4CB028C73AE}"/>
              </a:ext>
            </a:extLst>
          </p:cNvPr>
          <p:cNvSpPr/>
          <p:nvPr/>
        </p:nvSpPr>
        <p:spPr>
          <a:xfrm rot="2620290">
            <a:off x="11400399" y="1453432"/>
            <a:ext cx="1118866" cy="1844435"/>
          </a:xfrm>
          <a:custGeom>
            <a:avLst/>
            <a:gdLst>
              <a:gd name="connsiteX0" fmla="*/ 0 w 1118866"/>
              <a:gd name="connsiteY0" fmla="*/ 0 h 1844435"/>
              <a:gd name="connsiteX1" fmla="*/ 1118866 w 1118866"/>
              <a:gd name="connsiteY1" fmla="*/ 1171994 h 1844435"/>
              <a:gd name="connsiteX2" fmla="*/ 1118866 w 1118866"/>
              <a:gd name="connsiteY2" fmla="*/ 1285002 h 1844435"/>
              <a:gd name="connsiteX3" fmla="*/ 559433 w 1118866"/>
              <a:gd name="connsiteY3" fmla="*/ 1844435 h 1844435"/>
              <a:gd name="connsiteX4" fmla="*/ 0 w 1118866"/>
              <a:gd name="connsiteY4" fmla="*/ 1285002 h 1844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8866" h="1844435">
                <a:moveTo>
                  <a:pt x="0" y="0"/>
                </a:moveTo>
                <a:lnTo>
                  <a:pt x="1118866" y="1171994"/>
                </a:lnTo>
                <a:lnTo>
                  <a:pt x="1118866" y="1285002"/>
                </a:lnTo>
                <a:cubicBezTo>
                  <a:pt x="1118866" y="1593968"/>
                  <a:pt x="868399" y="1844435"/>
                  <a:pt x="559433" y="1844435"/>
                </a:cubicBezTo>
                <a:cubicBezTo>
                  <a:pt x="250467" y="1844435"/>
                  <a:pt x="0" y="1593968"/>
                  <a:pt x="0" y="1285002"/>
                </a:cubicBezTo>
                <a:close/>
              </a:path>
            </a:pathLst>
          </a:custGeom>
          <a:gradFill flip="none" rotWithShape="1">
            <a:gsLst>
              <a:gs pos="0">
                <a:srgbClr val="0FA3B1"/>
              </a:gs>
              <a:gs pos="100000">
                <a:srgbClr val="00626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10E088ED-8DF4-4C14-A565-3B86DF60271F}"/>
              </a:ext>
            </a:extLst>
          </p:cNvPr>
          <p:cNvSpPr/>
          <p:nvPr/>
        </p:nvSpPr>
        <p:spPr>
          <a:xfrm>
            <a:off x="567159" y="3588151"/>
            <a:ext cx="6321321" cy="49446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B8C3D59F-6798-4184-A754-1E647D551D34}"/>
              </a:ext>
            </a:extLst>
          </p:cNvPr>
          <p:cNvSpPr/>
          <p:nvPr/>
        </p:nvSpPr>
        <p:spPr>
          <a:xfrm>
            <a:off x="567159" y="4241924"/>
            <a:ext cx="6321321" cy="49446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E84177E-C57A-4BBE-BD86-00DFF8D198F8}"/>
              </a:ext>
            </a:extLst>
          </p:cNvPr>
          <p:cNvSpPr/>
          <p:nvPr/>
        </p:nvSpPr>
        <p:spPr>
          <a:xfrm>
            <a:off x="567159" y="4873487"/>
            <a:ext cx="6321321" cy="49446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4408A089-3803-46B7-975A-A7632A07F0D9}"/>
              </a:ext>
            </a:extLst>
          </p:cNvPr>
          <p:cNvSpPr/>
          <p:nvPr/>
        </p:nvSpPr>
        <p:spPr>
          <a:xfrm>
            <a:off x="567159" y="5511811"/>
            <a:ext cx="6321321" cy="49446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1815CB-992F-4456-8234-3EEB879A116F}"/>
              </a:ext>
            </a:extLst>
          </p:cNvPr>
          <p:cNvSpPr txBox="1"/>
          <p:nvPr/>
        </p:nvSpPr>
        <p:spPr>
          <a:xfrm>
            <a:off x="997676" y="3653413"/>
            <a:ext cx="2979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Saytlararo</a:t>
            </a:r>
            <a:r>
              <a:rPr lang="en-US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skript</a:t>
            </a:r>
            <a:r>
              <a:rPr lang="en-US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(XSS);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BBB330-5DC5-4E68-AD77-80020080D8BC}"/>
              </a:ext>
            </a:extLst>
          </p:cNvPr>
          <p:cNvSpPr txBox="1"/>
          <p:nvPr/>
        </p:nvSpPr>
        <p:spPr>
          <a:xfrm>
            <a:off x="1011104" y="5596627"/>
            <a:ext cx="6571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Ishonchsiz</a:t>
            </a:r>
            <a:r>
              <a:rPr lang="en-US" sz="16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to‘g’ridan-to‘g’ri</a:t>
            </a:r>
            <a:r>
              <a:rPr lang="en-US" sz="16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ob’ektga</a:t>
            </a:r>
            <a:r>
              <a:rPr lang="en-US" sz="16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havolalar</a:t>
            </a:r>
            <a:r>
              <a:rPr lang="en-US" sz="16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(IDOR)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1162C9-CB2F-42E5-80CF-1E4D7395B99C}"/>
              </a:ext>
            </a:extLst>
          </p:cNvPr>
          <p:cNvSpPr txBox="1"/>
          <p:nvPr/>
        </p:nvSpPr>
        <p:spPr>
          <a:xfrm>
            <a:off x="998554" y="4908965"/>
            <a:ext cx="541743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Saytlararo</a:t>
            </a:r>
            <a:r>
              <a:rPr lang="en-US" sz="17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so‘rovlarni</a:t>
            </a:r>
            <a:r>
              <a:rPr lang="en-US" sz="17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qalbakilashtirish</a:t>
            </a:r>
            <a:r>
              <a:rPr lang="en-US" sz="17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(CSRF)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CDD9C3-F8E3-468D-B690-F27428AECD31}"/>
              </a:ext>
            </a:extLst>
          </p:cNvPr>
          <p:cNvSpPr txBox="1"/>
          <p:nvPr/>
        </p:nvSpPr>
        <p:spPr>
          <a:xfrm>
            <a:off x="990380" y="4291288"/>
            <a:ext cx="407157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Kodni</a:t>
            </a:r>
            <a:r>
              <a:rPr lang="en-US" sz="17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masofadan</a:t>
            </a:r>
            <a:r>
              <a:rPr lang="en-US" sz="17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bajarish</a:t>
            </a:r>
            <a:r>
              <a:rPr lang="en-US" sz="17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(RCE)</a:t>
            </a:r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7FCE69EB-B461-4BAD-9957-0D99585EA231}"/>
              </a:ext>
            </a:extLst>
          </p:cNvPr>
          <p:cNvGrpSpPr/>
          <p:nvPr/>
        </p:nvGrpSpPr>
        <p:grpSpPr>
          <a:xfrm>
            <a:off x="748321" y="3731141"/>
            <a:ext cx="216000" cy="216000"/>
            <a:chOff x="627873" y="3619381"/>
            <a:chExt cx="432000" cy="432000"/>
          </a:xfrm>
        </p:grpSpPr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03C2BC6C-FEAE-48BC-AD57-B89A140D03A4}"/>
                </a:ext>
              </a:extLst>
            </p:cNvPr>
            <p:cNvSpPr/>
            <p:nvPr/>
          </p:nvSpPr>
          <p:spPr>
            <a:xfrm>
              <a:off x="627873" y="3619381"/>
              <a:ext cx="432000" cy="432000"/>
            </a:xfrm>
            <a:prstGeom prst="ellipse">
              <a:avLst/>
            </a:prstGeom>
            <a:solidFill>
              <a:srgbClr val="0064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Рисунок 27" descr="Флажок со сплошной заливкой">
              <a:extLst>
                <a:ext uri="{FF2B5EF4-FFF2-40B4-BE49-F238E27FC236}">
                  <a16:creationId xmlns:a16="http://schemas.microsoft.com/office/drawing/2014/main" id="{1B39D65B-A4F9-4696-8235-FF9A626FEC56}"/>
                </a:ext>
              </a:extLst>
            </p:cNvPr>
            <p:cNvSpPr/>
            <p:nvPr/>
          </p:nvSpPr>
          <p:spPr>
            <a:xfrm>
              <a:off x="688878" y="3700092"/>
              <a:ext cx="324582" cy="282374"/>
            </a:xfrm>
            <a:custGeom>
              <a:avLst/>
              <a:gdLst>
                <a:gd name="connsiteX0" fmla="*/ 802958 w 880109"/>
                <a:gd name="connsiteY0" fmla="*/ 0 h 618172"/>
                <a:gd name="connsiteX1" fmla="*/ 315278 w 880109"/>
                <a:gd name="connsiteY1" fmla="*/ 461010 h 618172"/>
                <a:gd name="connsiteX2" fmla="*/ 80963 w 880109"/>
                <a:gd name="connsiteY2" fmla="*/ 220980 h 618172"/>
                <a:gd name="connsiteX3" fmla="*/ 0 w 880109"/>
                <a:gd name="connsiteY3" fmla="*/ 298132 h 618172"/>
                <a:gd name="connsiteX4" fmla="*/ 311468 w 880109"/>
                <a:gd name="connsiteY4" fmla="*/ 618173 h 618172"/>
                <a:gd name="connsiteX5" fmla="*/ 393383 w 880109"/>
                <a:gd name="connsiteY5" fmla="*/ 541973 h 618172"/>
                <a:gd name="connsiteX6" fmla="*/ 880110 w 880109"/>
                <a:gd name="connsiteY6" fmla="*/ 80010 h 618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0109" h="618172">
                  <a:moveTo>
                    <a:pt x="802958" y="0"/>
                  </a:moveTo>
                  <a:lnTo>
                    <a:pt x="315278" y="461010"/>
                  </a:lnTo>
                  <a:lnTo>
                    <a:pt x="80963" y="220980"/>
                  </a:lnTo>
                  <a:lnTo>
                    <a:pt x="0" y="298132"/>
                  </a:lnTo>
                  <a:lnTo>
                    <a:pt x="311468" y="618173"/>
                  </a:lnTo>
                  <a:lnTo>
                    <a:pt x="393383" y="541973"/>
                  </a:lnTo>
                  <a:lnTo>
                    <a:pt x="880110" y="8001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7478BF12-5E80-43FD-A0DD-F10C40020522}"/>
              </a:ext>
            </a:extLst>
          </p:cNvPr>
          <p:cNvGrpSpPr/>
          <p:nvPr/>
        </p:nvGrpSpPr>
        <p:grpSpPr>
          <a:xfrm>
            <a:off x="748321" y="4384914"/>
            <a:ext cx="216000" cy="216000"/>
            <a:chOff x="627873" y="3619381"/>
            <a:chExt cx="432000" cy="432000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6188333F-F51E-457F-AD0C-FB2F312A7137}"/>
                </a:ext>
              </a:extLst>
            </p:cNvPr>
            <p:cNvSpPr/>
            <p:nvPr/>
          </p:nvSpPr>
          <p:spPr>
            <a:xfrm>
              <a:off x="627873" y="3619381"/>
              <a:ext cx="432000" cy="432000"/>
            </a:xfrm>
            <a:prstGeom prst="ellipse">
              <a:avLst/>
            </a:prstGeom>
            <a:solidFill>
              <a:srgbClr val="0064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Рисунок 27" descr="Флажок со сплошной заливкой">
              <a:extLst>
                <a:ext uri="{FF2B5EF4-FFF2-40B4-BE49-F238E27FC236}">
                  <a16:creationId xmlns:a16="http://schemas.microsoft.com/office/drawing/2014/main" id="{70214A1D-AC38-4D36-9605-D5AF5EB74ED6}"/>
                </a:ext>
              </a:extLst>
            </p:cNvPr>
            <p:cNvSpPr/>
            <p:nvPr/>
          </p:nvSpPr>
          <p:spPr>
            <a:xfrm>
              <a:off x="688878" y="3700092"/>
              <a:ext cx="324582" cy="282374"/>
            </a:xfrm>
            <a:custGeom>
              <a:avLst/>
              <a:gdLst>
                <a:gd name="connsiteX0" fmla="*/ 802958 w 880109"/>
                <a:gd name="connsiteY0" fmla="*/ 0 h 618172"/>
                <a:gd name="connsiteX1" fmla="*/ 315278 w 880109"/>
                <a:gd name="connsiteY1" fmla="*/ 461010 h 618172"/>
                <a:gd name="connsiteX2" fmla="*/ 80963 w 880109"/>
                <a:gd name="connsiteY2" fmla="*/ 220980 h 618172"/>
                <a:gd name="connsiteX3" fmla="*/ 0 w 880109"/>
                <a:gd name="connsiteY3" fmla="*/ 298132 h 618172"/>
                <a:gd name="connsiteX4" fmla="*/ 311468 w 880109"/>
                <a:gd name="connsiteY4" fmla="*/ 618173 h 618172"/>
                <a:gd name="connsiteX5" fmla="*/ 393383 w 880109"/>
                <a:gd name="connsiteY5" fmla="*/ 541973 h 618172"/>
                <a:gd name="connsiteX6" fmla="*/ 880110 w 880109"/>
                <a:gd name="connsiteY6" fmla="*/ 80010 h 618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0109" h="618172">
                  <a:moveTo>
                    <a:pt x="802958" y="0"/>
                  </a:moveTo>
                  <a:lnTo>
                    <a:pt x="315278" y="461010"/>
                  </a:lnTo>
                  <a:lnTo>
                    <a:pt x="80963" y="220980"/>
                  </a:lnTo>
                  <a:lnTo>
                    <a:pt x="0" y="298132"/>
                  </a:lnTo>
                  <a:lnTo>
                    <a:pt x="311468" y="618173"/>
                  </a:lnTo>
                  <a:lnTo>
                    <a:pt x="393383" y="541973"/>
                  </a:lnTo>
                  <a:lnTo>
                    <a:pt x="880110" y="8001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EF6CDBB4-5CBE-4AD6-8F71-B1FCC0A646C0}"/>
              </a:ext>
            </a:extLst>
          </p:cNvPr>
          <p:cNvGrpSpPr/>
          <p:nvPr/>
        </p:nvGrpSpPr>
        <p:grpSpPr>
          <a:xfrm>
            <a:off x="748321" y="5016477"/>
            <a:ext cx="216000" cy="216000"/>
            <a:chOff x="627873" y="3619381"/>
            <a:chExt cx="432000" cy="432000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4609BE61-4141-4EE2-94D8-A0398ED71A0A}"/>
                </a:ext>
              </a:extLst>
            </p:cNvPr>
            <p:cNvSpPr/>
            <p:nvPr/>
          </p:nvSpPr>
          <p:spPr>
            <a:xfrm>
              <a:off x="627873" y="3619381"/>
              <a:ext cx="432000" cy="432000"/>
            </a:xfrm>
            <a:prstGeom prst="ellipse">
              <a:avLst/>
            </a:prstGeom>
            <a:solidFill>
              <a:srgbClr val="0064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Рисунок 27" descr="Флажок со сплошной заливкой">
              <a:extLst>
                <a:ext uri="{FF2B5EF4-FFF2-40B4-BE49-F238E27FC236}">
                  <a16:creationId xmlns:a16="http://schemas.microsoft.com/office/drawing/2014/main" id="{0403181E-2A8D-496B-A089-56083792A5BA}"/>
                </a:ext>
              </a:extLst>
            </p:cNvPr>
            <p:cNvSpPr/>
            <p:nvPr/>
          </p:nvSpPr>
          <p:spPr>
            <a:xfrm>
              <a:off x="688878" y="3700092"/>
              <a:ext cx="324582" cy="282374"/>
            </a:xfrm>
            <a:custGeom>
              <a:avLst/>
              <a:gdLst>
                <a:gd name="connsiteX0" fmla="*/ 802958 w 880109"/>
                <a:gd name="connsiteY0" fmla="*/ 0 h 618172"/>
                <a:gd name="connsiteX1" fmla="*/ 315278 w 880109"/>
                <a:gd name="connsiteY1" fmla="*/ 461010 h 618172"/>
                <a:gd name="connsiteX2" fmla="*/ 80963 w 880109"/>
                <a:gd name="connsiteY2" fmla="*/ 220980 h 618172"/>
                <a:gd name="connsiteX3" fmla="*/ 0 w 880109"/>
                <a:gd name="connsiteY3" fmla="*/ 298132 h 618172"/>
                <a:gd name="connsiteX4" fmla="*/ 311468 w 880109"/>
                <a:gd name="connsiteY4" fmla="*/ 618173 h 618172"/>
                <a:gd name="connsiteX5" fmla="*/ 393383 w 880109"/>
                <a:gd name="connsiteY5" fmla="*/ 541973 h 618172"/>
                <a:gd name="connsiteX6" fmla="*/ 880110 w 880109"/>
                <a:gd name="connsiteY6" fmla="*/ 80010 h 618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0109" h="618172">
                  <a:moveTo>
                    <a:pt x="802958" y="0"/>
                  </a:moveTo>
                  <a:lnTo>
                    <a:pt x="315278" y="461010"/>
                  </a:lnTo>
                  <a:lnTo>
                    <a:pt x="80963" y="220980"/>
                  </a:lnTo>
                  <a:lnTo>
                    <a:pt x="0" y="298132"/>
                  </a:lnTo>
                  <a:lnTo>
                    <a:pt x="311468" y="618173"/>
                  </a:lnTo>
                  <a:lnTo>
                    <a:pt x="393383" y="541973"/>
                  </a:lnTo>
                  <a:lnTo>
                    <a:pt x="880110" y="8001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C6BD0C00-9A98-4442-84FF-08E11A324908}"/>
              </a:ext>
            </a:extLst>
          </p:cNvPr>
          <p:cNvGrpSpPr/>
          <p:nvPr/>
        </p:nvGrpSpPr>
        <p:grpSpPr>
          <a:xfrm>
            <a:off x="755617" y="5655766"/>
            <a:ext cx="216000" cy="216000"/>
            <a:chOff x="627873" y="3619381"/>
            <a:chExt cx="432000" cy="432000"/>
          </a:xfrm>
        </p:grpSpPr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D7E7C26E-A309-4052-8D56-6CCB4F4B5655}"/>
                </a:ext>
              </a:extLst>
            </p:cNvPr>
            <p:cNvSpPr/>
            <p:nvPr/>
          </p:nvSpPr>
          <p:spPr>
            <a:xfrm>
              <a:off x="627873" y="3619381"/>
              <a:ext cx="432000" cy="432000"/>
            </a:xfrm>
            <a:prstGeom prst="ellipse">
              <a:avLst/>
            </a:prstGeom>
            <a:solidFill>
              <a:srgbClr val="0064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Рисунок 27" descr="Флажок со сплошной заливкой">
              <a:extLst>
                <a:ext uri="{FF2B5EF4-FFF2-40B4-BE49-F238E27FC236}">
                  <a16:creationId xmlns:a16="http://schemas.microsoft.com/office/drawing/2014/main" id="{0EB0B47F-7866-45EE-AF25-2A9669A88F70}"/>
                </a:ext>
              </a:extLst>
            </p:cNvPr>
            <p:cNvSpPr/>
            <p:nvPr/>
          </p:nvSpPr>
          <p:spPr>
            <a:xfrm>
              <a:off x="688878" y="3700092"/>
              <a:ext cx="324582" cy="282374"/>
            </a:xfrm>
            <a:custGeom>
              <a:avLst/>
              <a:gdLst>
                <a:gd name="connsiteX0" fmla="*/ 802958 w 880109"/>
                <a:gd name="connsiteY0" fmla="*/ 0 h 618172"/>
                <a:gd name="connsiteX1" fmla="*/ 315278 w 880109"/>
                <a:gd name="connsiteY1" fmla="*/ 461010 h 618172"/>
                <a:gd name="connsiteX2" fmla="*/ 80963 w 880109"/>
                <a:gd name="connsiteY2" fmla="*/ 220980 h 618172"/>
                <a:gd name="connsiteX3" fmla="*/ 0 w 880109"/>
                <a:gd name="connsiteY3" fmla="*/ 298132 h 618172"/>
                <a:gd name="connsiteX4" fmla="*/ 311468 w 880109"/>
                <a:gd name="connsiteY4" fmla="*/ 618173 h 618172"/>
                <a:gd name="connsiteX5" fmla="*/ 393383 w 880109"/>
                <a:gd name="connsiteY5" fmla="*/ 541973 h 618172"/>
                <a:gd name="connsiteX6" fmla="*/ 880110 w 880109"/>
                <a:gd name="connsiteY6" fmla="*/ 80010 h 618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0109" h="618172">
                  <a:moveTo>
                    <a:pt x="802958" y="0"/>
                  </a:moveTo>
                  <a:lnTo>
                    <a:pt x="315278" y="461010"/>
                  </a:lnTo>
                  <a:lnTo>
                    <a:pt x="80963" y="220980"/>
                  </a:lnTo>
                  <a:lnTo>
                    <a:pt x="0" y="298132"/>
                  </a:lnTo>
                  <a:lnTo>
                    <a:pt x="311468" y="618173"/>
                  </a:lnTo>
                  <a:lnTo>
                    <a:pt x="393383" y="541973"/>
                  </a:lnTo>
                  <a:lnTo>
                    <a:pt x="880110" y="8001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5" name="Овал 44">
            <a:extLst>
              <a:ext uri="{FF2B5EF4-FFF2-40B4-BE49-F238E27FC236}">
                <a16:creationId xmlns:a16="http://schemas.microsoft.com/office/drawing/2014/main" id="{64C19837-A844-475F-8982-3AE1044D1042}"/>
              </a:ext>
            </a:extLst>
          </p:cNvPr>
          <p:cNvSpPr/>
          <p:nvPr/>
        </p:nvSpPr>
        <p:spPr>
          <a:xfrm>
            <a:off x="7446588" y="1223474"/>
            <a:ext cx="4320000" cy="4320000"/>
          </a:xfrm>
          <a:prstGeom prst="ellipse">
            <a:avLst/>
          </a:prstGeom>
          <a:solidFill>
            <a:srgbClr val="0FA3B1"/>
          </a:solidFill>
          <a:ln w="7620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Овал 45">
            <a:extLst>
              <a:ext uri="{FF2B5EF4-FFF2-40B4-BE49-F238E27FC236}">
                <a16:creationId xmlns:a16="http://schemas.microsoft.com/office/drawing/2014/main" id="{BB6B6C51-0A58-44F8-8587-786431EF06E4}"/>
              </a:ext>
            </a:extLst>
          </p:cNvPr>
          <p:cNvSpPr/>
          <p:nvPr/>
        </p:nvSpPr>
        <p:spPr>
          <a:xfrm>
            <a:off x="7612742" y="1389628"/>
            <a:ext cx="3987692" cy="3987692"/>
          </a:xfrm>
          <a:prstGeom prst="ellipse">
            <a:avLst/>
          </a:prstGeom>
          <a:noFill/>
          <a:ln w="1016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Овал 46">
            <a:extLst>
              <a:ext uri="{FF2B5EF4-FFF2-40B4-BE49-F238E27FC236}">
                <a16:creationId xmlns:a16="http://schemas.microsoft.com/office/drawing/2014/main" id="{61B66DAC-9EDE-474E-984A-2BAB3FA5110C}"/>
              </a:ext>
            </a:extLst>
          </p:cNvPr>
          <p:cNvSpPr/>
          <p:nvPr/>
        </p:nvSpPr>
        <p:spPr>
          <a:xfrm>
            <a:off x="7945050" y="1731018"/>
            <a:ext cx="3323077" cy="3323077"/>
          </a:xfrm>
          <a:prstGeom prst="ellipse">
            <a:avLst/>
          </a:prstGeom>
          <a:blipFill dpi="0" rotWithShape="1">
            <a:blip r:embed="rId2"/>
            <a:srcRect/>
            <a:stretch>
              <a:fillRect l="-10000"/>
            </a:stretch>
          </a:blipFill>
          <a:ln w="8572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182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олилиния: фигура 46">
            <a:extLst>
              <a:ext uri="{FF2B5EF4-FFF2-40B4-BE49-F238E27FC236}">
                <a16:creationId xmlns:a16="http://schemas.microsoft.com/office/drawing/2014/main" id="{1CC4AB1B-4423-4D91-9244-C0C8BD2EA834}"/>
              </a:ext>
            </a:extLst>
          </p:cNvPr>
          <p:cNvSpPr/>
          <p:nvPr/>
        </p:nvSpPr>
        <p:spPr>
          <a:xfrm rot="18042566">
            <a:off x="11206777" y="535391"/>
            <a:ext cx="1845563" cy="998330"/>
          </a:xfrm>
          <a:custGeom>
            <a:avLst/>
            <a:gdLst>
              <a:gd name="connsiteX0" fmla="*/ 1845563 w 1845563"/>
              <a:gd name="connsiteY0" fmla="*/ 23678 h 998330"/>
              <a:gd name="connsiteX1" fmla="*/ 204678 w 1845563"/>
              <a:gd name="connsiteY1" fmla="*/ 998330 h 998330"/>
              <a:gd name="connsiteX2" fmla="*/ 137476 w 1845563"/>
              <a:gd name="connsiteY2" fmla="*/ 932713 h 998330"/>
              <a:gd name="connsiteX3" fmla="*/ 11453 w 1845563"/>
              <a:gd name="connsiteY3" fmla="*/ 677387 h 998330"/>
              <a:gd name="connsiteX4" fmla="*/ 0 w 1845563"/>
              <a:gd name="connsiteY4" fmla="*/ 563769 h 998330"/>
              <a:gd name="connsiteX5" fmla="*/ 11454 w 1845563"/>
              <a:gd name="connsiteY5" fmla="*/ 450150 h 998330"/>
              <a:gd name="connsiteX6" fmla="*/ 563769 w 1845563"/>
              <a:gd name="connsiteY6" fmla="*/ 0 h 998330"/>
              <a:gd name="connsiteX7" fmla="*/ 1831499 w 1845563"/>
              <a:gd name="connsiteY7" fmla="*/ 0 h 998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45563" h="998330">
                <a:moveTo>
                  <a:pt x="1845563" y="23678"/>
                </a:moveTo>
                <a:lnTo>
                  <a:pt x="204678" y="998330"/>
                </a:lnTo>
                <a:lnTo>
                  <a:pt x="137476" y="932713"/>
                </a:lnTo>
                <a:cubicBezTo>
                  <a:pt x="75453" y="861112"/>
                  <a:pt x="31167" y="773725"/>
                  <a:pt x="11453" y="677387"/>
                </a:cubicBezTo>
                <a:lnTo>
                  <a:pt x="0" y="563769"/>
                </a:lnTo>
                <a:lnTo>
                  <a:pt x="11454" y="450150"/>
                </a:lnTo>
                <a:cubicBezTo>
                  <a:pt x="64023" y="193250"/>
                  <a:pt x="291328" y="0"/>
                  <a:pt x="563769" y="0"/>
                </a:cubicBezTo>
                <a:lnTo>
                  <a:pt x="1831499" y="0"/>
                </a:lnTo>
                <a:close/>
              </a:path>
            </a:pathLst>
          </a:custGeom>
          <a:gradFill flip="none" rotWithShape="1">
            <a:gsLst>
              <a:gs pos="0">
                <a:srgbClr val="0FA3B1"/>
              </a:gs>
              <a:gs pos="100000">
                <a:srgbClr val="00626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4064AA-AC73-4345-A97E-9E3ABC500FA7}"/>
              </a:ext>
            </a:extLst>
          </p:cNvPr>
          <p:cNvSpPr txBox="1"/>
          <p:nvPr/>
        </p:nvSpPr>
        <p:spPr>
          <a:xfrm>
            <a:off x="217689" y="524787"/>
            <a:ext cx="6496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latin typeface="Arial Black" panose="020B0A04020102020204" pitchFamily="34" charset="0"/>
              </a:rPr>
              <a:t>Saytlararo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skript</a:t>
            </a:r>
            <a:r>
              <a:rPr lang="en-US" sz="3600" dirty="0">
                <a:latin typeface="Arial Black" panose="020B0A04020102020204" pitchFamily="34" charset="0"/>
              </a:rPr>
              <a:t> (XSS)</a:t>
            </a:r>
          </a:p>
        </p:txBody>
      </p:sp>
      <p:sp>
        <p:nvSpPr>
          <p:cNvPr id="41" name="Полилиния: фигура 40">
            <a:extLst>
              <a:ext uri="{FF2B5EF4-FFF2-40B4-BE49-F238E27FC236}">
                <a16:creationId xmlns:a16="http://schemas.microsoft.com/office/drawing/2014/main" id="{3250ACA6-CD81-4A30-8098-AD4776226E36}"/>
              </a:ext>
            </a:extLst>
          </p:cNvPr>
          <p:cNvSpPr/>
          <p:nvPr/>
        </p:nvSpPr>
        <p:spPr>
          <a:xfrm rot="18042566">
            <a:off x="8510791" y="-749063"/>
            <a:ext cx="2665996" cy="2508972"/>
          </a:xfrm>
          <a:custGeom>
            <a:avLst/>
            <a:gdLst>
              <a:gd name="connsiteX0" fmla="*/ 1175719 w 2665996"/>
              <a:gd name="connsiteY0" fmla="*/ 0 h 2508972"/>
              <a:gd name="connsiteX1" fmla="*/ 2665996 w 2665996"/>
              <a:gd name="connsiteY1" fmla="*/ 2508972 h 2508972"/>
              <a:gd name="connsiteX2" fmla="*/ 1256526 w 2665996"/>
              <a:gd name="connsiteY2" fmla="*/ 2508971 h 2508972"/>
              <a:gd name="connsiteX3" fmla="*/ 0 w 2665996"/>
              <a:gd name="connsiteY3" fmla="*/ 1252445 h 2508972"/>
              <a:gd name="connsiteX4" fmla="*/ 0 w 2665996"/>
              <a:gd name="connsiteY4" fmla="*/ 1252446 h 2508972"/>
              <a:gd name="connsiteX5" fmla="*/ 1128054 w 2665996"/>
              <a:gd name="connsiteY5" fmla="*/ 2408 h 2508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65996" h="2508972">
                <a:moveTo>
                  <a:pt x="1175719" y="0"/>
                </a:moveTo>
                <a:lnTo>
                  <a:pt x="2665996" y="2508972"/>
                </a:lnTo>
                <a:lnTo>
                  <a:pt x="1256526" y="2508971"/>
                </a:lnTo>
                <a:cubicBezTo>
                  <a:pt x="562566" y="2508971"/>
                  <a:pt x="0" y="1946405"/>
                  <a:pt x="0" y="1252445"/>
                </a:cubicBezTo>
                <a:lnTo>
                  <a:pt x="0" y="1252446"/>
                </a:lnTo>
                <a:cubicBezTo>
                  <a:pt x="0" y="601858"/>
                  <a:pt x="494443" y="66754"/>
                  <a:pt x="1128054" y="2408"/>
                </a:cubicBezTo>
                <a:close/>
              </a:path>
            </a:pathLst>
          </a:custGeom>
          <a:gradFill flip="none" rotWithShape="1">
            <a:gsLst>
              <a:gs pos="0">
                <a:srgbClr val="0FA3B1"/>
              </a:gs>
              <a:gs pos="100000">
                <a:srgbClr val="00626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E83FB723-A246-4E20-83E9-96CABB0E8BC6}"/>
              </a:ext>
            </a:extLst>
          </p:cNvPr>
          <p:cNvGrpSpPr/>
          <p:nvPr/>
        </p:nvGrpSpPr>
        <p:grpSpPr>
          <a:xfrm>
            <a:off x="10795809" y="439450"/>
            <a:ext cx="1080000" cy="1080000"/>
            <a:chOff x="9840425" y="1235433"/>
            <a:chExt cx="1440000" cy="1440000"/>
          </a:xfrm>
          <a:solidFill>
            <a:srgbClr val="FDD778"/>
          </a:solidFill>
        </p:grpSpPr>
        <p:sp>
          <p:nvSpPr>
            <p:cNvPr id="49" name="Овал 48">
              <a:extLst>
                <a:ext uri="{FF2B5EF4-FFF2-40B4-BE49-F238E27FC236}">
                  <a16:creationId xmlns:a16="http://schemas.microsoft.com/office/drawing/2014/main" id="{7AD28A89-9E8D-4AAC-9E4F-C01052DCAE57}"/>
                </a:ext>
              </a:extLst>
            </p:cNvPr>
            <p:cNvSpPr/>
            <p:nvPr/>
          </p:nvSpPr>
          <p:spPr>
            <a:xfrm>
              <a:off x="10129793" y="1523433"/>
              <a:ext cx="864000" cy="864000"/>
            </a:xfrm>
            <a:prstGeom prst="ellipse">
              <a:avLst/>
            </a:prstGeom>
            <a:grpFill/>
            <a:ln>
              <a:noFill/>
            </a:ln>
            <a:effectLst>
              <a:outerShdw blurRad="266700" sx="102000" sy="102000" algn="ctr" rotWithShape="0">
                <a:prstClr val="black">
                  <a:alpha val="4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Круг: прозрачная заливка 49">
              <a:extLst>
                <a:ext uri="{FF2B5EF4-FFF2-40B4-BE49-F238E27FC236}">
                  <a16:creationId xmlns:a16="http://schemas.microsoft.com/office/drawing/2014/main" id="{90BDB1DB-798E-4677-BD06-985BDDD9D386}"/>
                </a:ext>
              </a:extLst>
            </p:cNvPr>
            <p:cNvSpPr/>
            <p:nvPr/>
          </p:nvSpPr>
          <p:spPr>
            <a:xfrm>
              <a:off x="9840425" y="1235433"/>
              <a:ext cx="1440000" cy="1440000"/>
            </a:xfrm>
            <a:prstGeom prst="donut">
              <a:avLst>
                <a:gd name="adj" fmla="val 10287"/>
              </a:avLst>
            </a:prstGeom>
            <a:grpFill/>
            <a:ln>
              <a:noFill/>
            </a:ln>
            <a:effectLst>
              <a:outerShdw blurRad="266700" sx="102000" sy="102000" algn="ctr" rotWithShape="0">
                <a:prstClr val="black">
                  <a:alpha val="4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D3246106-03A8-4313-8BAC-330C0832523D}"/>
              </a:ext>
            </a:extLst>
          </p:cNvPr>
          <p:cNvSpPr/>
          <p:nvPr/>
        </p:nvSpPr>
        <p:spPr>
          <a:xfrm>
            <a:off x="500815" y="3891389"/>
            <a:ext cx="5307688" cy="2308324"/>
          </a:xfrm>
          <a:prstGeom prst="roundRect">
            <a:avLst/>
          </a:prstGeom>
          <a:gradFill flip="none" rotWithShape="1">
            <a:gsLst>
              <a:gs pos="0">
                <a:srgbClr val="0FA3B1"/>
              </a:gs>
              <a:gs pos="100000">
                <a:srgbClr val="00626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97EB1B0C-7574-4494-8120-BC50A9702740}"/>
              </a:ext>
            </a:extLst>
          </p:cNvPr>
          <p:cNvSpPr/>
          <p:nvPr/>
        </p:nvSpPr>
        <p:spPr>
          <a:xfrm>
            <a:off x="8635810" y="551793"/>
            <a:ext cx="3240000" cy="3240000"/>
          </a:xfrm>
          <a:prstGeom prst="ellipse">
            <a:avLst/>
          </a:prstGeom>
          <a:solidFill>
            <a:srgbClr val="0FA3B1"/>
          </a:solidFill>
          <a:ln w="7620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D0ACF3D-F4C2-4879-A4D0-286FDF67FD4A}"/>
              </a:ext>
            </a:extLst>
          </p:cNvPr>
          <p:cNvSpPr/>
          <p:nvPr/>
        </p:nvSpPr>
        <p:spPr>
          <a:xfrm>
            <a:off x="8760425" y="676408"/>
            <a:ext cx="2990769" cy="2990769"/>
          </a:xfrm>
          <a:prstGeom prst="ellipse">
            <a:avLst/>
          </a:prstGeom>
          <a:noFill/>
          <a:ln w="1016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AB069FE6-7CFC-4ABB-98A6-06DCE29EF2B0}"/>
              </a:ext>
            </a:extLst>
          </p:cNvPr>
          <p:cNvSpPr/>
          <p:nvPr/>
        </p:nvSpPr>
        <p:spPr>
          <a:xfrm>
            <a:off x="9009656" y="932451"/>
            <a:ext cx="2492308" cy="2492308"/>
          </a:xfrm>
          <a:prstGeom prst="ellipse">
            <a:avLst/>
          </a:prstGeom>
          <a:blipFill dpi="0" rotWithShape="1">
            <a:blip r:embed="rId2"/>
            <a:srcRect/>
            <a:stretch>
              <a:fillRect l="-10000"/>
            </a:stretch>
          </a:blipFill>
          <a:ln w="8572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F8FBB6-E954-4D50-864E-E92FA325A380}"/>
              </a:ext>
            </a:extLst>
          </p:cNvPr>
          <p:cNvSpPr txBox="1"/>
          <p:nvPr/>
        </p:nvSpPr>
        <p:spPr>
          <a:xfrm>
            <a:off x="217689" y="1393924"/>
            <a:ext cx="85629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hujumlari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web-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saytga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zararli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kod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yoki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zararli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skriptni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kiritishni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o‘z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ichiga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oladi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.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Keyin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web-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sayt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skriptni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bajaradi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,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bu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tajovuzkorga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seans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tokenlari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va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cookie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fayllari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kabi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nozik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foydalanuvchi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ma’lumotlarini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o‘g’irlash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yoki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boshqa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harakatlarni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amalga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oshirish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imkonini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beradi</a:t>
            </a:r>
            <a:endParaRPr lang="en-US" sz="2400" dirty="0">
              <a:solidFill>
                <a:schemeClr val="bg2">
                  <a:lumMod val="25000"/>
                </a:schemeClr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A7C98711-B0E9-4EF5-805C-4CBECEFA0E29}"/>
              </a:ext>
            </a:extLst>
          </p:cNvPr>
          <p:cNvSpPr/>
          <p:nvPr/>
        </p:nvSpPr>
        <p:spPr>
          <a:xfrm>
            <a:off x="316190" y="1219005"/>
            <a:ext cx="5676939" cy="63515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34FBE71D-A1CF-472B-A583-0F555E3B4EF2}"/>
              </a:ext>
            </a:extLst>
          </p:cNvPr>
          <p:cNvSpPr/>
          <p:nvPr/>
        </p:nvSpPr>
        <p:spPr>
          <a:xfrm>
            <a:off x="6383499" y="3891389"/>
            <a:ext cx="5307688" cy="2308324"/>
          </a:xfrm>
          <a:prstGeom prst="roundRect">
            <a:avLst/>
          </a:prstGeom>
          <a:gradFill flip="none" rotWithShape="1">
            <a:gsLst>
              <a:gs pos="0">
                <a:srgbClr val="0FA3B1"/>
              </a:gs>
              <a:gs pos="100000">
                <a:srgbClr val="00626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352613-B38F-464D-9EB4-F0DB0818ADE2}"/>
              </a:ext>
            </a:extLst>
          </p:cNvPr>
          <p:cNvSpPr txBox="1"/>
          <p:nvPr/>
        </p:nvSpPr>
        <p:spPr>
          <a:xfrm>
            <a:off x="577015" y="4076055"/>
            <a:ext cx="53076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XSS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hujumlarining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ikkita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asosiy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turi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mavjud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: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aks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ettiruvchi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va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saqlangan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.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Reflektiv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XSS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hujumlari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darhol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amalga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oshiriladigan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web-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saytga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zararli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kodni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kiritishni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o‘z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ichiga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oladi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.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Saqlangan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XSS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hujumlari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keyinroq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saqlanadigan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va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bajariladigan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web-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saytga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zararli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kodni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kiritishni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o‘z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ichiga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oladi</a:t>
            </a:r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BBD78F-8B5C-4952-89BB-77E48886709A}"/>
              </a:ext>
            </a:extLst>
          </p:cNvPr>
          <p:cNvSpPr txBox="1"/>
          <p:nvPr/>
        </p:nvSpPr>
        <p:spPr>
          <a:xfrm>
            <a:off x="6459699" y="4124224"/>
            <a:ext cx="53076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Muvaffaqiyatli</a:t>
            </a:r>
            <a:r>
              <a:rPr lang="en-US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bo‘lsa</a:t>
            </a:r>
            <a:r>
              <a:rPr lang="en-US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saytlararo</a:t>
            </a:r>
            <a:r>
              <a:rPr lang="en-US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skript</a:t>
            </a:r>
            <a:r>
              <a:rPr lang="en-US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hujumi</a:t>
            </a:r>
            <a:r>
              <a:rPr lang="en-US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foydalanuvchi</a:t>
            </a:r>
            <a:r>
              <a:rPr lang="en-US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seans</a:t>
            </a:r>
            <a:r>
              <a:rPr lang="en-US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identifikatorlari</a:t>
            </a:r>
            <a:r>
              <a:rPr lang="en-US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o‘g’irlanishi</a:t>
            </a:r>
            <a:r>
              <a:rPr lang="en-US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, web-</a:t>
            </a:r>
            <a:r>
              <a:rPr lang="en-US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saytning</a:t>
            </a:r>
            <a:r>
              <a:rPr lang="en-US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buzilishi</a:t>
            </a:r>
            <a:r>
              <a:rPr lang="en-US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va</a:t>
            </a:r>
            <a:r>
              <a:rPr lang="en-US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zararli</a:t>
            </a:r>
            <a:r>
              <a:rPr lang="en-US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saytlarga</a:t>
            </a:r>
            <a:r>
              <a:rPr lang="en-US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yo‘naltirilishiga</a:t>
            </a:r>
            <a:r>
              <a:rPr lang="en-US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olib</a:t>
            </a:r>
            <a:r>
              <a:rPr lang="en-US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kelishi</a:t>
            </a:r>
            <a:r>
              <a:rPr lang="en-US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mumkin</a:t>
            </a:r>
            <a:r>
              <a:rPr lang="en-US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bu</a:t>
            </a:r>
            <a:r>
              <a:rPr lang="en-US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esa</a:t>
            </a:r>
            <a:r>
              <a:rPr lang="en-US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 fishing </a:t>
            </a:r>
            <a:r>
              <a:rPr lang="en-US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hujumlarini</a:t>
            </a:r>
            <a:r>
              <a:rPr lang="en-US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amalga</a:t>
            </a:r>
            <a:r>
              <a:rPr lang="en-US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oshirishga</a:t>
            </a:r>
            <a:r>
              <a:rPr lang="en-US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imkon</a:t>
            </a:r>
            <a:r>
              <a:rPr lang="en-US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</a:rPr>
              <a:t>beradi</a:t>
            </a:r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CEEA03EA-4995-4553-8528-330BD28D1459}"/>
              </a:ext>
            </a:extLst>
          </p:cNvPr>
          <p:cNvSpPr/>
          <p:nvPr/>
        </p:nvSpPr>
        <p:spPr>
          <a:xfrm>
            <a:off x="3154659" y="6460473"/>
            <a:ext cx="5676939" cy="63515"/>
          </a:xfrm>
          <a:prstGeom prst="roundRect">
            <a:avLst>
              <a:gd name="adj" fmla="val 50000"/>
            </a:avLst>
          </a:prstGeom>
          <a:solidFill>
            <a:srgbClr val="0064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683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p14:presetBounceEnd="8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11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12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p14:presetBounceEnd="8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15" dur="2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16" dur="2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36" grpId="0" animBg="1"/>
          <p:bldP spid="48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36" grpId="0" animBg="1"/>
          <p:bldP spid="48" grpId="0" animBg="1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6AC350C-EA92-4A59-A1C7-2D9E6C43229A}"/>
              </a:ext>
            </a:extLst>
          </p:cNvPr>
          <p:cNvSpPr txBox="1"/>
          <p:nvPr/>
        </p:nvSpPr>
        <p:spPr>
          <a:xfrm>
            <a:off x="6097694" y="662151"/>
            <a:ext cx="623358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Arial Black" panose="020B0A04020102020204" pitchFamily="34" charset="0"/>
              </a:rPr>
              <a:t>Kodni</a:t>
            </a:r>
            <a:r>
              <a:rPr lang="en-US" sz="2800" b="1" dirty="0">
                <a:latin typeface="Arial Black" panose="020B0A04020102020204" pitchFamily="34" charset="0"/>
              </a:rPr>
              <a:t> </a:t>
            </a:r>
            <a:r>
              <a:rPr lang="en-US" sz="2800" b="1" dirty="0" err="1">
                <a:latin typeface="Arial Black" panose="020B0A04020102020204" pitchFamily="34" charset="0"/>
              </a:rPr>
              <a:t>masofadan</a:t>
            </a:r>
            <a:r>
              <a:rPr lang="en-US" sz="2800" b="1" dirty="0">
                <a:latin typeface="Arial Black" panose="020B0A04020102020204" pitchFamily="34" charset="0"/>
              </a:rPr>
              <a:t> </a:t>
            </a:r>
            <a:r>
              <a:rPr lang="en-US" sz="2800" b="1" dirty="0" err="1">
                <a:latin typeface="Arial Black" panose="020B0A04020102020204" pitchFamily="34" charset="0"/>
              </a:rPr>
              <a:t>boshqarish</a:t>
            </a:r>
            <a:r>
              <a:rPr lang="en-US" sz="2800" b="1" dirty="0">
                <a:latin typeface="Arial Black" panose="020B0A04020102020204" pitchFamily="34" charset="0"/>
              </a:rPr>
              <a:t> </a:t>
            </a:r>
            <a:r>
              <a:rPr lang="en-US" sz="2800" b="1" dirty="0">
                <a:solidFill>
                  <a:srgbClr val="127475"/>
                </a:solidFill>
                <a:latin typeface="Arial Black" panose="020B0A04020102020204" pitchFamily="34" charset="0"/>
              </a:rPr>
              <a:t>(RCE)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8A97D73-DFCF-431B-8559-49D3D3A5927E}"/>
              </a:ext>
            </a:extLst>
          </p:cNvPr>
          <p:cNvSpPr/>
          <p:nvPr/>
        </p:nvSpPr>
        <p:spPr>
          <a:xfrm>
            <a:off x="6173894" y="1587649"/>
            <a:ext cx="5625676" cy="67165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9F102E-FFBB-490B-BA8F-18B283D817B5}"/>
              </a:ext>
            </a:extLst>
          </p:cNvPr>
          <p:cNvSpPr txBox="1"/>
          <p:nvPr/>
        </p:nvSpPr>
        <p:spPr>
          <a:xfrm>
            <a:off x="6020006" y="1740208"/>
            <a:ext cx="60739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Bu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hujum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tajovuzkorlarga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serverda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o‘zboshimchalik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bilan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kodni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bajarishga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imkon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beradi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,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bu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esa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tizimning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to‘liq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buzilishiga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va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maxfiy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ma’lumotlarga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ruxsatsiz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kirishga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olib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kelishi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mumkin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16" name="Шестиугольник 15">
            <a:extLst>
              <a:ext uri="{FF2B5EF4-FFF2-40B4-BE49-F238E27FC236}">
                <a16:creationId xmlns:a16="http://schemas.microsoft.com/office/drawing/2014/main" id="{02DBA54F-9441-4656-9C20-1C85BBD88B14}"/>
              </a:ext>
            </a:extLst>
          </p:cNvPr>
          <p:cNvSpPr/>
          <p:nvPr/>
        </p:nvSpPr>
        <p:spPr>
          <a:xfrm>
            <a:off x="5840965" y="3040980"/>
            <a:ext cx="6867137" cy="1731820"/>
          </a:xfrm>
          <a:prstGeom prst="hexagon">
            <a:avLst>
              <a:gd name="adj" fmla="val 21333"/>
              <a:gd name="vf" fmla="val 115470"/>
            </a:avLst>
          </a:prstGeom>
          <a:solidFill>
            <a:srgbClr val="1274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95811F-33BB-4397-A9D5-50921F52CB07}"/>
              </a:ext>
            </a:extLst>
          </p:cNvPr>
          <p:cNvSpPr txBox="1"/>
          <p:nvPr/>
        </p:nvSpPr>
        <p:spPr>
          <a:xfrm>
            <a:off x="6257290" y="3242627"/>
            <a:ext cx="60739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RCE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hujumlari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kod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kutubxonalaridagi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zaifliklardan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foydalanish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yoki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foydalanuvchi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kiritish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maydonlari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orqali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zararli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kodni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kiritish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kabi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turli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xil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vositalar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orqali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amalga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oshirilishi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mumkin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. </a:t>
            </a:r>
          </a:p>
        </p:txBody>
      </p:sp>
      <p:sp>
        <p:nvSpPr>
          <p:cNvPr id="18" name="Шестиугольник 17">
            <a:extLst>
              <a:ext uri="{FF2B5EF4-FFF2-40B4-BE49-F238E27FC236}">
                <a16:creationId xmlns:a16="http://schemas.microsoft.com/office/drawing/2014/main" id="{58460808-1EEE-4FC4-B872-9F3304AA51B0}"/>
              </a:ext>
            </a:extLst>
          </p:cNvPr>
          <p:cNvSpPr/>
          <p:nvPr/>
        </p:nvSpPr>
        <p:spPr>
          <a:xfrm>
            <a:off x="5883863" y="4932887"/>
            <a:ext cx="6867137" cy="1731820"/>
          </a:xfrm>
          <a:prstGeom prst="hexagon">
            <a:avLst>
              <a:gd name="adj" fmla="val 21333"/>
              <a:gd name="vf" fmla="val 115470"/>
            </a:avLst>
          </a:prstGeom>
          <a:solidFill>
            <a:srgbClr val="02A4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2CA83E-26E9-40D4-81CE-E9546C4E964A}"/>
              </a:ext>
            </a:extLst>
          </p:cNvPr>
          <p:cNvSpPr txBox="1"/>
          <p:nvPr/>
        </p:nvSpPr>
        <p:spPr>
          <a:xfrm>
            <a:off x="6280439" y="5033558"/>
            <a:ext cx="64508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RCE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hujumi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bir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nechta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oqibatlarga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olib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kelishi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mumkin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.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Bularga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xizmat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ko‘rsatishni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rad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etish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(DoS)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hujumlari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maxfiy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ma’lumotlarni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oshkor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qilish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noqonuniy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kriptovalyuta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qazib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olish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va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zararli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dasturlarni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amalga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oshirish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kiradi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. </a:t>
            </a:r>
          </a:p>
        </p:txBody>
      </p:sp>
      <p:sp>
        <p:nvSpPr>
          <p:cNvPr id="31" name="Полилиния: фигура 30">
            <a:extLst>
              <a:ext uri="{FF2B5EF4-FFF2-40B4-BE49-F238E27FC236}">
                <a16:creationId xmlns:a16="http://schemas.microsoft.com/office/drawing/2014/main" id="{9CEC50AF-92D9-4AA3-AEB4-6467FD2E6645}"/>
              </a:ext>
            </a:extLst>
          </p:cNvPr>
          <p:cNvSpPr/>
          <p:nvPr/>
        </p:nvSpPr>
        <p:spPr>
          <a:xfrm rot="2724854">
            <a:off x="-793480" y="965985"/>
            <a:ext cx="5979640" cy="2134418"/>
          </a:xfrm>
          <a:custGeom>
            <a:avLst/>
            <a:gdLst>
              <a:gd name="connsiteX0" fmla="*/ 0 w 5979640"/>
              <a:gd name="connsiteY0" fmla="*/ 1204190 h 2134418"/>
              <a:gd name="connsiteX1" fmla="*/ 1186904 w 5979640"/>
              <a:gd name="connsiteY1" fmla="*/ 0 h 2134418"/>
              <a:gd name="connsiteX2" fmla="*/ 4912431 w 5979640"/>
              <a:gd name="connsiteY2" fmla="*/ 0 h 2134418"/>
              <a:gd name="connsiteX3" fmla="*/ 5979640 w 5979640"/>
              <a:gd name="connsiteY3" fmla="*/ 1067209 h 2134418"/>
              <a:gd name="connsiteX4" fmla="*/ 4912431 w 5979640"/>
              <a:gd name="connsiteY4" fmla="*/ 2134418 h 2134418"/>
              <a:gd name="connsiteX5" fmla="*/ 943777 w 5979640"/>
              <a:gd name="connsiteY5" fmla="*/ 2134418 h 213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79640" h="2134418">
                <a:moveTo>
                  <a:pt x="0" y="1204190"/>
                </a:moveTo>
                <a:lnTo>
                  <a:pt x="1186904" y="0"/>
                </a:lnTo>
                <a:lnTo>
                  <a:pt x="4912431" y="0"/>
                </a:lnTo>
                <a:cubicBezTo>
                  <a:pt x="5501834" y="0"/>
                  <a:pt x="5979640" y="477806"/>
                  <a:pt x="5979640" y="1067209"/>
                </a:cubicBezTo>
                <a:cubicBezTo>
                  <a:pt x="5979640" y="1656612"/>
                  <a:pt x="5501834" y="2134418"/>
                  <a:pt x="4912431" y="2134418"/>
                </a:cubicBezTo>
                <a:lnTo>
                  <a:pt x="943777" y="2134418"/>
                </a:lnTo>
                <a:close/>
              </a:path>
            </a:pathLst>
          </a:custGeom>
          <a:gradFill flip="none" rotWithShape="1">
            <a:gsLst>
              <a:gs pos="0">
                <a:srgbClr val="0FA3B1"/>
              </a:gs>
              <a:gs pos="100000">
                <a:srgbClr val="00626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Полилиния: фигура 25">
            <a:extLst>
              <a:ext uri="{FF2B5EF4-FFF2-40B4-BE49-F238E27FC236}">
                <a16:creationId xmlns:a16="http://schemas.microsoft.com/office/drawing/2014/main" id="{13551CD0-937E-4257-A7A8-1DA9B487829B}"/>
              </a:ext>
            </a:extLst>
          </p:cNvPr>
          <p:cNvSpPr/>
          <p:nvPr/>
        </p:nvSpPr>
        <p:spPr>
          <a:xfrm rot="2724854">
            <a:off x="-793557" y="2916654"/>
            <a:ext cx="3019073" cy="965118"/>
          </a:xfrm>
          <a:custGeom>
            <a:avLst/>
            <a:gdLst>
              <a:gd name="connsiteX0" fmla="*/ 0 w 3019073"/>
              <a:gd name="connsiteY0" fmla="*/ 0 h 965118"/>
              <a:gd name="connsiteX1" fmla="*/ 2536514 w 3019073"/>
              <a:gd name="connsiteY1" fmla="*/ 0 h 965118"/>
              <a:gd name="connsiteX2" fmla="*/ 3019073 w 3019073"/>
              <a:gd name="connsiteY2" fmla="*/ 482559 h 965118"/>
              <a:gd name="connsiteX3" fmla="*/ 3019072 w 3019073"/>
              <a:gd name="connsiteY3" fmla="*/ 482559 h 965118"/>
              <a:gd name="connsiteX4" fmla="*/ 2536513 w 3019073"/>
              <a:gd name="connsiteY4" fmla="*/ 965118 h 965118"/>
              <a:gd name="connsiteX5" fmla="*/ 979175 w 3019073"/>
              <a:gd name="connsiteY5" fmla="*/ 965118 h 965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9073" h="965118">
                <a:moveTo>
                  <a:pt x="0" y="0"/>
                </a:moveTo>
                <a:lnTo>
                  <a:pt x="2536514" y="0"/>
                </a:lnTo>
                <a:cubicBezTo>
                  <a:pt x="2803024" y="0"/>
                  <a:pt x="3019073" y="216049"/>
                  <a:pt x="3019073" y="482559"/>
                </a:cubicBezTo>
                <a:lnTo>
                  <a:pt x="3019072" y="482559"/>
                </a:lnTo>
                <a:cubicBezTo>
                  <a:pt x="3019072" y="749069"/>
                  <a:pt x="2803023" y="965118"/>
                  <a:pt x="2536513" y="965118"/>
                </a:cubicBezTo>
                <a:lnTo>
                  <a:pt x="979175" y="965118"/>
                </a:lnTo>
                <a:close/>
              </a:path>
            </a:pathLst>
          </a:custGeom>
          <a:gradFill flip="none" rotWithShape="1">
            <a:gsLst>
              <a:gs pos="0">
                <a:srgbClr val="0FA3B1"/>
              </a:gs>
              <a:gs pos="100000">
                <a:srgbClr val="00626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Полилиния: фигура 32">
            <a:extLst>
              <a:ext uri="{FF2B5EF4-FFF2-40B4-BE49-F238E27FC236}">
                <a16:creationId xmlns:a16="http://schemas.microsoft.com/office/drawing/2014/main" id="{BD959EDA-0760-41E3-90DA-BCB5BC05A005}"/>
              </a:ext>
            </a:extLst>
          </p:cNvPr>
          <p:cNvSpPr/>
          <p:nvPr/>
        </p:nvSpPr>
        <p:spPr>
          <a:xfrm rot="2724854">
            <a:off x="-1229610" y="5236938"/>
            <a:ext cx="3757694" cy="1880561"/>
          </a:xfrm>
          <a:custGeom>
            <a:avLst/>
            <a:gdLst>
              <a:gd name="connsiteX0" fmla="*/ 0 w 3757694"/>
              <a:gd name="connsiteY0" fmla="*/ 0 h 1880561"/>
              <a:gd name="connsiteX1" fmla="*/ 3680914 w 3757694"/>
              <a:gd name="connsiteY1" fmla="*/ 0 h 1880561"/>
              <a:gd name="connsiteX2" fmla="*/ 3757694 w 3757694"/>
              <a:gd name="connsiteY2" fmla="*/ 3877 h 1880561"/>
              <a:gd name="connsiteX3" fmla="*/ 1907951 w 3757694"/>
              <a:gd name="connsiteY3" fmla="*/ 1880561 h 188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7694" h="1880561">
                <a:moveTo>
                  <a:pt x="0" y="0"/>
                </a:moveTo>
                <a:lnTo>
                  <a:pt x="3680914" y="0"/>
                </a:lnTo>
                <a:lnTo>
                  <a:pt x="3757694" y="3877"/>
                </a:lnTo>
                <a:lnTo>
                  <a:pt x="1907951" y="1880561"/>
                </a:lnTo>
                <a:close/>
              </a:path>
            </a:pathLst>
          </a:custGeom>
          <a:gradFill flip="none" rotWithShape="1">
            <a:gsLst>
              <a:gs pos="0">
                <a:srgbClr val="0FA3B1"/>
              </a:gs>
              <a:gs pos="100000">
                <a:srgbClr val="00626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705AB7C3-CA79-43D9-928D-B94F26591BC8}"/>
              </a:ext>
            </a:extLst>
          </p:cNvPr>
          <p:cNvGrpSpPr/>
          <p:nvPr/>
        </p:nvGrpSpPr>
        <p:grpSpPr>
          <a:xfrm>
            <a:off x="745065" y="2174220"/>
            <a:ext cx="4320000" cy="4320000"/>
            <a:chOff x="745065" y="2174220"/>
            <a:chExt cx="4320000" cy="4320000"/>
          </a:xfrm>
        </p:grpSpPr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id="{3AC7D515-8E88-4BFE-BC4E-00F0F89183A8}"/>
                </a:ext>
              </a:extLst>
            </p:cNvPr>
            <p:cNvSpPr/>
            <p:nvPr/>
          </p:nvSpPr>
          <p:spPr>
            <a:xfrm>
              <a:off x="745065" y="2174220"/>
              <a:ext cx="4320000" cy="4320000"/>
            </a:xfrm>
            <a:prstGeom prst="ellipse">
              <a:avLst/>
            </a:prstGeom>
            <a:solidFill>
              <a:srgbClr val="0FA3B1"/>
            </a:solidFill>
            <a:ln w="7620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F9B7CA5A-0CEA-425C-BA6C-397C064BFE84}"/>
                </a:ext>
              </a:extLst>
            </p:cNvPr>
            <p:cNvSpPr/>
            <p:nvPr/>
          </p:nvSpPr>
          <p:spPr>
            <a:xfrm>
              <a:off x="911218" y="2340373"/>
              <a:ext cx="3987692" cy="3987692"/>
            </a:xfrm>
            <a:prstGeom prst="ellipse">
              <a:avLst/>
            </a:prstGeom>
            <a:noFill/>
            <a:ln w="10160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BD94DCD5-53CC-4765-91BC-FB6C99C4F12B}"/>
                </a:ext>
              </a:extLst>
            </p:cNvPr>
            <p:cNvSpPr/>
            <p:nvPr/>
          </p:nvSpPr>
          <p:spPr>
            <a:xfrm>
              <a:off x="1243526" y="2681764"/>
              <a:ext cx="3323077" cy="3323077"/>
            </a:xfrm>
            <a:prstGeom prst="ellipse">
              <a:avLst/>
            </a:prstGeom>
            <a:blipFill dpi="0" rotWithShape="1">
              <a:blip r:embed="rId3"/>
              <a:srcRect/>
              <a:stretch>
                <a:fillRect l="-10000"/>
              </a:stretch>
            </a:blipFill>
            <a:ln w="8572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Овал 38">
            <a:extLst>
              <a:ext uri="{FF2B5EF4-FFF2-40B4-BE49-F238E27FC236}">
                <a16:creationId xmlns:a16="http://schemas.microsoft.com/office/drawing/2014/main" id="{B38580EA-57AF-4308-B16B-F8A5612BCA83}"/>
              </a:ext>
            </a:extLst>
          </p:cNvPr>
          <p:cNvSpPr/>
          <p:nvPr/>
        </p:nvSpPr>
        <p:spPr>
          <a:xfrm>
            <a:off x="3238021" y="542533"/>
            <a:ext cx="2160000" cy="2160000"/>
          </a:xfrm>
          <a:prstGeom prst="ellipse">
            <a:avLst/>
          </a:prstGeom>
          <a:solidFill>
            <a:srgbClr val="0FA3B1"/>
          </a:solidFill>
          <a:ln w="7620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8CFB68AC-0FAD-499A-A0DD-16C29CDFF347}"/>
              </a:ext>
            </a:extLst>
          </p:cNvPr>
          <p:cNvSpPr/>
          <p:nvPr/>
        </p:nvSpPr>
        <p:spPr>
          <a:xfrm>
            <a:off x="3321098" y="625610"/>
            <a:ext cx="1993846" cy="1993846"/>
          </a:xfrm>
          <a:prstGeom prst="ellipse">
            <a:avLst/>
          </a:prstGeom>
          <a:noFill/>
          <a:ln w="1016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08CCA641-324B-44EA-95E2-5F8E2EE7A5A6}"/>
              </a:ext>
            </a:extLst>
          </p:cNvPr>
          <p:cNvSpPr/>
          <p:nvPr/>
        </p:nvSpPr>
        <p:spPr>
          <a:xfrm>
            <a:off x="3487252" y="796305"/>
            <a:ext cx="1661539" cy="1661539"/>
          </a:xfrm>
          <a:prstGeom prst="ellipse">
            <a:avLst/>
          </a:prstGeom>
          <a:blipFill dpi="0" rotWithShape="1">
            <a:blip r:embed="rId4"/>
            <a:srcRect/>
            <a:stretch>
              <a:fillRect l="-10000"/>
            </a:stretch>
          </a:blipFill>
          <a:ln w="8572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924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03A3B77-1120-4202-B872-7E54EFB7A8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1000"/>
                    </a14:imgEffect>
                    <a14:imgEffect>
                      <a14:brightnessContrast contrast="11000"/>
                    </a14:imgEffect>
                  </a14:imgLayer>
                </a14:imgProps>
              </a:ext>
            </a:extLst>
          </a:blip>
          <a:srcRect l="2311" t="2588" r="2252" b="4415"/>
          <a:stretch/>
        </p:blipFill>
        <p:spPr>
          <a:xfrm>
            <a:off x="1105003" y="1030146"/>
            <a:ext cx="9774012" cy="57615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221836-C5CE-436D-AF9A-4986C38D3F1B}"/>
              </a:ext>
            </a:extLst>
          </p:cNvPr>
          <p:cNvSpPr txBox="1"/>
          <p:nvPr/>
        </p:nvSpPr>
        <p:spPr>
          <a:xfrm>
            <a:off x="3315638" y="172203"/>
            <a:ext cx="50663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 err="1">
                <a:latin typeface="Arial Black" panose="020B0A04020102020204" pitchFamily="34" charset="0"/>
              </a:rPr>
              <a:t>Kodni</a:t>
            </a:r>
            <a:r>
              <a:rPr lang="en-US" sz="2400" b="1" dirty="0">
                <a:latin typeface="Arial Black" panose="020B0A04020102020204" pitchFamily="34" charset="0"/>
              </a:rPr>
              <a:t> </a:t>
            </a:r>
            <a:r>
              <a:rPr lang="en-US" sz="2400" b="1" dirty="0" err="1">
                <a:latin typeface="Arial Black" panose="020B0A04020102020204" pitchFamily="34" charset="0"/>
              </a:rPr>
              <a:t>masofadan</a:t>
            </a:r>
            <a:r>
              <a:rPr lang="en-US" sz="2400" b="1" dirty="0">
                <a:latin typeface="Arial Black" panose="020B0A04020102020204" pitchFamily="34" charset="0"/>
              </a:rPr>
              <a:t> </a:t>
            </a:r>
            <a:r>
              <a:rPr lang="en-US" sz="2400" b="1" dirty="0" err="1">
                <a:latin typeface="Arial Black" panose="020B0A04020102020204" pitchFamily="34" charset="0"/>
              </a:rPr>
              <a:t>boshqarish</a:t>
            </a:r>
            <a:r>
              <a:rPr lang="en-US" sz="2400" b="1" dirty="0">
                <a:latin typeface="Arial Black" panose="020B0A04020102020204" pitchFamily="34" charset="0"/>
              </a:rPr>
              <a:t> </a:t>
            </a:r>
            <a:r>
              <a:rPr lang="en-US" sz="2400" b="1" dirty="0">
                <a:solidFill>
                  <a:srgbClr val="02A4AB"/>
                </a:solidFill>
                <a:latin typeface="Arial Black" panose="020B0A04020102020204" pitchFamily="34" charset="0"/>
              </a:rPr>
              <a:t>(RCE)</a:t>
            </a:r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9FFCF96E-FE31-407E-844F-5B648A094BE1}"/>
              </a:ext>
            </a:extLst>
          </p:cNvPr>
          <p:cNvSpPr/>
          <p:nvPr/>
        </p:nvSpPr>
        <p:spPr>
          <a:xfrm rot="19244511">
            <a:off x="10673603" y="-405556"/>
            <a:ext cx="1863827" cy="2318540"/>
          </a:xfrm>
          <a:custGeom>
            <a:avLst/>
            <a:gdLst>
              <a:gd name="connsiteX0" fmla="*/ 706587 w 1863827"/>
              <a:gd name="connsiteY0" fmla="*/ 0 h 2318540"/>
              <a:gd name="connsiteX1" fmla="*/ 1863827 w 1863827"/>
              <a:gd name="connsiteY1" fmla="*/ 945780 h 2318540"/>
              <a:gd name="connsiteX2" fmla="*/ 741909 w 1863827"/>
              <a:gd name="connsiteY2" fmla="*/ 2318540 h 2318540"/>
              <a:gd name="connsiteX3" fmla="*/ 572620 w 1863827"/>
              <a:gd name="connsiteY3" fmla="*/ 2226653 h 2318540"/>
              <a:gd name="connsiteX4" fmla="*/ 0 w 1863827"/>
              <a:gd name="connsiteY4" fmla="*/ 1149684 h 2318540"/>
              <a:gd name="connsiteX5" fmla="*/ 572620 w 1863827"/>
              <a:gd name="connsiteY5" fmla="*/ 72715 h 2318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3827" h="2318540">
                <a:moveTo>
                  <a:pt x="706587" y="0"/>
                </a:moveTo>
                <a:lnTo>
                  <a:pt x="1863827" y="945780"/>
                </a:lnTo>
                <a:lnTo>
                  <a:pt x="741909" y="2318540"/>
                </a:lnTo>
                <a:lnTo>
                  <a:pt x="572620" y="2226653"/>
                </a:lnTo>
                <a:cubicBezTo>
                  <a:pt x="227142" y="1993253"/>
                  <a:pt x="1" y="1597995"/>
                  <a:pt x="0" y="1149684"/>
                </a:cubicBezTo>
                <a:cubicBezTo>
                  <a:pt x="0" y="701374"/>
                  <a:pt x="227142" y="306116"/>
                  <a:pt x="572620" y="72715"/>
                </a:cubicBezTo>
                <a:close/>
              </a:path>
            </a:pathLst>
          </a:custGeom>
          <a:gradFill flip="none" rotWithShape="1">
            <a:gsLst>
              <a:gs pos="0">
                <a:srgbClr val="0FA3B1"/>
              </a:gs>
              <a:gs pos="100000">
                <a:srgbClr val="00626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Полилиния: фигура 16">
            <a:extLst>
              <a:ext uri="{FF2B5EF4-FFF2-40B4-BE49-F238E27FC236}">
                <a16:creationId xmlns:a16="http://schemas.microsoft.com/office/drawing/2014/main" id="{59548A87-F8CF-4EC3-A962-87E5869452CD}"/>
              </a:ext>
            </a:extLst>
          </p:cNvPr>
          <p:cNvSpPr/>
          <p:nvPr/>
        </p:nvSpPr>
        <p:spPr>
          <a:xfrm rot="13499844">
            <a:off x="-190288" y="-569684"/>
            <a:ext cx="1925306" cy="2314772"/>
          </a:xfrm>
          <a:custGeom>
            <a:avLst/>
            <a:gdLst>
              <a:gd name="connsiteX0" fmla="*/ 638205 w 1925306"/>
              <a:gd name="connsiteY0" fmla="*/ 2314772 h 2314772"/>
              <a:gd name="connsiteX1" fmla="*/ 561662 w 1925306"/>
              <a:gd name="connsiteY1" fmla="*/ 2268271 h 2314772"/>
              <a:gd name="connsiteX2" fmla="*/ 6577 w 1925306"/>
              <a:gd name="connsiteY2" fmla="*/ 1342163 h 2314772"/>
              <a:gd name="connsiteX3" fmla="*/ 0 w 1925306"/>
              <a:gd name="connsiteY3" fmla="*/ 1211911 h 2314772"/>
              <a:gd name="connsiteX4" fmla="*/ 6577 w 1925306"/>
              <a:gd name="connsiteY4" fmla="*/ 1081660 h 2314772"/>
              <a:gd name="connsiteX5" fmla="*/ 806810 w 1925306"/>
              <a:gd name="connsiteY5" fmla="*/ 26349 h 2314772"/>
              <a:gd name="connsiteX6" fmla="*/ 897612 w 1925306"/>
              <a:gd name="connsiteY6" fmla="*/ 0 h 2314772"/>
              <a:gd name="connsiteX7" fmla="*/ 1925306 w 1925306"/>
              <a:gd name="connsiteY7" fmla="*/ 1027787 h 231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25306" h="2314772">
                <a:moveTo>
                  <a:pt x="638205" y="2314772"/>
                </a:moveTo>
                <a:lnTo>
                  <a:pt x="561662" y="2268271"/>
                </a:lnTo>
                <a:cubicBezTo>
                  <a:pt x="256682" y="2062231"/>
                  <a:pt x="45720" y="1727594"/>
                  <a:pt x="6577" y="1342163"/>
                </a:cubicBezTo>
                <a:lnTo>
                  <a:pt x="0" y="1211911"/>
                </a:lnTo>
                <a:lnTo>
                  <a:pt x="6577" y="1081660"/>
                </a:lnTo>
                <a:cubicBezTo>
                  <a:pt x="55505" y="599871"/>
                  <a:pt x="372902" y="197448"/>
                  <a:pt x="806810" y="26349"/>
                </a:cubicBezTo>
                <a:lnTo>
                  <a:pt x="897612" y="0"/>
                </a:lnTo>
                <a:lnTo>
                  <a:pt x="1925306" y="1027787"/>
                </a:lnTo>
                <a:close/>
              </a:path>
            </a:pathLst>
          </a:custGeom>
          <a:gradFill flip="none" rotWithShape="1">
            <a:gsLst>
              <a:gs pos="0">
                <a:srgbClr val="0FA3B1"/>
              </a:gs>
              <a:gs pos="100000">
                <a:srgbClr val="00626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390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2DC6C8-1452-4A0B-86CF-0CA8EFAE6994}"/>
              </a:ext>
            </a:extLst>
          </p:cNvPr>
          <p:cNvSpPr txBox="1"/>
          <p:nvPr/>
        </p:nvSpPr>
        <p:spPr>
          <a:xfrm>
            <a:off x="283048" y="632480"/>
            <a:ext cx="57018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latin typeface="Arial Black" panose="020B0A04020102020204" pitchFamily="34" charset="0"/>
              </a:rPr>
              <a:t>Saytlararo</a:t>
            </a:r>
            <a:r>
              <a:rPr lang="en-US" sz="3200" b="1" dirty="0">
                <a:latin typeface="Arial Black" panose="020B0A04020102020204" pitchFamily="34" charset="0"/>
              </a:rPr>
              <a:t> </a:t>
            </a:r>
            <a:r>
              <a:rPr lang="en-US" sz="3200" b="1" dirty="0" err="1">
                <a:latin typeface="Arial Black" panose="020B0A04020102020204" pitchFamily="34" charset="0"/>
              </a:rPr>
              <a:t>so‘rovlarni</a:t>
            </a:r>
            <a:r>
              <a:rPr lang="en-US" sz="3200" b="1" dirty="0">
                <a:latin typeface="Arial Black" panose="020B0A04020102020204" pitchFamily="34" charset="0"/>
              </a:rPr>
              <a:t> </a:t>
            </a:r>
            <a:r>
              <a:rPr lang="en-US" sz="3200" b="1" dirty="0" err="1">
                <a:solidFill>
                  <a:srgbClr val="127475"/>
                </a:solidFill>
                <a:latin typeface="Arial Black" panose="020B0A04020102020204" pitchFamily="34" charset="0"/>
              </a:rPr>
              <a:t>qalbakilashtirish</a:t>
            </a:r>
            <a:r>
              <a:rPr lang="en-US" sz="3200" b="1" dirty="0">
                <a:solidFill>
                  <a:srgbClr val="127475"/>
                </a:solidFill>
                <a:latin typeface="Arial Black" panose="020B0A04020102020204" pitchFamily="34" charset="0"/>
              </a:rPr>
              <a:t> (CSRF)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CCBA80D-58DE-4D37-AECF-5D19039FB8DC}"/>
              </a:ext>
            </a:extLst>
          </p:cNvPr>
          <p:cNvSpPr/>
          <p:nvPr/>
        </p:nvSpPr>
        <p:spPr>
          <a:xfrm>
            <a:off x="359247" y="1688255"/>
            <a:ext cx="5304317" cy="67165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80CFFB-0618-48AE-BF26-312F46CD27E0}"/>
              </a:ext>
            </a:extLst>
          </p:cNvPr>
          <p:cNvSpPr txBox="1"/>
          <p:nvPr/>
        </p:nvSpPr>
        <p:spPr>
          <a:xfrm>
            <a:off x="283048" y="1912004"/>
            <a:ext cx="68469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Bu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jabrlanuvchini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ularning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bilmagan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holda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web-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saytda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harakat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qilish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uchun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aldashni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o‘z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ichiga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olgan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hujum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turi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.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Buni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jabrlanuvchi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allaqachon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autentifikatsiya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qilingan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web-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saytga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zararli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havola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yoki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shakl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kiritish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orqali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amalga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oshirish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mumkin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30" name="Полилиния: фигура 29">
            <a:extLst>
              <a:ext uri="{FF2B5EF4-FFF2-40B4-BE49-F238E27FC236}">
                <a16:creationId xmlns:a16="http://schemas.microsoft.com/office/drawing/2014/main" id="{12B73575-CF16-4199-857E-C50C70A4A720}"/>
              </a:ext>
            </a:extLst>
          </p:cNvPr>
          <p:cNvSpPr/>
          <p:nvPr/>
        </p:nvSpPr>
        <p:spPr>
          <a:xfrm>
            <a:off x="-751" y="4652154"/>
            <a:ext cx="6783517" cy="1707388"/>
          </a:xfrm>
          <a:custGeom>
            <a:avLst/>
            <a:gdLst>
              <a:gd name="connsiteX0" fmla="*/ 0 w 6783517"/>
              <a:gd name="connsiteY0" fmla="*/ 0 h 1707388"/>
              <a:gd name="connsiteX1" fmla="*/ 6206642 w 6783517"/>
              <a:gd name="connsiteY1" fmla="*/ 0 h 1707388"/>
              <a:gd name="connsiteX2" fmla="*/ 6783517 w 6783517"/>
              <a:gd name="connsiteY2" fmla="*/ 576875 h 1707388"/>
              <a:gd name="connsiteX3" fmla="*/ 6783517 w 6783517"/>
              <a:gd name="connsiteY3" fmla="*/ 1130513 h 1707388"/>
              <a:gd name="connsiteX4" fmla="*/ 6206642 w 6783517"/>
              <a:gd name="connsiteY4" fmla="*/ 1707388 h 1707388"/>
              <a:gd name="connsiteX5" fmla="*/ 0 w 6783517"/>
              <a:gd name="connsiteY5" fmla="*/ 1707388 h 1707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83517" h="1707388">
                <a:moveTo>
                  <a:pt x="0" y="0"/>
                </a:moveTo>
                <a:lnTo>
                  <a:pt x="6206642" y="0"/>
                </a:lnTo>
                <a:cubicBezTo>
                  <a:pt x="6525241" y="0"/>
                  <a:pt x="6783517" y="258276"/>
                  <a:pt x="6783517" y="576875"/>
                </a:cubicBezTo>
                <a:lnTo>
                  <a:pt x="6783517" y="1130513"/>
                </a:lnTo>
                <a:cubicBezTo>
                  <a:pt x="6783517" y="1449112"/>
                  <a:pt x="6525241" y="1707388"/>
                  <a:pt x="6206642" y="1707388"/>
                </a:cubicBezTo>
                <a:lnTo>
                  <a:pt x="0" y="1707388"/>
                </a:lnTo>
                <a:close/>
              </a:path>
            </a:pathLst>
          </a:custGeom>
          <a:gradFill flip="none" rotWithShape="1">
            <a:gsLst>
              <a:gs pos="0">
                <a:srgbClr val="0FA3B1"/>
              </a:gs>
              <a:gs pos="100000">
                <a:srgbClr val="00626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17D514-78AB-46F5-B863-9F594CA8DB0A}"/>
              </a:ext>
            </a:extLst>
          </p:cNvPr>
          <p:cNvSpPr txBox="1"/>
          <p:nvPr/>
        </p:nvSpPr>
        <p:spPr>
          <a:xfrm>
            <a:off x="359248" y="4721018"/>
            <a:ext cx="65600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</a:rPr>
              <a:t>Jabrlanuvchi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havolani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bosganda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yoki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shaklni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topshirganda</a:t>
            </a:r>
            <a:r>
              <a:rPr lang="en-US" sz="2400" b="1" dirty="0">
                <a:solidFill>
                  <a:schemeClr val="bg1"/>
                </a:solidFill>
              </a:rPr>
              <a:t>, harakat </a:t>
            </a:r>
            <a:r>
              <a:rPr lang="en-US" sz="2400" b="1" dirty="0" err="1">
                <a:solidFill>
                  <a:schemeClr val="bg1"/>
                </a:solidFill>
              </a:rPr>
              <a:t>ularning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nomidan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amalga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oshiriladi</a:t>
            </a:r>
            <a:r>
              <a:rPr lang="en-US" sz="2400" b="1" dirty="0">
                <a:solidFill>
                  <a:schemeClr val="bg1"/>
                </a:solidFill>
              </a:rPr>
              <a:t>, </a:t>
            </a:r>
            <a:r>
              <a:rPr lang="en-US" sz="2400" b="1" dirty="0" err="1">
                <a:solidFill>
                  <a:schemeClr val="bg1"/>
                </a:solidFill>
              </a:rPr>
              <a:t>bu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ma’lumotlarning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yo‘qolishiga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yoki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ruxsatsiz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kirishga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olib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kelishi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mumkin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28" name="Полилиния: фигура 27">
            <a:extLst>
              <a:ext uri="{FF2B5EF4-FFF2-40B4-BE49-F238E27FC236}">
                <a16:creationId xmlns:a16="http://schemas.microsoft.com/office/drawing/2014/main" id="{8C99AD4A-394A-41F1-B470-CBCAC574FD4D}"/>
              </a:ext>
            </a:extLst>
          </p:cNvPr>
          <p:cNvSpPr/>
          <p:nvPr/>
        </p:nvSpPr>
        <p:spPr>
          <a:xfrm rot="18209707">
            <a:off x="9767626" y="591697"/>
            <a:ext cx="3521848" cy="2100750"/>
          </a:xfrm>
          <a:custGeom>
            <a:avLst/>
            <a:gdLst>
              <a:gd name="connsiteX0" fmla="*/ 3053429 w 3521848"/>
              <a:gd name="connsiteY0" fmla="*/ 1 h 2100750"/>
              <a:gd name="connsiteX1" fmla="*/ 3521848 w 3521848"/>
              <a:gd name="connsiteY1" fmla="*/ 707835 h 2100750"/>
              <a:gd name="connsiteX2" fmla="*/ 1416993 w 3521848"/>
              <a:gd name="connsiteY2" fmla="*/ 2100750 h 2100750"/>
              <a:gd name="connsiteX3" fmla="*/ 1050375 w 3521848"/>
              <a:gd name="connsiteY3" fmla="*/ 2100750 h 2100750"/>
              <a:gd name="connsiteX4" fmla="*/ 0 w 3521848"/>
              <a:gd name="connsiteY4" fmla="*/ 1050375 h 2100750"/>
              <a:gd name="connsiteX5" fmla="*/ 1050375 w 3521848"/>
              <a:gd name="connsiteY5" fmla="*/ 0 h 210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21848" h="2100750">
                <a:moveTo>
                  <a:pt x="3053429" y="1"/>
                </a:moveTo>
                <a:lnTo>
                  <a:pt x="3521848" y="707835"/>
                </a:lnTo>
                <a:lnTo>
                  <a:pt x="1416993" y="2100750"/>
                </a:lnTo>
                <a:lnTo>
                  <a:pt x="1050375" y="2100750"/>
                </a:lnTo>
                <a:cubicBezTo>
                  <a:pt x="470269" y="2100750"/>
                  <a:pt x="0" y="1630481"/>
                  <a:pt x="0" y="1050375"/>
                </a:cubicBezTo>
                <a:cubicBezTo>
                  <a:pt x="0" y="470269"/>
                  <a:pt x="470269" y="0"/>
                  <a:pt x="1050375" y="0"/>
                </a:cubicBezTo>
                <a:close/>
              </a:path>
            </a:pathLst>
          </a:custGeom>
          <a:gradFill flip="none" rotWithShape="1">
            <a:gsLst>
              <a:gs pos="0">
                <a:srgbClr val="0FA3B1"/>
              </a:gs>
              <a:gs pos="100000">
                <a:srgbClr val="00626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Полилиния: фигура 19">
            <a:extLst>
              <a:ext uri="{FF2B5EF4-FFF2-40B4-BE49-F238E27FC236}">
                <a16:creationId xmlns:a16="http://schemas.microsoft.com/office/drawing/2014/main" id="{6B04A030-369E-4F2C-A149-1A7ACAC480B0}"/>
              </a:ext>
            </a:extLst>
          </p:cNvPr>
          <p:cNvSpPr/>
          <p:nvPr/>
        </p:nvSpPr>
        <p:spPr>
          <a:xfrm rot="7267017">
            <a:off x="9955769" y="5302804"/>
            <a:ext cx="2478777" cy="2100750"/>
          </a:xfrm>
          <a:custGeom>
            <a:avLst/>
            <a:gdLst>
              <a:gd name="connsiteX0" fmla="*/ 126775 w 2478777"/>
              <a:gd name="connsiteY0" fmla="*/ 1551046 h 2100750"/>
              <a:gd name="connsiteX1" fmla="*/ 0 w 2478777"/>
              <a:gd name="connsiteY1" fmla="*/ 1050375 h 2100750"/>
              <a:gd name="connsiteX2" fmla="*/ 82543 w 2478777"/>
              <a:gd name="connsiteY2" fmla="*/ 641521 h 2100750"/>
              <a:gd name="connsiteX3" fmla="*/ 128726 w 2478777"/>
              <a:gd name="connsiteY3" fmla="*/ 556437 h 2100750"/>
              <a:gd name="connsiteX4" fmla="*/ 1050526 w 2478777"/>
              <a:gd name="connsiteY4" fmla="*/ 0 h 2100750"/>
              <a:gd name="connsiteX5" fmla="*/ 1210677 w 2478777"/>
              <a:gd name="connsiteY5" fmla="*/ 1 h 2100750"/>
              <a:gd name="connsiteX6" fmla="*/ 2478777 w 2478777"/>
              <a:gd name="connsiteY6" fmla="*/ 2100749 h 2100750"/>
              <a:gd name="connsiteX7" fmla="*/ 1050375 w 2478777"/>
              <a:gd name="connsiteY7" fmla="*/ 2100750 h 2100750"/>
              <a:gd name="connsiteX8" fmla="*/ 126775 w 2478777"/>
              <a:gd name="connsiteY8" fmla="*/ 1551046 h 210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8777" h="2100750">
                <a:moveTo>
                  <a:pt x="126775" y="1551046"/>
                </a:moveTo>
                <a:cubicBezTo>
                  <a:pt x="45924" y="1402215"/>
                  <a:pt x="0" y="1231658"/>
                  <a:pt x="0" y="1050375"/>
                </a:cubicBezTo>
                <a:cubicBezTo>
                  <a:pt x="0" y="905348"/>
                  <a:pt x="29392" y="767187"/>
                  <a:pt x="82543" y="641521"/>
                </a:cubicBezTo>
                <a:lnTo>
                  <a:pt x="128726" y="556437"/>
                </a:lnTo>
                <a:lnTo>
                  <a:pt x="1050526" y="0"/>
                </a:lnTo>
                <a:lnTo>
                  <a:pt x="1210677" y="1"/>
                </a:lnTo>
                <a:lnTo>
                  <a:pt x="2478777" y="2100749"/>
                </a:lnTo>
                <a:lnTo>
                  <a:pt x="1050375" y="2100750"/>
                </a:lnTo>
                <a:cubicBezTo>
                  <a:pt x="651552" y="2100750"/>
                  <a:pt x="304644" y="1878474"/>
                  <a:pt x="126775" y="1551046"/>
                </a:cubicBezTo>
                <a:close/>
              </a:path>
            </a:pathLst>
          </a:custGeom>
          <a:gradFill flip="none" rotWithShape="1">
            <a:gsLst>
              <a:gs pos="0">
                <a:srgbClr val="0FA3B1"/>
              </a:gs>
              <a:gs pos="100000">
                <a:srgbClr val="00626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Полилиния: фигура 20">
            <a:extLst>
              <a:ext uri="{FF2B5EF4-FFF2-40B4-BE49-F238E27FC236}">
                <a16:creationId xmlns:a16="http://schemas.microsoft.com/office/drawing/2014/main" id="{5B61D2D9-774A-40DB-B90C-1AB79AA97ACF}"/>
              </a:ext>
            </a:extLst>
          </p:cNvPr>
          <p:cNvSpPr/>
          <p:nvPr/>
        </p:nvSpPr>
        <p:spPr>
          <a:xfrm rot="18209707">
            <a:off x="8925105" y="-101129"/>
            <a:ext cx="1877207" cy="1139095"/>
          </a:xfrm>
          <a:custGeom>
            <a:avLst/>
            <a:gdLst>
              <a:gd name="connsiteX0" fmla="*/ 0 w 1877207"/>
              <a:gd name="connsiteY0" fmla="*/ 569547 h 1139095"/>
              <a:gd name="connsiteX1" fmla="*/ 0 w 1877207"/>
              <a:gd name="connsiteY1" fmla="*/ 569548 h 1139095"/>
              <a:gd name="connsiteX2" fmla="*/ 0 w 1877207"/>
              <a:gd name="connsiteY2" fmla="*/ 569548 h 1139095"/>
              <a:gd name="connsiteX3" fmla="*/ 1123396 w 1877207"/>
              <a:gd name="connsiteY3" fmla="*/ 0 h 1139095"/>
              <a:gd name="connsiteX4" fmla="*/ 1877207 w 1877207"/>
              <a:gd name="connsiteY4" fmla="*/ 1139095 h 1139095"/>
              <a:gd name="connsiteX5" fmla="*/ 569548 w 1877207"/>
              <a:gd name="connsiteY5" fmla="*/ 1139095 h 1139095"/>
              <a:gd name="connsiteX6" fmla="*/ 11571 w 1877207"/>
              <a:gd name="connsiteY6" fmla="*/ 684331 h 1139095"/>
              <a:gd name="connsiteX7" fmla="*/ 0 w 1877207"/>
              <a:gd name="connsiteY7" fmla="*/ 569548 h 1139095"/>
              <a:gd name="connsiteX8" fmla="*/ 11571 w 1877207"/>
              <a:gd name="connsiteY8" fmla="*/ 454764 h 1139095"/>
              <a:gd name="connsiteX9" fmla="*/ 569548 w 1877207"/>
              <a:gd name="connsiteY9" fmla="*/ 0 h 113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77207" h="1139095">
                <a:moveTo>
                  <a:pt x="0" y="569547"/>
                </a:moveTo>
                <a:lnTo>
                  <a:pt x="0" y="569548"/>
                </a:lnTo>
                <a:lnTo>
                  <a:pt x="0" y="569548"/>
                </a:lnTo>
                <a:close/>
                <a:moveTo>
                  <a:pt x="1123396" y="0"/>
                </a:moveTo>
                <a:lnTo>
                  <a:pt x="1877207" y="1139095"/>
                </a:lnTo>
                <a:lnTo>
                  <a:pt x="569548" y="1139095"/>
                </a:lnTo>
                <a:cubicBezTo>
                  <a:pt x="294314" y="1139095"/>
                  <a:pt x="64679" y="943864"/>
                  <a:pt x="11571" y="684331"/>
                </a:cubicBezTo>
                <a:lnTo>
                  <a:pt x="0" y="569548"/>
                </a:lnTo>
                <a:lnTo>
                  <a:pt x="11571" y="454764"/>
                </a:lnTo>
                <a:cubicBezTo>
                  <a:pt x="64679" y="195231"/>
                  <a:pt x="294314" y="0"/>
                  <a:pt x="569548" y="0"/>
                </a:cubicBezTo>
                <a:close/>
              </a:path>
            </a:pathLst>
          </a:custGeom>
          <a:gradFill flip="none" rotWithShape="1">
            <a:gsLst>
              <a:gs pos="0">
                <a:srgbClr val="0FA3B1"/>
              </a:gs>
              <a:gs pos="100000">
                <a:srgbClr val="00626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Полилиния: фигура 25">
            <a:extLst>
              <a:ext uri="{FF2B5EF4-FFF2-40B4-BE49-F238E27FC236}">
                <a16:creationId xmlns:a16="http://schemas.microsoft.com/office/drawing/2014/main" id="{81256EB7-D341-47F5-8C69-A295CB648DA2}"/>
              </a:ext>
            </a:extLst>
          </p:cNvPr>
          <p:cNvSpPr/>
          <p:nvPr/>
        </p:nvSpPr>
        <p:spPr>
          <a:xfrm rot="18209707">
            <a:off x="6041372" y="4360949"/>
            <a:ext cx="5130992" cy="1626616"/>
          </a:xfrm>
          <a:custGeom>
            <a:avLst/>
            <a:gdLst>
              <a:gd name="connsiteX0" fmla="*/ 4992092 w 5130992"/>
              <a:gd name="connsiteY0" fmla="*/ 358580 h 1626616"/>
              <a:gd name="connsiteX1" fmla="*/ 5130992 w 5130992"/>
              <a:gd name="connsiteY1" fmla="*/ 813308 h 1626616"/>
              <a:gd name="connsiteX2" fmla="*/ 4317684 w 5130992"/>
              <a:gd name="connsiteY2" fmla="*/ 1626616 h 1626616"/>
              <a:gd name="connsiteX3" fmla="*/ 1075229 w 5130992"/>
              <a:gd name="connsiteY3" fmla="*/ 1626616 h 1626616"/>
              <a:gd name="connsiteX4" fmla="*/ 0 w 5130992"/>
              <a:gd name="connsiteY4" fmla="*/ 1821 h 1626616"/>
              <a:gd name="connsiteX5" fmla="*/ 18062 w 5130992"/>
              <a:gd name="connsiteY5" fmla="*/ 0 h 1626616"/>
              <a:gd name="connsiteX6" fmla="*/ 4317684 w 5130992"/>
              <a:gd name="connsiteY6" fmla="*/ 0 h 1626616"/>
              <a:gd name="connsiteX7" fmla="*/ 4992092 w 5130992"/>
              <a:gd name="connsiteY7" fmla="*/ 358580 h 1626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30992" h="1626616">
                <a:moveTo>
                  <a:pt x="4992092" y="358580"/>
                </a:moveTo>
                <a:cubicBezTo>
                  <a:pt x="5079786" y="488384"/>
                  <a:pt x="5130992" y="644866"/>
                  <a:pt x="5130992" y="813308"/>
                </a:cubicBezTo>
                <a:cubicBezTo>
                  <a:pt x="5130992" y="1262486"/>
                  <a:pt x="4766862" y="1626616"/>
                  <a:pt x="4317684" y="1626616"/>
                </a:cubicBezTo>
                <a:lnTo>
                  <a:pt x="1075229" y="1626616"/>
                </a:lnTo>
                <a:lnTo>
                  <a:pt x="0" y="1821"/>
                </a:lnTo>
                <a:lnTo>
                  <a:pt x="18062" y="0"/>
                </a:lnTo>
                <a:lnTo>
                  <a:pt x="4317684" y="0"/>
                </a:lnTo>
                <a:cubicBezTo>
                  <a:pt x="4598420" y="0"/>
                  <a:pt x="4845935" y="142238"/>
                  <a:pt x="4992092" y="358580"/>
                </a:cubicBezTo>
                <a:close/>
              </a:path>
            </a:pathLst>
          </a:custGeom>
          <a:gradFill flip="none" rotWithShape="1">
            <a:gsLst>
              <a:gs pos="0">
                <a:srgbClr val="0FA3B1"/>
              </a:gs>
              <a:gs pos="100000">
                <a:srgbClr val="00626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90DD9380-CA62-4C6C-A0E9-02172CC6EA18}"/>
              </a:ext>
            </a:extLst>
          </p:cNvPr>
          <p:cNvSpPr/>
          <p:nvPr/>
        </p:nvSpPr>
        <p:spPr>
          <a:xfrm>
            <a:off x="7199134" y="1194555"/>
            <a:ext cx="4680000" cy="4680000"/>
          </a:xfrm>
          <a:prstGeom prst="ellipse">
            <a:avLst/>
          </a:prstGeom>
          <a:solidFill>
            <a:srgbClr val="0FA3B1"/>
          </a:solidFill>
          <a:ln w="7620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46198568-70E6-4AC6-85D1-9A7FF1631492}"/>
              </a:ext>
            </a:extLst>
          </p:cNvPr>
          <p:cNvSpPr/>
          <p:nvPr/>
        </p:nvSpPr>
        <p:spPr>
          <a:xfrm>
            <a:off x="7379134" y="1374555"/>
            <a:ext cx="4320000" cy="4320000"/>
          </a:xfrm>
          <a:prstGeom prst="ellipse">
            <a:avLst/>
          </a:prstGeom>
          <a:noFill/>
          <a:ln w="1016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DD2AF7D2-A07B-4174-99C7-AB16D599FFA9}"/>
              </a:ext>
            </a:extLst>
          </p:cNvPr>
          <p:cNvSpPr/>
          <p:nvPr/>
        </p:nvSpPr>
        <p:spPr>
          <a:xfrm>
            <a:off x="7739134" y="1744394"/>
            <a:ext cx="3600000" cy="3600000"/>
          </a:xfrm>
          <a:prstGeom prst="ellipse">
            <a:avLst/>
          </a:prstGeom>
          <a:blipFill dpi="0" rotWithShape="1">
            <a:blip r:embed="rId2"/>
            <a:srcRect/>
            <a:stretch>
              <a:fillRect l="-10000"/>
            </a:stretch>
          </a:blipFill>
          <a:ln w="8572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80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p14:presetBounceEnd="6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11CAF6-9F51-4E1A-924B-68C8289FFE12}"/>
              </a:ext>
            </a:extLst>
          </p:cNvPr>
          <p:cNvSpPr txBox="1"/>
          <p:nvPr/>
        </p:nvSpPr>
        <p:spPr>
          <a:xfrm>
            <a:off x="189533" y="408111"/>
            <a:ext cx="57018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latin typeface="Arial Black" panose="020B0A04020102020204" pitchFamily="34" charset="0"/>
              </a:rPr>
              <a:t>Saytlararo</a:t>
            </a:r>
            <a:r>
              <a:rPr lang="en-US" sz="3200" b="1" dirty="0">
                <a:latin typeface="Arial Black" panose="020B0A04020102020204" pitchFamily="34" charset="0"/>
              </a:rPr>
              <a:t> </a:t>
            </a:r>
            <a:r>
              <a:rPr lang="en-US" sz="3200" b="1" dirty="0" err="1">
                <a:latin typeface="Arial Black" panose="020B0A04020102020204" pitchFamily="34" charset="0"/>
              </a:rPr>
              <a:t>so‘rovlarni</a:t>
            </a:r>
            <a:r>
              <a:rPr lang="en-US" sz="3200" b="1" dirty="0">
                <a:latin typeface="Arial Black" panose="020B0A04020102020204" pitchFamily="34" charset="0"/>
              </a:rPr>
              <a:t> </a:t>
            </a:r>
            <a:r>
              <a:rPr lang="en-US" sz="3200" b="1" dirty="0" err="1">
                <a:solidFill>
                  <a:srgbClr val="02A4AB"/>
                </a:solidFill>
                <a:latin typeface="Arial Black" panose="020B0A04020102020204" pitchFamily="34" charset="0"/>
              </a:rPr>
              <a:t>qalbakilashtirish</a:t>
            </a:r>
            <a:r>
              <a:rPr lang="en-US" sz="3200" b="1" dirty="0">
                <a:solidFill>
                  <a:srgbClr val="02A4AB"/>
                </a:solidFill>
                <a:latin typeface="Arial Black" panose="020B0A04020102020204" pitchFamily="34" charset="0"/>
              </a:rPr>
              <a:t> (CSRF)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5794C42-BDBD-4560-8E6B-F78480FF50FA}"/>
              </a:ext>
            </a:extLst>
          </p:cNvPr>
          <p:cNvSpPr/>
          <p:nvPr/>
        </p:nvSpPr>
        <p:spPr>
          <a:xfrm>
            <a:off x="268699" y="1504513"/>
            <a:ext cx="5323870" cy="67165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C177F0-E02C-4DB5-8C01-52F6C4C8ECB8}"/>
              </a:ext>
            </a:extLst>
          </p:cNvPr>
          <p:cNvSpPr txBox="1"/>
          <p:nvPr/>
        </p:nvSpPr>
        <p:spPr>
          <a:xfrm>
            <a:off x="172177" y="1626801"/>
            <a:ext cx="68469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Ilova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URL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manzillari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yoki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ma’lumotlar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bazasi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kalitlari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kabi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to‘g’ridan-to‘g’ri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ob’ekt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havolalarini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oshkor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qilganda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yuzaga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keladi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,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bu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esa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tajovuzkorlarga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ushbu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havolalarni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boshqarish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orqali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cheklangan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ma’lumotlarga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kirish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imkonini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beradi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. </a:t>
            </a:r>
          </a:p>
        </p:txBody>
      </p:sp>
      <p:sp>
        <p:nvSpPr>
          <p:cNvPr id="8" name="Прямоугольник 30">
            <a:extLst>
              <a:ext uri="{FF2B5EF4-FFF2-40B4-BE49-F238E27FC236}">
                <a16:creationId xmlns:a16="http://schemas.microsoft.com/office/drawing/2014/main" id="{EF389CCF-728B-459F-940B-DD8482080DA7}"/>
              </a:ext>
            </a:extLst>
          </p:cNvPr>
          <p:cNvSpPr/>
          <p:nvPr/>
        </p:nvSpPr>
        <p:spPr>
          <a:xfrm>
            <a:off x="-21516" y="-10758"/>
            <a:ext cx="12213515" cy="812573"/>
          </a:xfrm>
          <a:custGeom>
            <a:avLst/>
            <a:gdLst>
              <a:gd name="connsiteX0" fmla="*/ 0 w 12192000"/>
              <a:gd name="connsiteY0" fmla="*/ 0 h 811210"/>
              <a:gd name="connsiteX1" fmla="*/ 12192000 w 12192000"/>
              <a:gd name="connsiteY1" fmla="*/ 0 h 811210"/>
              <a:gd name="connsiteX2" fmla="*/ 12192000 w 12192000"/>
              <a:gd name="connsiteY2" fmla="*/ 811210 h 811210"/>
              <a:gd name="connsiteX3" fmla="*/ 0 w 12192000"/>
              <a:gd name="connsiteY3" fmla="*/ 811210 h 811210"/>
              <a:gd name="connsiteX4" fmla="*/ 0 w 12192000"/>
              <a:gd name="connsiteY4" fmla="*/ 0 h 811210"/>
              <a:gd name="connsiteX0" fmla="*/ 21515 w 12213515"/>
              <a:gd name="connsiteY0" fmla="*/ 0 h 811210"/>
              <a:gd name="connsiteX1" fmla="*/ 12213515 w 12213515"/>
              <a:gd name="connsiteY1" fmla="*/ 0 h 811210"/>
              <a:gd name="connsiteX2" fmla="*/ 12213515 w 12213515"/>
              <a:gd name="connsiteY2" fmla="*/ 811210 h 811210"/>
              <a:gd name="connsiteX3" fmla="*/ 0 w 12213515"/>
              <a:gd name="connsiteY3" fmla="*/ 36659 h 811210"/>
              <a:gd name="connsiteX4" fmla="*/ 21515 w 12213515"/>
              <a:gd name="connsiteY4" fmla="*/ 0 h 811210"/>
              <a:gd name="connsiteX0" fmla="*/ 21515 w 12213515"/>
              <a:gd name="connsiteY0" fmla="*/ 0 h 811210"/>
              <a:gd name="connsiteX1" fmla="*/ 12213515 w 12213515"/>
              <a:gd name="connsiteY1" fmla="*/ 0 h 811210"/>
              <a:gd name="connsiteX2" fmla="*/ 12213515 w 12213515"/>
              <a:gd name="connsiteY2" fmla="*/ 811210 h 811210"/>
              <a:gd name="connsiteX3" fmla="*/ 0 w 12213515"/>
              <a:gd name="connsiteY3" fmla="*/ 36659 h 811210"/>
              <a:gd name="connsiteX4" fmla="*/ 21515 w 12213515"/>
              <a:gd name="connsiteY4" fmla="*/ 0 h 811210"/>
              <a:gd name="connsiteX0" fmla="*/ 21515 w 12213515"/>
              <a:gd name="connsiteY0" fmla="*/ 0 h 812573"/>
              <a:gd name="connsiteX1" fmla="*/ 12213515 w 12213515"/>
              <a:gd name="connsiteY1" fmla="*/ 0 h 812573"/>
              <a:gd name="connsiteX2" fmla="*/ 12213515 w 12213515"/>
              <a:gd name="connsiteY2" fmla="*/ 811210 h 812573"/>
              <a:gd name="connsiteX3" fmla="*/ 0 w 12213515"/>
              <a:gd name="connsiteY3" fmla="*/ 36659 h 812573"/>
              <a:gd name="connsiteX4" fmla="*/ 21515 w 12213515"/>
              <a:gd name="connsiteY4" fmla="*/ 0 h 812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3515" h="812573">
                <a:moveTo>
                  <a:pt x="21515" y="0"/>
                </a:moveTo>
                <a:lnTo>
                  <a:pt x="12213515" y="0"/>
                </a:lnTo>
                <a:lnTo>
                  <a:pt x="12213515" y="811210"/>
                </a:lnTo>
                <a:cubicBezTo>
                  <a:pt x="7927190" y="843483"/>
                  <a:pt x="4071172" y="294843"/>
                  <a:pt x="0" y="36659"/>
                </a:cubicBezTo>
                <a:lnTo>
                  <a:pt x="21515" y="0"/>
                </a:lnTo>
                <a:close/>
              </a:path>
            </a:pathLst>
          </a:custGeom>
          <a:solidFill>
            <a:srgbClr val="02A4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69AE586-500C-43D2-AD9B-1858CEA430D9}"/>
              </a:ext>
            </a:extLst>
          </p:cNvPr>
          <p:cNvSpPr/>
          <p:nvPr/>
        </p:nvSpPr>
        <p:spPr>
          <a:xfrm rot="7267017">
            <a:off x="9960641" y="5288847"/>
            <a:ext cx="2478777" cy="2100750"/>
          </a:xfrm>
          <a:custGeom>
            <a:avLst/>
            <a:gdLst>
              <a:gd name="connsiteX0" fmla="*/ 126775 w 2478777"/>
              <a:gd name="connsiteY0" fmla="*/ 1551046 h 2100750"/>
              <a:gd name="connsiteX1" fmla="*/ 0 w 2478777"/>
              <a:gd name="connsiteY1" fmla="*/ 1050375 h 2100750"/>
              <a:gd name="connsiteX2" fmla="*/ 1050375 w 2478777"/>
              <a:gd name="connsiteY2" fmla="*/ 0 h 2100750"/>
              <a:gd name="connsiteX3" fmla="*/ 1210677 w 2478777"/>
              <a:gd name="connsiteY3" fmla="*/ 1 h 2100750"/>
              <a:gd name="connsiteX4" fmla="*/ 2478777 w 2478777"/>
              <a:gd name="connsiteY4" fmla="*/ 2100749 h 2100750"/>
              <a:gd name="connsiteX5" fmla="*/ 1050375 w 2478777"/>
              <a:gd name="connsiteY5" fmla="*/ 2100750 h 2100750"/>
              <a:gd name="connsiteX6" fmla="*/ 126775 w 2478777"/>
              <a:gd name="connsiteY6" fmla="*/ 1551046 h 210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78777" h="2100750">
                <a:moveTo>
                  <a:pt x="126775" y="1551046"/>
                </a:moveTo>
                <a:cubicBezTo>
                  <a:pt x="45924" y="1402215"/>
                  <a:pt x="0" y="1231658"/>
                  <a:pt x="0" y="1050375"/>
                </a:cubicBezTo>
                <a:cubicBezTo>
                  <a:pt x="0" y="470269"/>
                  <a:pt x="470269" y="0"/>
                  <a:pt x="1050375" y="0"/>
                </a:cubicBezTo>
                <a:lnTo>
                  <a:pt x="1210677" y="1"/>
                </a:lnTo>
                <a:lnTo>
                  <a:pt x="2478777" y="2100749"/>
                </a:lnTo>
                <a:lnTo>
                  <a:pt x="1050375" y="2100750"/>
                </a:lnTo>
                <a:cubicBezTo>
                  <a:pt x="651552" y="2100750"/>
                  <a:pt x="304644" y="1878474"/>
                  <a:pt x="126775" y="1551046"/>
                </a:cubicBezTo>
                <a:close/>
              </a:path>
            </a:pathLst>
          </a:custGeom>
          <a:gradFill flip="none" rotWithShape="1">
            <a:gsLst>
              <a:gs pos="65000">
                <a:srgbClr val="0FA3B1"/>
              </a:gs>
              <a:gs pos="4000">
                <a:srgbClr val="00626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469CEC66-2FEC-4003-81D1-68F1AB483E4D}"/>
              </a:ext>
            </a:extLst>
          </p:cNvPr>
          <p:cNvSpPr/>
          <p:nvPr/>
        </p:nvSpPr>
        <p:spPr>
          <a:xfrm rot="18209707">
            <a:off x="6041372" y="4360949"/>
            <a:ext cx="5130992" cy="1626616"/>
          </a:xfrm>
          <a:custGeom>
            <a:avLst/>
            <a:gdLst>
              <a:gd name="connsiteX0" fmla="*/ 4992092 w 5130992"/>
              <a:gd name="connsiteY0" fmla="*/ 358580 h 1626616"/>
              <a:gd name="connsiteX1" fmla="*/ 5130992 w 5130992"/>
              <a:gd name="connsiteY1" fmla="*/ 813308 h 1626616"/>
              <a:gd name="connsiteX2" fmla="*/ 4317684 w 5130992"/>
              <a:gd name="connsiteY2" fmla="*/ 1626616 h 1626616"/>
              <a:gd name="connsiteX3" fmla="*/ 1075229 w 5130992"/>
              <a:gd name="connsiteY3" fmla="*/ 1626616 h 1626616"/>
              <a:gd name="connsiteX4" fmla="*/ 0 w 5130992"/>
              <a:gd name="connsiteY4" fmla="*/ 1821 h 1626616"/>
              <a:gd name="connsiteX5" fmla="*/ 18062 w 5130992"/>
              <a:gd name="connsiteY5" fmla="*/ 0 h 1626616"/>
              <a:gd name="connsiteX6" fmla="*/ 4317684 w 5130992"/>
              <a:gd name="connsiteY6" fmla="*/ 0 h 1626616"/>
              <a:gd name="connsiteX7" fmla="*/ 4992092 w 5130992"/>
              <a:gd name="connsiteY7" fmla="*/ 358580 h 1626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30992" h="1626616">
                <a:moveTo>
                  <a:pt x="4992092" y="358580"/>
                </a:moveTo>
                <a:cubicBezTo>
                  <a:pt x="5079786" y="488384"/>
                  <a:pt x="5130992" y="644866"/>
                  <a:pt x="5130992" y="813308"/>
                </a:cubicBezTo>
                <a:cubicBezTo>
                  <a:pt x="5130992" y="1262486"/>
                  <a:pt x="4766862" y="1626616"/>
                  <a:pt x="4317684" y="1626616"/>
                </a:cubicBezTo>
                <a:lnTo>
                  <a:pt x="1075229" y="1626616"/>
                </a:lnTo>
                <a:lnTo>
                  <a:pt x="0" y="1821"/>
                </a:lnTo>
                <a:lnTo>
                  <a:pt x="18062" y="0"/>
                </a:lnTo>
                <a:lnTo>
                  <a:pt x="4317684" y="0"/>
                </a:lnTo>
                <a:cubicBezTo>
                  <a:pt x="4598420" y="0"/>
                  <a:pt x="4845935" y="142238"/>
                  <a:pt x="4992092" y="358580"/>
                </a:cubicBezTo>
                <a:close/>
              </a:path>
            </a:pathLst>
          </a:custGeom>
          <a:gradFill flip="none" rotWithShape="1">
            <a:gsLst>
              <a:gs pos="55000">
                <a:srgbClr val="0FA3B1"/>
              </a:gs>
              <a:gs pos="92000">
                <a:srgbClr val="00626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DC8D8D37-0900-4FC9-8CDA-0A1FA4511BF3}"/>
              </a:ext>
            </a:extLst>
          </p:cNvPr>
          <p:cNvSpPr/>
          <p:nvPr/>
        </p:nvSpPr>
        <p:spPr>
          <a:xfrm>
            <a:off x="7199134" y="1194555"/>
            <a:ext cx="4680000" cy="4680000"/>
          </a:xfrm>
          <a:prstGeom prst="ellipse">
            <a:avLst/>
          </a:prstGeom>
          <a:solidFill>
            <a:srgbClr val="0FA3B1"/>
          </a:solidFill>
          <a:ln w="7620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7A063CA0-32E3-4D07-97F7-A53D05B168E2}"/>
              </a:ext>
            </a:extLst>
          </p:cNvPr>
          <p:cNvSpPr/>
          <p:nvPr/>
        </p:nvSpPr>
        <p:spPr>
          <a:xfrm>
            <a:off x="7379134" y="1374555"/>
            <a:ext cx="4320000" cy="4320000"/>
          </a:xfrm>
          <a:prstGeom prst="ellipse">
            <a:avLst/>
          </a:prstGeom>
          <a:noFill/>
          <a:ln w="1016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4A3838B4-8A5C-405C-9739-2FEE23D507D3}"/>
              </a:ext>
            </a:extLst>
          </p:cNvPr>
          <p:cNvSpPr/>
          <p:nvPr/>
        </p:nvSpPr>
        <p:spPr>
          <a:xfrm>
            <a:off x="7739134" y="1744394"/>
            <a:ext cx="3600000" cy="3600000"/>
          </a:xfrm>
          <a:prstGeom prst="ellipse">
            <a:avLst/>
          </a:prstGeom>
          <a:blipFill dpi="0" rotWithShape="1">
            <a:blip r:embed="rId2"/>
            <a:srcRect/>
            <a:stretch>
              <a:fillRect l="-10000"/>
            </a:stretch>
          </a:blipFill>
          <a:ln w="8572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Полилиния: фигура 19">
            <a:extLst>
              <a:ext uri="{FF2B5EF4-FFF2-40B4-BE49-F238E27FC236}">
                <a16:creationId xmlns:a16="http://schemas.microsoft.com/office/drawing/2014/main" id="{5AAE5588-9A30-466A-B2FD-BD66432B319C}"/>
              </a:ext>
            </a:extLst>
          </p:cNvPr>
          <p:cNvSpPr/>
          <p:nvPr/>
        </p:nvSpPr>
        <p:spPr>
          <a:xfrm>
            <a:off x="29025" y="4079192"/>
            <a:ext cx="6783517" cy="2203557"/>
          </a:xfrm>
          <a:custGeom>
            <a:avLst/>
            <a:gdLst>
              <a:gd name="connsiteX0" fmla="*/ 0 w 6783517"/>
              <a:gd name="connsiteY0" fmla="*/ 0 h 1707388"/>
              <a:gd name="connsiteX1" fmla="*/ 6206642 w 6783517"/>
              <a:gd name="connsiteY1" fmla="*/ 0 h 1707388"/>
              <a:gd name="connsiteX2" fmla="*/ 6783517 w 6783517"/>
              <a:gd name="connsiteY2" fmla="*/ 576875 h 1707388"/>
              <a:gd name="connsiteX3" fmla="*/ 6783517 w 6783517"/>
              <a:gd name="connsiteY3" fmla="*/ 1130513 h 1707388"/>
              <a:gd name="connsiteX4" fmla="*/ 6206642 w 6783517"/>
              <a:gd name="connsiteY4" fmla="*/ 1707388 h 1707388"/>
              <a:gd name="connsiteX5" fmla="*/ 0 w 6783517"/>
              <a:gd name="connsiteY5" fmla="*/ 1707388 h 1707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83517" h="1707388">
                <a:moveTo>
                  <a:pt x="0" y="0"/>
                </a:moveTo>
                <a:lnTo>
                  <a:pt x="6206642" y="0"/>
                </a:lnTo>
                <a:cubicBezTo>
                  <a:pt x="6525241" y="0"/>
                  <a:pt x="6783517" y="258276"/>
                  <a:pt x="6783517" y="576875"/>
                </a:cubicBezTo>
                <a:lnTo>
                  <a:pt x="6783517" y="1130513"/>
                </a:lnTo>
                <a:cubicBezTo>
                  <a:pt x="6783517" y="1449112"/>
                  <a:pt x="6525241" y="1707388"/>
                  <a:pt x="6206642" y="1707388"/>
                </a:cubicBezTo>
                <a:lnTo>
                  <a:pt x="0" y="1707388"/>
                </a:lnTo>
                <a:close/>
              </a:path>
            </a:pathLst>
          </a:custGeom>
          <a:gradFill flip="none" rotWithShape="1">
            <a:gsLst>
              <a:gs pos="0">
                <a:srgbClr val="0FA3B1"/>
              </a:gs>
              <a:gs pos="100000">
                <a:srgbClr val="00626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321802-23AF-4570-AC8F-8D5CDDFA9477}"/>
              </a:ext>
            </a:extLst>
          </p:cNvPr>
          <p:cNvSpPr txBox="1"/>
          <p:nvPr/>
        </p:nvSpPr>
        <p:spPr>
          <a:xfrm>
            <a:off x="255144" y="4181128"/>
            <a:ext cx="65600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bg1"/>
                </a:solidFill>
              </a:rPr>
              <a:t>Misol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uchun</a:t>
            </a:r>
            <a:r>
              <a:rPr lang="en-US" sz="2000" b="1" dirty="0">
                <a:solidFill>
                  <a:schemeClr val="bg1"/>
                </a:solidFill>
              </a:rPr>
              <a:t>, </a:t>
            </a:r>
            <a:r>
              <a:rPr lang="en-US" sz="2000" b="1" dirty="0" err="1">
                <a:solidFill>
                  <a:schemeClr val="bg1"/>
                </a:solidFill>
              </a:rPr>
              <a:t>ilova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foydalanuvchilarga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o‘z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hisob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raqamlarini</a:t>
            </a:r>
            <a:r>
              <a:rPr lang="en-US" sz="2000" b="1" dirty="0">
                <a:solidFill>
                  <a:schemeClr val="bg1"/>
                </a:solidFill>
              </a:rPr>
              <a:t> URL </a:t>
            </a:r>
            <a:r>
              <a:rPr lang="en-US" sz="2000" b="1" dirty="0" err="1">
                <a:solidFill>
                  <a:schemeClr val="bg1"/>
                </a:solidFill>
              </a:rPr>
              <a:t>manziliga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kiritish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orqali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o‘z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hisob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ma’lumotlariga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kirishga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ruxsat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berishi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mumkin</a:t>
            </a:r>
            <a:r>
              <a:rPr lang="en-US" sz="2000" b="1" dirty="0">
                <a:solidFill>
                  <a:schemeClr val="bg1"/>
                </a:solidFill>
              </a:rPr>
              <a:t>, </a:t>
            </a:r>
            <a:r>
              <a:rPr lang="en-US" sz="2000" b="1" dirty="0" err="1">
                <a:solidFill>
                  <a:schemeClr val="bg1"/>
                </a:solidFill>
              </a:rPr>
              <a:t>masalan</a:t>
            </a:r>
            <a:r>
              <a:rPr lang="en-US" sz="2000" b="1" dirty="0">
                <a:solidFill>
                  <a:schemeClr val="bg1"/>
                </a:solidFill>
              </a:rPr>
              <a:t>, “www.banksite.com/account/123”. </a:t>
            </a:r>
            <a:r>
              <a:rPr lang="en-US" sz="2000" b="1" dirty="0" err="1">
                <a:solidFill>
                  <a:schemeClr val="bg1"/>
                </a:solidFill>
              </a:rPr>
              <a:t>Buzg’unchi</a:t>
            </a:r>
            <a:r>
              <a:rPr lang="en-US" sz="2000" b="1" dirty="0">
                <a:solidFill>
                  <a:schemeClr val="bg1"/>
                </a:solidFill>
              </a:rPr>
              <a:t> URL </a:t>
            </a:r>
            <a:r>
              <a:rPr lang="en-US" sz="2000" b="1" dirty="0" err="1">
                <a:solidFill>
                  <a:schemeClr val="bg1"/>
                </a:solidFill>
              </a:rPr>
              <a:t>manzilidagi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hisob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raqamini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o‘zgartirish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orqali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boshqa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foydalanuvchilarning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hisob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ma’lumotlariga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kirishi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mumkin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978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p14:presetBounceEnd="6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1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1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1" grpId="0"/>
        </p:bldLst>
      </p:timing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F1D4859-8B19-4735-96BA-5985A0DCAA25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5000"/>
                    </a14:imgEffect>
                    <a14:imgEffect>
                      <a14:brightnessContrast contrast="6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1171" y="1088020"/>
            <a:ext cx="10235878" cy="57699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016748-2AA6-43A6-AE9C-E2F0E559D572}"/>
              </a:ext>
            </a:extLst>
          </p:cNvPr>
          <p:cNvSpPr txBox="1"/>
          <p:nvPr/>
        </p:nvSpPr>
        <p:spPr>
          <a:xfrm>
            <a:off x="1659218" y="49093"/>
            <a:ext cx="910334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latin typeface="Arial Black" panose="020B0A04020102020204" pitchFamily="34" charset="0"/>
              </a:rPr>
              <a:t>Saytlararo</a:t>
            </a:r>
            <a:r>
              <a:rPr lang="en-US" sz="3200" b="1" dirty="0">
                <a:latin typeface="Arial Black" panose="020B0A04020102020204" pitchFamily="34" charset="0"/>
              </a:rPr>
              <a:t> </a:t>
            </a:r>
            <a:r>
              <a:rPr lang="en-US" sz="3200" b="1" dirty="0" err="1">
                <a:latin typeface="Arial Black" panose="020B0A04020102020204" pitchFamily="34" charset="0"/>
              </a:rPr>
              <a:t>so‘rovlarni</a:t>
            </a:r>
            <a:r>
              <a:rPr lang="en-US" sz="3200" b="1" dirty="0">
                <a:latin typeface="Arial Black" panose="020B0A04020102020204" pitchFamily="34" charset="0"/>
              </a:rPr>
              <a:t> </a:t>
            </a:r>
            <a:r>
              <a:rPr lang="en-US" sz="3200" b="1" dirty="0" err="1">
                <a:latin typeface="Arial Black" panose="020B0A04020102020204" pitchFamily="34" charset="0"/>
              </a:rPr>
              <a:t>qalbakilashtirish</a:t>
            </a:r>
            <a:r>
              <a:rPr lang="en-US" sz="3200" b="1" dirty="0">
                <a:latin typeface="Arial Black" panose="020B0A04020102020204" pitchFamily="34" charset="0"/>
              </a:rPr>
              <a:t> </a:t>
            </a:r>
            <a:r>
              <a:rPr lang="en-US" sz="3200" b="1" dirty="0">
                <a:solidFill>
                  <a:srgbClr val="0FA3B1"/>
                </a:solidFill>
                <a:latin typeface="Arial Black" panose="020B0A04020102020204" pitchFamily="34" charset="0"/>
              </a:rPr>
              <a:t>(CSRF</a:t>
            </a:r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)</a:t>
            </a: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BDC3DCDC-B764-409C-8BCC-095FC64B60E2}"/>
              </a:ext>
            </a:extLst>
          </p:cNvPr>
          <p:cNvSpPr/>
          <p:nvPr/>
        </p:nvSpPr>
        <p:spPr>
          <a:xfrm rot="19244511">
            <a:off x="10673603" y="-405556"/>
            <a:ext cx="1863827" cy="2318540"/>
          </a:xfrm>
          <a:custGeom>
            <a:avLst/>
            <a:gdLst>
              <a:gd name="connsiteX0" fmla="*/ 706587 w 1863827"/>
              <a:gd name="connsiteY0" fmla="*/ 0 h 2318540"/>
              <a:gd name="connsiteX1" fmla="*/ 1863827 w 1863827"/>
              <a:gd name="connsiteY1" fmla="*/ 945780 h 2318540"/>
              <a:gd name="connsiteX2" fmla="*/ 741909 w 1863827"/>
              <a:gd name="connsiteY2" fmla="*/ 2318540 h 2318540"/>
              <a:gd name="connsiteX3" fmla="*/ 572620 w 1863827"/>
              <a:gd name="connsiteY3" fmla="*/ 2226653 h 2318540"/>
              <a:gd name="connsiteX4" fmla="*/ 0 w 1863827"/>
              <a:gd name="connsiteY4" fmla="*/ 1149684 h 2318540"/>
              <a:gd name="connsiteX5" fmla="*/ 572620 w 1863827"/>
              <a:gd name="connsiteY5" fmla="*/ 72715 h 2318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3827" h="2318540">
                <a:moveTo>
                  <a:pt x="706587" y="0"/>
                </a:moveTo>
                <a:lnTo>
                  <a:pt x="1863827" y="945780"/>
                </a:lnTo>
                <a:lnTo>
                  <a:pt x="741909" y="2318540"/>
                </a:lnTo>
                <a:lnTo>
                  <a:pt x="572620" y="2226653"/>
                </a:lnTo>
                <a:cubicBezTo>
                  <a:pt x="227142" y="1993253"/>
                  <a:pt x="1" y="1597995"/>
                  <a:pt x="0" y="1149684"/>
                </a:cubicBezTo>
                <a:cubicBezTo>
                  <a:pt x="0" y="701374"/>
                  <a:pt x="227142" y="306116"/>
                  <a:pt x="572620" y="72715"/>
                </a:cubicBezTo>
                <a:close/>
              </a:path>
            </a:pathLst>
          </a:custGeom>
          <a:gradFill flip="none" rotWithShape="1">
            <a:gsLst>
              <a:gs pos="65000">
                <a:srgbClr val="0FA3B1"/>
              </a:gs>
              <a:gs pos="4000">
                <a:srgbClr val="00626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B106C508-EAEB-4572-888E-D8B1A8197CEB}"/>
              </a:ext>
            </a:extLst>
          </p:cNvPr>
          <p:cNvSpPr/>
          <p:nvPr/>
        </p:nvSpPr>
        <p:spPr>
          <a:xfrm rot="13499844">
            <a:off x="-190288" y="-569684"/>
            <a:ext cx="1925306" cy="2314772"/>
          </a:xfrm>
          <a:custGeom>
            <a:avLst/>
            <a:gdLst>
              <a:gd name="connsiteX0" fmla="*/ 638205 w 1925306"/>
              <a:gd name="connsiteY0" fmla="*/ 2314772 h 2314772"/>
              <a:gd name="connsiteX1" fmla="*/ 561662 w 1925306"/>
              <a:gd name="connsiteY1" fmla="*/ 2268271 h 2314772"/>
              <a:gd name="connsiteX2" fmla="*/ 6577 w 1925306"/>
              <a:gd name="connsiteY2" fmla="*/ 1342163 h 2314772"/>
              <a:gd name="connsiteX3" fmla="*/ 0 w 1925306"/>
              <a:gd name="connsiteY3" fmla="*/ 1211911 h 2314772"/>
              <a:gd name="connsiteX4" fmla="*/ 6577 w 1925306"/>
              <a:gd name="connsiteY4" fmla="*/ 1081660 h 2314772"/>
              <a:gd name="connsiteX5" fmla="*/ 806810 w 1925306"/>
              <a:gd name="connsiteY5" fmla="*/ 26349 h 2314772"/>
              <a:gd name="connsiteX6" fmla="*/ 897612 w 1925306"/>
              <a:gd name="connsiteY6" fmla="*/ 0 h 2314772"/>
              <a:gd name="connsiteX7" fmla="*/ 1925306 w 1925306"/>
              <a:gd name="connsiteY7" fmla="*/ 1027787 h 231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25306" h="2314772">
                <a:moveTo>
                  <a:pt x="638205" y="2314772"/>
                </a:moveTo>
                <a:lnTo>
                  <a:pt x="561662" y="2268271"/>
                </a:lnTo>
                <a:cubicBezTo>
                  <a:pt x="256682" y="2062231"/>
                  <a:pt x="45720" y="1727594"/>
                  <a:pt x="6577" y="1342163"/>
                </a:cubicBezTo>
                <a:lnTo>
                  <a:pt x="0" y="1211911"/>
                </a:lnTo>
                <a:lnTo>
                  <a:pt x="6577" y="1081660"/>
                </a:lnTo>
                <a:cubicBezTo>
                  <a:pt x="55505" y="599871"/>
                  <a:pt x="372902" y="197448"/>
                  <a:pt x="806810" y="26349"/>
                </a:cubicBezTo>
                <a:lnTo>
                  <a:pt x="897612" y="0"/>
                </a:lnTo>
                <a:lnTo>
                  <a:pt x="1925306" y="1027787"/>
                </a:lnTo>
                <a:close/>
              </a:path>
            </a:pathLst>
          </a:custGeom>
          <a:gradFill flip="none" rotWithShape="1">
            <a:gsLst>
              <a:gs pos="65000">
                <a:srgbClr val="0FA3B1"/>
              </a:gs>
              <a:gs pos="4000">
                <a:srgbClr val="00626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95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02879D-32AF-421A-BF33-D0D87DCAC60C}"/>
              </a:ext>
            </a:extLst>
          </p:cNvPr>
          <p:cNvSpPr txBox="1"/>
          <p:nvPr/>
        </p:nvSpPr>
        <p:spPr>
          <a:xfrm>
            <a:off x="659714" y="274959"/>
            <a:ext cx="103185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Arial Black" panose="020B0A04020102020204" pitchFamily="34" charset="0"/>
              </a:rPr>
              <a:t>SQL injection </a:t>
            </a:r>
            <a:r>
              <a:rPr lang="en-US" sz="3200" b="1" dirty="0" err="1">
                <a:latin typeface="Arial Black" panose="020B0A04020102020204" pitchFamily="34" charset="0"/>
              </a:rPr>
              <a:t>va</a:t>
            </a:r>
            <a:r>
              <a:rPr lang="en-US" sz="3200" b="1" dirty="0">
                <a:latin typeface="Arial Black" panose="020B0A04020102020204" pitchFamily="34" charset="0"/>
              </a:rPr>
              <a:t> </a:t>
            </a:r>
            <a:r>
              <a:rPr lang="en-US" sz="3200" b="1" dirty="0" err="1">
                <a:latin typeface="Arial Black" panose="020B0A04020102020204" pitchFamily="34" charset="0"/>
              </a:rPr>
              <a:t>uning</a:t>
            </a:r>
            <a:r>
              <a:rPr lang="en-US" sz="3200" b="1" dirty="0">
                <a:latin typeface="Arial Black" panose="020B0A04020102020204" pitchFamily="34" charset="0"/>
              </a:rPr>
              <a:t> </a:t>
            </a:r>
            <a:r>
              <a:rPr lang="en-US" sz="3200" b="1" dirty="0" err="1">
                <a:latin typeface="Arial Black" panose="020B0A04020102020204" pitchFamily="34" charset="0"/>
              </a:rPr>
              <a:t>ishlash</a:t>
            </a:r>
            <a:r>
              <a:rPr lang="en-US" sz="3200" b="1" dirty="0">
                <a:latin typeface="Arial Black" panose="020B0A04020102020204" pitchFamily="34" charset="0"/>
              </a:rPr>
              <a:t> </a:t>
            </a:r>
            <a:r>
              <a:rPr lang="en-US" sz="3200" b="1" dirty="0" err="1">
                <a:latin typeface="Arial Black" panose="020B0A04020102020204" pitchFamily="34" charset="0"/>
              </a:rPr>
              <a:t>mexanizmi</a:t>
            </a:r>
            <a:endParaRPr lang="en-US" sz="3200" b="1" dirty="0">
              <a:latin typeface="Arial Black" panose="020B0A04020102020204" pitchFamily="34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DFA4A827-E5C2-4CF1-9847-D81C0E87923E}"/>
              </a:ext>
            </a:extLst>
          </p:cNvPr>
          <p:cNvSpPr/>
          <p:nvPr/>
        </p:nvSpPr>
        <p:spPr>
          <a:xfrm>
            <a:off x="1127760" y="1293110"/>
            <a:ext cx="9433560" cy="1922529"/>
          </a:xfrm>
          <a:prstGeom prst="roundRect">
            <a:avLst/>
          </a:prstGeom>
          <a:gradFill flip="none" rotWithShape="1">
            <a:gsLst>
              <a:gs pos="46000">
                <a:srgbClr val="0FA3B1"/>
              </a:gs>
              <a:gs pos="100000">
                <a:srgbClr val="00626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77F82BD9-1B95-439E-AED4-8BB0762D102E}"/>
              </a:ext>
            </a:extLst>
          </p:cNvPr>
          <p:cNvSpPr/>
          <p:nvPr/>
        </p:nvSpPr>
        <p:spPr>
          <a:xfrm>
            <a:off x="472440" y="3429000"/>
            <a:ext cx="5257800" cy="3017520"/>
          </a:xfrm>
          <a:prstGeom prst="roundRect">
            <a:avLst/>
          </a:prstGeom>
          <a:gradFill flip="none" rotWithShape="1">
            <a:gsLst>
              <a:gs pos="46000">
                <a:srgbClr val="0FA3B1"/>
              </a:gs>
              <a:gs pos="100000">
                <a:srgbClr val="00626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5E8D2CBA-4C8C-4727-A874-DE2D0BA298F0}"/>
              </a:ext>
            </a:extLst>
          </p:cNvPr>
          <p:cNvSpPr/>
          <p:nvPr/>
        </p:nvSpPr>
        <p:spPr>
          <a:xfrm>
            <a:off x="6461762" y="3428999"/>
            <a:ext cx="5257800" cy="3017520"/>
          </a:xfrm>
          <a:prstGeom prst="roundRect">
            <a:avLst/>
          </a:prstGeom>
          <a:gradFill flip="none" rotWithShape="1">
            <a:gsLst>
              <a:gs pos="46000">
                <a:srgbClr val="0FA3B1"/>
              </a:gs>
              <a:gs pos="100000">
                <a:srgbClr val="00626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10106D-810C-4CBA-A76D-1C52AD42D974}"/>
              </a:ext>
            </a:extLst>
          </p:cNvPr>
          <p:cNvSpPr txBox="1"/>
          <p:nvPr/>
        </p:nvSpPr>
        <p:spPr>
          <a:xfrm>
            <a:off x="1432370" y="1373331"/>
            <a:ext cx="912895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SQL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in’ektsiyasi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bu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zaiflikning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bir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turi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bo‘lib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,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buzg’unchi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ma’lumotlar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bazasini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boshqarish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va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potentsial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qimmatli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ma’lumotlarga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kirish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uchun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SQL (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strukturalangan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so‘rovlar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tili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)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kodidan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foydalanadi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. Bu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hujumning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eng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keng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tarqalgan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va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tahdidli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turlaridan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biri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,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chunki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u SQL-ga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asoslangan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ma’lumotlar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bazasidan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foydalanadigan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har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qanday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web-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ilova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yoki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web-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saytga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qarshi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ishlatilishi</a:t>
            </a:r>
            <a:r>
              <a:rPr lang="en-US" sz="1900" b="1" dirty="0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mumkin</a:t>
            </a:r>
            <a:endParaRPr lang="en-US" sz="1900" b="1" dirty="0">
              <a:solidFill>
                <a:schemeClr val="bg1"/>
              </a:solidFill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164E3B71-272E-4A8A-A0C9-4620192B4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197" y="3783597"/>
            <a:ext cx="522972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SQL -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bu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relyatsion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ma’lumotlar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bazalarida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saqlangan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ma’lumotlarga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kirish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o‘zgartirish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va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o‘chirish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uchun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dasturlashda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qo‘llaniladigan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so‘rovlar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tili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. Web-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saytlar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va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web-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ilovalarning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aksariyati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SQL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ma’lumotlar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bazalariga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tayanganligi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sababli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, SQL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in’ektsion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hujumi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tashkilotlar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uchun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jiddiy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oqibatlarga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olib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kelishi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mumkin</a:t>
            </a:r>
            <a:r>
              <a:rPr lang="en-US" alt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3C0ADFA5-11E0-46C8-BCA1-0C17E90BA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7166" y="3506598"/>
            <a:ext cx="52578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so‘rovi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ma’lumotlar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bazasiga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ma’lumotlar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so‘rovi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yoki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bajarilishi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kerak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bo‘lgan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SQL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kodini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bajarish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kabi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faoliyat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yoki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funktsiyalar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uchun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yuborilgan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so‘rovdir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Masalan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foydalanuvchining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saytga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kirishiga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ruxsat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berish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uchun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kirish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ma’lumotlari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web-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shakl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orqali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yuborilganda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Odatda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turdagi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web-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shakl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faqat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nom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yoki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parol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kabi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ma’lum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turdagi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ma’lumotlarni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qabul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qilish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uchun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mo‘ljallangan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8FDE10DA-158B-4445-B066-ADB4EF760A7E}"/>
              </a:ext>
            </a:extLst>
          </p:cNvPr>
          <p:cNvSpPr/>
          <p:nvPr/>
        </p:nvSpPr>
        <p:spPr>
          <a:xfrm>
            <a:off x="11467540" y="1530126"/>
            <a:ext cx="504000" cy="504000"/>
          </a:xfrm>
          <a:prstGeom prst="ellipse">
            <a:avLst/>
          </a:prstGeom>
          <a:solidFill>
            <a:srgbClr val="02A4AB"/>
          </a:solidFill>
          <a:ln>
            <a:noFill/>
          </a:ln>
          <a:effectLst>
            <a:outerShdw blurRad="177800" sx="103000" sy="103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E1EA22E9-F800-4EEA-AE4E-E4613FA60238}"/>
              </a:ext>
            </a:extLst>
          </p:cNvPr>
          <p:cNvSpPr/>
          <p:nvPr/>
        </p:nvSpPr>
        <p:spPr>
          <a:xfrm>
            <a:off x="11611540" y="500732"/>
            <a:ext cx="360000" cy="360000"/>
          </a:xfrm>
          <a:prstGeom prst="ellipse">
            <a:avLst/>
          </a:prstGeom>
          <a:solidFill>
            <a:srgbClr val="EEB500"/>
          </a:solidFill>
          <a:ln>
            <a:noFill/>
          </a:ln>
          <a:effectLst>
            <a:outerShdw blurRad="177800" sx="103000" sy="103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8381E644-CA34-411B-A6D8-875659750F15}"/>
              </a:ext>
            </a:extLst>
          </p:cNvPr>
          <p:cNvSpPr/>
          <p:nvPr/>
        </p:nvSpPr>
        <p:spPr>
          <a:xfrm>
            <a:off x="11080454" y="855046"/>
            <a:ext cx="252000" cy="252000"/>
          </a:xfrm>
          <a:prstGeom prst="ellipse">
            <a:avLst/>
          </a:prstGeom>
          <a:solidFill>
            <a:srgbClr val="02A4AB"/>
          </a:solidFill>
          <a:ln>
            <a:noFill/>
          </a:ln>
          <a:effectLst>
            <a:outerShdw blurRad="177800" sx="103000" sy="103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969D4DF-5A02-421B-A7EC-7E048AB50D7B}"/>
              </a:ext>
            </a:extLst>
          </p:cNvPr>
          <p:cNvSpPr/>
          <p:nvPr/>
        </p:nvSpPr>
        <p:spPr>
          <a:xfrm>
            <a:off x="11062689" y="209281"/>
            <a:ext cx="252000" cy="252000"/>
          </a:xfrm>
          <a:prstGeom prst="ellipse">
            <a:avLst/>
          </a:prstGeom>
          <a:solidFill>
            <a:srgbClr val="EEB500"/>
          </a:solidFill>
          <a:ln>
            <a:noFill/>
          </a:ln>
          <a:effectLst>
            <a:outerShdw blurRad="177800" sx="103000" sy="103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51B17F99-BFFF-4989-8417-A22AA8569349}"/>
              </a:ext>
            </a:extLst>
          </p:cNvPr>
          <p:cNvSpPr/>
          <p:nvPr/>
        </p:nvSpPr>
        <p:spPr>
          <a:xfrm>
            <a:off x="392353" y="1570749"/>
            <a:ext cx="360000" cy="360000"/>
          </a:xfrm>
          <a:prstGeom prst="ellipse">
            <a:avLst/>
          </a:prstGeom>
          <a:solidFill>
            <a:srgbClr val="EEB500"/>
          </a:solidFill>
          <a:ln>
            <a:noFill/>
          </a:ln>
          <a:effectLst>
            <a:outerShdw blurRad="177800" sx="103000" sy="103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50130A31-5B36-4FCF-92CB-6CC136AD4C36}"/>
              </a:ext>
            </a:extLst>
          </p:cNvPr>
          <p:cNvSpPr/>
          <p:nvPr/>
        </p:nvSpPr>
        <p:spPr>
          <a:xfrm>
            <a:off x="56880" y="981046"/>
            <a:ext cx="252000" cy="252000"/>
          </a:xfrm>
          <a:prstGeom prst="ellipse">
            <a:avLst/>
          </a:prstGeom>
          <a:solidFill>
            <a:srgbClr val="02A4AB"/>
          </a:solidFill>
          <a:ln>
            <a:noFill/>
          </a:ln>
          <a:effectLst>
            <a:outerShdw blurRad="177800" sx="103000" sy="103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F1AA552B-0B4B-40C4-9FD0-1A0593206DE0}"/>
              </a:ext>
            </a:extLst>
          </p:cNvPr>
          <p:cNvSpPr/>
          <p:nvPr/>
        </p:nvSpPr>
        <p:spPr>
          <a:xfrm>
            <a:off x="727397" y="209281"/>
            <a:ext cx="252000" cy="252000"/>
          </a:xfrm>
          <a:prstGeom prst="ellipse">
            <a:avLst/>
          </a:prstGeom>
          <a:solidFill>
            <a:srgbClr val="EEB500"/>
          </a:solidFill>
          <a:ln>
            <a:noFill/>
          </a:ln>
          <a:effectLst>
            <a:outerShdw blurRad="177800" sx="103000" sy="103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03475DE-F789-408F-A483-7CBFC3D97E5D}"/>
              </a:ext>
            </a:extLst>
          </p:cNvPr>
          <p:cNvSpPr/>
          <p:nvPr/>
        </p:nvSpPr>
        <p:spPr>
          <a:xfrm>
            <a:off x="1230630" y="972874"/>
            <a:ext cx="9189720" cy="6150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215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4309D95-D0A5-4ECD-87A7-0579FE2D3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8000"/>
                    </a14:imgEffect>
                    <a14:imgEffect>
                      <a14:brightnessContrast contrast="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52477" y="1284791"/>
            <a:ext cx="9475863" cy="55732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0F2EE6-F55C-4827-8D30-C9CA0CFF213C}"/>
              </a:ext>
            </a:extLst>
          </p:cNvPr>
          <p:cNvSpPr txBox="1"/>
          <p:nvPr/>
        </p:nvSpPr>
        <p:spPr>
          <a:xfrm>
            <a:off x="2546087" y="136004"/>
            <a:ext cx="732960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Arial Black" panose="020B0A04020102020204" pitchFamily="34" charset="0"/>
              </a:rPr>
              <a:t>SQL injection </a:t>
            </a:r>
            <a:r>
              <a:rPr lang="en-US" sz="3200" b="1" dirty="0" err="1">
                <a:latin typeface="Arial Black" panose="020B0A04020102020204" pitchFamily="34" charset="0"/>
              </a:rPr>
              <a:t>va</a:t>
            </a:r>
            <a:r>
              <a:rPr lang="en-US" sz="3200" b="1" dirty="0">
                <a:latin typeface="Arial Black" panose="020B0A04020102020204" pitchFamily="34" charset="0"/>
              </a:rPr>
              <a:t> </a:t>
            </a:r>
            <a:r>
              <a:rPr lang="en-US" sz="3200" b="1" dirty="0" err="1">
                <a:latin typeface="Arial Black" panose="020B0A04020102020204" pitchFamily="34" charset="0"/>
              </a:rPr>
              <a:t>uning</a:t>
            </a:r>
            <a:r>
              <a:rPr lang="en-US" sz="3200" b="1" dirty="0">
                <a:latin typeface="Arial Black" panose="020B0A04020102020204" pitchFamily="34" charset="0"/>
              </a:rPr>
              <a:t> </a:t>
            </a:r>
            <a:r>
              <a:rPr lang="en-US" sz="3200" b="1" dirty="0" err="1">
                <a:latin typeface="Arial Black" panose="020B0A04020102020204" pitchFamily="34" charset="0"/>
              </a:rPr>
              <a:t>ishlash</a:t>
            </a:r>
            <a:r>
              <a:rPr lang="en-US" sz="3200" b="1" dirty="0">
                <a:latin typeface="Arial Black" panose="020B0A04020102020204" pitchFamily="34" charset="0"/>
              </a:rPr>
              <a:t> </a:t>
            </a:r>
            <a:r>
              <a:rPr lang="en-US" sz="3200" b="1" dirty="0" err="1">
                <a:solidFill>
                  <a:srgbClr val="0FA3B1"/>
                </a:solidFill>
                <a:latin typeface="Arial Black" panose="020B0A04020102020204" pitchFamily="34" charset="0"/>
              </a:rPr>
              <a:t>mexanizmi</a:t>
            </a:r>
            <a:endParaRPr lang="en-US" sz="3200" b="1" dirty="0">
              <a:solidFill>
                <a:srgbClr val="0FA3B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C83669DE-5D60-4D31-AFDE-B3BDB91654BE}"/>
              </a:ext>
            </a:extLst>
          </p:cNvPr>
          <p:cNvSpPr/>
          <p:nvPr/>
        </p:nvSpPr>
        <p:spPr>
          <a:xfrm rot="19244511">
            <a:off x="10673603" y="-405556"/>
            <a:ext cx="1863827" cy="2318540"/>
          </a:xfrm>
          <a:custGeom>
            <a:avLst/>
            <a:gdLst>
              <a:gd name="connsiteX0" fmla="*/ 706587 w 1863827"/>
              <a:gd name="connsiteY0" fmla="*/ 0 h 2318540"/>
              <a:gd name="connsiteX1" fmla="*/ 1863827 w 1863827"/>
              <a:gd name="connsiteY1" fmla="*/ 945780 h 2318540"/>
              <a:gd name="connsiteX2" fmla="*/ 741909 w 1863827"/>
              <a:gd name="connsiteY2" fmla="*/ 2318540 h 2318540"/>
              <a:gd name="connsiteX3" fmla="*/ 572620 w 1863827"/>
              <a:gd name="connsiteY3" fmla="*/ 2226653 h 2318540"/>
              <a:gd name="connsiteX4" fmla="*/ 0 w 1863827"/>
              <a:gd name="connsiteY4" fmla="*/ 1149684 h 2318540"/>
              <a:gd name="connsiteX5" fmla="*/ 572620 w 1863827"/>
              <a:gd name="connsiteY5" fmla="*/ 72715 h 2318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3827" h="2318540">
                <a:moveTo>
                  <a:pt x="706587" y="0"/>
                </a:moveTo>
                <a:lnTo>
                  <a:pt x="1863827" y="945780"/>
                </a:lnTo>
                <a:lnTo>
                  <a:pt x="741909" y="2318540"/>
                </a:lnTo>
                <a:lnTo>
                  <a:pt x="572620" y="2226653"/>
                </a:lnTo>
                <a:cubicBezTo>
                  <a:pt x="227142" y="1993253"/>
                  <a:pt x="1" y="1597995"/>
                  <a:pt x="0" y="1149684"/>
                </a:cubicBezTo>
                <a:cubicBezTo>
                  <a:pt x="0" y="701374"/>
                  <a:pt x="227142" y="306116"/>
                  <a:pt x="572620" y="72715"/>
                </a:cubicBezTo>
                <a:close/>
              </a:path>
            </a:pathLst>
          </a:custGeom>
          <a:gradFill flip="none" rotWithShape="1">
            <a:gsLst>
              <a:gs pos="65000">
                <a:srgbClr val="0FA3B1"/>
              </a:gs>
              <a:gs pos="4000">
                <a:srgbClr val="00626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36DF93AD-E6ED-4C34-A05B-2B9926E797E3}"/>
              </a:ext>
            </a:extLst>
          </p:cNvPr>
          <p:cNvSpPr/>
          <p:nvPr/>
        </p:nvSpPr>
        <p:spPr>
          <a:xfrm rot="13499844">
            <a:off x="-190288" y="-569684"/>
            <a:ext cx="1925306" cy="2314772"/>
          </a:xfrm>
          <a:custGeom>
            <a:avLst/>
            <a:gdLst>
              <a:gd name="connsiteX0" fmla="*/ 638205 w 1925306"/>
              <a:gd name="connsiteY0" fmla="*/ 2314772 h 2314772"/>
              <a:gd name="connsiteX1" fmla="*/ 561662 w 1925306"/>
              <a:gd name="connsiteY1" fmla="*/ 2268271 h 2314772"/>
              <a:gd name="connsiteX2" fmla="*/ 6577 w 1925306"/>
              <a:gd name="connsiteY2" fmla="*/ 1342163 h 2314772"/>
              <a:gd name="connsiteX3" fmla="*/ 0 w 1925306"/>
              <a:gd name="connsiteY3" fmla="*/ 1211911 h 2314772"/>
              <a:gd name="connsiteX4" fmla="*/ 6577 w 1925306"/>
              <a:gd name="connsiteY4" fmla="*/ 1081660 h 2314772"/>
              <a:gd name="connsiteX5" fmla="*/ 806810 w 1925306"/>
              <a:gd name="connsiteY5" fmla="*/ 26349 h 2314772"/>
              <a:gd name="connsiteX6" fmla="*/ 897612 w 1925306"/>
              <a:gd name="connsiteY6" fmla="*/ 0 h 2314772"/>
              <a:gd name="connsiteX7" fmla="*/ 1925306 w 1925306"/>
              <a:gd name="connsiteY7" fmla="*/ 1027787 h 231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25306" h="2314772">
                <a:moveTo>
                  <a:pt x="638205" y="2314772"/>
                </a:moveTo>
                <a:lnTo>
                  <a:pt x="561662" y="2268271"/>
                </a:lnTo>
                <a:cubicBezTo>
                  <a:pt x="256682" y="2062231"/>
                  <a:pt x="45720" y="1727594"/>
                  <a:pt x="6577" y="1342163"/>
                </a:cubicBezTo>
                <a:lnTo>
                  <a:pt x="0" y="1211911"/>
                </a:lnTo>
                <a:lnTo>
                  <a:pt x="6577" y="1081660"/>
                </a:lnTo>
                <a:cubicBezTo>
                  <a:pt x="55505" y="599871"/>
                  <a:pt x="372902" y="197448"/>
                  <a:pt x="806810" y="26349"/>
                </a:cubicBezTo>
                <a:lnTo>
                  <a:pt x="897612" y="0"/>
                </a:lnTo>
                <a:lnTo>
                  <a:pt x="1925306" y="1027787"/>
                </a:lnTo>
                <a:close/>
              </a:path>
            </a:pathLst>
          </a:custGeom>
          <a:gradFill flip="none" rotWithShape="1">
            <a:gsLst>
              <a:gs pos="65000">
                <a:srgbClr val="0FA3B1"/>
              </a:gs>
              <a:gs pos="4000">
                <a:srgbClr val="00626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A395AA6D-405B-44CD-ACD3-21FB700C3919}"/>
              </a:ext>
            </a:extLst>
          </p:cNvPr>
          <p:cNvSpPr/>
          <p:nvPr/>
        </p:nvSpPr>
        <p:spPr>
          <a:xfrm rot="7267017">
            <a:off x="9960641" y="5288847"/>
            <a:ext cx="2478777" cy="2100750"/>
          </a:xfrm>
          <a:custGeom>
            <a:avLst/>
            <a:gdLst>
              <a:gd name="connsiteX0" fmla="*/ 126775 w 2478777"/>
              <a:gd name="connsiteY0" fmla="*/ 1551046 h 2100750"/>
              <a:gd name="connsiteX1" fmla="*/ 0 w 2478777"/>
              <a:gd name="connsiteY1" fmla="*/ 1050375 h 2100750"/>
              <a:gd name="connsiteX2" fmla="*/ 1050375 w 2478777"/>
              <a:gd name="connsiteY2" fmla="*/ 0 h 2100750"/>
              <a:gd name="connsiteX3" fmla="*/ 1210677 w 2478777"/>
              <a:gd name="connsiteY3" fmla="*/ 1 h 2100750"/>
              <a:gd name="connsiteX4" fmla="*/ 2478777 w 2478777"/>
              <a:gd name="connsiteY4" fmla="*/ 2100749 h 2100750"/>
              <a:gd name="connsiteX5" fmla="*/ 1050375 w 2478777"/>
              <a:gd name="connsiteY5" fmla="*/ 2100750 h 2100750"/>
              <a:gd name="connsiteX6" fmla="*/ 126775 w 2478777"/>
              <a:gd name="connsiteY6" fmla="*/ 1551046 h 210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78777" h="2100750">
                <a:moveTo>
                  <a:pt x="126775" y="1551046"/>
                </a:moveTo>
                <a:cubicBezTo>
                  <a:pt x="45924" y="1402215"/>
                  <a:pt x="0" y="1231658"/>
                  <a:pt x="0" y="1050375"/>
                </a:cubicBezTo>
                <a:cubicBezTo>
                  <a:pt x="0" y="470269"/>
                  <a:pt x="470269" y="0"/>
                  <a:pt x="1050375" y="0"/>
                </a:cubicBezTo>
                <a:lnTo>
                  <a:pt x="1210677" y="1"/>
                </a:lnTo>
                <a:lnTo>
                  <a:pt x="2478777" y="2100749"/>
                </a:lnTo>
                <a:lnTo>
                  <a:pt x="1050375" y="2100750"/>
                </a:lnTo>
                <a:cubicBezTo>
                  <a:pt x="651552" y="2100750"/>
                  <a:pt x="304644" y="1878474"/>
                  <a:pt x="126775" y="1551046"/>
                </a:cubicBezTo>
                <a:close/>
              </a:path>
            </a:pathLst>
          </a:custGeom>
          <a:gradFill flip="none" rotWithShape="1">
            <a:gsLst>
              <a:gs pos="65000">
                <a:srgbClr val="0FA3B1"/>
              </a:gs>
              <a:gs pos="4000">
                <a:srgbClr val="00626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99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4" descr="Inline guruh">
            <a:extLst>
              <a:ext uri="{FF2B5EF4-FFF2-40B4-BE49-F238E27FC236}">
                <a16:creationId xmlns:a16="http://schemas.microsoft.com/office/drawing/2014/main" id="{5ABB07A3-36FD-47DD-A013-1D78B2F4E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3000"/>
                    </a14:imgEffect>
                    <a14:imgEffect>
                      <a14:brightnessContrast bright="-24000" contrast="-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3">
            <a:extLst>
              <a:ext uri="{FF2B5EF4-FFF2-40B4-BE49-F238E27FC236}">
                <a16:creationId xmlns:a16="http://schemas.microsoft.com/office/drawing/2014/main" id="{2BA4F774-23EE-4A39-9907-D13EAB3BC4A6}"/>
              </a:ext>
            </a:extLst>
          </p:cNvPr>
          <p:cNvSpPr/>
          <p:nvPr/>
        </p:nvSpPr>
        <p:spPr>
          <a:xfrm>
            <a:off x="848" y="0"/>
            <a:ext cx="12192000" cy="6858000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2CB93B-9BD7-431D-9B7A-1EDFDFEF86DC}"/>
              </a:ext>
            </a:extLst>
          </p:cNvPr>
          <p:cNvSpPr txBox="1"/>
          <p:nvPr/>
        </p:nvSpPr>
        <p:spPr>
          <a:xfrm>
            <a:off x="2773420" y="150539"/>
            <a:ext cx="70153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Arial Black" panose="020B0A04020102020204" pitchFamily="34" charset="0"/>
              </a:rPr>
              <a:t>Axborot tizimlari va resurslari </a:t>
            </a:r>
            <a:r>
              <a:rPr lang="it-IT" sz="2800" dirty="0">
                <a:solidFill>
                  <a:srgbClr val="0FA3B1"/>
                </a:solidFill>
                <a:latin typeface="Arial Black" panose="020B0A04020102020204" pitchFamily="34" charset="0"/>
              </a:rPr>
              <a:t>turlari</a:t>
            </a:r>
          </a:p>
        </p:txBody>
      </p:sp>
      <p:sp>
        <p:nvSpPr>
          <p:cNvPr id="29" name="Полилиния: фигура 28">
            <a:extLst>
              <a:ext uri="{FF2B5EF4-FFF2-40B4-BE49-F238E27FC236}">
                <a16:creationId xmlns:a16="http://schemas.microsoft.com/office/drawing/2014/main" id="{7512BA7A-3B80-470D-9EDD-9D77D4B220F2}"/>
              </a:ext>
            </a:extLst>
          </p:cNvPr>
          <p:cNvSpPr/>
          <p:nvPr/>
        </p:nvSpPr>
        <p:spPr>
          <a:xfrm>
            <a:off x="76481" y="1"/>
            <a:ext cx="2520000" cy="1720413"/>
          </a:xfrm>
          <a:custGeom>
            <a:avLst/>
            <a:gdLst>
              <a:gd name="connsiteX0" fmla="*/ 88024 w 2520000"/>
              <a:gd name="connsiteY0" fmla="*/ 0 h 1720413"/>
              <a:gd name="connsiteX1" fmla="*/ 2431976 w 2520000"/>
              <a:gd name="connsiteY1" fmla="*/ 0 h 1720413"/>
              <a:gd name="connsiteX2" fmla="*/ 2463353 w 2520000"/>
              <a:gd name="connsiteY2" fmla="*/ 85727 h 1720413"/>
              <a:gd name="connsiteX3" fmla="*/ 2520000 w 2520000"/>
              <a:gd name="connsiteY3" fmla="*/ 460413 h 1720413"/>
              <a:gd name="connsiteX4" fmla="*/ 1260000 w 2520000"/>
              <a:gd name="connsiteY4" fmla="*/ 1720413 h 1720413"/>
              <a:gd name="connsiteX5" fmla="*/ 0 w 2520000"/>
              <a:gd name="connsiteY5" fmla="*/ 460413 h 1720413"/>
              <a:gd name="connsiteX6" fmla="*/ 56647 w 2520000"/>
              <a:gd name="connsiteY6" fmla="*/ 85727 h 1720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0000" h="1720413">
                <a:moveTo>
                  <a:pt x="88024" y="0"/>
                </a:moveTo>
                <a:lnTo>
                  <a:pt x="2431976" y="0"/>
                </a:lnTo>
                <a:lnTo>
                  <a:pt x="2463353" y="85727"/>
                </a:lnTo>
                <a:cubicBezTo>
                  <a:pt x="2500168" y="204091"/>
                  <a:pt x="2520000" y="329936"/>
                  <a:pt x="2520000" y="460413"/>
                </a:cubicBezTo>
                <a:cubicBezTo>
                  <a:pt x="2520000" y="1156292"/>
                  <a:pt x="1955879" y="1720413"/>
                  <a:pt x="1260000" y="1720413"/>
                </a:cubicBezTo>
                <a:cubicBezTo>
                  <a:pt x="564121" y="1720413"/>
                  <a:pt x="0" y="1156292"/>
                  <a:pt x="0" y="460413"/>
                </a:cubicBezTo>
                <a:cubicBezTo>
                  <a:pt x="0" y="329936"/>
                  <a:pt x="19832" y="204091"/>
                  <a:pt x="56647" y="85727"/>
                </a:cubicBezTo>
                <a:close/>
              </a:path>
            </a:pathLst>
          </a:custGeom>
          <a:gradFill flip="none" rotWithShape="1">
            <a:gsLst>
              <a:gs pos="43000">
                <a:srgbClr val="127475"/>
              </a:gs>
              <a:gs pos="100000">
                <a:srgbClr val="0FA3B1"/>
              </a:gs>
            </a:gsLst>
            <a:lin ang="0" scaled="1"/>
            <a:tileRect/>
          </a:gradFill>
          <a:ln>
            <a:noFill/>
          </a:ln>
          <a:effectLst>
            <a:outerShdw blurRad="317500" dir="300000" sx="102000" sy="102000" algn="ctr" rotWithShape="0">
              <a:prstClr val="black">
                <a:alpha val="7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Полилиния: фигура 29">
            <a:extLst>
              <a:ext uri="{FF2B5EF4-FFF2-40B4-BE49-F238E27FC236}">
                <a16:creationId xmlns:a16="http://schemas.microsoft.com/office/drawing/2014/main" id="{1EFA972D-EDF4-40A9-AC42-344BFC73793D}"/>
              </a:ext>
            </a:extLst>
          </p:cNvPr>
          <p:cNvSpPr/>
          <p:nvPr/>
        </p:nvSpPr>
        <p:spPr>
          <a:xfrm rot="6787740">
            <a:off x="-853567" y="481690"/>
            <a:ext cx="2393041" cy="1699386"/>
          </a:xfrm>
          <a:custGeom>
            <a:avLst/>
            <a:gdLst>
              <a:gd name="connsiteX0" fmla="*/ 80328 w 2393041"/>
              <a:gd name="connsiteY0" fmla="*/ 1699386 h 1699386"/>
              <a:gd name="connsiteX1" fmla="*/ 56647 w 2393041"/>
              <a:gd name="connsiteY1" fmla="*/ 1634686 h 1699386"/>
              <a:gd name="connsiteX2" fmla="*/ 0 w 2393041"/>
              <a:gd name="connsiteY2" fmla="*/ 1260000 h 1699386"/>
              <a:gd name="connsiteX3" fmla="*/ 1260000 w 2393041"/>
              <a:gd name="connsiteY3" fmla="*/ 0 h 1699386"/>
              <a:gd name="connsiteX4" fmla="*/ 2367925 w 2393041"/>
              <a:gd name="connsiteY4" fmla="*/ 659409 h 1699386"/>
              <a:gd name="connsiteX5" fmla="*/ 2393041 w 2393041"/>
              <a:gd name="connsiteY5" fmla="*/ 711546 h 169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93041" h="1699386">
                <a:moveTo>
                  <a:pt x="80328" y="1699386"/>
                </a:moveTo>
                <a:lnTo>
                  <a:pt x="56647" y="1634686"/>
                </a:lnTo>
                <a:cubicBezTo>
                  <a:pt x="19832" y="1516322"/>
                  <a:pt x="0" y="1390477"/>
                  <a:pt x="0" y="1260000"/>
                </a:cubicBezTo>
                <a:cubicBezTo>
                  <a:pt x="0" y="564121"/>
                  <a:pt x="564121" y="0"/>
                  <a:pt x="1260000" y="0"/>
                </a:cubicBezTo>
                <a:cubicBezTo>
                  <a:pt x="1738417" y="0"/>
                  <a:pt x="2154557" y="266635"/>
                  <a:pt x="2367925" y="659409"/>
                </a:cubicBezTo>
                <a:lnTo>
                  <a:pt x="2393041" y="711546"/>
                </a:lnTo>
                <a:close/>
              </a:path>
            </a:pathLst>
          </a:custGeom>
          <a:gradFill flip="none" rotWithShape="1">
            <a:gsLst>
              <a:gs pos="43000">
                <a:srgbClr val="127475"/>
              </a:gs>
              <a:gs pos="100000">
                <a:srgbClr val="0FA3B1"/>
              </a:gs>
            </a:gsLst>
            <a:lin ang="0" scaled="1"/>
            <a:tileRect/>
          </a:gradFill>
          <a:ln>
            <a:noFill/>
          </a:ln>
          <a:effectLst>
            <a:outerShdw blurRad="317500" dir="300000" sx="102000" sy="102000" algn="ctr" rotWithShape="0">
              <a:prstClr val="black">
                <a:alpha val="7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Oval 5">
            <a:extLst>
              <a:ext uri="{FF2B5EF4-FFF2-40B4-BE49-F238E27FC236}">
                <a16:creationId xmlns:a16="http://schemas.microsoft.com/office/drawing/2014/main" id="{BCFD3435-07AD-4C9B-99A4-72D681B2F1F1}"/>
              </a:ext>
            </a:extLst>
          </p:cNvPr>
          <p:cNvSpPr/>
          <p:nvPr/>
        </p:nvSpPr>
        <p:spPr>
          <a:xfrm>
            <a:off x="-55958" y="189000"/>
            <a:ext cx="2160000" cy="2160000"/>
          </a:xfrm>
          <a:prstGeom prst="ellipse">
            <a:avLst/>
          </a:prstGeom>
          <a:gradFill flip="none" rotWithShape="1">
            <a:gsLst>
              <a:gs pos="43000">
                <a:srgbClr val="127475"/>
              </a:gs>
              <a:gs pos="100000">
                <a:srgbClr val="0FA3B1"/>
              </a:gs>
            </a:gsLst>
            <a:lin ang="0" scaled="1"/>
            <a:tileRect/>
          </a:gradFill>
          <a:ln>
            <a:noFill/>
          </a:ln>
          <a:effectLst>
            <a:outerShdw blurRad="317500" dir="300000" sx="102000" sy="102000" algn="ctr" rotWithShape="0">
              <a:prstClr val="black">
                <a:alpha val="7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26">
            <a:extLst>
              <a:ext uri="{FF2B5EF4-FFF2-40B4-BE49-F238E27FC236}">
                <a16:creationId xmlns:a16="http://schemas.microsoft.com/office/drawing/2014/main" id="{A57FB3EC-0953-4A2F-8B64-B3EC0F4DA3ED}"/>
              </a:ext>
            </a:extLst>
          </p:cNvPr>
          <p:cNvSpPr/>
          <p:nvPr/>
        </p:nvSpPr>
        <p:spPr>
          <a:xfrm>
            <a:off x="0" y="4205971"/>
            <a:ext cx="1493671" cy="2655708"/>
          </a:xfrm>
          <a:custGeom>
            <a:avLst/>
            <a:gdLst>
              <a:gd name="connsiteX0" fmla="*/ 0 w 1493671"/>
              <a:gd name="connsiteY0" fmla="*/ 0 h 2655708"/>
              <a:gd name="connsiteX1" fmla="*/ 1493671 w 1493671"/>
              <a:gd name="connsiteY1" fmla="*/ 2655708 h 2655708"/>
              <a:gd name="connsiteX2" fmla="*/ 581572 w 1493671"/>
              <a:gd name="connsiteY2" fmla="*/ 2655708 h 2655708"/>
              <a:gd name="connsiteX3" fmla="*/ 0 w 1493671"/>
              <a:gd name="connsiteY3" fmla="*/ 1621688 h 2655708"/>
              <a:gd name="connsiteX4" fmla="*/ 0 w 1493671"/>
              <a:gd name="connsiteY4" fmla="*/ 0 h 265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3671" h="2655708">
                <a:moveTo>
                  <a:pt x="0" y="0"/>
                </a:moveTo>
                <a:lnTo>
                  <a:pt x="1493671" y="2655708"/>
                </a:lnTo>
                <a:lnTo>
                  <a:pt x="581572" y="2655708"/>
                </a:lnTo>
                <a:lnTo>
                  <a:pt x="0" y="162168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43000">
                <a:srgbClr val="127475"/>
              </a:gs>
              <a:gs pos="100000">
                <a:srgbClr val="0FA3B1"/>
              </a:gs>
            </a:gsLst>
            <a:lin ang="0" scaled="1"/>
            <a:tileRect/>
          </a:gradFill>
          <a:ln>
            <a:noFill/>
          </a:ln>
          <a:effectLst>
            <a:outerShdw blurRad="317500" dir="300000" sx="102000" sy="102000" algn="ctr" rotWithShape="0">
              <a:prstClr val="black">
                <a:alpha val="7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22">
            <a:extLst>
              <a:ext uri="{FF2B5EF4-FFF2-40B4-BE49-F238E27FC236}">
                <a16:creationId xmlns:a16="http://schemas.microsoft.com/office/drawing/2014/main" id="{4B3194E7-C90E-4A24-90A9-4E95AFB9265F}"/>
              </a:ext>
            </a:extLst>
          </p:cNvPr>
          <p:cNvSpPr/>
          <p:nvPr/>
        </p:nvSpPr>
        <p:spPr>
          <a:xfrm>
            <a:off x="478179" y="4795376"/>
            <a:ext cx="1266969" cy="2066303"/>
          </a:xfrm>
          <a:custGeom>
            <a:avLst/>
            <a:gdLst>
              <a:gd name="connsiteX0" fmla="*/ 104802 w 1266969"/>
              <a:gd name="connsiteY0" fmla="*/ 0 h 2066303"/>
              <a:gd name="connsiteX1" fmla="*/ 1266969 w 1266969"/>
              <a:gd name="connsiteY1" fmla="*/ 2066303 h 2066303"/>
              <a:gd name="connsiteX2" fmla="*/ 1129015 w 1266969"/>
              <a:gd name="connsiteY2" fmla="*/ 2066303 h 2066303"/>
              <a:gd name="connsiteX3" fmla="*/ 0 w 1266969"/>
              <a:gd name="connsiteY3" fmla="*/ 58944 h 2066303"/>
              <a:gd name="connsiteX4" fmla="*/ 104802 w 1266969"/>
              <a:gd name="connsiteY4" fmla="*/ 0 h 2066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6969" h="2066303">
                <a:moveTo>
                  <a:pt x="104802" y="0"/>
                </a:moveTo>
                <a:lnTo>
                  <a:pt x="1266969" y="2066303"/>
                </a:lnTo>
                <a:lnTo>
                  <a:pt x="1129015" y="2066303"/>
                </a:lnTo>
                <a:lnTo>
                  <a:pt x="0" y="58944"/>
                </a:lnTo>
                <a:lnTo>
                  <a:pt x="104802" y="0"/>
                </a:lnTo>
                <a:close/>
              </a:path>
            </a:pathLst>
          </a:custGeom>
          <a:gradFill flip="none" rotWithShape="1">
            <a:gsLst>
              <a:gs pos="43000">
                <a:srgbClr val="127475"/>
              </a:gs>
              <a:gs pos="100000">
                <a:srgbClr val="0FA3B1"/>
              </a:gs>
            </a:gsLst>
            <a:lin ang="0" scaled="1"/>
            <a:tileRect/>
          </a:gradFill>
          <a:ln>
            <a:noFill/>
          </a:ln>
          <a:effectLst>
            <a:outerShdw blurRad="317500" dir="300000" sx="102000" sy="102000" algn="ctr" rotWithShape="0">
              <a:prstClr val="black">
                <a:alpha val="7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Полилиния: фигура 33">
            <a:extLst>
              <a:ext uri="{FF2B5EF4-FFF2-40B4-BE49-F238E27FC236}">
                <a16:creationId xmlns:a16="http://schemas.microsoft.com/office/drawing/2014/main" id="{E99AB83B-5627-4BCE-8DAC-CA3ED4709079}"/>
              </a:ext>
            </a:extLst>
          </p:cNvPr>
          <p:cNvSpPr/>
          <p:nvPr/>
        </p:nvSpPr>
        <p:spPr>
          <a:xfrm rot="7271001">
            <a:off x="11450108" y="-115129"/>
            <a:ext cx="926473" cy="968057"/>
          </a:xfrm>
          <a:custGeom>
            <a:avLst/>
            <a:gdLst>
              <a:gd name="connsiteX0" fmla="*/ 319906 w 926473"/>
              <a:gd name="connsiteY0" fmla="*/ 959672 h 968057"/>
              <a:gd name="connsiteX1" fmla="*/ 0 w 926473"/>
              <a:gd name="connsiteY1" fmla="*/ 431097 h 968057"/>
              <a:gd name="connsiteX2" fmla="*/ 712292 w 926473"/>
              <a:gd name="connsiteY2" fmla="*/ 0 h 968057"/>
              <a:gd name="connsiteX3" fmla="*/ 768310 w 926473"/>
              <a:gd name="connsiteY3" fmla="*/ 46219 h 968057"/>
              <a:gd name="connsiteX4" fmla="*/ 926473 w 926473"/>
              <a:gd name="connsiteY4" fmla="*/ 428057 h 968057"/>
              <a:gd name="connsiteX5" fmla="*/ 386473 w 926473"/>
              <a:gd name="connsiteY5" fmla="*/ 968057 h 968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6473" h="968057">
                <a:moveTo>
                  <a:pt x="319906" y="959672"/>
                </a:moveTo>
                <a:lnTo>
                  <a:pt x="0" y="431097"/>
                </a:lnTo>
                <a:lnTo>
                  <a:pt x="712292" y="0"/>
                </a:lnTo>
                <a:lnTo>
                  <a:pt x="768310" y="46219"/>
                </a:lnTo>
                <a:cubicBezTo>
                  <a:pt x="866032" y="143940"/>
                  <a:pt x="926473" y="278940"/>
                  <a:pt x="926473" y="428057"/>
                </a:cubicBezTo>
                <a:cubicBezTo>
                  <a:pt x="926473" y="726291"/>
                  <a:pt x="684707" y="968057"/>
                  <a:pt x="386473" y="968057"/>
                </a:cubicBezTo>
                <a:close/>
              </a:path>
            </a:pathLst>
          </a:custGeom>
          <a:solidFill>
            <a:srgbClr val="0FA3B1"/>
          </a:solidFill>
          <a:ln>
            <a:noFill/>
          </a:ln>
          <a:effectLst>
            <a:outerShdw blurRad="304800" sx="102000" sy="102000" algn="ctr" rotWithShape="0">
              <a:prstClr val="black">
                <a:alpha val="6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C87E7C4D-A54C-49B1-95E2-32495D77DC27}"/>
              </a:ext>
            </a:extLst>
          </p:cNvPr>
          <p:cNvSpPr/>
          <p:nvPr/>
        </p:nvSpPr>
        <p:spPr>
          <a:xfrm rot="7271001">
            <a:off x="11740809" y="1001888"/>
            <a:ext cx="360000" cy="3600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304800" sx="102000" sy="102000" algn="ctr" rotWithShape="0">
              <a:prstClr val="black">
                <a:alpha val="6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A98C99BE-6FD3-4406-9529-BDA633CC1976}"/>
              </a:ext>
            </a:extLst>
          </p:cNvPr>
          <p:cNvSpPr/>
          <p:nvPr/>
        </p:nvSpPr>
        <p:spPr>
          <a:xfrm rot="7271001">
            <a:off x="10897134" y="239179"/>
            <a:ext cx="288000" cy="2880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304800" sx="102000" sy="102000" algn="ctr" rotWithShape="0">
              <a:prstClr val="black">
                <a:alpha val="6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19F1E10E-817C-4304-ADE4-E89BCEC3369F}"/>
              </a:ext>
            </a:extLst>
          </p:cNvPr>
          <p:cNvSpPr/>
          <p:nvPr/>
        </p:nvSpPr>
        <p:spPr>
          <a:xfrm rot="7271001">
            <a:off x="10997651" y="960071"/>
            <a:ext cx="252000" cy="252000"/>
          </a:xfrm>
          <a:prstGeom prst="ellipse">
            <a:avLst/>
          </a:prstGeom>
          <a:solidFill>
            <a:srgbClr val="0FA3B1"/>
          </a:solidFill>
          <a:ln>
            <a:noFill/>
          </a:ln>
          <a:effectLst>
            <a:outerShdw blurRad="304800" sx="102000" sy="102000" algn="ctr" rotWithShape="0">
              <a:prstClr val="black">
                <a:alpha val="6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638D1E0E-DC99-44E1-BB9A-46D18F9E68F4}"/>
              </a:ext>
            </a:extLst>
          </p:cNvPr>
          <p:cNvSpPr/>
          <p:nvPr/>
        </p:nvSpPr>
        <p:spPr>
          <a:xfrm>
            <a:off x="1208929" y="4104623"/>
            <a:ext cx="2448000" cy="2448000"/>
          </a:xfrm>
          <a:prstGeom prst="ellipse">
            <a:avLst/>
          </a:prstGeom>
          <a:solidFill>
            <a:srgbClr val="03045E">
              <a:alpha val="80000"/>
            </a:srgbClr>
          </a:solidFill>
          <a:ln w="57150">
            <a:solidFill>
              <a:schemeClr val="tx1"/>
            </a:solidFill>
          </a:ln>
          <a:effectLst>
            <a:outerShdw blurRad="101600" dist="50800" dir="3600000" sx="102000" sy="102000" algn="tl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C85915C1-F884-4B24-BCD9-3B92622EEC22}"/>
              </a:ext>
            </a:extLst>
          </p:cNvPr>
          <p:cNvSpPr/>
          <p:nvPr/>
        </p:nvSpPr>
        <p:spPr>
          <a:xfrm>
            <a:off x="3748071" y="1655043"/>
            <a:ext cx="2340000" cy="2340000"/>
          </a:xfrm>
          <a:prstGeom prst="ellipse">
            <a:avLst/>
          </a:prstGeom>
          <a:solidFill>
            <a:srgbClr val="023E8A">
              <a:alpha val="80000"/>
            </a:srgbClr>
          </a:solidFill>
          <a:ln w="57150">
            <a:solidFill>
              <a:schemeClr val="tx1"/>
            </a:solidFill>
          </a:ln>
          <a:effectLst>
            <a:outerShdw blurRad="101600" dist="50800" dir="3600000" sx="102000" sy="102000" algn="tl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29A226E8-D4DF-4C35-BF65-A143DB30F28B}"/>
              </a:ext>
            </a:extLst>
          </p:cNvPr>
          <p:cNvSpPr/>
          <p:nvPr/>
        </p:nvSpPr>
        <p:spPr>
          <a:xfrm>
            <a:off x="6808464" y="3511840"/>
            <a:ext cx="2232000" cy="2232000"/>
          </a:xfrm>
          <a:prstGeom prst="ellipse">
            <a:avLst/>
          </a:prstGeom>
          <a:solidFill>
            <a:srgbClr val="0077B6">
              <a:alpha val="80000"/>
            </a:srgbClr>
          </a:solidFill>
          <a:ln w="57150">
            <a:solidFill>
              <a:schemeClr val="tx1"/>
            </a:solidFill>
          </a:ln>
          <a:effectLst>
            <a:outerShdw blurRad="101600" dist="50800" dir="3600000" sx="102000" sy="102000" algn="tl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83401C82-EC13-46E9-AC00-71FC39BD250A}"/>
              </a:ext>
            </a:extLst>
          </p:cNvPr>
          <p:cNvSpPr/>
          <p:nvPr/>
        </p:nvSpPr>
        <p:spPr>
          <a:xfrm>
            <a:off x="9656947" y="1643619"/>
            <a:ext cx="2052000" cy="2052000"/>
          </a:xfrm>
          <a:prstGeom prst="ellipse">
            <a:avLst/>
          </a:prstGeom>
          <a:solidFill>
            <a:srgbClr val="00B4D8">
              <a:alpha val="62000"/>
            </a:srgbClr>
          </a:solidFill>
          <a:ln w="57150">
            <a:solidFill>
              <a:schemeClr val="tx1"/>
            </a:solidFill>
          </a:ln>
          <a:effectLst>
            <a:outerShdw blurRad="101600" dist="50800" dir="3600000" sx="102000" sy="102000" algn="tl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D751C3-DC87-48F5-97C1-25E31105B875}"/>
              </a:ext>
            </a:extLst>
          </p:cNvPr>
          <p:cNvSpPr txBox="1"/>
          <p:nvPr/>
        </p:nvSpPr>
        <p:spPr>
          <a:xfrm>
            <a:off x="1308687" y="4964653"/>
            <a:ext cx="22817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Arial Black" panose="020B0A04020102020204" pitchFamily="34" charset="0"/>
              </a:rPr>
              <a:t>Parametrli</a:t>
            </a: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 Black" panose="020B0A04020102020204" pitchFamily="34" charset="0"/>
              </a:rPr>
              <a:t>so‘rovlar</a:t>
            </a:r>
            <a:endParaRPr lang="en-US" sz="2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9E49AB-8C63-47BD-97A4-D4541135F9EE}"/>
              </a:ext>
            </a:extLst>
          </p:cNvPr>
          <p:cNvSpPr txBox="1"/>
          <p:nvPr/>
        </p:nvSpPr>
        <p:spPr>
          <a:xfrm>
            <a:off x="3744157" y="2366227"/>
            <a:ext cx="233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Input validation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6A4CBC-8373-4189-8FD1-E73134F230B0}"/>
              </a:ext>
            </a:extLst>
          </p:cNvPr>
          <p:cNvSpPr txBox="1"/>
          <p:nvPr/>
        </p:nvSpPr>
        <p:spPr>
          <a:xfrm>
            <a:off x="6894495" y="4212341"/>
            <a:ext cx="1941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Pattern detection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6E47D4-BA0F-47DF-9763-0F7CD7BFB5C4}"/>
              </a:ext>
            </a:extLst>
          </p:cNvPr>
          <p:cNvSpPr txBox="1"/>
          <p:nvPr/>
        </p:nvSpPr>
        <p:spPr>
          <a:xfrm>
            <a:off x="9976891" y="2387819"/>
            <a:ext cx="14121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ORM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A8D0DE7-E111-4D43-A2D0-0232EB2637A6}"/>
              </a:ext>
            </a:extLst>
          </p:cNvPr>
          <p:cNvCxnSpPr>
            <a:cxnSpLocks/>
            <a:endCxn id="2" idx="7"/>
          </p:cNvCxnSpPr>
          <p:nvPr/>
        </p:nvCxnSpPr>
        <p:spPr>
          <a:xfrm flipH="1">
            <a:off x="3298428" y="3647423"/>
            <a:ext cx="799010" cy="815701"/>
          </a:xfrm>
          <a:prstGeom prst="line">
            <a:avLst/>
          </a:prstGeom>
          <a:ln w="76200">
            <a:solidFill>
              <a:srgbClr val="0D007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1D61D3E0-9F70-42B2-A896-92A25D796BDA}"/>
              </a:ext>
            </a:extLst>
          </p:cNvPr>
          <p:cNvCxnSpPr>
            <a:cxnSpLocks/>
          </p:cNvCxnSpPr>
          <p:nvPr/>
        </p:nvCxnSpPr>
        <p:spPr>
          <a:xfrm>
            <a:off x="5968155" y="3343912"/>
            <a:ext cx="963204" cy="812944"/>
          </a:xfrm>
          <a:prstGeom prst="line">
            <a:avLst/>
          </a:prstGeom>
          <a:ln w="571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7F18F186-4404-4CFA-9F62-56A98810F6D1}"/>
              </a:ext>
            </a:extLst>
          </p:cNvPr>
          <p:cNvCxnSpPr>
            <a:endCxn id="27" idx="3"/>
          </p:cNvCxnSpPr>
          <p:nvPr/>
        </p:nvCxnSpPr>
        <p:spPr>
          <a:xfrm flipV="1">
            <a:off x="8959017" y="3395111"/>
            <a:ext cx="998438" cy="835533"/>
          </a:xfrm>
          <a:prstGeom prst="line">
            <a:avLst/>
          </a:prstGeom>
          <a:ln w="571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Полилиния: фигура 35">
            <a:extLst>
              <a:ext uri="{FF2B5EF4-FFF2-40B4-BE49-F238E27FC236}">
                <a16:creationId xmlns:a16="http://schemas.microsoft.com/office/drawing/2014/main" id="{AC910E18-19CD-4A1A-916B-ED02F674D393}"/>
              </a:ext>
            </a:extLst>
          </p:cNvPr>
          <p:cNvSpPr/>
          <p:nvPr/>
        </p:nvSpPr>
        <p:spPr>
          <a:xfrm rot="7267017">
            <a:off x="9960641" y="5288847"/>
            <a:ext cx="2478777" cy="2100750"/>
          </a:xfrm>
          <a:custGeom>
            <a:avLst/>
            <a:gdLst>
              <a:gd name="connsiteX0" fmla="*/ 126775 w 2478777"/>
              <a:gd name="connsiteY0" fmla="*/ 1551046 h 2100750"/>
              <a:gd name="connsiteX1" fmla="*/ 0 w 2478777"/>
              <a:gd name="connsiteY1" fmla="*/ 1050375 h 2100750"/>
              <a:gd name="connsiteX2" fmla="*/ 82543 w 2478777"/>
              <a:gd name="connsiteY2" fmla="*/ 641521 h 2100750"/>
              <a:gd name="connsiteX3" fmla="*/ 124132 w 2478777"/>
              <a:gd name="connsiteY3" fmla="*/ 564902 h 2100750"/>
              <a:gd name="connsiteX4" fmla="*/ 1059953 w 2478777"/>
              <a:gd name="connsiteY4" fmla="*/ 0 h 2100750"/>
              <a:gd name="connsiteX5" fmla="*/ 1210677 w 2478777"/>
              <a:gd name="connsiteY5" fmla="*/ 1 h 2100750"/>
              <a:gd name="connsiteX6" fmla="*/ 2478777 w 2478777"/>
              <a:gd name="connsiteY6" fmla="*/ 2100749 h 2100750"/>
              <a:gd name="connsiteX7" fmla="*/ 1050375 w 2478777"/>
              <a:gd name="connsiteY7" fmla="*/ 2100750 h 2100750"/>
              <a:gd name="connsiteX8" fmla="*/ 126775 w 2478777"/>
              <a:gd name="connsiteY8" fmla="*/ 1551046 h 210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8777" h="2100750">
                <a:moveTo>
                  <a:pt x="126775" y="1551046"/>
                </a:moveTo>
                <a:cubicBezTo>
                  <a:pt x="45924" y="1402215"/>
                  <a:pt x="0" y="1231658"/>
                  <a:pt x="0" y="1050375"/>
                </a:cubicBezTo>
                <a:cubicBezTo>
                  <a:pt x="0" y="905348"/>
                  <a:pt x="29392" y="767187"/>
                  <a:pt x="82543" y="641521"/>
                </a:cubicBezTo>
                <a:lnTo>
                  <a:pt x="124132" y="564902"/>
                </a:lnTo>
                <a:lnTo>
                  <a:pt x="1059953" y="0"/>
                </a:lnTo>
                <a:lnTo>
                  <a:pt x="1210677" y="1"/>
                </a:lnTo>
                <a:lnTo>
                  <a:pt x="2478777" y="2100749"/>
                </a:lnTo>
                <a:lnTo>
                  <a:pt x="1050375" y="2100750"/>
                </a:lnTo>
                <a:cubicBezTo>
                  <a:pt x="651552" y="2100750"/>
                  <a:pt x="304644" y="1878474"/>
                  <a:pt x="126775" y="1551046"/>
                </a:cubicBezTo>
                <a:close/>
              </a:path>
            </a:pathLst>
          </a:custGeom>
          <a:gradFill flip="none" rotWithShape="1">
            <a:gsLst>
              <a:gs pos="65000">
                <a:srgbClr val="0FA3B1"/>
              </a:gs>
              <a:gs pos="4000">
                <a:srgbClr val="00626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138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grpId="0" nodeType="withEffect" p14:presetBounceEnd="8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2000">
                                          <p:cBhvr additive="base">
                                            <p:cTn id="7" dur="1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2000">
                                          <p:cBhvr additive="base">
                                            <p:cTn id="8" dur="1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12253 -0.39097 L 2.08333E-6 -2.96296E-6 " pathEditMode="relative" rAng="0" ptsTypes="AA">
                                          <p:cBhvr>
                                            <p:cTn id="10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133" y="1953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64" presetClass="path" presetSubtype="0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9687 0.30046 L 2.29167E-6 -1.85185E-6 " pathEditMode="relative" rAng="0" ptsTypes="AA">
                                          <p:cBhvr>
                                            <p:cTn id="12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792" y="-1460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p14:presetBounceEnd="8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2000">
                                          <p:cBhvr additive="base">
                                            <p:cTn id="15" dur="1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2000">
                                          <p:cBhvr additive="base">
                                            <p:cTn id="16" dur="1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6" grpId="0" animBg="1"/>
          <p:bldP spid="19" grpId="0" animBg="1"/>
          <p:bldP spid="20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42" presetClass="path" presetSubtype="0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12253 -0.39097 L 2.08333E-6 -2.96296E-6 " pathEditMode="relative" rAng="0" ptsTypes="AA">
                                          <p:cBhvr>
                                            <p:cTn id="10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133" y="1953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64" presetClass="path" presetSubtype="0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9687 0.30046 L 2.29167E-6 -1.85185E-6 " pathEditMode="relative" rAng="0" ptsTypes="AA">
                                          <p:cBhvr>
                                            <p:cTn id="12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792" y="-1460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6" grpId="0" animBg="1"/>
          <p:bldP spid="19" grpId="0" animBg="1"/>
          <p:bldP spid="20" grpId="0" animBg="1"/>
        </p:bldLst>
      </p:timing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C8397A-6A2A-45BC-B489-6A1764EC853F}"/>
              </a:ext>
            </a:extLst>
          </p:cNvPr>
          <p:cNvSpPr txBox="1"/>
          <p:nvPr/>
        </p:nvSpPr>
        <p:spPr>
          <a:xfrm>
            <a:off x="4624806" y="66481"/>
            <a:ext cx="31072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>
                <a:latin typeface="Arial Black" panose="020B0A04020102020204" pitchFamily="34" charset="0"/>
              </a:rPr>
              <a:t>Xulosa</a:t>
            </a:r>
            <a:endParaRPr lang="en-US" sz="5400" dirty="0">
              <a:latin typeface="Arial Black" panose="020B0A04020102020204" pitchFamily="34" charset="0"/>
            </a:endParaRPr>
          </a:p>
        </p:txBody>
      </p:sp>
      <p:sp>
        <p:nvSpPr>
          <p:cNvPr id="11" name="Шестиугольник 10">
            <a:extLst>
              <a:ext uri="{FF2B5EF4-FFF2-40B4-BE49-F238E27FC236}">
                <a16:creationId xmlns:a16="http://schemas.microsoft.com/office/drawing/2014/main" id="{E89F6A80-8E9F-4682-B598-B9E86ED5F39D}"/>
              </a:ext>
            </a:extLst>
          </p:cNvPr>
          <p:cNvSpPr/>
          <p:nvPr/>
        </p:nvSpPr>
        <p:spPr>
          <a:xfrm>
            <a:off x="3648627" y="2537076"/>
            <a:ext cx="7417243" cy="710832"/>
          </a:xfrm>
          <a:prstGeom prst="hexagon">
            <a:avLst/>
          </a:prstGeom>
          <a:gradFill flip="none" rotWithShape="1">
            <a:gsLst>
              <a:gs pos="28000">
                <a:srgbClr val="127475"/>
              </a:gs>
              <a:gs pos="100000">
                <a:srgbClr val="02A4AB"/>
              </a:gs>
            </a:gsLst>
            <a:lin ang="0" scaled="1"/>
            <a:tileRect/>
          </a:gradFill>
          <a:ln>
            <a:noFill/>
          </a:ln>
          <a:effectLst>
            <a:outerShdw blurRad="114300" sx="102000" sy="102000" algn="ctr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20A7453B-97EB-438A-AC8D-87AD78C10005}"/>
              </a:ext>
            </a:extLst>
          </p:cNvPr>
          <p:cNvGrpSpPr/>
          <p:nvPr/>
        </p:nvGrpSpPr>
        <p:grpSpPr>
          <a:xfrm>
            <a:off x="3180627" y="2416805"/>
            <a:ext cx="936000" cy="936000"/>
            <a:chOff x="271923" y="3791077"/>
            <a:chExt cx="1080000" cy="1080000"/>
          </a:xfrm>
        </p:grpSpPr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87989233-E9A6-490B-A279-E4E430C5EDDE}"/>
                </a:ext>
              </a:extLst>
            </p:cNvPr>
            <p:cNvSpPr/>
            <p:nvPr/>
          </p:nvSpPr>
          <p:spPr>
            <a:xfrm>
              <a:off x="271923" y="3791077"/>
              <a:ext cx="1080000" cy="10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sx="102000" sy="102000" algn="ctr" rotWithShape="0">
                <a:prstClr val="black">
                  <a:alpha val="5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A57D3640-30D6-44B7-886A-E03515747D94}"/>
                </a:ext>
              </a:extLst>
            </p:cNvPr>
            <p:cNvSpPr/>
            <p:nvPr/>
          </p:nvSpPr>
          <p:spPr>
            <a:xfrm>
              <a:off x="516960" y="4026944"/>
              <a:ext cx="600000" cy="600000"/>
            </a:xfrm>
            <a:prstGeom prst="ellipse">
              <a:avLst/>
            </a:prstGeom>
            <a:noFill/>
            <a:ln w="38100">
              <a:solidFill>
                <a:srgbClr val="0D007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976EF600-15DA-4132-8F0D-D2EE2AF11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416" y="4127432"/>
              <a:ext cx="412237" cy="389693"/>
            </a:xfrm>
            <a:prstGeom prst="rect">
              <a:avLst/>
            </a:prstGeom>
            <a:effectLst/>
          </p:spPr>
        </p:pic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07E31E12-BEBC-4A3C-BB0D-BE5BA9025B62}"/>
                </a:ext>
              </a:extLst>
            </p:cNvPr>
            <p:cNvGrpSpPr/>
            <p:nvPr/>
          </p:nvGrpSpPr>
          <p:grpSpPr>
            <a:xfrm>
              <a:off x="356331" y="3873127"/>
              <a:ext cx="907282" cy="900000"/>
              <a:chOff x="322568" y="3840307"/>
              <a:chExt cx="544369" cy="540000"/>
            </a:xfrm>
            <a:effectLst/>
          </p:grpSpPr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9D532967-E0B7-4D01-95C6-A712518A1BF0}"/>
                  </a:ext>
                </a:extLst>
              </p:cNvPr>
              <p:cNvSpPr/>
              <p:nvPr/>
            </p:nvSpPr>
            <p:spPr>
              <a:xfrm>
                <a:off x="322568" y="3840307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Полилиния: фигура 16">
                <a:extLst>
                  <a:ext uri="{FF2B5EF4-FFF2-40B4-BE49-F238E27FC236}">
                    <a16:creationId xmlns:a16="http://schemas.microsoft.com/office/drawing/2014/main" id="{06C67D91-5F28-4420-9278-F3351890F249}"/>
                  </a:ext>
                </a:extLst>
              </p:cNvPr>
              <p:cNvSpPr/>
              <p:nvPr/>
            </p:nvSpPr>
            <p:spPr>
              <a:xfrm>
                <a:off x="327039" y="3840307"/>
                <a:ext cx="539898" cy="269491"/>
              </a:xfrm>
              <a:custGeom>
                <a:avLst/>
                <a:gdLst>
                  <a:gd name="connsiteX0" fmla="*/ 269949 w 539898"/>
                  <a:gd name="connsiteY0" fmla="*/ 0 h 269491"/>
                  <a:gd name="connsiteX1" fmla="*/ 534464 w 539898"/>
                  <a:gd name="connsiteY1" fmla="*/ 215586 h 269491"/>
                  <a:gd name="connsiteX2" fmla="*/ 539898 w 539898"/>
                  <a:gd name="connsiteY2" fmla="*/ 269491 h 269491"/>
                  <a:gd name="connsiteX3" fmla="*/ 504560 w 539898"/>
                  <a:gd name="connsiteY3" fmla="*/ 269491 h 269491"/>
                  <a:gd name="connsiteX4" fmla="*/ 499843 w 539898"/>
                  <a:gd name="connsiteY4" fmla="*/ 222707 h 269491"/>
                  <a:gd name="connsiteX5" fmla="*/ 269949 w 539898"/>
                  <a:gd name="connsiteY5" fmla="*/ 35338 h 269491"/>
                  <a:gd name="connsiteX6" fmla="*/ 40055 w 539898"/>
                  <a:gd name="connsiteY6" fmla="*/ 222707 h 269491"/>
                  <a:gd name="connsiteX7" fmla="*/ 35338 w 539898"/>
                  <a:gd name="connsiteY7" fmla="*/ 269491 h 269491"/>
                  <a:gd name="connsiteX8" fmla="*/ 0 w 539898"/>
                  <a:gd name="connsiteY8" fmla="*/ 269491 h 269491"/>
                  <a:gd name="connsiteX9" fmla="*/ 5434 w 539898"/>
                  <a:gd name="connsiteY9" fmla="*/ 215586 h 269491"/>
                  <a:gd name="connsiteX10" fmla="*/ 269949 w 539898"/>
                  <a:gd name="connsiteY10" fmla="*/ 0 h 269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39898" h="269491">
                    <a:moveTo>
                      <a:pt x="269949" y="0"/>
                    </a:moveTo>
                    <a:cubicBezTo>
                      <a:pt x="400426" y="0"/>
                      <a:pt x="509287" y="92551"/>
                      <a:pt x="534464" y="215586"/>
                    </a:cubicBezTo>
                    <a:lnTo>
                      <a:pt x="539898" y="269491"/>
                    </a:lnTo>
                    <a:lnTo>
                      <a:pt x="504560" y="269491"/>
                    </a:lnTo>
                    <a:lnTo>
                      <a:pt x="499843" y="222707"/>
                    </a:lnTo>
                    <a:cubicBezTo>
                      <a:pt x="477962" y="115776"/>
                      <a:pt x="383349" y="35338"/>
                      <a:pt x="269949" y="35338"/>
                    </a:cubicBezTo>
                    <a:cubicBezTo>
                      <a:pt x="156549" y="35338"/>
                      <a:pt x="61936" y="115776"/>
                      <a:pt x="40055" y="222707"/>
                    </a:cubicBezTo>
                    <a:lnTo>
                      <a:pt x="35338" y="269491"/>
                    </a:lnTo>
                    <a:lnTo>
                      <a:pt x="0" y="269491"/>
                    </a:lnTo>
                    <a:lnTo>
                      <a:pt x="5434" y="215586"/>
                    </a:lnTo>
                    <a:cubicBezTo>
                      <a:pt x="30611" y="92551"/>
                      <a:pt x="139472" y="0"/>
                      <a:pt x="269949" y="0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ffectLst>
                <a:outerShdw blurRad="190500" sx="103000" sy="103000" algn="ctr" rotWithShape="0">
                  <a:prstClr val="black">
                    <a:alpha val="5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118B615-3C7A-4BBA-944A-CD169D41D898}"/>
              </a:ext>
            </a:extLst>
          </p:cNvPr>
          <p:cNvSpPr txBox="1"/>
          <p:nvPr/>
        </p:nvSpPr>
        <p:spPr>
          <a:xfrm>
            <a:off x="4105949" y="2537076"/>
            <a:ext cx="6959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b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Web ilovalar va ulaga qaratilgan tahdidlar </a:t>
            </a:r>
            <a:r>
              <a:rPr lang="en-US" b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tahlil qilindi va o’rganib chiqildi</a:t>
            </a:r>
            <a:endParaRPr lang="en-US" b="1" dirty="0">
              <a:solidFill>
                <a:schemeClr val="bg1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Шестиугольник 72">
            <a:extLst>
              <a:ext uri="{FF2B5EF4-FFF2-40B4-BE49-F238E27FC236}">
                <a16:creationId xmlns:a16="http://schemas.microsoft.com/office/drawing/2014/main" id="{31103005-60B9-4FFD-9126-B94BB95D7089}"/>
              </a:ext>
            </a:extLst>
          </p:cNvPr>
          <p:cNvSpPr/>
          <p:nvPr/>
        </p:nvSpPr>
        <p:spPr>
          <a:xfrm>
            <a:off x="3648627" y="3619838"/>
            <a:ext cx="7417243" cy="710832"/>
          </a:xfrm>
          <a:prstGeom prst="hexagon">
            <a:avLst/>
          </a:prstGeom>
          <a:gradFill flip="none" rotWithShape="1">
            <a:gsLst>
              <a:gs pos="28000">
                <a:srgbClr val="127475"/>
              </a:gs>
              <a:gs pos="100000">
                <a:srgbClr val="02A4AB"/>
              </a:gs>
            </a:gsLst>
            <a:lin ang="0" scaled="1"/>
            <a:tileRect/>
          </a:gradFill>
          <a:ln>
            <a:noFill/>
          </a:ln>
          <a:effectLst>
            <a:outerShdw blurRad="114300" sx="102000" sy="102000" algn="ctr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685B562F-9556-4CE8-A392-FA30D2C6232E}"/>
              </a:ext>
            </a:extLst>
          </p:cNvPr>
          <p:cNvGrpSpPr/>
          <p:nvPr/>
        </p:nvGrpSpPr>
        <p:grpSpPr>
          <a:xfrm>
            <a:off x="3180627" y="3499567"/>
            <a:ext cx="936000" cy="936000"/>
            <a:chOff x="271923" y="3791077"/>
            <a:chExt cx="1080000" cy="1080000"/>
          </a:xfrm>
        </p:grpSpPr>
        <p:sp>
          <p:nvSpPr>
            <p:cNvPr id="75" name="Овал 74">
              <a:extLst>
                <a:ext uri="{FF2B5EF4-FFF2-40B4-BE49-F238E27FC236}">
                  <a16:creationId xmlns:a16="http://schemas.microsoft.com/office/drawing/2014/main" id="{011CCA1E-CEDE-4DE2-962D-3E0B4FF63FA1}"/>
                </a:ext>
              </a:extLst>
            </p:cNvPr>
            <p:cNvSpPr/>
            <p:nvPr/>
          </p:nvSpPr>
          <p:spPr>
            <a:xfrm>
              <a:off x="271923" y="3791077"/>
              <a:ext cx="1080000" cy="10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sx="102000" sy="102000" algn="ctr" rotWithShape="0">
                <a:prstClr val="black">
                  <a:alpha val="5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Овал 75">
              <a:extLst>
                <a:ext uri="{FF2B5EF4-FFF2-40B4-BE49-F238E27FC236}">
                  <a16:creationId xmlns:a16="http://schemas.microsoft.com/office/drawing/2014/main" id="{37984927-232C-4394-A1AD-6ED157C9108B}"/>
                </a:ext>
              </a:extLst>
            </p:cNvPr>
            <p:cNvSpPr/>
            <p:nvPr/>
          </p:nvSpPr>
          <p:spPr>
            <a:xfrm>
              <a:off x="516960" y="4026944"/>
              <a:ext cx="600000" cy="600000"/>
            </a:xfrm>
            <a:prstGeom prst="ellipse">
              <a:avLst/>
            </a:prstGeom>
            <a:noFill/>
            <a:ln w="38100">
              <a:solidFill>
                <a:srgbClr val="0D007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7" name="Рисунок 76">
              <a:extLst>
                <a:ext uri="{FF2B5EF4-FFF2-40B4-BE49-F238E27FC236}">
                  <a16:creationId xmlns:a16="http://schemas.microsoft.com/office/drawing/2014/main" id="{C4BFB91B-ADE4-439D-A64B-163E4E965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416" y="4127432"/>
              <a:ext cx="412237" cy="389693"/>
            </a:xfrm>
            <a:prstGeom prst="rect">
              <a:avLst/>
            </a:prstGeom>
            <a:effectLst/>
          </p:spPr>
        </p:pic>
        <p:grpSp>
          <p:nvGrpSpPr>
            <p:cNvPr id="78" name="Группа 77">
              <a:extLst>
                <a:ext uri="{FF2B5EF4-FFF2-40B4-BE49-F238E27FC236}">
                  <a16:creationId xmlns:a16="http://schemas.microsoft.com/office/drawing/2014/main" id="{BF549667-FCAF-4683-A605-9C0AA599AE36}"/>
                </a:ext>
              </a:extLst>
            </p:cNvPr>
            <p:cNvGrpSpPr/>
            <p:nvPr/>
          </p:nvGrpSpPr>
          <p:grpSpPr>
            <a:xfrm>
              <a:off x="356331" y="3873127"/>
              <a:ext cx="907282" cy="900000"/>
              <a:chOff x="322568" y="3840307"/>
              <a:chExt cx="544369" cy="540000"/>
            </a:xfrm>
            <a:effectLst/>
          </p:grpSpPr>
          <p:sp>
            <p:nvSpPr>
              <p:cNvPr id="79" name="Овал 78">
                <a:extLst>
                  <a:ext uri="{FF2B5EF4-FFF2-40B4-BE49-F238E27FC236}">
                    <a16:creationId xmlns:a16="http://schemas.microsoft.com/office/drawing/2014/main" id="{824E825C-BEBC-4E38-8E2D-67647132C9AC}"/>
                  </a:ext>
                </a:extLst>
              </p:cNvPr>
              <p:cNvSpPr/>
              <p:nvPr/>
            </p:nvSpPr>
            <p:spPr>
              <a:xfrm>
                <a:off x="322568" y="3840307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Полилиния: фигура 79">
                <a:extLst>
                  <a:ext uri="{FF2B5EF4-FFF2-40B4-BE49-F238E27FC236}">
                    <a16:creationId xmlns:a16="http://schemas.microsoft.com/office/drawing/2014/main" id="{82BC152F-28B1-4F30-879F-12A48AE9F288}"/>
                  </a:ext>
                </a:extLst>
              </p:cNvPr>
              <p:cNvSpPr/>
              <p:nvPr/>
            </p:nvSpPr>
            <p:spPr>
              <a:xfrm>
                <a:off x="327039" y="3840307"/>
                <a:ext cx="539898" cy="269491"/>
              </a:xfrm>
              <a:custGeom>
                <a:avLst/>
                <a:gdLst>
                  <a:gd name="connsiteX0" fmla="*/ 269949 w 539898"/>
                  <a:gd name="connsiteY0" fmla="*/ 0 h 269491"/>
                  <a:gd name="connsiteX1" fmla="*/ 534464 w 539898"/>
                  <a:gd name="connsiteY1" fmla="*/ 215586 h 269491"/>
                  <a:gd name="connsiteX2" fmla="*/ 539898 w 539898"/>
                  <a:gd name="connsiteY2" fmla="*/ 269491 h 269491"/>
                  <a:gd name="connsiteX3" fmla="*/ 504560 w 539898"/>
                  <a:gd name="connsiteY3" fmla="*/ 269491 h 269491"/>
                  <a:gd name="connsiteX4" fmla="*/ 499843 w 539898"/>
                  <a:gd name="connsiteY4" fmla="*/ 222707 h 269491"/>
                  <a:gd name="connsiteX5" fmla="*/ 269949 w 539898"/>
                  <a:gd name="connsiteY5" fmla="*/ 35338 h 269491"/>
                  <a:gd name="connsiteX6" fmla="*/ 40055 w 539898"/>
                  <a:gd name="connsiteY6" fmla="*/ 222707 h 269491"/>
                  <a:gd name="connsiteX7" fmla="*/ 35338 w 539898"/>
                  <a:gd name="connsiteY7" fmla="*/ 269491 h 269491"/>
                  <a:gd name="connsiteX8" fmla="*/ 0 w 539898"/>
                  <a:gd name="connsiteY8" fmla="*/ 269491 h 269491"/>
                  <a:gd name="connsiteX9" fmla="*/ 5434 w 539898"/>
                  <a:gd name="connsiteY9" fmla="*/ 215586 h 269491"/>
                  <a:gd name="connsiteX10" fmla="*/ 269949 w 539898"/>
                  <a:gd name="connsiteY10" fmla="*/ 0 h 269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39898" h="269491">
                    <a:moveTo>
                      <a:pt x="269949" y="0"/>
                    </a:moveTo>
                    <a:cubicBezTo>
                      <a:pt x="400426" y="0"/>
                      <a:pt x="509287" y="92551"/>
                      <a:pt x="534464" y="215586"/>
                    </a:cubicBezTo>
                    <a:lnTo>
                      <a:pt x="539898" y="269491"/>
                    </a:lnTo>
                    <a:lnTo>
                      <a:pt x="504560" y="269491"/>
                    </a:lnTo>
                    <a:lnTo>
                      <a:pt x="499843" y="222707"/>
                    </a:lnTo>
                    <a:cubicBezTo>
                      <a:pt x="477962" y="115776"/>
                      <a:pt x="383349" y="35338"/>
                      <a:pt x="269949" y="35338"/>
                    </a:cubicBezTo>
                    <a:cubicBezTo>
                      <a:pt x="156549" y="35338"/>
                      <a:pt x="61936" y="115776"/>
                      <a:pt x="40055" y="222707"/>
                    </a:cubicBezTo>
                    <a:lnTo>
                      <a:pt x="35338" y="269491"/>
                    </a:lnTo>
                    <a:lnTo>
                      <a:pt x="0" y="269491"/>
                    </a:lnTo>
                    <a:lnTo>
                      <a:pt x="5434" y="215586"/>
                    </a:lnTo>
                    <a:cubicBezTo>
                      <a:pt x="30611" y="92551"/>
                      <a:pt x="139472" y="0"/>
                      <a:pt x="269949" y="0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ffectLst>
                <a:outerShdw blurRad="190500" sx="103000" sy="103000" algn="ctr" rotWithShape="0">
                  <a:prstClr val="black">
                    <a:alpha val="5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2" name="Шестиугольник 81">
            <a:extLst>
              <a:ext uri="{FF2B5EF4-FFF2-40B4-BE49-F238E27FC236}">
                <a16:creationId xmlns:a16="http://schemas.microsoft.com/office/drawing/2014/main" id="{F4AE7491-2D8D-4C29-AC14-41C569972F61}"/>
              </a:ext>
            </a:extLst>
          </p:cNvPr>
          <p:cNvSpPr/>
          <p:nvPr/>
        </p:nvSpPr>
        <p:spPr>
          <a:xfrm>
            <a:off x="3648627" y="4702600"/>
            <a:ext cx="7417243" cy="710832"/>
          </a:xfrm>
          <a:prstGeom prst="hexagon">
            <a:avLst/>
          </a:prstGeom>
          <a:gradFill flip="none" rotWithShape="1">
            <a:gsLst>
              <a:gs pos="28000">
                <a:srgbClr val="127475"/>
              </a:gs>
              <a:gs pos="100000">
                <a:srgbClr val="02A4AB"/>
              </a:gs>
            </a:gsLst>
            <a:lin ang="0" scaled="1"/>
            <a:tileRect/>
          </a:gradFill>
          <a:ln>
            <a:noFill/>
          </a:ln>
          <a:effectLst>
            <a:outerShdw blurRad="114300" sx="102000" sy="102000" algn="ctr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3" name="Группа 82">
            <a:extLst>
              <a:ext uri="{FF2B5EF4-FFF2-40B4-BE49-F238E27FC236}">
                <a16:creationId xmlns:a16="http://schemas.microsoft.com/office/drawing/2014/main" id="{87BAC655-9734-4956-9A19-4434C4760569}"/>
              </a:ext>
            </a:extLst>
          </p:cNvPr>
          <p:cNvGrpSpPr/>
          <p:nvPr/>
        </p:nvGrpSpPr>
        <p:grpSpPr>
          <a:xfrm>
            <a:off x="3180627" y="4582329"/>
            <a:ext cx="936000" cy="936000"/>
            <a:chOff x="271923" y="3791077"/>
            <a:chExt cx="1080000" cy="1080000"/>
          </a:xfrm>
        </p:grpSpPr>
        <p:sp>
          <p:nvSpPr>
            <p:cNvPr id="84" name="Овал 83">
              <a:extLst>
                <a:ext uri="{FF2B5EF4-FFF2-40B4-BE49-F238E27FC236}">
                  <a16:creationId xmlns:a16="http://schemas.microsoft.com/office/drawing/2014/main" id="{2B7FA06B-762D-4574-BA85-695E094DC997}"/>
                </a:ext>
              </a:extLst>
            </p:cNvPr>
            <p:cNvSpPr/>
            <p:nvPr/>
          </p:nvSpPr>
          <p:spPr>
            <a:xfrm>
              <a:off x="271923" y="3791077"/>
              <a:ext cx="1080000" cy="10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sx="102000" sy="102000" algn="ctr" rotWithShape="0">
                <a:prstClr val="black">
                  <a:alpha val="5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Овал 84">
              <a:extLst>
                <a:ext uri="{FF2B5EF4-FFF2-40B4-BE49-F238E27FC236}">
                  <a16:creationId xmlns:a16="http://schemas.microsoft.com/office/drawing/2014/main" id="{C70CF3B1-96FA-4511-AB43-2BDC8669CFDA}"/>
                </a:ext>
              </a:extLst>
            </p:cNvPr>
            <p:cNvSpPr/>
            <p:nvPr/>
          </p:nvSpPr>
          <p:spPr>
            <a:xfrm>
              <a:off x="516960" y="4026944"/>
              <a:ext cx="600000" cy="600000"/>
            </a:xfrm>
            <a:prstGeom prst="ellipse">
              <a:avLst/>
            </a:prstGeom>
            <a:noFill/>
            <a:ln w="38100">
              <a:solidFill>
                <a:srgbClr val="0D007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6" name="Рисунок 85">
              <a:extLst>
                <a:ext uri="{FF2B5EF4-FFF2-40B4-BE49-F238E27FC236}">
                  <a16:creationId xmlns:a16="http://schemas.microsoft.com/office/drawing/2014/main" id="{3EF436E7-353F-4142-A837-94DA89C54E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416" y="4127432"/>
              <a:ext cx="412237" cy="389693"/>
            </a:xfrm>
            <a:prstGeom prst="rect">
              <a:avLst/>
            </a:prstGeom>
            <a:effectLst/>
          </p:spPr>
        </p:pic>
        <p:grpSp>
          <p:nvGrpSpPr>
            <p:cNvPr id="87" name="Группа 86">
              <a:extLst>
                <a:ext uri="{FF2B5EF4-FFF2-40B4-BE49-F238E27FC236}">
                  <a16:creationId xmlns:a16="http://schemas.microsoft.com/office/drawing/2014/main" id="{56FF8540-18A7-49E1-8966-70ECB90EF57E}"/>
                </a:ext>
              </a:extLst>
            </p:cNvPr>
            <p:cNvGrpSpPr/>
            <p:nvPr/>
          </p:nvGrpSpPr>
          <p:grpSpPr>
            <a:xfrm>
              <a:off x="356331" y="3873127"/>
              <a:ext cx="907282" cy="900000"/>
              <a:chOff x="322568" y="3840307"/>
              <a:chExt cx="544369" cy="540000"/>
            </a:xfrm>
            <a:effectLst/>
          </p:grpSpPr>
          <p:sp>
            <p:nvSpPr>
              <p:cNvPr id="88" name="Овал 87">
                <a:extLst>
                  <a:ext uri="{FF2B5EF4-FFF2-40B4-BE49-F238E27FC236}">
                    <a16:creationId xmlns:a16="http://schemas.microsoft.com/office/drawing/2014/main" id="{6AC74DA0-A039-4DE2-974D-1B23EEFDFE8C}"/>
                  </a:ext>
                </a:extLst>
              </p:cNvPr>
              <p:cNvSpPr/>
              <p:nvPr/>
            </p:nvSpPr>
            <p:spPr>
              <a:xfrm>
                <a:off x="322568" y="3840307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Полилиния: фигура 88">
                <a:extLst>
                  <a:ext uri="{FF2B5EF4-FFF2-40B4-BE49-F238E27FC236}">
                    <a16:creationId xmlns:a16="http://schemas.microsoft.com/office/drawing/2014/main" id="{A4176260-C7D6-495B-A6C1-DDADFCEDE2D3}"/>
                  </a:ext>
                </a:extLst>
              </p:cNvPr>
              <p:cNvSpPr/>
              <p:nvPr/>
            </p:nvSpPr>
            <p:spPr>
              <a:xfrm>
                <a:off x="327039" y="3840307"/>
                <a:ext cx="539898" cy="269491"/>
              </a:xfrm>
              <a:custGeom>
                <a:avLst/>
                <a:gdLst>
                  <a:gd name="connsiteX0" fmla="*/ 269949 w 539898"/>
                  <a:gd name="connsiteY0" fmla="*/ 0 h 269491"/>
                  <a:gd name="connsiteX1" fmla="*/ 534464 w 539898"/>
                  <a:gd name="connsiteY1" fmla="*/ 215586 h 269491"/>
                  <a:gd name="connsiteX2" fmla="*/ 539898 w 539898"/>
                  <a:gd name="connsiteY2" fmla="*/ 269491 h 269491"/>
                  <a:gd name="connsiteX3" fmla="*/ 504560 w 539898"/>
                  <a:gd name="connsiteY3" fmla="*/ 269491 h 269491"/>
                  <a:gd name="connsiteX4" fmla="*/ 499843 w 539898"/>
                  <a:gd name="connsiteY4" fmla="*/ 222707 h 269491"/>
                  <a:gd name="connsiteX5" fmla="*/ 269949 w 539898"/>
                  <a:gd name="connsiteY5" fmla="*/ 35338 h 269491"/>
                  <a:gd name="connsiteX6" fmla="*/ 40055 w 539898"/>
                  <a:gd name="connsiteY6" fmla="*/ 222707 h 269491"/>
                  <a:gd name="connsiteX7" fmla="*/ 35338 w 539898"/>
                  <a:gd name="connsiteY7" fmla="*/ 269491 h 269491"/>
                  <a:gd name="connsiteX8" fmla="*/ 0 w 539898"/>
                  <a:gd name="connsiteY8" fmla="*/ 269491 h 269491"/>
                  <a:gd name="connsiteX9" fmla="*/ 5434 w 539898"/>
                  <a:gd name="connsiteY9" fmla="*/ 215586 h 269491"/>
                  <a:gd name="connsiteX10" fmla="*/ 269949 w 539898"/>
                  <a:gd name="connsiteY10" fmla="*/ 0 h 269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39898" h="269491">
                    <a:moveTo>
                      <a:pt x="269949" y="0"/>
                    </a:moveTo>
                    <a:cubicBezTo>
                      <a:pt x="400426" y="0"/>
                      <a:pt x="509287" y="92551"/>
                      <a:pt x="534464" y="215586"/>
                    </a:cubicBezTo>
                    <a:lnTo>
                      <a:pt x="539898" y="269491"/>
                    </a:lnTo>
                    <a:lnTo>
                      <a:pt x="504560" y="269491"/>
                    </a:lnTo>
                    <a:lnTo>
                      <a:pt x="499843" y="222707"/>
                    </a:lnTo>
                    <a:cubicBezTo>
                      <a:pt x="477962" y="115776"/>
                      <a:pt x="383349" y="35338"/>
                      <a:pt x="269949" y="35338"/>
                    </a:cubicBezTo>
                    <a:cubicBezTo>
                      <a:pt x="156549" y="35338"/>
                      <a:pt x="61936" y="115776"/>
                      <a:pt x="40055" y="222707"/>
                    </a:cubicBezTo>
                    <a:lnTo>
                      <a:pt x="35338" y="269491"/>
                    </a:lnTo>
                    <a:lnTo>
                      <a:pt x="0" y="269491"/>
                    </a:lnTo>
                    <a:lnTo>
                      <a:pt x="5434" y="215586"/>
                    </a:lnTo>
                    <a:cubicBezTo>
                      <a:pt x="30611" y="92551"/>
                      <a:pt x="139472" y="0"/>
                      <a:pt x="269949" y="0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ffectLst>
                <a:outerShdw blurRad="190500" sx="103000" sy="103000" algn="ctr" rotWithShape="0">
                  <a:prstClr val="black">
                    <a:alpha val="5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E50C261E-992B-4938-8746-8694A0126511}"/>
              </a:ext>
            </a:extLst>
          </p:cNvPr>
          <p:cNvSpPr txBox="1"/>
          <p:nvPr/>
        </p:nvSpPr>
        <p:spPr>
          <a:xfrm>
            <a:off x="4170497" y="3630084"/>
            <a:ext cx="6687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SQL injection </a:t>
            </a:r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uning</a:t>
            </a: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ishlash</a:t>
            </a: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mexanizmlari</a:t>
            </a: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bilan</a:t>
            </a: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tanishildi</a:t>
            </a: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tahlil</a:t>
            </a: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qilindi</a:t>
            </a:r>
            <a:endParaRPr lang="en-US" b="1" dirty="0">
              <a:solidFill>
                <a:schemeClr val="bg1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Шестиугольник 90">
            <a:extLst>
              <a:ext uri="{FF2B5EF4-FFF2-40B4-BE49-F238E27FC236}">
                <a16:creationId xmlns:a16="http://schemas.microsoft.com/office/drawing/2014/main" id="{95FB70A6-6CF5-4AFE-8285-96286B90C321}"/>
              </a:ext>
            </a:extLst>
          </p:cNvPr>
          <p:cNvSpPr/>
          <p:nvPr/>
        </p:nvSpPr>
        <p:spPr>
          <a:xfrm>
            <a:off x="3648627" y="5785362"/>
            <a:ext cx="7417243" cy="710832"/>
          </a:xfrm>
          <a:prstGeom prst="hexagon">
            <a:avLst/>
          </a:prstGeom>
          <a:gradFill flip="none" rotWithShape="1">
            <a:gsLst>
              <a:gs pos="28000">
                <a:srgbClr val="127475"/>
              </a:gs>
              <a:gs pos="100000">
                <a:srgbClr val="02A4AB"/>
              </a:gs>
            </a:gsLst>
            <a:lin ang="0" scaled="1"/>
            <a:tileRect/>
          </a:gradFill>
          <a:ln>
            <a:noFill/>
          </a:ln>
          <a:effectLst>
            <a:outerShdw blurRad="114300" sx="102000" sy="102000" algn="ctr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94E0828-0811-4A2B-84ED-B7CEB2D03690}"/>
              </a:ext>
            </a:extLst>
          </p:cNvPr>
          <p:cNvSpPr txBox="1"/>
          <p:nvPr/>
        </p:nvSpPr>
        <p:spPr>
          <a:xfrm>
            <a:off x="4200539" y="4727163"/>
            <a:ext cx="66577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SQL injection </a:t>
            </a:r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hujumlaridan</a:t>
            </a: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himoyalash</a:t>
            </a: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choralari</a:t>
            </a:r>
            <a:endParaRPr lang="en-US" b="1" dirty="0">
              <a:solidFill>
                <a:schemeClr val="bg1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taqdim</a:t>
            </a: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etildi</a:t>
            </a: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ishlab</a:t>
            </a: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chiqildi</a:t>
            </a: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B2C250BE-C2B7-435C-BEC1-791F1A7E1443}"/>
              </a:ext>
            </a:extLst>
          </p:cNvPr>
          <p:cNvGrpSpPr/>
          <p:nvPr/>
        </p:nvGrpSpPr>
        <p:grpSpPr>
          <a:xfrm>
            <a:off x="3180627" y="5665091"/>
            <a:ext cx="936000" cy="936000"/>
            <a:chOff x="271923" y="3791077"/>
            <a:chExt cx="1080000" cy="1080000"/>
          </a:xfrm>
        </p:grpSpPr>
        <p:sp>
          <p:nvSpPr>
            <p:cNvPr id="93" name="Овал 92">
              <a:extLst>
                <a:ext uri="{FF2B5EF4-FFF2-40B4-BE49-F238E27FC236}">
                  <a16:creationId xmlns:a16="http://schemas.microsoft.com/office/drawing/2014/main" id="{0863CE6E-A16E-4241-BA5F-A7587BAD2405}"/>
                </a:ext>
              </a:extLst>
            </p:cNvPr>
            <p:cNvSpPr/>
            <p:nvPr/>
          </p:nvSpPr>
          <p:spPr>
            <a:xfrm>
              <a:off x="271923" y="3791077"/>
              <a:ext cx="1080000" cy="10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sx="102000" sy="102000" algn="ctr" rotWithShape="0">
                <a:prstClr val="black">
                  <a:alpha val="5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Овал 93">
              <a:extLst>
                <a:ext uri="{FF2B5EF4-FFF2-40B4-BE49-F238E27FC236}">
                  <a16:creationId xmlns:a16="http://schemas.microsoft.com/office/drawing/2014/main" id="{E7712956-DC76-4135-BAD4-F552505DB391}"/>
                </a:ext>
              </a:extLst>
            </p:cNvPr>
            <p:cNvSpPr/>
            <p:nvPr/>
          </p:nvSpPr>
          <p:spPr>
            <a:xfrm>
              <a:off x="516960" y="4026944"/>
              <a:ext cx="600000" cy="600000"/>
            </a:xfrm>
            <a:prstGeom prst="ellipse">
              <a:avLst/>
            </a:prstGeom>
            <a:noFill/>
            <a:ln w="38100">
              <a:solidFill>
                <a:srgbClr val="0D007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5" name="Рисунок 94">
              <a:extLst>
                <a:ext uri="{FF2B5EF4-FFF2-40B4-BE49-F238E27FC236}">
                  <a16:creationId xmlns:a16="http://schemas.microsoft.com/office/drawing/2014/main" id="{9F285228-B64D-4C97-9EF3-DE3D10639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416" y="4127432"/>
              <a:ext cx="412237" cy="389693"/>
            </a:xfrm>
            <a:prstGeom prst="rect">
              <a:avLst/>
            </a:prstGeom>
            <a:effectLst/>
          </p:spPr>
        </p:pic>
        <p:grpSp>
          <p:nvGrpSpPr>
            <p:cNvPr id="96" name="Группа 95">
              <a:extLst>
                <a:ext uri="{FF2B5EF4-FFF2-40B4-BE49-F238E27FC236}">
                  <a16:creationId xmlns:a16="http://schemas.microsoft.com/office/drawing/2014/main" id="{7B7FC5A2-28B3-4366-8FE6-80CA29B411C3}"/>
                </a:ext>
              </a:extLst>
            </p:cNvPr>
            <p:cNvGrpSpPr/>
            <p:nvPr/>
          </p:nvGrpSpPr>
          <p:grpSpPr>
            <a:xfrm>
              <a:off x="356331" y="3873127"/>
              <a:ext cx="907282" cy="900000"/>
              <a:chOff x="322568" y="3840307"/>
              <a:chExt cx="544369" cy="540000"/>
            </a:xfrm>
            <a:effectLst/>
          </p:grpSpPr>
          <p:sp>
            <p:nvSpPr>
              <p:cNvPr id="97" name="Овал 96">
                <a:extLst>
                  <a:ext uri="{FF2B5EF4-FFF2-40B4-BE49-F238E27FC236}">
                    <a16:creationId xmlns:a16="http://schemas.microsoft.com/office/drawing/2014/main" id="{18F323CF-73DE-4EB7-B9D7-26DB25F67248}"/>
                  </a:ext>
                </a:extLst>
              </p:cNvPr>
              <p:cNvSpPr/>
              <p:nvPr/>
            </p:nvSpPr>
            <p:spPr>
              <a:xfrm>
                <a:off x="322568" y="3840307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Полилиния: фигура 97">
                <a:extLst>
                  <a:ext uri="{FF2B5EF4-FFF2-40B4-BE49-F238E27FC236}">
                    <a16:creationId xmlns:a16="http://schemas.microsoft.com/office/drawing/2014/main" id="{17866F89-FEF9-40C8-83A7-F1484D317EF9}"/>
                  </a:ext>
                </a:extLst>
              </p:cNvPr>
              <p:cNvSpPr/>
              <p:nvPr/>
            </p:nvSpPr>
            <p:spPr>
              <a:xfrm>
                <a:off x="327039" y="3840307"/>
                <a:ext cx="539898" cy="269491"/>
              </a:xfrm>
              <a:custGeom>
                <a:avLst/>
                <a:gdLst>
                  <a:gd name="connsiteX0" fmla="*/ 269949 w 539898"/>
                  <a:gd name="connsiteY0" fmla="*/ 0 h 269491"/>
                  <a:gd name="connsiteX1" fmla="*/ 534464 w 539898"/>
                  <a:gd name="connsiteY1" fmla="*/ 215586 h 269491"/>
                  <a:gd name="connsiteX2" fmla="*/ 539898 w 539898"/>
                  <a:gd name="connsiteY2" fmla="*/ 269491 h 269491"/>
                  <a:gd name="connsiteX3" fmla="*/ 504560 w 539898"/>
                  <a:gd name="connsiteY3" fmla="*/ 269491 h 269491"/>
                  <a:gd name="connsiteX4" fmla="*/ 499843 w 539898"/>
                  <a:gd name="connsiteY4" fmla="*/ 222707 h 269491"/>
                  <a:gd name="connsiteX5" fmla="*/ 269949 w 539898"/>
                  <a:gd name="connsiteY5" fmla="*/ 35338 h 269491"/>
                  <a:gd name="connsiteX6" fmla="*/ 40055 w 539898"/>
                  <a:gd name="connsiteY6" fmla="*/ 222707 h 269491"/>
                  <a:gd name="connsiteX7" fmla="*/ 35338 w 539898"/>
                  <a:gd name="connsiteY7" fmla="*/ 269491 h 269491"/>
                  <a:gd name="connsiteX8" fmla="*/ 0 w 539898"/>
                  <a:gd name="connsiteY8" fmla="*/ 269491 h 269491"/>
                  <a:gd name="connsiteX9" fmla="*/ 5434 w 539898"/>
                  <a:gd name="connsiteY9" fmla="*/ 215586 h 269491"/>
                  <a:gd name="connsiteX10" fmla="*/ 269949 w 539898"/>
                  <a:gd name="connsiteY10" fmla="*/ 0 h 269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39898" h="269491">
                    <a:moveTo>
                      <a:pt x="269949" y="0"/>
                    </a:moveTo>
                    <a:cubicBezTo>
                      <a:pt x="400426" y="0"/>
                      <a:pt x="509287" y="92551"/>
                      <a:pt x="534464" y="215586"/>
                    </a:cubicBezTo>
                    <a:lnTo>
                      <a:pt x="539898" y="269491"/>
                    </a:lnTo>
                    <a:lnTo>
                      <a:pt x="504560" y="269491"/>
                    </a:lnTo>
                    <a:lnTo>
                      <a:pt x="499843" y="222707"/>
                    </a:lnTo>
                    <a:cubicBezTo>
                      <a:pt x="477962" y="115776"/>
                      <a:pt x="383349" y="35338"/>
                      <a:pt x="269949" y="35338"/>
                    </a:cubicBezTo>
                    <a:cubicBezTo>
                      <a:pt x="156549" y="35338"/>
                      <a:pt x="61936" y="115776"/>
                      <a:pt x="40055" y="222707"/>
                    </a:cubicBezTo>
                    <a:lnTo>
                      <a:pt x="35338" y="269491"/>
                    </a:lnTo>
                    <a:lnTo>
                      <a:pt x="0" y="269491"/>
                    </a:lnTo>
                    <a:lnTo>
                      <a:pt x="5434" y="215586"/>
                    </a:lnTo>
                    <a:cubicBezTo>
                      <a:pt x="30611" y="92551"/>
                      <a:pt x="139472" y="0"/>
                      <a:pt x="269949" y="0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ffectLst>
                <a:outerShdw blurRad="190500" sx="103000" sy="103000" algn="ctr" rotWithShape="0">
                  <a:prstClr val="black">
                    <a:alpha val="5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3972DE1A-3912-4079-975E-8DE6860174BC}"/>
              </a:ext>
            </a:extLst>
          </p:cNvPr>
          <p:cNvSpPr txBox="1"/>
          <p:nvPr/>
        </p:nvSpPr>
        <p:spPr>
          <a:xfrm>
            <a:off x="4170498" y="5788308"/>
            <a:ext cx="6791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SQL injection </a:t>
            </a:r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hujumlaridan</a:t>
            </a: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himoyalash</a:t>
            </a: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algoritmlari</a:t>
            </a: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tahlili</a:t>
            </a: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bilan</a:t>
            </a: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tanishildi</a:t>
            </a: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o’rganib</a:t>
            </a: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chiqildi</a:t>
            </a:r>
            <a:endParaRPr lang="en-US" b="1" dirty="0">
              <a:solidFill>
                <a:schemeClr val="bg1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2EFD31F8-CA59-4E97-BB1F-84043345B9DA}"/>
              </a:ext>
            </a:extLst>
          </p:cNvPr>
          <p:cNvSpPr/>
          <p:nvPr/>
        </p:nvSpPr>
        <p:spPr>
          <a:xfrm>
            <a:off x="0" y="1059180"/>
            <a:ext cx="12192000" cy="1189616"/>
          </a:xfrm>
          <a:prstGeom prst="rect">
            <a:avLst/>
          </a:prstGeom>
          <a:gradFill>
            <a:gsLst>
              <a:gs pos="39000">
                <a:srgbClr val="127475"/>
              </a:gs>
              <a:gs pos="98000">
                <a:srgbClr val="02A4AB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2931F79-653C-4E56-918B-0E0A2410D346}"/>
              </a:ext>
            </a:extLst>
          </p:cNvPr>
          <p:cNvSpPr txBox="1"/>
          <p:nvPr/>
        </p:nvSpPr>
        <p:spPr>
          <a:xfrm>
            <a:off x="2427953" y="1185673"/>
            <a:ext cx="110331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Ushbu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prenzitatsiyani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bajarish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natijasida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hulosalarga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erishildi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Полилиния: фигура 121">
            <a:extLst>
              <a:ext uri="{FF2B5EF4-FFF2-40B4-BE49-F238E27FC236}">
                <a16:creationId xmlns:a16="http://schemas.microsoft.com/office/drawing/2014/main" id="{CA21E882-DE42-4199-BF94-E7EE5AF35B67}"/>
              </a:ext>
            </a:extLst>
          </p:cNvPr>
          <p:cNvSpPr/>
          <p:nvPr/>
        </p:nvSpPr>
        <p:spPr>
          <a:xfrm rot="2895035">
            <a:off x="-73315" y="-300869"/>
            <a:ext cx="800636" cy="1096281"/>
          </a:xfrm>
          <a:custGeom>
            <a:avLst/>
            <a:gdLst>
              <a:gd name="connsiteX0" fmla="*/ 0 w 800636"/>
              <a:gd name="connsiteY0" fmla="*/ 629153 h 1096281"/>
              <a:gd name="connsiteX1" fmla="*/ 561530 w 800636"/>
              <a:gd name="connsiteY1" fmla="*/ 0 h 1096281"/>
              <a:gd name="connsiteX2" fmla="*/ 589754 w 800636"/>
              <a:gd name="connsiteY2" fmla="*/ 23286 h 1096281"/>
              <a:gd name="connsiteX3" fmla="*/ 800636 w 800636"/>
              <a:gd name="connsiteY3" fmla="*/ 532403 h 1096281"/>
              <a:gd name="connsiteX4" fmla="*/ 589753 w 800636"/>
              <a:gd name="connsiteY4" fmla="*/ 1041520 h 1096281"/>
              <a:gd name="connsiteX5" fmla="*/ 523382 w 800636"/>
              <a:gd name="connsiteY5" fmla="*/ 1096281 h 1096281"/>
              <a:gd name="connsiteX6" fmla="*/ 0 w 800636"/>
              <a:gd name="connsiteY6" fmla="*/ 629153 h 1096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0636" h="1096281">
                <a:moveTo>
                  <a:pt x="0" y="629153"/>
                </a:moveTo>
                <a:lnTo>
                  <a:pt x="561530" y="0"/>
                </a:lnTo>
                <a:lnTo>
                  <a:pt x="589754" y="23286"/>
                </a:lnTo>
                <a:cubicBezTo>
                  <a:pt x="720047" y="153580"/>
                  <a:pt x="800636" y="333581"/>
                  <a:pt x="800636" y="532403"/>
                </a:cubicBezTo>
                <a:cubicBezTo>
                  <a:pt x="800636" y="731226"/>
                  <a:pt x="720047" y="911226"/>
                  <a:pt x="589753" y="1041520"/>
                </a:cubicBezTo>
                <a:lnTo>
                  <a:pt x="523382" y="1096281"/>
                </a:lnTo>
                <a:lnTo>
                  <a:pt x="0" y="629153"/>
                </a:lnTo>
                <a:close/>
              </a:path>
            </a:pathLst>
          </a:custGeom>
          <a:solidFill>
            <a:srgbClr val="127475"/>
          </a:solidFill>
          <a:ln>
            <a:noFill/>
          </a:ln>
          <a:effectLst>
            <a:outerShdw blurRad="304800" sx="102000" sy="102000" algn="ctr" rotWithShape="0">
              <a:prstClr val="black">
                <a:alpha val="6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0" name="Овал 109">
            <a:extLst>
              <a:ext uri="{FF2B5EF4-FFF2-40B4-BE49-F238E27FC236}">
                <a16:creationId xmlns:a16="http://schemas.microsoft.com/office/drawing/2014/main" id="{2219B427-1E42-47EA-B2B1-DC5558460180}"/>
              </a:ext>
            </a:extLst>
          </p:cNvPr>
          <p:cNvSpPr/>
          <p:nvPr/>
        </p:nvSpPr>
        <p:spPr>
          <a:xfrm>
            <a:off x="742861" y="208204"/>
            <a:ext cx="720000" cy="720000"/>
          </a:xfrm>
          <a:prstGeom prst="ellipse">
            <a:avLst/>
          </a:prstGeom>
          <a:solidFill>
            <a:srgbClr val="EEB500"/>
          </a:solidFill>
          <a:ln>
            <a:noFill/>
          </a:ln>
          <a:effectLst>
            <a:outerShdw blurRad="304800" sx="102000" sy="102000" algn="ctr" rotWithShape="0">
              <a:prstClr val="black">
                <a:alpha val="6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Овал 110">
            <a:extLst>
              <a:ext uri="{FF2B5EF4-FFF2-40B4-BE49-F238E27FC236}">
                <a16:creationId xmlns:a16="http://schemas.microsoft.com/office/drawing/2014/main" id="{BA54C4B1-0AB0-49DE-B057-C1602FBDE5F8}"/>
              </a:ext>
            </a:extLst>
          </p:cNvPr>
          <p:cNvSpPr/>
          <p:nvPr/>
        </p:nvSpPr>
        <p:spPr>
          <a:xfrm>
            <a:off x="327003" y="1167386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4800" sx="102000" sy="102000" algn="ctr" rotWithShape="0">
              <a:prstClr val="black">
                <a:alpha val="6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Овал 111">
            <a:extLst>
              <a:ext uri="{FF2B5EF4-FFF2-40B4-BE49-F238E27FC236}">
                <a16:creationId xmlns:a16="http://schemas.microsoft.com/office/drawing/2014/main" id="{DEE6777E-743A-418A-AD46-6925E04A18F9}"/>
              </a:ext>
            </a:extLst>
          </p:cNvPr>
          <p:cNvSpPr/>
          <p:nvPr/>
        </p:nvSpPr>
        <p:spPr>
          <a:xfrm>
            <a:off x="1671196" y="318255"/>
            <a:ext cx="252000" cy="252000"/>
          </a:xfrm>
          <a:prstGeom prst="ellipse">
            <a:avLst/>
          </a:prstGeom>
          <a:solidFill>
            <a:srgbClr val="02A4AB"/>
          </a:solidFill>
          <a:ln>
            <a:noFill/>
          </a:ln>
          <a:effectLst>
            <a:outerShdw blurRad="304800" sx="102000" sy="102000" algn="ctr" rotWithShape="0">
              <a:prstClr val="black">
                <a:alpha val="6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941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A6470-55F2-9C76-7CD0-EECBDF18C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4726" y="0"/>
            <a:ext cx="8595168" cy="1325563"/>
          </a:xfrm>
        </p:spPr>
        <p:txBody>
          <a:bodyPr/>
          <a:lstStyle/>
          <a:p>
            <a:pPr algn="ctr"/>
            <a:r>
              <a:rPr lang="en-US" dirty="0" err="1">
                <a:latin typeface="Arial Black" panose="020B0A04020102020204" pitchFamily="34" charset="0"/>
              </a:rPr>
              <a:t>Foydalanilgan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adabiyotlar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6BFDB9-D334-B80C-ADD5-52AE4CE24A46}"/>
              </a:ext>
            </a:extLst>
          </p:cNvPr>
          <p:cNvSpPr txBox="1"/>
          <p:nvPr/>
        </p:nvSpPr>
        <p:spPr>
          <a:xfrm>
            <a:off x="393538" y="1134319"/>
            <a:ext cx="11609407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 веб-приложений. — СПб.: Питер, 2021. — 336 с.: ил. — (Серия «Бестселлеры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O‘Reilly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»).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Информатика: Введение в информационную безопасность / М.А.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Вус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В.С. Гусев, Д.В.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Долгирев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А.А.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Молдовян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Санкт-Петербург: Юридический центр Пресс, 2004. 216 с.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Хоронеко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М. П. Методы защиты от SQL-инъекций / М. П.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Хоронеко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М. А.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Медунецкий,А.С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Летохо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 июня 2018 г. – Минск: БГУИР, 2017. – С. 96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4.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Yongxiang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W, On WEB website security optimization.  Network   Security   Technology &amp; Application, (5):136-1137, 2014	</a:t>
            </a:r>
          </a:p>
        </p:txBody>
      </p:sp>
    </p:spTree>
    <p:extLst>
      <p:ext uri="{BB962C8B-B14F-4D97-AF65-F5344CB8AC3E}">
        <p14:creationId xmlns:p14="http://schemas.microsoft.com/office/powerpoint/2010/main" val="2915797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1915</TotalTime>
  <Words>973</Words>
  <Application>Microsoft Office PowerPoint</Application>
  <PresentationFormat>Широкоэкранный</PresentationFormat>
  <Paragraphs>64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5" baseType="lpstr">
      <vt:lpstr>Algerian</vt:lpstr>
      <vt:lpstr>Arial</vt:lpstr>
      <vt:lpstr>Arial Black</vt:lpstr>
      <vt:lpstr>Arial Rounded MT Bold</vt:lpstr>
      <vt:lpstr>Bahnschrift</vt:lpstr>
      <vt:lpstr>Bookman Old Style</vt:lpstr>
      <vt:lpstr>Calibri</vt:lpstr>
      <vt:lpstr>Calibri Light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Foydalanilgan adabiyotlar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alibek sagdillayev</dc:creator>
  <cp:lastModifiedBy>javohir raxmiddinov</cp:lastModifiedBy>
  <cp:revision>133</cp:revision>
  <dcterms:created xsi:type="dcterms:W3CDTF">2024-11-15T10:52:58Z</dcterms:created>
  <dcterms:modified xsi:type="dcterms:W3CDTF">2025-04-06T15:53:04Z</dcterms:modified>
</cp:coreProperties>
</file>